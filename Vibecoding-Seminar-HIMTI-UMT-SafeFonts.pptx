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Sebelum mulai, tiga pertanyaan cepat - angkat tangan:
1) Siapa yang pernah membuat aplikasi sendiri?
2) Siapa yang pernah memakai ChatGPT atau AI lain untuk coding?
3) Siapa yang pernah copy-paste kode dari AI tanpa benar-benar membacanya?
(Tunggu reaksi. Yang ketiga biasanya paling banyak - itu titik masuk kita.)
Hari ini kita tidak belajar prompt. Kita belajar WORKFLOW. Kita mulai dari masalah bisnis nyata di sekitar kita, lalu mengubahnya jadi aplikasi yang jalan.
Empat nama file di pojok kanan bawah itu inti seminar hari ini. Nanti kita bahas satu per satu.
ISI DULU: ganti "Nama Pemateri" dan baris "Role / Organisasi / Tanggal".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singkat - maksimal 2 menit. Yang penting bukan CV, tapi kredibilitas konteks:
sebutkan satu produk atau proyek nyata yang pernah Anda bawa sampai production, dan satu pengalaman konkret memakai AI Agent di pekerjaan sehari-hari.
Tutup dengan mengundang interaksi: "Potong saya kapan saja kalau ada yang mau ditanya."
ISI DULU: nama, role, bio, dan foto.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 gambaran besar supaya peserta tahu kapan harus buka laptop dan kapan cukup mendengar.
Pesan penting: bagian teori (11.00-11.40) itu singkat. Sisanya praktik. Jadi jangan tinggalkan sesi siang - di situ aplikasinya benar-benar dibangun.
Catat perubahan penting: sesi Documentation jam 13.10 tidak dibahas lewat slide. Kita langsung buka IDE dan menulis template PRD, Scope, Design, dan Task bersama-sama.
Ingatkan juga: ISHOMA 12.00-13.00. Sesudah itu semua harus sudah punya akses AI dan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jeda. Tarik napas, ganti energi.
Satu kalimat pengantar saja: "Sebelum kita bicara cara kerjanya, kita samakan dulu apa yang sebenarnya berubah."
Jangan berlama-lama di sini - maksimal 15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Pertanyaan pembuka: "Kalau kalian dapat tugas bikin aplikasi, langkah pertama kalian apa?" Jawaban paling sering: langsung ngoding, atau langsung cari template.
Angka 3-6 bulan itu yang harus mendarat. Itu jarak antara ide dan sesuatu yang benar-benar bisa dipakai orang, dengan cara lama.
Lalu tunjukkan di mana biayanya (kolom kanan). Semua asumsi disimpan di kepala developer, bukan di dokumen.
Jembatan ke slide berikutnya: "Sekarang AI datang. Pertanyaannya, AI ini mempercepat langkah yang 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utama: ini bukan soal tools, ini soal siapa yang memegang kendali di tiap tahap.
01 Traditional - manusia menulis semuanya.
02 AI Assisted - Copilot, Cursor. AI melengkapi baris. Produktivitas naik, arsitektur tetap di kepala kita.
03 Agentic - INI POSISI KITA HARI INI (tunjuk titik yang dilingkari). AI membaca dokumen, menyusun rencana, mengeksekusi banyak file sekaligus. Peran kita berubah jadi reviewer.
04 Autonomous - Devin, Codex, SWE Agent. Belum sepenuhnya matang, tapi arahnya jelas.
Baris "Manusia: ..." di bawah setiap tahap adalah inti slide ini. Bacakan keempatnya berurutan.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cepat, satu kategori satu kalimat. Yang penting bukan hafal nama tools, tapi paham bedanya.
Builder: bagus untuk memvalidasi ide dalam 10 menit. Batasnya, begitu produk tumbuh kita sering kesulitan mengontrol kodenya.
Assistant: teman mengetik. Tetap kita yang berpikir.
Agent (kolom yang di-highlight): ini yang kita pakai hari ini. Bedanya, dia bekerja dari DOKUMEN, bukan dari satu kalimat prompt.
Autonomous: masa depan yang sudah mulai jalan.
Pertanyaan retoris: "Kalau AI Agent bekerja dari dokumen, siapa yang bikin dokumennya?" Jawabannya: kita. Itu inti seminar ini.
Catatan: sebagian brand tampil sebagai nama, bukan logo, karena logonya tidak tersedia bebas. Fokusnya kategori, bukan merek.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konfrontasi. Bacakan baris mitos dengan nada "kedengarannya enak, kan?" - Idea, Prompt, Aplikasi Jadi. Lalu tunjuk garis coretnya.
Lalu bongkar: yang terjadi sebenarnya ada di bawah. Ambil satu contoh nyata yang pernah Anda alami, misalnya AI membuat 12 tabel database padahal yang dibutuhkan 3.
Kalimat kunci yang wajib diucapkan: "Prompt yang bagus tidak bisa menyelamatkan spesifikasi yang tidak pernah ditulis."
Transisi: "Jadi kalau bukan Idea - Prompt - Jadi, lalu bagaimana? Slide berikutnya adalah slide terpenting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TERPENTING HARI INI. Jangan buru-buru. Alokasikan minimal 10 menit di sini.
Cara membawakan: tunjuk satu per satu, dan tekankan bahwa output langkah sebelumnya adalah INPUT langkah berikutnya. Itu sebabnya urutannya tidak boleh dilompati.
01-05 adalah pekerjaan MANUSIA (Fase 1). Di sinilah nilai kita sebagai engineer.
06 adalah pekerjaan AI (Fase 2).
07-08 kembali ke manusia.
Pertanyaan ke peserta: "Menurut kalian, langkah mana yang paling sering dilewati orang?" Jawabannya hampir selalu 02 sampai 05 - dan itulah kenapa hasil AI mereka berantakan.
Kalimat penutup slide: "AI cuma mengerjakan satu kotak dari delapan. Tujuh sisanya tetap tanggung jawab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sesi ini dengan pertanyaan: "Coba sebutkan satu ide aplikasi yang kalian punya." Biasanya keluar jawaban seperti aplikasi kasir, aplikasi absensi.
Lalu balik pertanyaannya: "Siapa orang nyata yang hari ini rugi karena masalah itu?" Kalau tidak bisa dijawab dengan nama atau tempat konkret, idenya masih di udara.
Dua pertanyaan di bawah adalah inti slide. Pertanyaan yang salah dimulai dari solusi. Pertanyaan yang benar dimulai dari orang.
Rantai paling bawah adalah urutan yang tidak boleh dibalik: Masalah, Kebutuhan, Fitur, baru Software.
Foto lapangan padel ini sekaligus memperkenalkan studi kasus yang dipakai sampai akhir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momen peserta harus buka HP atau laptop. Beri waktu 5 menit, jangan lebih.
Instruksi tegas: JANGAN memilih ide aplikasi. Pilih TEMPAT. Padel court, coffee shop, laundry, barbershop, coworking space - apa saja yang benar-benar ada di sekitar kampus.
Kriteria bisnis yang bagus untuk latihan: operasionalnya masih manual, dan Anda bisa membayangkan alur kerjanya tanpa harus mewawancarai pemiliknya.
Saat demo: langsung share screen Google Maps sungguhan. Mock di slide hanya cadangan.
Setelah 5 menit, minta 2 sampai 3 peserta menyebutkan pilihannya. Lalu umumkan bahwa kita semua akan pakai satu contoh yang sama: Padel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Ceritakan kasusnya seperti cerita, bukan seperti spesifikasi.
Padel Arena menyewakan lapangan per jam. Semua booking masuk lewat WhatsApp ke satu nomor admin, lalu dicatat di buku. Ramai di sore dan malam.
Bacakan chat di kiri dengan dua suara berbeda untuk pelanggan dan admin - biasanya peserta langsung tertawa karena kenal betul polanya.
Poin yang harus mendarat: masalahnya bukan "belum punya aplikasi". Masalahnya adalah jadwal bentrok, tidak ada histori, dan admin jadi satu-satunya titik kegagalan.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kerjanya: kumpulkan gejala dulu (kolom kiri), baru rumuskan masalahnya (blok kanan).
Gejala itu apa yang orang keluhkan. Problem statement adalah rumusan yang menjelaskan KENAPA gejala itu terjadi dan APA akibatnya bagi bisnis.
Perhatikan bahwa problem statement di kanan tidak menyebut satu pun nama fitur. Tidak ada kata login, tidak ada kata dashboard. Itu disengaja - fitur baru muncul di PRD.
Uji kualitas problem statement dengan satu pertanyaan: kalau masalah ini selesai, apakah pemilik bisnis merasakan bedanya? Kalau tidak, rumusannya masih terlalu teknis.
Ini output pertama peserta hari ini. Minta mereka menyimpannya sebagai PROBLEM.md.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pengganti untuk seluruh Section 04 yang lama. Sengaja hampir kosong.
Jangan menjelaskan isi dokumen di sini. Cukup sebut nama dan fungsinya dalam satu kalimat masing-masing:
PRD - apa yang dibangun dan untuk siapa.
SCOPE - sampai mana batasnya.
DESIGN - bagaimana bentuk dan strukturnya.
TASK - dalam urutan apa dikerjakan.
Analogi yang mudah diterima: AI Agent itu seperti freelancer sangat cepat yang baru bergabung hari ini, tidak pernah bertemu klien, dan tidak boleh bertanya. Satu-satunya yang dia punya adalah file yang kita berikan. Kalau file-nya kosong, dia akan mengarang.
Maksimal 3 menit di slide ini. Detail keempat dokumen akan kita tulis langsung di 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inti: dokumen bukan formalitas kampus. Dokumen adalah ANTARMUKA kita dengan AI Agent.
Bacakan berpasangan kiri-kanan, baris per baris. Empat pasang saja, jangan ditambah.
Yang paling sering dialami peserta adalah baris kedua: tidak ada batas scope. Tanya ke audiens: "Siapa yang pernah minta AI bikin satu fitur, lalu keluarnya sepuluh?"
Istilah yang perlu diingat: Documentation Driven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paling ingin saya minta peserta foto.
Metafora: ini blueprint. Seperti membangun rumah - tidak ada tukang yang mulai memasang bata sebelum ada gambar kerja.
Tekankan urutan mengunci: PRD menentukan Scope, Scope menentukan Design, Design menentukan Task. Kalau melompat, lapisan di bawahnya kehilangan pijakan dan AI akan mengisinya dengan tebakan.
Hitung waktunya di depan peserta: menulis empat dokumen ini butuh 30 sampai 45 menit dibantu AI. Bandingkan dengan berhari-hari memperbaiki aplikasi yang salah arah.
Penutup: "Empat file, satu folder. Itu seluruh konteks yang dibutuhkan AI Agent." Lalu langsung ke slide berikutnya - kita buka 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JEDA PANGGUNG. Slide ini menandai peralihan dari mendengar ke mengerjakan.
Sampaikan kontraknya sebelum pindah: "Saya akan tulis empat file ini dari nol. Kalian ikuti di laptop masing-masing, pakai bisnis pilihan kalian sendiri - bukan padel court."
Yang dikerjakan di IDE, berurutan:
1. PRD.md - product name, problem, goals, users, features
2. SCOPE.md - in scope, out of scope, technical constraints
3. DESIGN.md - pages, user flow, database concept
4. TASK.md - phase 1 sampai 6 beserta task-nya
Target 30-40 menit. Jangan sempurna, cukup lengkap. Sempurna itu musuh selesai.
Kalau ada peserta yang tertinggal, bagikan file template Anda supaya mereka bisa menyusul.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dua peran ini dengan tegas. Ini kesalahan paling umum yang saya lihat.
Planner: AI yang diajak berpikir. Anda berdiskusi, membantah, memotong fitur. Outputnya DOKUMEN, bukan kode.
Executor: AI yang diberi dokumen dan disuruh membangun. Di sini Anda tidak berdiskusi lagi soal fitur - keputusannya sudah diambil.
Kesalahan umum: memakai satu sesi chat untuk keduanya. Akibatnya AI mengubah keputusan produk di tengah proses coding, dan hasilnya tidak pernah stabil.
Kata kuncinya HANDOFF (tunjuk panah di tengah). Ada momen jelas di mana perencanaan berhenti dan eksekusi dimulai. Momen itu adalah saat keempat dokumen selesai - yang barusan kita tulis di IDE.
Tiga aturan Planner yang wajib disebut: (1) beri konteks utuh, jangan diringkas; (2) satu dokumen per sesi; (3) selalu potong hasilnya, karena Planner selalu terlalu optimistis.
Siklus Executor untuk tiap phase: Specification, Planning, Implementation, Refactor, Testing. Diulang per phase, bukan sekaligus.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titik balik seminar - dari mendengar jadi melihat.
Sebelum mulai, sampaikan kontraknya: saya akan sengaja BERHENTI di beberapa titik. Setiap berhenti, kalian yang menilai hasilnya sebelum saya lanjut.
Kalau live demo gagal (dan kadang memang gagal), JANGAN panik dan jangan buru-buru diperbaiki diam-diam. Justru tunjukkan: inilah kenapa Human Review ada di workflow. Kegagalan di panggung adalah bahan ajar terbaik.
Siapkan cadangan: screenshot atau rekaman hasil yang sudah jadi, kalau koneksi atau kuota bermasalah.
Target waktu: 30 menit. Jangan sampai kehabisan waktu untuk sesi audit - itu bagian yang paling berharga.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paling ingin saya minta peserta foto. Empat kategori ini adalah alat kerja, bukan teori.
Product Review: bandingkan hasil dengan PRD dan Scope. Fitur yang tidak diminta itu CACAT, bukan bonus.
Technical Review: bayangkan Anda membuka kode ini bulan depan. Masih paham?
Security Review: ini yang paling sering hilang dari hasil AI. Cek secret key hardcoded dan validasi input - dua ini saja sudah menyelamatkan banyak proyek.
Functionality Review: jalankan sendiri. Jangan percaya laporan AI bahwa semuanya sudah berhasil.
Sesi audit (14.00-14.30): pilih 2 sampai 3 hasil peserta, tampilkan di layar, dan bedah bersama memakai empat kategori ini. Jaga nada tetap membangun - kita membedah kode, bukan orangnya.
Kalimat penutup: kalau tidak ada yang me-review, pelanggan Anda yang jadi reviewer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di sini bukan unit test. Ini uji jalur utama - happy path. Untuk MVP, itu sudah cukup.
Empat skenario di kiri adalah kontrak minimum. Kalau salah satu gagal, jangan deploy.
Perhatikan skenario Booking: yang diuji bukan cuma "booking tersimpan", tapi juga "slot yang sama tidak bisa dipesan lagi". Itu justru masalah bisnis aslinya.
Deployment: jangan berlama-lama memilih stack. Vercel untuk frontend, Railway untuk backend, Supabase atau Neon untuk database. Semua punya tier gratis yang cukup untuk MVP.
Pesan penting: aplikasi yang tidak bisa diakses orang lain belum selesai. Deploy adalah bagian dari definisi selesai, bukan tahap opsional.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Berhenti di sini. Diam 3 detik sebelum bicara.
Bacakan pelan, dua kalimat, dengan jeda di antaranya:
"AI tidak menggantikan Software Engineer."
(jeda)
"AI mempercepat Software Engineer yang punya workflow yang benar."
Jangan menambahkan penjelasan apa pun setelah ini. Biarkan kalimatnya bekerja sendiri, lalu lanjut ke Key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lima poin ini pelan. Jangan buru-buru - ini yang akan mereka bawa pulang.
Pertanyaan yang biasanya muncul di Q&amp;A, siapkan jawabannya:
- AI Builder vs AI Agent, pilih yang mana? Builder untuk validasi ide, Agent untuk produk yang akan dirawat.
- Apakah developer akan tergantikan? Yang tergantikan adalah orang yang cuma bisa mengetik kode tanpa memahami masalah.
- Bagaimana cara mulai belajar? Ambil satu bisnis di sekitar Anda, kerjakan delapan langkah workflow tadi sampai selesai. Satu proyek utuh lebih berharga daripada sepuluh tutorial.
Tutup dengan tantangan konkret: minggu ini, pilih satu bisnis, tulis empat dokumennya, bangun MVP-nya. Kirim hasilnya ke grup.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C2B"/>
        </a:solidFill>
      </p:bgPr>
    </p:bg>
    <p:spTree>
      <p:nvGrpSpPr>
        <p:cNvPr id="1" name=""/>
        <p:cNvGrpSpPr/>
        <p:nvPr/>
      </p:nvGrpSpPr>
      <p:grpSpPr>
        <a:xfrm>
          <a:off x="0" y="0"/>
          <a:ext cx="0" cy="0"/>
          <a:chOff x="0" y="0"/>
          <a:chExt cx="0" cy="0"/>
        </a:xfrm>
      </p:grpSpPr>
      <p:pic>
        <p:nvPicPr>
          <p:cNvPr id="2" name="Image 0" descr="C:\Seminar\generator\assets\photos\cover-desk.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1C2B">
              <a:alpha val="72000"/>
            </a:srgbClr>
          </a:solidFill>
          <a:ln/>
        </p:spPr>
      </p:sp>
      <p:sp>
        <p:nvSpPr>
          <p:cNvPr id="4" name="Text 1"/>
          <p:cNvSpPr txBox="1"/>
          <p:nvPr/>
        </p:nvSpPr>
        <p:spPr>
          <a:xfrm>
            <a:off x="822960" y="1051560"/>
            <a:ext cx="5486400" cy="219456"/>
          </a:xfrm>
          <a:prstGeom prst="rect">
            <a:avLst/>
          </a:prstGeom>
          <a:noFill/>
          <a:ln/>
        </p:spPr>
        <p:txBody>
          <a:bodyPr wrap="square" lIns="0" tIns="0" rIns="0" bIns="0" rtlCol="0" anchor="ctr"/>
          <a:lstStyle/>
          <a:p>
            <a:pPr algn="l" indent="0" marL="0">
              <a:lnSpc>
                <a:spcPct val="122000"/>
              </a:lnSpc>
              <a:buNone/>
            </a:pPr>
            <a:r>
              <a:rPr lang="en-US" sz="900" b="1" spc="240" kern="0" dirty="0">
                <a:solidFill>
                  <a:srgbClr val="B5AEC6"/>
                </a:solidFill>
                <a:latin typeface="Calibri" pitchFamily="34" charset="0"/>
                <a:ea typeface="Calibri" pitchFamily="34" charset="-122"/>
                <a:cs typeface="Calibri" pitchFamily="34" charset="-120"/>
              </a:rPr>
              <a:t>SEMINAR  ·  HIMTI UMT</a:t>
            </a:r>
            <a:endParaRPr lang="en-US" sz="900" dirty="0"/>
          </a:p>
        </p:txBody>
      </p:sp>
      <p:sp>
        <p:nvSpPr>
          <p:cNvPr id="5" name="Text 2"/>
          <p:cNvSpPr txBox="1"/>
          <p:nvPr/>
        </p:nvSpPr>
        <p:spPr>
          <a:xfrm>
            <a:off x="822960" y="1965960"/>
            <a:ext cx="8686800" cy="1234440"/>
          </a:xfrm>
          <a:prstGeom prst="rect">
            <a:avLst/>
          </a:prstGeom>
          <a:noFill/>
          <a:ln/>
        </p:spPr>
        <p:txBody>
          <a:bodyPr wrap="square" lIns="0" tIns="0" rIns="0" bIns="0" rtlCol="0" anchor="t"/>
          <a:lstStyle/>
          <a:p>
            <a:pPr algn="l" indent="0" marL="0">
              <a:lnSpc>
                <a:spcPct val="100000"/>
              </a:lnSpc>
              <a:buNone/>
            </a:pPr>
            <a:r>
              <a:rPr lang="en-US" sz="8400" b="1" dirty="0">
                <a:solidFill>
                  <a:srgbClr val="FFFFFF"/>
                </a:solidFill>
                <a:latin typeface="Calibri" pitchFamily="34" charset="0"/>
                <a:ea typeface="Calibri" pitchFamily="34" charset="-122"/>
                <a:cs typeface="Calibri" pitchFamily="34" charset="-120"/>
              </a:rPr>
              <a:t>Vibecoding</a:t>
            </a:r>
            <a:endParaRPr lang="en-US" sz="8400" dirty="0"/>
          </a:p>
        </p:txBody>
      </p:sp>
      <p:sp>
        <p:nvSpPr>
          <p:cNvPr id="6" name="Text 3"/>
          <p:cNvSpPr txBox="1"/>
          <p:nvPr/>
        </p:nvSpPr>
        <p:spPr>
          <a:xfrm>
            <a:off x="822960" y="3310128"/>
            <a:ext cx="7680960" cy="457200"/>
          </a:xfrm>
          <a:prstGeom prst="rect">
            <a:avLst/>
          </a:prstGeom>
          <a:noFill/>
          <a:ln/>
        </p:spPr>
        <p:txBody>
          <a:bodyPr wrap="square" lIns="0" tIns="0" rIns="0" bIns="0" rtlCol="0" anchor="t"/>
          <a:lstStyle/>
          <a:p>
            <a:pPr algn="l" indent="0" marL="0">
              <a:lnSpc>
                <a:spcPct val="120000"/>
              </a:lnSpc>
              <a:buNone/>
            </a:pPr>
            <a:r>
              <a:rPr lang="en-US" sz="2400" dirty="0">
                <a:solidFill>
                  <a:srgbClr val="B5AEC6"/>
                </a:solidFill>
                <a:latin typeface="Calibri" pitchFamily="34" charset="0"/>
                <a:ea typeface="Calibri" pitchFamily="34" charset="-122"/>
                <a:cs typeface="Calibri" pitchFamily="34" charset="-120"/>
              </a:rPr>
              <a:t>From Business Problem to Production App</a:t>
            </a:r>
            <a:endParaRPr lang="en-US" sz="2400" dirty="0"/>
          </a:p>
        </p:txBody>
      </p:sp>
      <p:sp>
        <p:nvSpPr>
          <p:cNvPr id="7" name="Text 4"/>
          <p:cNvSpPr txBox="1"/>
          <p:nvPr/>
        </p:nvSpPr>
        <p:spPr>
          <a:xfrm>
            <a:off x="822960" y="4160520"/>
            <a:ext cx="6766560" cy="566928"/>
          </a:xfrm>
          <a:prstGeom prst="rect">
            <a:avLst/>
          </a:prstGeom>
          <a:noFill/>
          <a:ln/>
        </p:spPr>
        <p:txBody>
          <a:bodyPr wrap="square" lIns="0" tIns="0" rIns="0" bIns="0" rtlCol="0" anchor="t"/>
          <a:lstStyle/>
          <a:p>
            <a:pPr algn="l" indent="0" marL="0">
              <a:lnSpc>
                <a:spcPct val="160000"/>
              </a:lnSpc>
              <a:buNone/>
            </a:pPr>
            <a:r>
              <a:rPr lang="en-US" sz="1350" dirty="0">
                <a:solidFill>
                  <a:srgbClr val="CFC9DC"/>
                </a:solidFill>
                <a:latin typeface="Calibri" pitchFamily="34" charset="0"/>
                <a:ea typeface="Calibri" pitchFamily="34" charset="-122"/>
                <a:cs typeface="Calibri" pitchFamily="34" charset="-120"/>
              </a:rPr>
              <a:t>Cara membangun aplikasi bersama AI dengan workflow yang benar — dari masalah bisnis nyata sampai aplikasi yang berjalan di production.</a:t>
            </a:r>
            <a:endParaRPr lang="en-US" sz="1350" dirty="0"/>
          </a:p>
        </p:txBody>
      </p:sp>
      <p:sp>
        <p:nvSpPr>
          <p:cNvPr id="8" name="Shape 5"/>
          <p:cNvSpPr/>
          <p:nvPr/>
        </p:nvSpPr>
        <p:spPr>
          <a:xfrm>
            <a:off x="822960" y="5138928"/>
            <a:ext cx="10543032" cy="0"/>
          </a:xfrm>
          <a:prstGeom prst="line">
            <a:avLst/>
          </a:prstGeom>
          <a:noFill/>
          <a:ln w="12700">
            <a:solidFill>
              <a:srgbClr val="4E466B"/>
            </a:solidFill>
            <a:prstDash val="solid"/>
          </a:ln>
        </p:spPr>
      </p:sp>
      <p:sp>
        <p:nvSpPr>
          <p:cNvPr id="9" name="Text 6"/>
          <p:cNvSpPr txBox="1"/>
          <p:nvPr/>
        </p:nvSpPr>
        <p:spPr>
          <a:xfrm>
            <a:off x="822960" y="5321808"/>
            <a:ext cx="493776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FFFFF"/>
                </a:solidFill>
                <a:latin typeface="Calibri" pitchFamily="34" charset="0"/>
                <a:ea typeface="Calibri" pitchFamily="34" charset="-122"/>
                <a:cs typeface="Calibri" pitchFamily="34" charset="-120"/>
              </a:rPr>
              <a:t>Nama Pemateri</a:t>
            </a:r>
            <a:endParaRPr lang="en-US" sz="1500" dirty="0"/>
          </a:p>
        </p:txBody>
      </p:sp>
      <p:sp>
        <p:nvSpPr>
          <p:cNvPr id="10" name="Text 7"/>
          <p:cNvSpPr txBox="1"/>
          <p:nvPr/>
        </p:nvSpPr>
        <p:spPr>
          <a:xfrm>
            <a:off x="822960" y="5632704"/>
            <a:ext cx="4937760" cy="237744"/>
          </a:xfrm>
          <a:prstGeom prst="rect">
            <a:avLst/>
          </a:prstGeom>
          <a:noFill/>
          <a:ln/>
        </p:spPr>
        <p:txBody>
          <a:bodyPr wrap="square" lIns="0" tIns="0" rIns="0" bIns="0" rtlCol="0" anchor="ctr"/>
          <a:lstStyle/>
          <a:p>
            <a:pPr algn="l" indent="0" marL="0">
              <a:lnSpc>
                <a:spcPct val="122000"/>
              </a:lnSpc>
              <a:buNone/>
            </a:pPr>
            <a:r>
              <a:rPr lang="en-US" sz="1050" dirty="0">
                <a:solidFill>
                  <a:srgbClr val="9E97B4"/>
                </a:solidFill>
                <a:latin typeface="Calibri" pitchFamily="34" charset="0"/>
                <a:ea typeface="Calibri" pitchFamily="34" charset="-122"/>
                <a:cs typeface="Calibri" pitchFamily="34" charset="-120"/>
              </a:rPr>
              <a:t>Role  ·  Organisasi  ·  Tanggal Seminar</a:t>
            </a:r>
            <a:endParaRPr lang="en-US" sz="1050" dirty="0"/>
          </a:p>
        </p:txBody>
      </p:sp>
      <p:sp>
        <p:nvSpPr>
          <p:cNvPr id="11" name="Text 8"/>
          <p:cNvSpPr txBox="1"/>
          <p:nvPr/>
        </p:nvSpPr>
        <p:spPr>
          <a:xfrm>
            <a:off x="7360920" y="5321808"/>
            <a:ext cx="1005840" cy="274320"/>
          </a:xfrm>
          <a:prstGeom prst="rect">
            <a:avLst/>
          </a:prstGeom>
          <a:noFill/>
          <a:ln/>
        </p:spPr>
        <p:txBody>
          <a:bodyPr wrap="square" lIns="0" tIns="0" rIns="0" bIns="0" rtlCol="0" anchor="ctr"/>
          <a:lstStyle/>
          <a:p>
            <a:pPr algn="l" indent="0" marL="0">
              <a:lnSpc>
                <a:spcPct val="122000"/>
              </a:lnSpc>
              <a:buNone/>
            </a:pPr>
            <a:r>
              <a:rPr lang="en-US" sz="850" b="1" spc="40" kern="0" dirty="0">
                <a:solidFill>
                  <a:srgbClr val="8C84A8"/>
                </a:solidFill>
                <a:latin typeface="Calibri" pitchFamily="34" charset="0"/>
                <a:ea typeface="Calibri" pitchFamily="34" charset="-122"/>
                <a:cs typeface="Calibri" pitchFamily="34" charset="-120"/>
              </a:rPr>
              <a:t>PRD.md</a:t>
            </a:r>
            <a:endParaRPr lang="en-US" sz="850" dirty="0"/>
          </a:p>
        </p:txBody>
      </p:sp>
      <p:sp>
        <p:nvSpPr>
          <p:cNvPr id="12" name="Text 9"/>
          <p:cNvSpPr txBox="1"/>
          <p:nvPr/>
        </p:nvSpPr>
        <p:spPr>
          <a:xfrm>
            <a:off x="8385048" y="5321808"/>
            <a:ext cx="1005840" cy="274320"/>
          </a:xfrm>
          <a:prstGeom prst="rect">
            <a:avLst/>
          </a:prstGeom>
          <a:noFill/>
          <a:ln/>
        </p:spPr>
        <p:txBody>
          <a:bodyPr wrap="square" lIns="0" tIns="0" rIns="0" bIns="0" rtlCol="0" anchor="ctr"/>
          <a:lstStyle/>
          <a:p>
            <a:pPr algn="l" indent="0" marL="0">
              <a:lnSpc>
                <a:spcPct val="122000"/>
              </a:lnSpc>
              <a:buNone/>
            </a:pPr>
            <a:r>
              <a:rPr lang="en-US" sz="850" b="1" spc="40" kern="0" dirty="0">
                <a:solidFill>
                  <a:srgbClr val="8C84A8"/>
                </a:solidFill>
                <a:latin typeface="Calibri" pitchFamily="34" charset="0"/>
                <a:ea typeface="Calibri" pitchFamily="34" charset="-122"/>
                <a:cs typeface="Calibri" pitchFamily="34" charset="-120"/>
              </a:rPr>
              <a:t>SCOPE.md</a:t>
            </a:r>
            <a:endParaRPr lang="en-US" sz="850" dirty="0"/>
          </a:p>
        </p:txBody>
      </p:sp>
      <p:sp>
        <p:nvSpPr>
          <p:cNvPr id="13" name="Text 10"/>
          <p:cNvSpPr txBox="1"/>
          <p:nvPr/>
        </p:nvSpPr>
        <p:spPr>
          <a:xfrm>
            <a:off x="9409176" y="5321808"/>
            <a:ext cx="1005840" cy="274320"/>
          </a:xfrm>
          <a:prstGeom prst="rect">
            <a:avLst/>
          </a:prstGeom>
          <a:noFill/>
          <a:ln/>
        </p:spPr>
        <p:txBody>
          <a:bodyPr wrap="square" lIns="0" tIns="0" rIns="0" bIns="0" rtlCol="0" anchor="ctr"/>
          <a:lstStyle/>
          <a:p>
            <a:pPr algn="l" indent="0" marL="0">
              <a:lnSpc>
                <a:spcPct val="122000"/>
              </a:lnSpc>
              <a:buNone/>
            </a:pPr>
            <a:r>
              <a:rPr lang="en-US" sz="850" b="1" spc="40" kern="0" dirty="0">
                <a:solidFill>
                  <a:srgbClr val="8C84A8"/>
                </a:solidFill>
                <a:latin typeface="Calibri" pitchFamily="34" charset="0"/>
                <a:ea typeface="Calibri" pitchFamily="34" charset="-122"/>
                <a:cs typeface="Calibri" pitchFamily="34" charset="-120"/>
              </a:rPr>
              <a:t>DESIGN.md</a:t>
            </a:r>
            <a:endParaRPr lang="en-US" sz="850" dirty="0"/>
          </a:p>
        </p:txBody>
      </p:sp>
      <p:sp>
        <p:nvSpPr>
          <p:cNvPr id="14" name="Text 11"/>
          <p:cNvSpPr txBox="1"/>
          <p:nvPr/>
        </p:nvSpPr>
        <p:spPr>
          <a:xfrm>
            <a:off x="10433304" y="5321808"/>
            <a:ext cx="1005840" cy="274320"/>
          </a:xfrm>
          <a:prstGeom prst="rect">
            <a:avLst/>
          </a:prstGeom>
          <a:noFill/>
          <a:ln/>
        </p:spPr>
        <p:txBody>
          <a:bodyPr wrap="square" lIns="0" tIns="0" rIns="0" bIns="0" rtlCol="0" anchor="ctr"/>
          <a:lstStyle/>
          <a:p>
            <a:pPr algn="l" indent="0" marL="0">
              <a:lnSpc>
                <a:spcPct val="122000"/>
              </a:lnSpc>
              <a:buNone/>
            </a:pPr>
            <a:r>
              <a:rPr lang="en-US" sz="850" b="1" spc="40" kern="0" dirty="0">
                <a:solidFill>
                  <a:srgbClr val="8C84A8"/>
                </a:solidFill>
                <a:latin typeface="Calibri" pitchFamily="34" charset="0"/>
                <a:ea typeface="Calibri" pitchFamily="34" charset="-122"/>
                <a:cs typeface="Calibri" pitchFamily="34" charset="-120"/>
              </a:rPr>
              <a:t>TASK.md</a:t>
            </a:r>
            <a:endParaRPr lang="en-US" sz="850" dirty="0"/>
          </a:p>
        </p:txBody>
      </p:sp>
      <p:sp>
        <p:nvSpPr>
          <p:cNvPr id="15" name="Text 1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Calibri" pitchFamily="34" charset="0"/>
                <a:ea typeface="Calibri" pitchFamily="34" charset="-122"/>
                <a:cs typeface="Calibri" pitchFamily="34" charset="-120"/>
              </a:rPr>
              <a:t>VIBECODING  ·  FROM BUSINESS PROBLEM TO PRODUCTION APP</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EFEBF3"/>
          </a:solidFill>
          <a:ln/>
        </p:spPr>
      </p:sp>
      <p:sp>
        <p:nvSpPr>
          <p:cNvPr id="3" name="Shape 1"/>
          <p:cNvSpPr/>
          <p:nvPr/>
        </p:nvSpPr>
        <p:spPr>
          <a:xfrm>
            <a:off x="502920" y="1234440"/>
            <a:ext cx="3474720" cy="4389120"/>
          </a:xfrm>
          <a:prstGeom prst="roundRect">
            <a:avLst>
              <a:gd name="adj" fmla="val 3684"/>
            </a:avLst>
          </a:prstGeom>
          <a:solidFill>
            <a:srgbClr val="FFFFFF"/>
          </a:solidFill>
          <a:ln w="12700">
            <a:solidFill>
              <a:srgbClr val="B5AEC6"/>
            </a:solidFill>
            <a:prstDash val="dash"/>
          </a:ln>
        </p:spPr>
      </p:sp>
      <p:sp>
        <p:nvSpPr>
          <p:cNvPr id="4" name="Shape 2"/>
          <p:cNvSpPr/>
          <p:nvPr/>
        </p:nvSpPr>
        <p:spPr>
          <a:xfrm>
            <a:off x="1929384" y="3108960"/>
            <a:ext cx="621792" cy="621792"/>
          </a:xfrm>
          <a:prstGeom prst="ellipse">
            <a:avLst/>
          </a:prstGeom>
          <a:ln w="15875">
            <a:solidFill>
              <a:srgbClr val="847E96"/>
            </a:solidFill>
            <a:prstDash val="solid"/>
          </a:ln>
        </p:spPr>
      </p:sp>
      <p:sp>
        <p:nvSpPr>
          <p:cNvPr id="5" name="Shape 3"/>
          <p:cNvSpPr/>
          <p:nvPr/>
        </p:nvSpPr>
        <p:spPr>
          <a:xfrm>
            <a:off x="2159447" y="3339023"/>
            <a:ext cx="161666" cy="161666"/>
          </a:xfrm>
          <a:prstGeom prst="ellipse">
            <a:avLst/>
          </a:prstGeom>
          <a:ln w="15875">
            <a:solidFill>
              <a:srgbClr val="847E96"/>
            </a:solidFill>
            <a:prstDash val="solid"/>
          </a:ln>
        </p:spPr>
      </p:sp>
      <p:sp>
        <p:nvSpPr>
          <p:cNvPr id="6" name="Text 4"/>
          <p:cNvSpPr txBox="1"/>
          <p:nvPr/>
        </p:nvSpPr>
        <p:spPr>
          <a:xfrm>
            <a:off x="502920" y="3931920"/>
            <a:ext cx="3474720" cy="219456"/>
          </a:xfrm>
          <a:prstGeom prst="rect">
            <a:avLst/>
          </a:prstGeom>
          <a:noFill/>
          <a:ln/>
        </p:spPr>
        <p:txBody>
          <a:bodyPr wrap="square" lIns="0" tIns="0" rIns="0" bIns="0" rtlCol="0" anchor="ctr"/>
          <a:lstStyle/>
          <a:p>
            <a:pPr algn="ctr" indent="0" marL="0">
              <a:lnSpc>
                <a:spcPct val="122000"/>
              </a:lnSpc>
              <a:buNone/>
            </a:pPr>
            <a:r>
              <a:rPr lang="en-US" sz="850" b="1" spc="180" kern="0" dirty="0">
                <a:solidFill>
                  <a:srgbClr val="635C77"/>
                </a:solidFill>
                <a:latin typeface="Calibri" pitchFamily="34" charset="0"/>
                <a:ea typeface="Calibri" pitchFamily="34" charset="-122"/>
                <a:cs typeface="Calibri" pitchFamily="34" charset="-120"/>
              </a:rPr>
              <a:t>FOTO PEMATERI</a:t>
            </a:r>
            <a:endParaRPr lang="en-US" sz="850" dirty="0"/>
          </a:p>
        </p:txBody>
      </p:sp>
      <p:sp>
        <p:nvSpPr>
          <p:cNvPr id="7" name="Text 5"/>
          <p:cNvSpPr txBox="1"/>
          <p:nvPr/>
        </p:nvSpPr>
        <p:spPr>
          <a:xfrm>
            <a:off x="502920" y="5806440"/>
            <a:ext cx="3474720" cy="365760"/>
          </a:xfrm>
          <a:prstGeom prst="rect">
            <a:avLst/>
          </a:prstGeom>
          <a:noFill/>
          <a:ln/>
        </p:spPr>
        <p:txBody>
          <a:bodyPr wrap="square" lIns="0" tIns="0" rIns="0" bIns="0" rtlCol="0" anchor="ctr"/>
          <a:lstStyle/>
          <a:p>
            <a:pPr algn="ctr" indent="0" marL="0">
              <a:lnSpc>
                <a:spcPct val="122000"/>
              </a:lnSpc>
              <a:buNone/>
            </a:pPr>
            <a:r>
              <a:rPr lang="en-US" sz="950" dirty="0">
                <a:solidFill>
                  <a:srgbClr val="5F5F5F"/>
                </a:solidFill>
                <a:latin typeface="Calibri" pitchFamily="34" charset="0"/>
                <a:ea typeface="Calibri" pitchFamily="34" charset="-122"/>
                <a:cs typeface="Calibri" pitchFamily="34" charset="-120"/>
              </a:rPr>
              <a:t>Ganti dengan foto Anda — Insert &gt; Picture</a:t>
            </a:r>
            <a:endParaRPr lang="en-US" sz="950" dirty="0"/>
          </a:p>
        </p:txBody>
      </p:sp>
      <p:sp>
        <p:nvSpPr>
          <p:cNvPr id="8" name="Text 6"/>
          <p:cNvSpPr txBox="1"/>
          <p:nvPr/>
        </p:nvSpPr>
        <p:spPr>
          <a:xfrm>
            <a:off x="5120640" y="1234440"/>
            <a:ext cx="5486400" cy="219456"/>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01  ·  OPENING</a:t>
            </a:r>
            <a:endParaRPr lang="en-US" sz="850" dirty="0"/>
          </a:p>
        </p:txBody>
      </p:sp>
      <p:sp>
        <p:nvSpPr>
          <p:cNvPr id="9" name="Text 7"/>
          <p:cNvSpPr txBox="1"/>
          <p:nvPr/>
        </p:nvSpPr>
        <p:spPr>
          <a:xfrm>
            <a:off x="5120640" y="1691640"/>
            <a:ext cx="6217920" cy="658368"/>
          </a:xfrm>
          <a:prstGeom prst="rect">
            <a:avLst/>
          </a:prstGeom>
          <a:noFill/>
          <a:ln/>
        </p:spPr>
        <p:txBody>
          <a:bodyPr wrap="square" lIns="0" tIns="0" rIns="0" bIns="0" rtlCol="0" anchor="t"/>
          <a:lstStyle/>
          <a:p>
            <a:pPr algn="l" indent="0" marL="0">
              <a:lnSpc>
                <a:spcPct val="110000"/>
              </a:lnSpc>
              <a:buNone/>
            </a:pPr>
            <a:r>
              <a:rPr lang="en-US" sz="4000" b="1" dirty="0">
                <a:solidFill>
                  <a:srgbClr val="1A1A1A"/>
                </a:solidFill>
                <a:latin typeface="Calibri" pitchFamily="34" charset="0"/>
                <a:ea typeface="Calibri" pitchFamily="34" charset="-122"/>
                <a:cs typeface="Calibri" pitchFamily="34" charset="-120"/>
              </a:rPr>
              <a:t>Nama Pemateri</a:t>
            </a:r>
            <a:endParaRPr lang="en-US" sz="4000" dirty="0"/>
          </a:p>
        </p:txBody>
      </p:sp>
      <p:sp>
        <p:nvSpPr>
          <p:cNvPr id="10" name="Text 8"/>
          <p:cNvSpPr txBox="1"/>
          <p:nvPr/>
        </p:nvSpPr>
        <p:spPr>
          <a:xfrm>
            <a:off x="5120640" y="2487168"/>
            <a:ext cx="621792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635C77"/>
                </a:solidFill>
                <a:latin typeface="Calibri" pitchFamily="34" charset="0"/>
                <a:ea typeface="Calibri" pitchFamily="34" charset="-122"/>
                <a:cs typeface="Calibri" pitchFamily="34" charset="-120"/>
              </a:rPr>
              <a:t>Role  ·  Organisasi</a:t>
            </a:r>
            <a:endParaRPr lang="en-US" sz="1550" dirty="0"/>
          </a:p>
        </p:txBody>
      </p:sp>
      <p:sp>
        <p:nvSpPr>
          <p:cNvPr id="11" name="Text 9"/>
          <p:cNvSpPr txBox="1"/>
          <p:nvPr/>
        </p:nvSpPr>
        <p:spPr>
          <a:xfrm>
            <a:off x="5120640" y="3063240"/>
            <a:ext cx="6035040" cy="1188720"/>
          </a:xfrm>
          <a:prstGeom prst="rect">
            <a:avLst/>
          </a:prstGeom>
          <a:noFill/>
          <a:ln/>
        </p:spPr>
        <p:txBody>
          <a:bodyPr wrap="square" lIns="0" tIns="0" rIns="0" bIns="0" rtlCol="0" anchor="t"/>
          <a:lstStyle/>
          <a:p>
            <a:pPr algn="l" indent="0" marL="0">
              <a:lnSpc>
                <a:spcPct val="160000"/>
              </a:lnSpc>
              <a:buNone/>
            </a:pPr>
            <a:r>
              <a:rPr lang="en-US" sz="1250" dirty="0">
                <a:solidFill>
                  <a:srgbClr val="5F5F5F"/>
                </a:solidFill>
                <a:latin typeface="Calibri" pitchFamily="34" charset="0"/>
                <a:ea typeface="Calibri" pitchFamily="34" charset="-122"/>
                <a:cs typeface="Calibri" pitchFamily="34" charset="-120"/>
              </a:rPr>
              <a:t>Sehari-hari membangun produk digital: dari menerjemahkan kebutuhan bisnis menjadi spesifikasi, sampai membawanya ke production. Beberapa tahun terakhir fokus pada bagaimana AI Agent dipakai dalam alur kerja engineering yang serius.</a:t>
            </a:r>
            <a:endParaRPr lang="en-US" sz="1250" dirty="0"/>
          </a:p>
        </p:txBody>
      </p:sp>
      <p:sp>
        <p:nvSpPr>
          <p:cNvPr id="12" name="Shape 10"/>
          <p:cNvSpPr/>
          <p:nvPr/>
        </p:nvSpPr>
        <p:spPr>
          <a:xfrm>
            <a:off x="5120640" y="4498848"/>
            <a:ext cx="1951330" cy="329184"/>
          </a:xfrm>
          <a:prstGeom prst="roundRect">
            <a:avLst>
              <a:gd name="adj" fmla="val 50000"/>
            </a:avLst>
          </a:prstGeom>
          <a:solidFill>
            <a:srgbClr val="EFEBF3"/>
          </a:solidFill>
          <a:ln w="12700">
            <a:solidFill>
              <a:srgbClr val="DDD7CF"/>
            </a:solidFill>
            <a:prstDash val="solid"/>
          </a:ln>
        </p:spPr>
      </p:sp>
      <p:sp>
        <p:nvSpPr>
          <p:cNvPr id="13" name="Text 11"/>
          <p:cNvSpPr txBox="1"/>
          <p:nvPr/>
        </p:nvSpPr>
        <p:spPr>
          <a:xfrm>
            <a:off x="5212080" y="4498848"/>
            <a:ext cx="1768450" cy="329184"/>
          </a:xfrm>
          <a:prstGeom prst="rect">
            <a:avLst/>
          </a:prstGeom>
          <a:noFill/>
          <a:ln/>
        </p:spPr>
        <p:txBody>
          <a:bodyPr wrap="square" lIns="0" tIns="0" rIns="0" bIns="0" rtlCol="0" anchor="ctr"/>
          <a:lstStyle/>
          <a:p>
            <a:pPr algn="ctr" indent="0" marL="0">
              <a:lnSpc>
                <a:spcPct val="122000"/>
              </a:lnSpc>
              <a:buNone/>
            </a:pPr>
            <a:r>
              <a:rPr lang="en-US" sz="900" b="1" spc="80" kern="0" dirty="0">
                <a:solidFill>
                  <a:srgbClr val="635C77"/>
                </a:solidFill>
                <a:latin typeface="Calibri" pitchFamily="34" charset="0"/>
                <a:ea typeface="Calibri" pitchFamily="34" charset="-122"/>
                <a:cs typeface="Calibri" pitchFamily="34" charset="-120"/>
              </a:rPr>
              <a:t>Product Engineering</a:t>
            </a:r>
            <a:endParaRPr lang="en-US" sz="900" dirty="0"/>
          </a:p>
        </p:txBody>
      </p:sp>
      <p:sp>
        <p:nvSpPr>
          <p:cNvPr id="14" name="Shape 12"/>
          <p:cNvSpPr/>
          <p:nvPr/>
        </p:nvSpPr>
        <p:spPr>
          <a:xfrm>
            <a:off x="7218274" y="4498848"/>
            <a:ext cx="1558138" cy="329184"/>
          </a:xfrm>
          <a:prstGeom prst="roundRect">
            <a:avLst>
              <a:gd name="adj" fmla="val 50000"/>
            </a:avLst>
          </a:prstGeom>
          <a:solidFill>
            <a:srgbClr val="EFEBF3"/>
          </a:solidFill>
          <a:ln w="12700">
            <a:solidFill>
              <a:srgbClr val="DDD7CF"/>
            </a:solidFill>
            <a:prstDash val="solid"/>
          </a:ln>
        </p:spPr>
      </p:sp>
      <p:sp>
        <p:nvSpPr>
          <p:cNvPr id="15" name="Text 13"/>
          <p:cNvSpPr txBox="1"/>
          <p:nvPr/>
        </p:nvSpPr>
        <p:spPr>
          <a:xfrm>
            <a:off x="7309714" y="4498848"/>
            <a:ext cx="1375258" cy="329184"/>
          </a:xfrm>
          <a:prstGeom prst="rect">
            <a:avLst/>
          </a:prstGeom>
          <a:noFill/>
          <a:ln/>
        </p:spPr>
        <p:txBody>
          <a:bodyPr wrap="square" lIns="0" tIns="0" rIns="0" bIns="0" rtlCol="0" anchor="ctr"/>
          <a:lstStyle/>
          <a:p>
            <a:pPr algn="ctr" indent="0" marL="0">
              <a:lnSpc>
                <a:spcPct val="122000"/>
              </a:lnSpc>
              <a:buNone/>
            </a:pPr>
            <a:r>
              <a:rPr lang="en-US" sz="900" b="1" spc="80" kern="0" dirty="0">
                <a:solidFill>
                  <a:srgbClr val="635C77"/>
                </a:solidFill>
                <a:latin typeface="Calibri" pitchFamily="34" charset="0"/>
                <a:ea typeface="Calibri" pitchFamily="34" charset="-122"/>
                <a:cs typeface="Calibri" pitchFamily="34" charset="-120"/>
              </a:rPr>
              <a:t>AI Engineering</a:t>
            </a:r>
            <a:endParaRPr lang="en-US" sz="900" dirty="0"/>
          </a:p>
        </p:txBody>
      </p:sp>
      <p:sp>
        <p:nvSpPr>
          <p:cNvPr id="16" name="Shape 14"/>
          <p:cNvSpPr/>
          <p:nvPr/>
        </p:nvSpPr>
        <p:spPr>
          <a:xfrm>
            <a:off x="8922715" y="4498848"/>
            <a:ext cx="2108606" cy="329184"/>
          </a:xfrm>
          <a:prstGeom prst="roundRect">
            <a:avLst>
              <a:gd name="adj" fmla="val 50000"/>
            </a:avLst>
          </a:prstGeom>
          <a:solidFill>
            <a:srgbClr val="EFEBF3"/>
          </a:solidFill>
          <a:ln w="12700">
            <a:solidFill>
              <a:srgbClr val="DDD7CF"/>
            </a:solidFill>
            <a:prstDash val="solid"/>
          </a:ln>
        </p:spPr>
      </p:sp>
      <p:sp>
        <p:nvSpPr>
          <p:cNvPr id="17" name="Text 15"/>
          <p:cNvSpPr txBox="1"/>
          <p:nvPr/>
        </p:nvSpPr>
        <p:spPr>
          <a:xfrm>
            <a:off x="9014155" y="4498848"/>
            <a:ext cx="1925726" cy="329184"/>
          </a:xfrm>
          <a:prstGeom prst="rect">
            <a:avLst/>
          </a:prstGeom>
          <a:noFill/>
          <a:ln/>
        </p:spPr>
        <p:txBody>
          <a:bodyPr wrap="square" lIns="0" tIns="0" rIns="0" bIns="0" rtlCol="0" anchor="ctr"/>
          <a:lstStyle/>
          <a:p>
            <a:pPr algn="ctr" indent="0" marL="0">
              <a:lnSpc>
                <a:spcPct val="122000"/>
              </a:lnSpc>
              <a:buNone/>
            </a:pPr>
            <a:r>
              <a:rPr lang="en-US" sz="900" b="1" spc="80" kern="0" dirty="0">
                <a:solidFill>
                  <a:srgbClr val="635C77"/>
                </a:solidFill>
                <a:latin typeface="Calibri" pitchFamily="34" charset="0"/>
                <a:ea typeface="Calibri" pitchFamily="34" charset="-122"/>
                <a:cs typeface="Calibri" pitchFamily="34" charset="-120"/>
              </a:rPr>
              <a:t>Software Architecture</a:t>
            </a:r>
            <a:endParaRPr lang="en-US" sz="900" dirty="0"/>
          </a:p>
        </p:txBody>
      </p:sp>
      <p:sp>
        <p:nvSpPr>
          <p:cNvPr id="18" name="Text 16"/>
          <p:cNvSpPr txBox="1"/>
          <p:nvPr/>
        </p:nvSpPr>
        <p:spPr>
          <a:xfrm>
            <a:off x="5120640" y="5138928"/>
            <a:ext cx="5852160" cy="548640"/>
          </a:xfrm>
          <a:prstGeom prst="rect">
            <a:avLst/>
          </a:prstGeom>
          <a:noFill/>
          <a:ln/>
        </p:spPr>
        <p:txBody>
          <a:bodyPr wrap="square" lIns="0" tIns="0" rIns="0" bIns="0" rtlCol="0" anchor="t"/>
          <a:lstStyle/>
          <a:p>
            <a:pPr algn="l" indent="0" marL="0">
              <a:lnSpc>
                <a:spcPct val="150000"/>
              </a:lnSpc>
              <a:buNone/>
            </a:pPr>
            <a:r>
              <a:rPr lang="en-US" sz="1050" i="1" dirty="0">
                <a:solidFill>
                  <a:srgbClr val="5F5F5F"/>
                </a:solidFill>
                <a:latin typeface="Calibri" pitchFamily="34" charset="0"/>
                <a:ea typeface="Calibri" pitchFamily="34" charset="-122"/>
                <a:cs typeface="Calibri" pitchFamily="34" charset="-120"/>
              </a:rPr>
              <a:t>Silakan sapa saya kapan saja selama sesi. Seminar ini dirancang dua arah, bukan monolog tiga jam.</a:t>
            </a:r>
            <a:endParaRPr lang="en-US" sz="1050" dirty="0"/>
          </a:p>
        </p:txBody>
      </p:sp>
      <p:sp>
        <p:nvSpPr>
          <p:cNvPr id="19" name="Text 17"/>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20" name="Text 18"/>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01  ·  OPENING</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Roadmap Seminar</a:t>
            </a:r>
            <a:endParaRPr lang="en-US" sz="3400" dirty="0"/>
          </a:p>
        </p:txBody>
      </p:sp>
      <p:sp>
        <p:nvSpPr>
          <p:cNvPr id="5" name="Text 3"/>
          <p:cNvSpPr txBox="1"/>
          <p:nvPr/>
        </p:nvSpPr>
        <p:spPr>
          <a:xfrm>
            <a:off x="822960" y="1536192"/>
            <a:ext cx="722376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Calibri" pitchFamily="34" charset="0"/>
                <a:ea typeface="Calibri" pitchFamily="34" charset="-122"/>
                <a:cs typeface="Calibri" pitchFamily="34" charset="-120"/>
              </a:rPr>
              <a:t>Tiga jam, delapan babak. Setengah teori, setengah praktik langsung di laptop Anda.</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03</a:t>
            </a:r>
            <a:endParaRPr lang="en-US" sz="800" dirty="0"/>
          </a:p>
        </p:txBody>
      </p:sp>
      <p:sp>
        <p:nvSpPr>
          <p:cNvPr id="8" name="Shape 6"/>
          <p:cNvSpPr/>
          <p:nvPr/>
        </p:nvSpPr>
        <p:spPr>
          <a:xfrm>
            <a:off x="822960" y="2286000"/>
            <a:ext cx="10545775" cy="0"/>
          </a:xfrm>
          <a:prstGeom prst="line">
            <a:avLst/>
          </a:prstGeom>
          <a:noFill/>
          <a:ln w="12700">
            <a:solidFill>
              <a:srgbClr val="DDD7CF"/>
            </a:solidFill>
            <a:prstDash val="solid"/>
          </a:ln>
        </p:spPr>
      </p:sp>
      <p:sp>
        <p:nvSpPr>
          <p:cNvPr id="9" name="Text 7"/>
          <p:cNvSpPr txBox="1"/>
          <p:nvPr/>
        </p:nvSpPr>
        <p:spPr>
          <a:xfrm>
            <a:off x="822960" y="2414016"/>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Calibri" pitchFamily="34" charset="0"/>
                <a:ea typeface="Calibri" pitchFamily="34" charset="-122"/>
                <a:cs typeface="Calibri" pitchFamily="34" charset="-120"/>
              </a:rPr>
              <a:t>11.00</a:t>
            </a:r>
            <a:endParaRPr lang="en-US" sz="1050" dirty="0"/>
          </a:p>
        </p:txBody>
      </p:sp>
      <p:sp>
        <p:nvSpPr>
          <p:cNvPr id="10" name="Text 8"/>
          <p:cNvSpPr txBox="1"/>
          <p:nvPr/>
        </p:nvSpPr>
        <p:spPr>
          <a:xfrm>
            <a:off x="1965960" y="2414016"/>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Opening</a:t>
            </a:r>
            <a:endParaRPr lang="en-US" sz="1550" dirty="0"/>
          </a:p>
        </p:txBody>
      </p:sp>
      <p:sp>
        <p:nvSpPr>
          <p:cNvPr id="11" name="Text 9"/>
          <p:cNvSpPr txBox="1"/>
          <p:nvPr/>
        </p:nvSpPr>
        <p:spPr>
          <a:xfrm>
            <a:off x="5394960" y="2414016"/>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Calibri" pitchFamily="34" charset="0"/>
                <a:ea typeface="Calibri" pitchFamily="34" charset="-122"/>
                <a:cs typeface="Calibri" pitchFamily="34" charset="-120"/>
              </a:rPr>
              <a:t>Menyamakan persepsi soal AI dan coding.</a:t>
            </a:r>
            <a:endParaRPr lang="en-US" sz="1200" dirty="0"/>
          </a:p>
        </p:txBody>
      </p:sp>
      <p:sp>
        <p:nvSpPr>
          <p:cNvPr id="12" name="Shape 10"/>
          <p:cNvSpPr/>
          <p:nvPr/>
        </p:nvSpPr>
        <p:spPr>
          <a:xfrm>
            <a:off x="822960" y="2798064"/>
            <a:ext cx="10545775" cy="0"/>
          </a:xfrm>
          <a:prstGeom prst="line">
            <a:avLst/>
          </a:prstGeom>
          <a:noFill/>
          <a:ln w="12700">
            <a:solidFill>
              <a:srgbClr val="DDD7CF"/>
            </a:solidFill>
            <a:prstDash val="solid"/>
          </a:ln>
        </p:spPr>
      </p:sp>
      <p:sp>
        <p:nvSpPr>
          <p:cNvPr id="13" name="Text 11"/>
          <p:cNvSpPr txBox="1"/>
          <p:nvPr/>
        </p:nvSpPr>
        <p:spPr>
          <a:xfrm>
            <a:off x="822960" y="2926080"/>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Calibri" pitchFamily="34" charset="0"/>
                <a:ea typeface="Calibri" pitchFamily="34" charset="-122"/>
                <a:cs typeface="Calibri" pitchFamily="34" charset="-120"/>
              </a:rPr>
              <a:t>11.10</a:t>
            </a:r>
            <a:endParaRPr lang="en-US" sz="1050" dirty="0"/>
          </a:p>
        </p:txBody>
      </p:sp>
      <p:sp>
        <p:nvSpPr>
          <p:cNvPr id="14" name="Text 12"/>
          <p:cNvSpPr txBox="1"/>
          <p:nvPr/>
        </p:nvSpPr>
        <p:spPr>
          <a:xfrm>
            <a:off x="1965960" y="2926080"/>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What Is Vibecoding</a:t>
            </a:r>
            <a:endParaRPr lang="en-US" sz="1550" dirty="0"/>
          </a:p>
        </p:txBody>
      </p:sp>
      <p:sp>
        <p:nvSpPr>
          <p:cNvPr id="15" name="Text 13"/>
          <p:cNvSpPr txBox="1"/>
          <p:nvPr/>
        </p:nvSpPr>
        <p:spPr>
          <a:xfrm>
            <a:off x="5394960" y="2926080"/>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Calibri" pitchFamily="34" charset="0"/>
                <a:ea typeface="Calibri" pitchFamily="34" charset="-122"/>
                <a:cs typeface="Calibri" pitchFamily="34" charset="-120"/>
              </a:rPr>
              <a:t>Definisi, evolusi, dan landscape AI hari ini.</a:t>
            </a:r>
            <a:endParaRPr lang="en-US" sz="1200" dirty="0"/>
          </a:p>
        </p:txBody>
      </p:sp>
      <p:sp>
        <p:nvSpPr>
          <p:cNvPr id="16" name="Shape 14"/>
          <p:cNvSpPr/>
          <p:nvPr/>
        </p:nvSpPr>
        <p:spPr>
          <a:xfrm>
            <a:off x="822960" y="3310128"/>
            <a:ext cx="10545775" cy="0"/>
          </a:xfrm>
          <a:prstGeom prst="line">
            <a:avLst/>
          </a:prstGeom>
          <a:noFill/>
          <a:ln w="12700">
            <a:solidFill>
              <a:srgbClr val="DDD7CF"/>
            </a:solidFill>
            <a:prstDash val="solid"/>
          </a:ln>
        </p:spPr>
      </p:sp>
      <p:sp>
        <p:nvSpPr>
          <p:cNvPr id="17" name="Text 15"/>
          <p:cNvSpPr txBox="1"/>
          <p:nvPr/>
        </p:nvSpPr>
        <p:spPr>
          <a:xfrm>
            <a:off x="822960" y="3438144"/>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Calibri" pitchFamily="34" charset="0"/>
                <a:ea typeface="Calibri" pitchFamily="34" charset="-122"/>
                <a:cs typeface="Calibri" pitchFamily="34" charset="-120"/>
              </a:rPr>
              <a:t>11.25</a:t>
            </a:r>
            <a:endParaRPr lang="en-US" sz="1050" dirty="0"/>
          </a:p>
        </p:txBody>
      </p:sp>
      <p:sp>
        <p:nvSpPr>
          <p:cNvPr id="18" name="Text 16"/>
          <p:cNvSpPr txBox="1"/>
          <p:nvPr/>
        </p:nvSpPr>
        <p:spPr>
          <a:xfrm>
            <a:off x="1965960" y="3438144"/>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Master Workflow</a:t>
            </a:r>
            <a:endParaRPr lang="en-US" sz="1550" dirty="0"/>
          </a:p>
        </p:txBody>
      </p:sp>
      <p:sp>
        <p:nvSpPr>
          <p:cNvPr id="19" name="Text 17"/>
          <p:cNvSpPr txBox="1"/>
          <p:nvPr/>
        </p:nvSpPr>
        <p:spPr>
          <a:xfrm>
            <a:off x="5394960" y="3438144"/>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Calibri" pitchFamily="34" charset="0"/>
                <a:ea typeface="Calibri" pitchFamily="34" charset="-122"/>
                <a:cs typeface="Calibri" pitchFamily="34" charset="-120"/>
              </a:rPr>
              <a:t>Delapan langkah dari masalah ke aplikasi.</a:t>
            </a:r>
            <a:endParaRPr lang="en-US" sz="1200" dirty="0"/>
          </a:p>
        </p:txBody>
      </p:sp>
      <p:sp>
        <p:nvSpPr>
          <p:cNvPr id="20" name="Shape 18"/>
          <p:cNvSpPr/>
          <p:nvPr/>
        </p:nvSpPr>
        <p:spPr>
          <a:xfrm>
            <a:off x="822960" y="3822192"/>
            <a:ext cx="10545775" cy="0"/>
          </a:xfrm>
          <a:prstGeom prst="line">
            <a:avLst/>
          </a:prstGeom>
          <a:noFill/>
          <a:ln w="12700">
            <a:solidFill>
              <a:srgbClr val="DDD7CF"/>
            </a:solidFill>
            <a:prstDash val="solid"/>
          </a:ln>
        </p:spPr>
      </p:sp>
      <p:sp>
        <p:nvSpPr>
          <p:cNvPr id="21" name="Text 19"/>
          <p:cNvSpPr txBox="1"/>
          <p:nvPr/>
        </p:nvSpPr>
        <p:spPr>
          <a:xfrm>
            <a:off x="822960" y="3950208"/>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Calibri" pitchFamily="34" charset="0"/>
                <a:ea typeface="Calibri" pitchFamily="34" charset="-122"/>
                <a:cs typeface="Calibri" pitchFamily="34" charset="-120"/>
              </a:rPr>
              <a:t>11.40</a:t>
            </a:r>
            <a:endParaRPr lang="en-US" sz="1050" dirty="0"/>
          </a:p>
        </p:txBody>
      </p:sp>
      <p:sp>
        <p:nvSpPr>
          <p:cNvPr id="22" name="Text 20"/>
          <p:cNvSpPr txBox="1"/>
          <p:nvPr/>
        </p:nvSpPr>
        <p:spPr>
          <a:xfrm>
            <a:off x="1965960" y="3950208"/>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Business Discovery</a:t>
            </a:r>
            <a:endParaRPr lang="en-US" sz="1550" dirty="0"/>
          </a:p>
        </p:txBody>
      </p:sp>
      <p:sp>
        <p:nvSpPr>
          <p:cNvPr id="23" name="Text 21"/>
          <p:cNvSpPr txBox="1"/>
          <p:nvPr/>
        </p:nvSpPr>
        <p:spPr>
          <a:xfrm>
            <a:off x="5394960" y="3950208"/>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Calibri" pitchFamily="34" charset="0"/>
                <a:ea typeface="Calibri" pitchFamily="34" charset="-122"/>
                <a:cs typeface="Calibri" pitchFamily="34" charset="-120"/>
              </a:rPr>
              <a:t>Cari masalah bisnis nyata lewat Google Maps.</a:t>
            </a:r>
            <a:endParaRPr lang="en-US" sz="1200" dirty="0"/>
          </a:p>
        </p:txBody>
      </p:sp>
      <p:sp>
        <p:nvSpPr>
          <p:cNvPr id="24" name="Shape 22"/>
          <p:cNvSpPr/>
          <p:nvPr/>
        </p:nvSpPr>
        <p:spPr>
          <a:xfrm>
            <a:off x="822960" y="4334256"/>
            <a:ext cx="10545775" cy="0"/>
          </a:xfrm>
          <a:prstGeom prst="line">
            <a:avLst/>
          </a:prstGeom>
          <a:noFill/>
          <a:ln w="12700">
            <a:solidFill>
              <a:srgbClr val="DDD7CF"/>
            </a:solidFill>
            <a:prstDash val="solid"/>
          </a:ln>
        </p:spPr>
      </p:sp>
      <p:sp>
        <p:nvSpPr>
          <p:cNvPr id="25" name="Text 23"/>
          <p:cNvSpPr txBox="1"/>
          <p:nvPr/>
        </p:nvSpPr>
        <p:spPr>
          <a:xfrm>
            <a:off x="822960" y="4462272"/>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Calibri" pitchFamily="34" charset="0"/>
                <a:ea typeface="Calibri" pitchFamily="34" charset="-122"/>
                <a:cs typeface="Calibri" pitchFamily="34" charset="-120"/>
              </a:rPr>
              <a:t>13.10</a:t>
            </a:r>
            <a:endParaRPr lang="en-US" sz="1050" dirty="0"/>
          </a:p>
        </p:txBody>
      </p:sp>
      <p:sp>
        <p:nvSpPr>
          <p:cNvPr id="26" name="Text 24"/>
          <p:cNvSpPr txBox="1"/>
          <p:nvPr/>
        </p:nvSpPr>
        <p:spPr>
          <a:xfrm>
            <a:off x="1965960" y="4462272"/>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Documentation</a:t>
            </a:r>
            <a:endParaRPr lang="en-US" sz="1550" dirty="0"/>
          </a:p>
        </p:txBody>
      </p:sp>
      <p:sp>
        <p:nvSpPr>
          <p:cNvPr id="27" name="Text 25"/>
          <p:cNvSpPr txBox="1"/>
          <p:nvPr/>
        </p:nvSpPr>
        <p:spPr>
          <a:xfrm>
            <a:off x="5394960" y="4462272"/>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Calibri" pitchFamily="34" charset="0"/>
                <a:ea typeface="Calibri" pitchFamily="34" charset="-122"/>
                <a:cs typeface="Calibri" pitchFamily="34" charset="-120"/>
              </a:rPr>
              <a:t>Menulis PRD, Scope, Design, dan Task di IDE.</a:t>
            </a:r>
            <a:endParaRPr lang="en-US" sz="1200" dirty="0"/>
          </a:p>
        </p:txBody>
      </p:sp>
      <p:sp>
        <p:nvSpPr>
          <p:cNvPr id="28" name="Shape 26"/>
          <p:cNvSpPr/>
          <p:nvPr/>
        </p:nvSpPr>
        <p:spPr>
          <a:xfrm>
            <a:off x="822960" y="4846320"/>
            <a:ext cx="10545775" cy="0"/>
          </a:xfrm>
          <a:prstGeom prst="line">
            <a:avLst/>
          </a:prstGeom>
          <a:noFill/>
          <a:ln w="12700">
            <a:solidFill>
              <a:srgbClr val="DDD7CF"/>
            </a:solidFill>
            <a:prstDash val="solid"/>
          </a:ln>
        </p:spPr>
      </p:sp>
      <p:sp>
        <p:nvSpPr>
          <p:cNvPr id="29" name="Text 27"/>
          <p:cNvSpPr txBox="1"/>
          <p:nvPr/>
        </p:nvSpPr>
        <p:spPr>
          <a:xfrm>
            <a:off x="822960" y="4974336"/>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Calibri" pitchFamily="34" charset="0"/>
                <a:ea typeface="Calibri" pitchFamily="34" charset="-122"/>
                <a:cs typeface="Calibri" pitchFamily="34" charset="-120"/>
              </a:rPr>
              <a:t>13.20</a:t>
            </a:r>
            <a:endParaRPr lang="en-US" sz="1050" dirty="0"/>
          </a:p>
        </p:txBody>
      </p:sp>
      <p:sp>
        <p:nvSpPr>
          <p:cNvPr id="30" name="Text 28"/>
          <p:cNvSpPr txBox="1"/>
          <p:nvPr/>
        </p:nvSpPr>
        <p:spPr>
          <a:xfrm>
            <a:off x="1965960" y="4974336"/>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Agentic Development</a:t>
            </a:r>
            <a:endParaRPr lang="en-US" sz="1550" dirty="0"/>
          </a:p>
        </p:txBody>
      </p:sp>
      <p:sp>
        <p:nvSpPr>
          <p:cNvPr id="31" name="Text 29"/>
          <p:cNvSpPr txBox="1"/>
          <p:nvPr/>
        </p:nvSpPr>
        <p:spPr>
          <a:xfrm>
            <a:off x="5394960" y="4974336"/>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Calibri" pitchFamily="34" charset="0"/>
                <a:ea typeface="Calibri" pitchFamily="34" charset="-122"/>
                <a:cs typeface="Calibri" pitchFamily="34" charset="-120"/>
              </a:rPr>
              <a:t>Planner dan Executor membangun aplikasi.</a:t>
            </a:r>
            <a:endParaRPr lang="en-US" sz="1200" dirty="0"/>
          </a:p>
        </p:txBody>
      </p:sp>
      <p:sp>
        <p:nvSpPr>
          <p:cNvPr id="32" name="Shape 30"/>
          <p:cNvSpPr/>
          <p:nvPr/>
        </p:nvSpPr>
        <p:spPr>
          <a:xfrm>
            <a:off x="822960" y="5358384"/>
            <a:ext cx="10545775" cy="0"/>
          </a:xfrm>
          <a:prstGeom prst="line">
            <a:avLst/>
          </a:prstGeom>
          <a:noFill/>
          <a:ln w="12700">
            <a:solidFill>
              <a:srgbClr val="DDD7CF"/>
            </a:solidFill>
            <a:prstDash val="solid"/>
          </a:ln>
        </p:spPr>
      </p:sp>
      <p:sp>
        <p:nvSpPr>
          <p:cNvPr id="33" name="Text 31"/>
          <p:cNvSpPr txBox="1"/>
          <p:nvPr/>
        </p:nvSpPr>
        <p:spPr>
          <a:xfrm>
            <a:off x="822960" y="5486400"/>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Calibri" pitchFamily="34" charset="0"/>
                <a:ea typeface="Calibri" pitchFamily="34" charset="-122"/>
                <a:cs typeface="Calibri" pitchFamily="34" charset="-120"/>
              </a:rPr>
              <a:t>13.50</a:t>
            </a:r>
            <a:endParaRPr lang="en-US" sz="1050" dirty="0"/>
          </a:p>
        </p:txBody>
      </p:sp>
      <p:sp>
        <p:nvSpPr>
          <p:cNvPr id="34" name="Text 32"/>
          <p:cNvSpPr txBox="1"/>
          <p:nvPr/>
        </p:nvSpPr>
        <p:spPr>
          <a:xfrm>
            <a:off x="1965960" y="5486400"/>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Deploy &amp; Audit</a:t>
            </a:r>
            <a:endParaRPr lang="en-US" sz="1550" dirty="0"/>
          </a:p>
        </p:txBody>
      </p:sp>
      <p:sp>
        <p:nvSpPr>
          <p:cNvPr id="35" name="Text 33"/>
          <p:cNvSpPr txBox="1"/>
          <p:nvPr/>
        </p:nvSpPr>
        <p:spPr>
          <a:xfrm>
            <a:off x="5394960" y="5486400"/>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Calibri" pitchFamily="34" charset="0"/>
                <a:ea typeface="Calibri" pitchFamily="34" charset="-122"/>
                <a:cs typeface="Calibri" pitchFamily="34" charset="-120"/>
              </a:rPr>
              <a:t>Naikkan ke production, lalu bedah hasilnya.</a:t>
            </a:r>
            <a:endParaRPr lang="en-US" sz="1200" dirty="0"/>
          </a:p>
        </p:txBody>
      </p:sp>
      <p:sp>
        <p:nvSpPr>
          <p:cNvPr id="36" name="Shape 34"/>
          <p:cNvSpPr/>
          <p:nvPr/>
        </p:nvSpPr>
        <p:spPr>
          <a:xfrm>
            <a:off x="822960" y="5870448"/>
            <a:ext cx="10545775" cy="0"/>
          </a:xfrm>
          <a:prstGeom prst="line">
            <a:avLst/>
          </a:prstGeom>
          <a:noFill/>
          <a:ln w="12700">
            <a:solidFill>
              <a:srgbClr val="DDD7CF"/>
            </a:solidFill>
            <a:prstDash val="solid"/>
          </a:ln>
        </p:spPr>
      </p:sp>
      <p:sp>
        <p:nvSpPr>
          <p:cNvPr id="37" name="Text 35"/>
          <p:cNvSpPr txBox="1"/>
          <p:nvPr/>
        </p:nvSpPr>
        <p:spPr>
          <a:xfrm>
            <a:off x="822960" y="5998464"/>
            <a:ext cx="822960" cy="256032"/>
          </a:xfrm>
          <a:prstGeom prst="rect">
            <a:avLst/>
          </a:prstGeom>
          <a:noFill/>
          <a:ln/>
        </p:spPr>
        <p:txBody>
          <a:bodyPr wrap="square" lIns="0" tIns="0" rIns="0" bIns="0" rtlCol="0" anchor="ctr"/>
          <a:lstStyle/>
          <a:p>
            <a:pPr algn="l" indent="0" marL="0">
              <a:lnSpc>
                <a:spcPct val="122000"/>
              </a:lnSpc>
              <a:buNone/>
            </a:pPr>
            <a:r>
              <a:rPr lang="en-US" sz="1050" b="1" spc="60" kern="0" dirty="0">
                <a:solidFill>
                  <a:srgbClr val="635C77"/>
                </a:solidFill>
                <a:latin typeface="Calibri" pitchFamily="34" charset="0"/>
                <a:ea typeface="Calibri" pitchFamily="34" charset="-122"/>
                <a:cs typeface="Calibri" pitchFamily="34" charset="-120"/>
              </a:rPr>
              <a:t>14.30</a:t>
            </a:r>
            <a:endParaRPr lang="en-US" sz="1050" dirty="0"/>
          </a:p>
        </p:txBody>
      </p:sp>
      <p:sp>
        <p:nvSpPr>
          <p:cNvPr id="38" name="Text 36"/>
          <p:cNvSpPr txBox="1"/>
          <p:nvPr/>
        </p:nvSpPr>
        <p:spPr>
          <a:xfrm>
            <a:off x="1965960" y="5998464"/>
            <a:ext cx="3108960" cy="256032"/>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Q&amp;A</a:t>
            </a:r>
            <a:endParaRPr lang="en-US" sz="1550" dirty="0"/>
          </a:p>
        </p:txBody>
      </p:sp>
      <p:sp>
        <p:nvSpPr>
          <p:cNvPr id="39" name="Text 37"/>
          <p:cNvSpPr txBox="1"/>
          <p:nvPr/>
        </p:nvSpPr>
        <p:spPr>
          <a:xfrm>
            <a:off x="5394960" y="5998464"/>
            <a:ext cx="5973775"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Calibri" pitchFamily="34" charset="0"/>
                <a:ea typeface="Calibri" pitchFamily="34" charset="-122"/>
                <a:cs typeface="Calibri" pitchFamily="34" charset="-120"/>
              </a:rPr>
              <a:t>Diskusi terbuka dan arah belajar berikutnya.</a:t>
            </a:r>
            <a:endParaRPr lang="en-US" sz="1200" dirty="0"/>
          </a:p>
        </p:txBody>
      </p:sp>
      <p:sp>
        <p:nvSpPr>
          <p:cNvPr id="40" name="Shape 38"/>
          <p:cNvSpPr/>
          <p:nvPr/>
        </p:nvSpPr>
        <p:spPr>
          <a:xfrm>
            <a:off x="822960" y="6382512"/>
            <a:ext cx="10545775" cy="0"/>
          </a:xfrm>
          <a:prstGeom prst="line">
            <a:avLst/>
          </a:prstGeom>
          <a:noFill/>
          <a:ln w="12700">
            <a:solidFill>
              <a:srgbClr val="DDD7CF"/>
            </a:solidFill>
            <a:prstDash val="solid"/>
          </a:ln>
        </p:spPr>
      </p:sp>
      <p:sp>
        <p:nvSpPr>
          <p:cNvPr id="41" name="Text 39"/>
          <p:cNvSpPr txBox="1"/>
          <p:nvPr/>
        </p:nvSpPr>
        <p:spPr>
          <a:xfrm>
            <a:off x="822960" y="6364224"/>
            <a:ext cx="5486400" cy="182880"/>
          </a:xfrm>
          <a:prstGeom prst="rect">
            <a:avLst/>
          </a:prstGeom>
          <a:noFill/>
          <a:ln/>
        </p:spPr>
        <p:txBody>
          <a:bodyPr wrap="square" lIns="0" tIns="0" rIns="0" bIns="0" rtlCol="0" anchor="t"/>
          <a:lstStyle/>
          <a:p>
            <a:pPr algn="l" indent="0" marL="0">
              <a:lnSpc>
                <a:spcPct val="122000"/>
              </a:lnSpc>
              <a:buNone/>
            </a:pP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1C2B"/>
        </a:solidFill>
      </p:bgPr>
    </p:bg>
    <p:spTree>
      <p:nvGrpSpPr>
        <p:cNvPr id="1" name=""/>
        <p:cNvGrpSpPr/>
        <p:nvPr/>
      </p:nvGrpSpPr>
      <p:grpSpPr>
        <a:xfrm>
          <a:off x="0" y="0"/>
          <a:ext cx="0" cy="0"/>
          <a:chOff x="0" y="0"/>
          <a:chExt cx="0" cy="0"/>
        </a:xfrm>
      </p:grpSpPr>
      <p:pic>
        <p:nvPicPr>
          <p:cNvPr id="2" name="Image 0" descr="C:\Seminar\generator\assets\photos\section-cod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1C2B">
              <a:alpha val="70000"/>
            </a:srgbClr>
          </a:solidFill>
          <a:ln/>
        </p:spPr>
      </p:sp>
      <p:sp>
        <p:nvSpPr>
          <p:cNvPr id="4" name="Text 1"/>
          <p:cNvSpPr txBox="1"/>
          <p:nvPr/>
        </p:nvSpPr>
        <p:spPr>
          <a:xfrm>
            <a:off x="822960" y="960120"/>
            <a:ext cx="5486400" cy="219456"/>
          </a:xfrm>
          <a:prstGeom prst="rect">
            <a:avLst/>
          </a:prstGeom>
          <a:noFill/>
          <a:ln/>
        </p:spPr>
        <p:txBody>
          <a:bodyPr wrap="square" lIns="0" tIns="0" rIns="0" bIns="0" rtlCol="0" anchor="ctr"/>
          <a:lstStyle/>
          <a:p>
            <a:pPr algn="l" indent="0" marL="0">
              <a:lnSpc>
                <a:spcPct val="122000"/>
              </a:lnSpc>
              <a:buNone/>
            </a:pPr>
            <a:r>
              <a:rPr lang="en-US" sz="900" b="1" spc="220" kern="0" dirty="0">
                <a:solidFill>
                  <a:srgbClr val="B5AEC6"/>
                </a:solidFill>
                <a:latin typeface="Calibri" pitchFamily="34" charset="0"/>
                <a:ea typeface="Calibri" pitchFamily="34" charset="-122"/>
                <a:cs typeface="Calibri" pitchFamily="34" charset="-120"/>
              </a:rPr>
              <a:t>SECTION 02</a:t>
            </a:r>
            <a:endParaRPr lang="en-US" sz="900" dirty="0"/>
          </a:p>
        </p:txBody>
      </p:sp>
      <p:sp>
        <p:nvSpPr>
          <p:cNvPr id="5" name="Text 2"/>
          <p:cNvSpPr txBox="1"/>
          <p:nvPr/>
        </p:nvSpPr>
        <p:spPr>
          <a:xfrm>
            <a:off x="822960" y="1737360"/>
            <a:ext cx="2743200" cy="1737360"/>
          </a:xfrm>
          <a:prstGeom prst="rect">
            <a:avLst/>
          </a:prstGeom>
          <a:noFill/>
          <a:ln/>
        </p:spPr>
        <p:txBody>
          <a:bodyPr wrap="square" lIns="0" tIns="0" rIns="0" bIns="0" rtlCol="0" anchor="t"/>
          <a:lstStyle/>
          <a:p>
            <a:pPr algn="l" indent="0" marL="0">
              <a:lnSpc>
                <a:spcPct val="100000"/>
              </a:lnSpc>
              <a:buNone/>
            </a:pPr>
            <a:r>
              <a:rPr lang="en-US" sz="13200" b="1" dirty="0">
                <a:solidFill>
                  <a:srgbClr val="FFFFFF"/>
                </a:solidFill>
                <a:latin typeface="Calibri" pitchFamily="34" charset="0"/>
                <a:ea typeface="Calibri" pitchFamily="34" charset="-122"/>
                <a:cs typeface="Calibri" pitchFamily="34" charset="-120"/>
              </a:rPr>
              <a:t>02</a:t>
            </a:r>
            <a:endParaRPr lang="en-US" sz="13200" dirty="0"/>
          </a:p>
        </p:txBody>
      </p:sp>
      <p:sp>
        <p:nvSpPr>
          <p:cNvPr id="6" name="Text 3"/>
          <p:cNvSpPr txBox="1"/>
          <p:nvPr/>
        </p:nvSpPr>
        <p:spPr>
          <a:xfrm>
            <a:off x="822960" y="3749040"/>
            <a:ext cx="8778240" cy="822960"/>
          </a:xfrm>
          <a:prstGeom prst="rect">
            <a:avLst/>
          </a:prstGeom>
          <a:noFill/>
          <a:ln/>
        </p:spPr>
        <p:txBody>
          <a:bodyPr wrap="square" lIns="0" tIns="0" rIns="0" bIns="0" rtlCol="0" anchor="t"/>
          <a:lstStyle/>
          <a:p>
            <a:pPr algn="l" indent="0" marL="0">
              <a:lnSpc>
                <a:spcPct val="110000"/>
              </a:lnSpc>
              <a:buNone/>
            </a:pPr>
            <a:r>
              <a:rPr lang="en-US" sz="4600" b="1" dirty="0">
                <a:solidFill>
                  <a:srgbClr val="F8F4EF"/>
                </a:solidFill>
                <a:latin typeface="Calibri" pitchFamily="34" charset="0"/>
                <a:ea typeface="Calibri" pitchFamily="34" charset="-122"/>
                <a:cs typeface="Calibri" pitchFamily="34" charset="-120"/>
              </a:rPr>
              <a:t>What Is Vibecoding</a:t>
            </a:r>
            <a:endParaRPr lang="en-US" sz="4600" dirty="0"/>
          </a:p>
        </p:txBody>
      </p:sp>
      <p:sp>
        <p:nvSpPr>
          <p:cNvPr id="7" name="Text 4"/>
          <p:cNvSpPr txBox="1"/>
          <p:nvPr/>
        </p:nvSpPr>
        <p:spPr>
          <a:xfrm>
            <a:off x="822960" y="4800600"/>
            <a:ext cx="6583680" cy="731520"/>
          </a:xfrm>
          <a:prstGeom prst="rect">
            <a:avLst/>
          </a:prstGeom>
          <a:noFill/>
          <a:ln/>
        </p:spPr>
        <p:txBody>
          <a:bodyPr wrap="square" lIns="0" tIns="0" rIns="0" bIns="0" rtlCol="0" anchor="t"/>
          <a:lstStyle/>
          <a:p>
            <a:pPr algn="l" indent="0" marL="0">
              <a:lnSpc>
                <a:spcPct val="150000"/>
              </a:lnSpc>
              <a:buNone/>
            </a:pPr>
            <a:r>
              <a:rPr lang="en-US" sz="1650" dirty="0">
                <a:solidFill>
                  <a:srgbClr val="CFC9DC"/>
                </a:solidFill>
                <a:latin typeface="Calibri" pitchFamily="34" charset="0"/>
                <a:ea typeface="Calibri" pitchFamily="34" charset="-122"/>
                <a:cs typeface="Calibri" pitchFamily="34" charset="-120"/>
              </a:rPr>
              <a:t>Menyamakan persepsi: apa yang sebenarnya berubah ketika AI masuk ke proses engineering.</a:t>
            </a:r>
            <a:endParaRPr lang="en-US" sz="1650" dirty="0"/>
          </a:p>
        </p:txBody>
      </p:sp>
      <p:sp>
        <p:nvSpPr>
          <p:cNvPr id="8" name="Text 5"/>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9" name="Text 6"/>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Calibri" pitchFamily="34" charset="0"/>
                <a:ea typeface="Calibri" pitchFamily="34" charset="-122"/>
                <a:cs typeface="Calibri"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02  ·  WHAT IS VIBECODING</a:t>
            </a:r>
            <a:endParaRPr lang="en-US" sz="850" dirty="0"/>
          </a:p>
        </p:txBody>
      </p:sp>
      <p:sp>
        <p:nvSpPr>
          <p:cNvPr id="4" name="Text 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5" name="Text 3"/>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05</a:t>
            </a:r>
            <a:endParaRPr lang="en-US" sz="800" dirty="0"/>
          </a:p>
        </p:txBody>
      </p:sp>
      <p:sp>
        <p:nvSpPr>
          <p:cNvPr id="6" name="Text 4"/>
          <p:cNvSpPr txBox="1"/>
          <p:nvPr/>
        </p:nvSpPr>
        <p:spPr>
          <a:xfrm>
            <a:off x="822960" y="914400"/>
            <a:ext cx="5029200" cy="932688"/>
          </a:xfrm>
          <a:prstGeom prst="rect">
            <a:avLst/>
          </a:prstGeom>
          <a:noFill/>
          <a:ln/>
        </p:spPr>
        <p:txBody>
          <a:bodyPr wrap="square" lIns="0" tIns="0" rIns="0" bIns="0" rtlCol="0" anchor="t"/>
          <a:lstStyle/>
          <a:p>
            <a:pPr algn="l" indent="0" marL="0">
              <a:lnSpc>
                <a:spcPct val="112000"/>
              </a:lnSpc>
              <a:buNone/>
            </a:pPr>
            <a:r>
              <a:rPr lang="en-US" sz="3200" b="1" dirty="0">
                <a:solidFill>
                  <a:srgbClr val="1A1A1A"/>
                </a:solidFill>
                <a:latin typeface="Calibri" pitchFamily="34" charset="0"/>
                <a:ea typeface="Calibri" pitchFamily="34" charset="-122"/>
                <a:cs typeface="Calibri" pitchFamily="34" charset="-120"/>
              </a:rPr>
              <a:t>Cara lama</a:t>
            </a:r>
            <a:endParaRPr lang="en-US" sz="3200" dirty="0"/>
          </a:p>
          <a:p>
            <a:pPr algn="l" indent="0" marL="0">
              <a:lnSpc>
                <a:spcPct val="112000"/>
              </a:lnSpc>
              <a:buNone/>
            </a:pPr>
            <a:r>
              <a:rPr lang="en-US" sz="3200" b="1" dirty="0">
                <a:solidFill>
                  <a:srgbClr val="1A1A1A"/>
                </a:solidFill>
                <a:latin typeface="Calibri" pitchFamily="34" charset="0"/>
                <a:ea typeface="Calibri" pitchFamily="34" charset="-122"/>
                <a:cs typeface="Calibri" pitchFamily="34" charset="-120"/>
              </a:rPr>
              <a:t>membangun software</a:t>
            </a:r>
            <a:endParaRPr lang="en-US" sz="3200" dirty="0"/>
          </a:p>
        </p:txBody>
      </p:sp>
      <p:sp>
        <p:nvSpPr>
          <p:cNvPr id="7" name="Text 5"/>
          <p:cNvSpPr txBox="1"/>
          <p:nvPr/>
        </p:nvSpPr>
        <p:spPr>
          <a:xfrm>
            <a:off x="822960" y="2084832"/>
            <a:ext cx="3840480" cy="1371600"/>
          </a:xfrm>
          <a:prstGeom prst="rect">
            <a:avLst/>
          </a:prstGeom>
          <a:noFill/>
          <a:ln/>
        </p:spPr>
        <p:txBody>
          <a:bodyPr wrap="square" lIns="0" tIns="0" rIns="0" bIns="0" rtlCol="0" anchor="t"/>
          <a:lstStyle/>
          <a:p>
            <a:pPr algn="l" indent="0" marL="0">
              <a:lnSpc>
                <a:spcPct val="100000"/>
              </a:lnSpc>
              <a:buNone/>
            </a:pPr>
            <a:r>
              <a:rPr lang="en-US" sz="11200" b="1" dirty="0">
                <a:solidFill>
                  <a:srgbClr val="1A1A1A"/>
                </a:solidFill>
                <a:latin typeface="Calibri" pitchFamily="34" charset="0"/>
                <a:ea typeface="Calibri" pitchFamily="34" charset="-122"/>
                <a:cs typeface="Calibri" pitchFamily="34" charset="-120"/>
              </a:rPr>
              <a:t>3–6</a:t>
            </a:r>
            <a:endParaRPr lang="en-US" sz="11200" dirty="0"/>
          </a:p>
        </p:txBody>
      </p:sp>
      <p:sp>
        <p:nvSpPr>
          <p:cNvPr id="8" name="Text 6"/>
          <p:cNvSpPr txBox="1"/>
          <p:nvPr/>
        </p:nvSpPr>
        <p:spPr>
          <a:xfrm>
            <a:off x="822960" y="3584448"/>
            <a:ext cx="4206240" cy="457200"/>
          </a:xfrm>
          <a:prstGeom prst="rect">
            <a:avLst/>
          </a:prstGeom>
          <a:noFill/>
          <a:ln/>
        </p:spPr>
        <p:txBody>
          <a:bodyPr wrap="square" lIns="0" tIns="0" rIns="0" bIns="0" rtlCol="0" anchor="t"/>
          <a:lstStyle/>
          <a:p>
            <a:pPr algn="l" indent="0" marL="0">
              <a:lnSpc>
                <a:spcPct val="150000"/>
              </a:lnSpc>
              <a:buNone/>
            </a:pPr>
            <a:r>
              <a:rPr lang="en-US" sz="900" b="1" spc="190" kern="0" dirty="0">
                <a:solidFill>
                  <a:srgbClr val="847E96"/>
                </a:solidFill>
                <a:latin typeface="Calibri" pitchFamily="34" charset="0"/>
                <a:ea typeface="Calibri" pitchFamily="34" charset="-122"/>
                <a:cs typeface="Calibri" pitchFamily="34" charset="-120"/>
              </a:rPr>
              <a:t>BULAN SEBELUM ADA YANG BISA DIPAKAI</a:t>
            </a:r>
            <a:endParaRPr lang="en-US" sz="900" dirty="0"/>
          </a:p>
        </p:txBody>
      </p:sp>
      <p:sp>
        <p:nvSpPr>
          <p:cNvPr id="9" name="Text 7"/>
          <p:cNvSpPr txBox="1"/>
          <p:nvPr/>
        </p:nvSpPr>
        <p:spPr>
          <a:xfrm>
            <a:off x="822960" y="4133088"/>
            <a:ext cx="4480560" cy="1097280"/>
          </a:xfrm>
          <a:prstGeom prst="rect">
            <a:avLst/>
          </a:prstGeom>
          <a:noFill/>
          <a:ln/>
        </p:spPr>
        <p:txBody>
          <a:bodyPr wrap="square" lIns="0" tIns="0" rIns="0" bIns="0" rtlCol="0" anchor="t"/>
          <a:lstStyle/>
          <a:p>
            <a:pPr algn="l" indent="0" marL="0">
              <a:lnSpc>
                <a:spcPct val="160000"/>
              </a:lnSpc>
              <a:buNone/>
            </a:pPr>
            <a:r>
              <a:rPr lang="en-US" sz="1250" dirty="0">
                <a:solidFill>
                  <a:srgbClr val="5F5F5F"/>
                </a:solidFill>
                <a:latin typeface="Calibri" pitchFamily="34" charset="0"/>
                <a:ea typeface="Calibri" pitchFamily="34" charset="-122"/>
                <a:cs typeface="Calibri" pitchFamily="34" charset="-120"/>
              </a:rPr>
              <a:t>Ide muncul, developer langsung menulis kode, lalu berharap hasilnya sesuai kebutuhan. Dokumentasi menyusul belakangan — kalau sempat.</a:t>
            </a:r>
            <a:endParaRPr lang="en-US" sz="1250" dirty="0"/>
          </a:p>
        </p:txBody>
      </p:sp>
      <p:sp>
        <p:nvSpPr>
          <p:cNvPr id="10" name="Text 8"/>
          <p:cNvSpPr txBox="1"/>
          <p:nvPr/>
        </p:nvSpPr>
        <p:spPr>
          <a:xfrm>
            <a:off x="822960" y="5532120"/>
            <a:ext cx="1097280" cy="274320"/>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Idea</a:t>
            </a:r>
            <a:endParaRPr lang="en-US" sz="1450" dirty="0"/>
          </a:p>
        </p:txBody>
      </p:sp>
      <p:sp>
        <p:nvSpPr>
          <p:cNvPr id="11" name="Shape 9"/>
          <p:cNvSpPr/>
          <p:nvPr/>
        </p:nvSpPr>
        <p:spPr>
          <a:xfrm>
            <a:off x="1883664" y="5669280"/>
            <a:ext cx="137160" cy="0"/>
          </a:xfrm>
          <a:prstGeom prst="line">
            <a:avLst/>
          </a:prstGeom>
          <a:noFill/>
          <a:ln w="15875">
            <a:solidFill>
              <a:srgbClr val="B5AEC6"/>
            </a:solidFill>
            <a:prstDash val="solid"/>
          </a:ln>
        </p:spPr>
      </p:sp>
      <p:sp>
        <p:nvSpPr>
          <p:cNvPr id="12" name="Shape 10"/>
          <p:cNvSpPr/>
          <p:nvPr/>
        </p:nvSpPr>
        <p:spPr>
          <a:xfrm rot="5400000">
            <a:off x="2011680" y="5618988"/>
            <a:ext cx="91440" cy="100584"/>
          </a:xfrm>
          <a:prstGeom prst="triangle">
            <a:avLst/>
          </a:prstGeom>
          <a:solidFill>
            <a:srgbClr val="B5AEC6"/>
          </a:solidFill>
          <a:ln/>
        </p:spPr>
      </p:sp>
      <p:sp>
        <p:nvSpPr>
          <p:cNvPr id="13" name="Text 11"/>
          <p:cNvSpPr txBox="1"/>
          <p:nvPr/>
        </p:nvSpPr>
        <p:spPr>
          <a:xfrm>
            <a:off x="2194560" y="5532120"/>
            <a:ext cx="1097280" cy="274320"/>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Coding</a:t>
            </a:r>
            <a:endParaRPr lang="en-US" sz="1450" dirty="0"/>
          </a:p>
        </p:txBody>
      </p:sp>
      <p:sp>
        <p:nvSpPr>
          <p:cNvPr id="14" name="Shape 12"/>
          <p:cNvSpPr/>
          <p:nvPr/>
        </p:nvSpPr>
        <p:spPr>
          <a:xfrm>
            <a:off x="3255264" y="5669280"/>
            <a:ext cx="137160" cy="0"/>
          </a:xfrm>
          <a:prstGeom prst="line">
            <a:avLst/>
          </a:prstGeom>
          <a:noFill/>
          <a:ln w="15875">
            <a:solidFill>
              <a:srgbClr val="B5AEC6"/>
            </a:solidFill>
            <a:prstDash val="solid"/>
          </a:ln>
        </p:spPr>
      </p:sp>
      <p:sp>
        <p:nvSpPr>
          <p:cNvPr id="15" name="Shape 13"/>
          <p:cNvSpPr/>
          <p:nvPr/>
        </p:nvSpPr>
        <p:spPr>
          <a:xfrm rot="5400000">
            <a:off x="3383280" y="5618988"/>
            <a:ext cx="91440" cy="100584"/>
          </a:xfrm>
          <a:prstGeom prst="triangle">
            <a:avLst/>
          </a:prstGeom>
          <a:solidFill>
            <a:srgbClr val="B5AEC6"/>
          </a:solidFill>
          <a:ln/>
        </p:spPr>
      </p:sp>
      <p:sp>
        <p:nvSpPr>
          <p:cNvPr id="16" name="Text 14"/>
          <p:cNvSpPr txBox="1"/>
          <p:nvPr/>
        </p:nvSpPr>
        <p:spPr>
          <a:xfrm>
            <a:off x="3566160" y="5532120"/>
            <a:ext cx="1097280" cy="274320"/>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Deploy</a:t>
            </a:r>
            <a:endParaRPr lang="en-US" sz="1450" dirty="0"/>
          </a:p>
        </p:txBody>
      </p:sp>
      <p:sp>
        <p:nvSpPr>
          <p:cNvPr id="17" name="Shape 15"/>
          <p:cNvSpPr/>
          <p:nvPr/>
        </p:nvSpPr>
        <p:spPr>
          <a:xfrm>
            <a:off x="5943600" y="960120"/>
            <a:ext cx="0" cy="4846320"/>
          </a:xfrm>
          <a:prstGeom prst="line">
            <a:avLst/>
          </a:prstGeom>
          <a:noFill/>
          <a:ln w="12700">
            <a:solidFill>
              <a:srgbClr val="DDD7CF"/>
            </a:solidFill>
            <a:prstDash val="solid"/>
          </a:ln>
        </p:spPr>
      </p:sp>
      <p:sp>
        <p:nvSpPr>
          <p:cNvPr id="18" name="Text 16"/>
          <p:cNvSpPr txBox="1"/>
          <p:nvPr/>
        </p:nvSpPr>
        <p:spPr>
          <a:xfrm>
            <a:off x="6492240" y="960120"/>
            <a:ext cx="4846320" cy="219456"/>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DI MANA BIAYANYA</a:t>
            </a:r>
            <a:endParaRPr lang="en-US" sz="850" dirty="0"/>
          </a:p>
        </p:txBody>
      </p:sp>
      <p:sp>
        <p:nvSpPr>
          <p:cNvPr id="19" name="Shape 17"/>
          <p:cNvSpPr/>
          <p:nvPr/>
        </p:nvSpPr>
        <p:spPr>
          <a:xfrm>
            <a:off x="6492240" y="1481328"/>
            <a:ext cx="4873752" cy="0"/>
          </a:xfrm>
          <a:prstGeom prst="line">
            <a:avLst/>
          </a:prstGeom>
          <a:noFill/>
          <a:ln w="12700">
            <a:solidFill>
              <a:srgbClr val="DDD7CF"/>
            </a:solidFill>
            <a:prstDash val="solid"/>
          </a:ln>
        </p:spPr>
      </p:sp>
      <p:sp>
        <p:nvSpPr>
          <p:cNvPr id="20" name="Text 18"/>
          <p:cNvSpPr txBox="1"/>
          <p:nvPr/>
        </p:nvSpPr>
        <p:spPr>
          <a:xfrm>
            <a:off x="6492240" y="1682496"/>
            <a:ext cx="4873752" cy="274320"/>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Calibri" pitchFamily="34" charset="0"/>
                <a:ea typeface="Calibri" pitchFamily="34" charset="-122"/>
                <a:cs typeface="Calibri" pitchFamily="34" charset="-120"/>
              </a:rPr>
              <a:t>Kebutuhan berubah di tengah jalan</a:t>
            </a:r>
            <a:endParaRPr lang="en-US" sz="1600" dirty="0"/>
          </a:p>
        </p:txBody>
      </p:sp>
      <p:sp>
        <p:nvSpPr>
          <p:cNvPr id="21" name="Text 19"/>
          <p:cNvSpPr txBox="1"/>
          <p:nvPr/>
        </p:nvSpPr>
        <p:spPr>
          <a:xfrm>
            <a:off x="6492240" y="2029968"/>
            <a:ext cx="4754880" cy="566928"/>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Calibri" pitchFamily="34" charset="0"/>
                <a:ea typeface="Calibri" pitchFamily="34" charset="-122"/>
                <a:cs typeface="Calibri" pitchFamily="34" charset="-120"/>
              </a:rPr>
              <a:t>Tidak ada dokumen yang disepakati, jadi setiap orang punya versi kebenarannya sendiri.</a:t>
            </a:r>
            <a:endParaRPr lang="en-US" sz="1050" dirty="0"/>
          </a:p>
        </p:txBody>
      </p:sp>
      <p:sp>
        <p:nvSpPr>
          <p:cNvPr id="22" name="Shape 20"/>
          <p:cNvSpPr/>
          <p:nvPr/>
        </p:nvSpPr>
        <p:spPr>
          <a:xfrm>
            <a:off x="6492240" y="2962656"/>
            <a:ext cx="4873752" cy="0"/>
          </a:xfrm>
          <a:prstGeom prst="line">
            <a:avLst/>
          </a:prstGeom>
          <a:noFill/>
          <a:ln w="12700">
            <a:solidFill>
              <a:srgbClr val="DDD7CF"/>
            </a:solidFill>
            <a:prstDash val="solid"/>
          </a:ln>
        </p:spPr>
      </p:sp>
      <p:sp>
        <p:nvSpPr>
          <p:cNvPr id="23" name="Text 21"/>
          <p:cNvSpPr txBox="1"/>
          <p:nvPr/>
        </p:nvSpPr>
        <p:spPr>
          <a:xfrm>
            <a:off x="6492240" y="3163824"/>
            <a:ext cx="4873752" cy="274320"/>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Calibri" pitchFamily="34" charset="0"/>
                <a:ea typeface="Calibri" pitchFamily="34" charset="-122"/>
                <a:cs typeface="Calibri" pitchFamily="34" charset="-120"/>
              </a:rPr>
              <a:t>Scope melebar tanpa disadari</a:t>
            </a:r>
            <a:endParaRPr lang="en-US" sz="1600" dirty="0"/>
          </a:p>
        </p:txBody>
      </p:sp>
      <p:sp>
        <p:nvSpPr>
          <p:cNvPr id="24" name="Text 22"/>
          <p:cNvSpPr txBox="1"/>
          <p:nvPr/>
        </p:nvSpPr>
        <p:spPr>
          <a:xfrm>
            <a:off x="6492240" y="3511296"/>
            <a:ext cx="4754880" cy="566928"/>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Calibri" pitchFamily="34" charset="0"/>
                <a:ea typeface="Calibri" pitchFamily="34" charset="-122"/>
                <a:cs typeface="Calibri" pitchFamily="34" charset="-120"/>
              </a:rPr>
              <a:t>Fitur bertambah satu per satu sampai timeline dan tim ikut berantakan.</a:t>
            </a:r>
            <a:endParaRPr lang="en-US" sz="1050" dirty="0"/>
          </a:p>
        </p:txBody>
      </p:sp>
      <p:sp>
        <p:nvSpPr>
          <p:cNvPr id="25" name="Shape 23"/>
          <p:cNvSpPr/>
          <p:nvPr/>
        </p:nvSpPr>
        <p:spPr>
          <a:xfrm>
            <a:off x="6492240" y="4443984"/>
            <a:ext cx="4873752" cy="0"/>
          </a:xfrm>
          <a:prstGeom prst="line">
            <a:avLst/>
          </a:prstGeom>
          <a:noFill/>
          <a:ln w="12700">
            <a:solidFill>
              <a:srgbClr val="DDD7CF"/>
            </a:solidFill>
            <a:prstDash val="solid"/>
          </a:ln>
        </p:spPr>
      </p:sp>
      <p:sp>
        <p:nvSpPr>
          <p:cNvPr id="26" name="Text 24"/>
          <p:cNvSpPr txBox="1"/>
          <p:nvPr/>
        </p:nvSpPr>
        <p:spPr>
          <a:xfrm>
            <a:off x="6492240" y="4645152"/>
            <a:ext cx="4873752" cy="274320"/>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Calibri" pitchFamily="34" charset="0"/>
                <a:ea typeface="Calibri" pitchFamily="34" charset="-122"/>
                <a:cs typeface="Calibri" pitchFamily="34" charset="-120"/>
              </a:rPr>
              <a:t>Feedback datang terlalu terlambat</a:t>
            </a:r>
            <a:endParaRPr lang="en-US" sz="1600" dirty="0"/>
          </a:p>
        </p:txBody>
      </p:sp>
      <p:sp>
        <p:nvSpPr>
          <p:cNvPr id="27" name="Text 25"/>
          <p:cNvSpPr txBox="1"/>
          <p:nvPr/>
        </p:nvSpPr>
        <p:spPr>
          <a:xfrm>
            <a:off x="6492240" y="4992624"/>
            <a:ext cx="4754880" cy="566928"/>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Calibri" pitchFamily="34" charset="0"/>
                <a:ea typeface="Calibri" pitchFamily="34" charset="-122"/>
                <a:cs typeface="Calibri" pitchFamily="34" charset="-120"/>
              </a:rPr>
              <a:t>Bisnis baru melihat produknya saat hampir selesai, dan sering tidak sesuai.</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02  ·  WHAT IS VIBECODING</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Evolusi Software Development</a:t>
            </a:r>
            <a:endParaRPr lang="en-US" sz="3400" dirty="0"/>
          </a:p>
        </p:txBody>
      </p:sp>
      <p:sp>
        <p:nvSpPr>
          <p:cNvPr id="5" name="Text 3"/>
          <p:cNvSpPr txBox="1"/>
          <p:nvPr/>
        </p:nvSpPr>
        <p:spPr>
          <a:xfrm>
            <a:off x="822960" y="1536192"/>
            <a:ext cx="722376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Calibri" pitchFamily="34" charset="0"/>
                <a:ea typeface="Calibri" pitchFamily="34" charset="-122"/>
                <a:cs typeface="Calibri" pitchFamily="34" charset="-120"/>
              </a:rPr>
              <a:t>AI tidak datang tiba-tiba. Ia bergerak dari sekadar melengkapi kode, sampai mengeksekusi rencana sendiri.</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06</a:t>
            </a:r>
            <a:endParaRPr lang="en-US" sz="800" dirty="0"/>
          </a:p>
        </p:txBody>
      </p:sp>
      <p:sp>
        <p:nvSpPr>
          <p:cNvPr id="8" name="Shape 6"/>
          <p:cNvSpPr/>
          <p:nvPr/>
        </p:nvSpPr>
        <p:spPr>
          <a:xfrm>
            <a:off x="822960" y="3310128"/>
            <a:ext cx="10399471" cy="0"/>
          </a:xfrm>
          <a:prstGeom prst="line">
            <a:avLst/>
          </a:prstGeom>
          <a:noFill/>
          <a:ln w="19050">
            <a:solidFill>
              <a:srgbClr val="DDD7CF"/>
            </a:solidFill>
            <a:prstDash val="solid"/>
          </a:ln>
        </p:spPr>
      </p:sp>
      <p:sp>
        <p:nvSpPr>
          <p:cNvPr id="9" name="Shape 7"/>
          <p:cNvSpPr/>
          <p:nvPr/>
        </p:nvSpPr>
        <p:spPr>
          <a:xfrm rot="5400000">
            <a:off x="11222431" y="3241548"/>
            <a:ext cx="146304" cy="137160"/>
          </a:xfrm>
          <a:prstGeom prst="triangle">
            <a:avLst/>
          </a:prstGeom>
          <a:solidFill>
            <a:srgbClr val="B5AEC6"/>
          </a:solidFill>
          <a:ln/>
        </p:spPr>
      </p:sp>
      <p:sp>
        <p:nvSpPr>
          <p:cNvPr id="10" name="Shape 8"/>
          <p:cNvSpPr/>
          <p:nvPr/>
        </p:nvSpPr>
        <p:spPr>
          <a:xfrm>
            <a:off x="868680" y="3246120"/>
            <a:ext cx="128016" cy="128016"/>
          </a:xfrm>
          <a:prstGeom prst="ellipse">
            <a:avLst/>
          </a:prstGeom>
          <a:solidFill>
            <a:srgbClr val="847E96"/>
          </a:solidFill>
          <a:ln/>
        </p:spPr>
      </p:sp>
      <p:sp>
        <p:nvSpPr>
          <p:cNvPr id="11" name="Text 9"/>
          <p:cNvSpPr txBox="1"/>
          <p:nvPr/>
        </p:nvSpPr>
        <p:spPr>
          <a:xfrm>
            <a:off x="914400" y="2395728"/>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01</a:t>
            </a:r>
            <a:endParaRPr lang="en-US" sz="850" dirty="0"/>
          </a:p>
        </p:txBody>
      </p:sp>
      <p:sp>
        <p:nvSpPr>
          <p:cNvPr id="12" name="Text 10"/>
          <p:cNvSpPr txBox="1"/>
          <p:nvPr/>
        </p:nvSpPr>
        <p:spPr>
          <a:xfrm>
            <a:off x="914400" y="2651760"/>
            <a:ext cx="2325548" cy="310896"/>
          </a:xfrm>
          <a:prstGeom prst="rect">
            <a:avLst/>
          </a:prstGeom>
          <a:noFill/>
          <a:ln/>
        </p:spPr>
        <p:txBody>
          <a:bodyPr wrap="square" lIns="0" tIns="0" rIns="0" bIns="0" rtlCol="0" anchor="ctr"/>
          <a:lstStyle/>
          <a:p>
            <a:pPr algn="l" indent="0" marL="0">
              <a:lnSpc>
                <a:spcPct val="122000"/>
              </a:lnSpc>
              <a:buNone/>
            </a:pPr>
            <a:r>
              <a:rPr lang="en-US" sz="1700" b="1" dirty="0">
                <a:solidFill>
                  <a:srgbClr val="1A1A1A"/>
                </a:solidFill>
                <a:latin typeface="Calibri" pitchFamily="34" charset="0"/>
                <a:ea typeface="Calibri" pitchFamily="34" charset="-122"/>
                <a:cs typeface="Calibri" pitchFamily="34" charset="-120"/>
              </a:rPr>
              <a:t>Traditional</a:t>
            </a:r>
            <a:endParaRPr lang="en-US" sz="1700" dirty="0"/>
          </a:p>
        </p:txBody>
      </p:sp>
      <p:sp>
        <p:nvSpPr>
          <p:cNvPr id="13" name="Text 11"/>
          <p:cNvSpPr txBox="1"/>
          <p:nvPr/>
        </p:nvSpPr>
        <p:spPr>
          <a:xfrm>
            <a:off x="914400" y="3639312"/>
            <a:ext cx="2270684" cy="548640"/>
          </a:xfrm>
          <a:prstGeom prst="rect">
            <a:avLst/>
          </a:prstGeom>
          <a:noFill/>
          <a:ln/>
        </p:spPr>
        <p:txBody>
          <a:bodyPr wrap="square" lIns="0" tIns="0" rIns="0" bIns="0" rtlCol="0" anchor="t"/>
          <a:lstStyle/>
          <a:p>
            <a:pPr algn="l" indent="0" marL="0">
              <a:lnSpc>
                <a:spcPct val="145000"/>
              </a:lnSpc>
              <a:buNone/>
            </a:pPr>
            <a:r>
              <a:rPr lang="en-US" sz="1200" dirty="0">
                <a:solidFill>
                  <a:srgbClr val="5F5F5F"/>
                </a:solidFill>
                <a:latin typeface="Calibri" pitchFamily="34" charset="0"/>
                <a:ea typeface="Calibri" pitchFamily="34" charset="-122"/>
                <a:cs typeface="Calibri" pitchFamily="34" charset="-120"/>
              </a:rPr>
              <a:t>Manusia menulis 100% kode.</a:t>
            </a:r>
            <a:endParaRPr lang="en-US" sz="1200" dirty="0"/>
          </a:p>
        </p:txBody>
      </p:sp>
      <p:sp>
        <p:nvSpPr>
          <p:cNvPr id="14" name="Text 12"/>
          <p:cNvSpPr txBox="1"/>
          <p:nvPr/>
        </p:nvSpPr>
        <p:spPr>
          <a:xfrm>
            <a:off x="914400" y="4315968"/>
            <a:ext cx="2270684" cy="219456"/>
          </a:xfrm>
          <a:prstGeom prst="rect">
            <a:avLst/>
          </a:prstGeom>
          <a:noFill/>
          <a:ln/>
        </p:spPr>
        <p:txBody>
          <a:bodyPr wrap="square" lIns="0" tIns="0" rIns="0" bIns="0" rtlCol="0" anchor="ctr"/>
          <a:lstStyle/>
          <a:p>
            <a:pPr algn="l" indent="0" marL="0">
              <a:lnSpc>
                <a:spcPct val="122000"/>
              </a:lnSpc>
              <a:buNone/>
            </a:pPr>
            <a:r>
              <a:rPr lang="en-US" sz="850" b="1" spc="70" kern="0" dirty="0">
                <a:solidFill>
                  <a:srgbClr val="635C77"/>
                </a:solidFill>
                <a:latin typeface="Calibri" pitchFamily="34" charset="0"/>
                <a:ea typeface="Calibri" pitchFamily="34" charset="-122"/>
                <a:cs typeface="Calibri" pitchFamily="34" charset="-120"/>
              </a:rPr>
              <a:t>Manusia: penulis kode</a:t>
            </a:r>
            <a:endParaRPr lang="en-US" sz="850" dirty="0"/>
          </a:p>
        </p:txBody>
      </p:sp>
      <p:sp>
        <p:nvSpPr>
          <p:cNvPr id="15" name="Shape 13"/>
          <p:cNvSpPr/>
          <p:nvPr/>
        </p:nvSpPr>
        <p:spPr>
          <a:xfrm>
            <a:off x="3505124" y="3246120"/>
            <a:ext cx="128016" cy="128016"/>
          </a:xfrm>
          <a:prstGeom prst="ellipse">
            <a:avLst/>
          </a:prstGeom>
          <a:solidFill>
            <a:srgbClr val="847E96"/>
          </a:solidFill>
          <a:ln/>
        </p:spPr>
      </p:sp>
      <p:sp>
        <p:nvSpPr>
          <p:cNvPr id="16" name="Text 14"/>
          <p:cNvSpPr txBox="1"/>
          <p:nvPr/>
        </p:nvSpPr>
        <p:spPr>
          <a:xfrm>
            <a:off x="3550844" y="2395728"/>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02</a:t>
            </a:r>
            <a:endParaRPr lang="en-US" sz="850" dirty="0"/>
          </a:p>
        </p:txBody>
      </p:sp>
      <p:sp>
        <p:nvSpPr>
          <p:cNvPr id="17" name="Text 15"/>
          <p:cNvSpPr txBox="1"/>
          <p:nvPr/>
        </p:nvSpPr>
        <p:spPr>
          <a:xfrm>
            <a:off x="3550844" y="2651760"/>
            <a:ext cx="2325548" cy="310896"/>
          </a:xfrm>
          <a:prstGeom prst="rect">
            <a:avLst/>
          </a:prstGeom>
          <a:noFill/>
          <a:ln/>
        </p:spPr>
        <p:txBody>
          <a:bodyPr wrap="square" lIns="0" tIns="0" rIns="0" bIns="0" rtlCol="0" anchor="ctr"/>
          <a:lstStyle/>
          <a:p>
            <a:pPr algn="l" indent="0" marL="0">
              <a:lnSpc>
                <a:spcPct val="122000"/>
              </a:lnSpc>
              <a:buNone/>
            </a:pPr>
            <a:r>
              <a:rPr lang="en-US" sz="1700" b="1" dirty="0">
                <a:solidFill>
                  <a:srgbClr val="1A1A1A"/>
                </a:solidFill>
                <a:latin typeface="Calibri" pitchFamily="34" charset="0"/>
                <a:ea typeface="Calibri" pitchFamily="34" charset="-122"/>
                <a:cs typeface="Calibri" pitchFamily="34" charset="-120"/>
              </a:rPr>
              <a:t>AI Assisted</a:t>
            </a:r>
            <a:endParaRPr lang="en-US" sz="1700" dirty="0"/>
          </a:p>
        </p:txBody>
      </p:sp>
      <p:sp>
        <p:nvSpPr>
          <p:cNvPr id="18" name="Text 16"/>
          <p:cNvSpPr txBox="1"/>
          <p:nvPr/>
        </p:nvSpPr>
        <p:spPr>
          <a:xfrm>
            <a:off x="3550844" y="3639312"/>
            <a:ext cx="2270684" cy="548640"/>
          </a:xfrm>
          <a:prstGeom prst="rect">
            <a:avLst/>
          </a:prstGeom>
          <a:noFill/>
          <a:ln/>
        </p:spPr>
        <p:txBody>
          <a:bodyPr wrap="square" lIns="0" tIns="0" rIns="0" bIns="0" rtlCol="0" anchor="t"/>
          <a:lstStyle/>
          <a:p>
            <a:pPr algn="l" indent="0" marL="0">
              <a:lnSpc>
                <a:spcPct val="145000"/>
              </a:lnSpc>
              <a:buNone/>
            </a:pPr>
            <a:r>
              <a:rPr lang="en-US" sz="1200" dirty="0">
                <a:solidFill>
                  <a:srgbClr val="5F5F5F"/>
                </a:solidFill>
                <a:latin typeface="Calibri" pitchFamily="34" charset="0"/>
                <a:ea typeface="Calibri" pitchFamily="34" charset="-122"/>
                <a:cs typeface="Calibri" pitchFamily="34" charset="-120"/>
              </a:rPr>
              <a:t>AI melengkapi baris di editor.</a:t>
            </a:r>
            <a:endParaRPr lang="en-US" sz="1200" dirty="0"/>
          </a:p>
        </p:txBody>
      </p:sp>
      <p:sp>
        <p:nvSpPr>
          <p:cNvPr id="19" name="Text 17"/>
          <p:cNvSpPr txBox="1"/>
          <p:nvPr/>
        </p:nvSpPr>
        <p:spPr>
          <a:xfrm>
            <a:off x="3550844" y="4315968"/>
            <a:ext cx="2270684" cy="219456"/>
          </a:xfrm>
          <a:prstGeom prst="rect">
            <a:avLst/>
          </a:prstGeom>
          <a:noFill/>
          <a:ln/>
        </p:spPr>
        <p:txBody>
          <a:bodyPr wrap="square" lIns="0" tIns="0" rIns="0" bIns="0" rtlCol="0" anchor="ctr"/>
          <a:lstStyle/>
          <a:p>
            <a:pPr algn="l" indent="0" marL="0">
              <a:lnSpc>
                <a:spcPct val="122000"/>
              </a:lnSpc>
              <a:buNone/>
            </a:pPr>
            <a:r>
              <a:rPr lang="en-US" sz="850" b="1" spc="70" kern="0" dirty="0">
                <a:solidFill>
                  <a:srgbClr val="635C77"/>
                </a:solidFill>
                <a:latin typeface="Calibri" pitchFamily="34" charset="0"/>
                <a:ea typeface="Calibri" pitchFamily="34" charset="-122"/>
                <a:cs typeface="Calibri" pitchFamily="34" charset="-120"/>
              </a:rPr>
              <a:t>Manusia: pengarah baris</a:t>
            </a:r>
            <a:endParaRPr lang="en-US" sz="850" dirty="0"/>
          </a:p>
        </p:txBody>
      </p:sp>
      <p:sp>
        <p:nvSpPr>
          <p:cNvPr id="20" name="Shape 18"/>
          <p:cNvSpPr/>
          <p:nvPr/>
        </p:nvSpPr>
        <p:spPr>
          <a:xfrm>
            <a:off x="6082132" y="3186684"/>
            <a:ext cx="246888" cy="246888"/>
          </a:xfrm>
          <a:prstGeom prst="ellipse">
            <a:avLst/>
          </a:prstGeom>
          <a:ln w="15875">
            <a:solidFill>
              <a:srgbClr val="847E96"/>
            </a:solidFill>
            <a:prstDash val="solid"/>
          </a:ln>
        </p:spPr>
      </p:sp>
      <p:sp>
        <p:nvSpPr>
          <p:cNvPr id="21" name="Shape 19"/>
          <p:cNvSpPr/>
          <p:nvPr/>
        </p:nvSpPr>
        <p:spPr>
          <a:xfrm>
            <a:off x="6141568" y="3246120"/>
            <a:ext cx="128016" cy="128016"/>
          </a:xfrm>
          <a:prstGeom prst="ellipse">
            <a:avLst/>
          </a:prstGeom>
          <a:solidFill>
            <a:srgbClr val="635C77"/>
          </a:solidFill>
          <a:ln/>
        </p:spPr>
      </p:sp>
      <p:sp>
        <p:nvSpPr>
          <p:cNvPr id="22" name="Text 20"/>
          <p:cNvSpPr txBox="1"/>
          <p:nvPr/>
        </p:nvSpPr>
        <p:spPr>
          <a:xfrm>
            <a:off x="6187288" y="2395728"/>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03</a:t>
            </a:r>
            <a:endParaRPr lang="en-US" sz="850" dirty="0"/>
          </a:p>
        </p:txBody>
      </p:sp>
      <p:sp>
        <p:nvSpPr>
          <p:cNvPr id="23" name="Text 21"/>
          <p:cNvSpPr txBox="1"/>
          <p:nvPr/>
        </p:nvSpPr>
        <p:spPr>
          <a:xfrm>
            <a:off x="6187288" y="2651760"/>
            <a:ext cx="2325548" cy="310896"/>
          </a:xfrm>
          <a:prstGeom prst="rect">
            <a:avLst/>
          </a:prstGeom>
          <a:noFill/>
          <a:ln/>
        </p:spPr>
        <p:txBody>
          <a:bodyPr wrap="square" lIns="0" tIns="0" rIns="0" bIns="0" rtlCol="0" anchor="ctr"/>
          <a:lstStyle/>
          <a:p>
            <a:pPr algn="l" indent="0" marL="0">
              <a:lnSpc>
                <a:spcPct val="122000"/>
              </a:lnSpc>
              <a:buNone/>
            </a:pPr>
            <a:r>
              <a:rPr lang="en-US" sz="1850" b="1" dirty="0">
                <a:solidFill>
                  <a:srgbClr val="1A1A1A"/>
                </a:solidFill>
                <a:latin typeface="Calibri" pitchFamily="34" charset="0"/>
                <a:ea typeface="Calibri" pitchFamily="34" charset="-122"/>
                <a:cs typeface="Calibri" pitchFamily="34" charset="-120"/>
              </a:rPr>
              <a:t>Agentic</a:t>
            </a:r>
            <a:endParaRPr lang="en-US" sz="1850" dirty="0"/>
          </a:p>
        </p:txBody>
      </p:sp>
      <p:sp>
        <p:nvSpPr>
          <p:cNvPr id="24" name="Text 22"/>
          <p:cNvSpPr txBox="1"/>
          <p:nvPr/>
        </p:nvSpPr>
        <p:spPr>
          <a:xfrm>
            <a:off x="6187288" y="3639312"/>
            <a:ext cx="2270684" cy="548640"/>
          </a:xfrm>
          <a:prstGeom prst="rect">
            <a:avLst/>
          </a:prstGeom>
          <a:noFill/>
          <a:ln/>
        </p:spPr>
        <p:txBody>
          <a:bodyPr wrap="square" lIns="0" tIns="0" rIns="0" bIns="0" rtlCol="0" anchor="t"/>
          <a:lstStyle/>
          <a:p>
            <a:pPr algn="l" indent="0" marL="0">
              <a:lnSpc>
                <a:spcPct val="145000"/>
              </a:lnSpc>
              <a:buNone/>
            </a:pPr>
            <a:r>
              <a:rPr lang="en-US" sz="1200" dirty="0">
                <a:solidFill>
                  <a:srgbClr val="5F5F5F"/>
                </a:solidFill>
                <a:latin typeface="Calibri" pitchFamily="34" charset="0"/>
                <a:ea typeface="Calibri" pitchFamily="34" charset="-122"/>
                <a:cs typeface="Calibri" pitchFamily="34" charset="-120"/>
              </a:rPr>
              <a:t>AI membaca dokumen, lalu mengeksekusi.</a:t>
            </a:r>
            <a:endParaRPr lang="en-US" sz="1200" dirty="0"/>
          </a:p>
        </p:txBody>
      </p:sp>
      <p:sp>
        <p:nvSpPr>
          <p:cNvPr id="25" name="Text 23"/>
          <p:cNvSpPr txBox="1"/>
          <p:nvPr/>
        </p:nvSpPr>
        <p:spPr>
          <a:xfrm>
            <a:off x="6187288" y="4315968"/>
            <a:ext cx="2270684" cy="219456"/>
          </a:xfrm>
          <a:prstGeom prst="rect">
            <a:avLst/>
          </a:prstGeom>
          <a:noFill/>
          <a:ln/>
        </p:spPr>
        <p:txBody>
          <a:bodyPr wrap="square" lIns="0" tIns="0" rIns="0" bIns="0" rtlCol="0" anchor="ctr"/>
          <a:lstStyle/>
          <a:p>
            <a:pPr algn="l" indent="0" marL="0">
              <a:lnSpc>
                <a:spcPct val="122000"/>
              </a:lnSpc>
              <a:buNone/>
            </a:pPr>
            <a:r>
              <a:rPr lang="en-US" sz="850" b="1" spc="70" kern="0" dirty="0">
                <a:solidFill>
                  <a:srgbClr val="635C77"/>
                </a:solidFill>
                <a:latin typeface="Calibri" pitchFamily="34" charset="0"/>
                <a:ea typeface="Calibri" pitchFamily="34" charset="-122"/>
                <a:cs typeface="Calibri" pitchFamily="34" charset="-120"/>
              </a:rPr>
              <a:t>Manusia: reviewer</a:t>
            </a:r>
            <a:endParaRPr lang="en-US" sz="850" dirty="0"/>
          </a:p>
        </p:txBody>
      </p:sp>
      <p:sp>
        <p:nvSpPr>
          <p:cNvPr id="26" name="Shape 24"/>
          <p:cNvSpPr/>
          <p:nvPr/>
        </p:nvSpPr>
        <p:spPr>
          <a:xfrm>
            <a:off x="8778011" y="3246120"/>
            <a:ext cx="128016" cy="128016"/>
          </a:xfrm>
          <a:prstGeom prst="ellipse">
            <a:avLst/>
          </a:prstGeom>
          <a:solidFill>
            <a:srgbClr val="847E96"/>
          </a:solidFill>
          <a:ln/>
        </p:spPr>
      </p:sp>
      <p:sp>
        <p:nvSpPr>
          <p:cNvPr id="27" name="Text 25"/>
          <p:cNvSpPr txBox="1"/>
          <p:nvPr/>
        </p:nvSpPr>
        <p:spPr>
          <a:xfrm>
            <a:off x="8823731" y="2395728"/>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04</a:t>
            </a:r>
            <a:endParaRPr lang="en-US" sz="850" dirty="0"/>
          </a:p>
        </p:txBody>
      </p:sp>
      <p:sp>
        <p:nvSpPr>
          <p:cNvPr id="28" name="Text 26"/>
          <p:cNvSpPr txBox="1"/>
          <p:nvPr/>
        </p:nvSpPr>
        <p:spPr>
          <a:xfrm>
            <a:off x="8823731" y="2651760"/>
            <a:ext cx="2325548" cy="310896"/>
          </a:xfrm>
          <a:prstGeom prst="rect">
            <a:avLst/>
          </a:prstGeom>
          <a:noFill/>
          <a:ln/>
        </p:spPr>
        <p:txBody>
          <a:bodyPr wrap="square" lIns="0" tIns="0" rIns="0" bIns="0" rtlCol="0" anchor="ctr"/>
          <a:lstStyle/>
          <a:p>
            <a:pPr algn="l" indent="0" marL="0">
              <a:lnSpc>
                <a:spcPct val="122000"/>
              </a:lnSpc>
              <a:buNone/>
            </a:pPr>
            <a:r>
              <a:rPr lang="en-US" sz="1700" b="1" dirty="0">
                <a:solidFill>
                  <a:srgbClr val="1A1A1A"/>
                </a:solidFill>
                <a:latin typeface="Calibri" pitchFamily="34" charset="0"/>
                <a:ea typeface="Calibri" pitchFamily="34" charset="-122"/>
                <a:cs typeface="Calibri" pitchFamily="34" charset="-120"/>
              </a:rPr>
              <a:t>Autonomous</a:t>
            </a:r>
            <a:endParaRPr lang="en-US" sz="1700" dirty="0"/>
          </a:p>
        </p:txBody>
      </p:sp>
      <p:sp>
        <p:nvSpPr>
          <p:cNvPr id="29" name="Text 27"/>
          <p:cNvSpPr txBox="1"/>
          <p:nvPr/>
        </p:nvSpPr>
        <p:spPr>
          <a:xfrm>
            <a:off x="8823731" y="3639312"/>
            <a:ext cx="2270684" cy="548640"/>
          </a:xfrm>
          <a:prstGeom prst="rect">
            <a:avLst/>
          </a:prstGeom>
          <a:noFill/>
          <a:ln/>
        </p:spPr>
        <p:txBody>
          <a:bodyPr wrap="square" lIns="0" tIns="0" rIns="0" bIns="0" rtlCol="0" anchor="t"/>
          <a:lstStyle/>
          <a:p>
            <a:pPr algn="l" indent="0" marL="0">
              <a:lnSpc>
                <a:spcPct val="145000"/>
              </a:lnSpc>
              <a:buNone/>
            </a:pPr>
            <a:r>
              <a:rPr lang="en-US" sz="1200" dirty="0">
                <a:solidFill>
                  <a:srgbClr val="5F5F5F"/>
                </a:solidFill>
                <a:latin typeface="Calibri" pitchFamily="34" charset="0"/>
                <a:ea typeface="Calibri" pitchFamily="34" charset="-122"/>
                <a:cs typeface="Calibri" pitchFamily="34" charset="-120"/>
              </a:rPr>
              <a:t>AI mengambil issue dan mengirim PR.</a:t>
            </a:r>
            <a:endParaRPr lang="en-US" sz="1200" dirty="0"/>
          </a:p>
        </p:txBody>
      </p:sp>
      <p:sp>
        <p:nvSpPr>
          <p:cNvPr id="30" name="Text 28"/>
          <p:cNvSpPr txBox="1"/>
          <p:nvPr/>
        </p:nvSpPr>
        <p:spPr>
          <a:xfrm>
            <a:off x="8823731" y="4315968"/>
            <a:ext cx="2270684" cy="219456"/>
          </a:xfrm>
          <a:prstGeom prst="rect">
            <a:avLst/>
          </a:prstGeom>
          <a:noFill/>
          <a:ln/>
        </p:spPr>
        <p:txBody>
          <a:bodyPr wrap="square" lIns="0" tIns="0" rIns="0" bIns="0" rtlCol="0" anchor="ctr"/>
          <a:lstStyle/>
          <a:p>
            <a:pPr algn="l" indent="0" marL="0">
              <a:lnSpc>
                <a:spcPct val="122000"/>
              </a:lnSpc>
              <a:buNone/>
            </a:pPr>
            <a:r>
              <a:rPr lang="en-US" sz="850" b="1" spc="70" kern="0" dirty="0">
                <a:solidFill>
                  <a:srgbClr val="635C77"/>
                </a:solidFill>
                <a:latin typeface="Calibri" pitchFamily="34" charset="0"/>
                <a:ea typeface="Calibri" pitchFamily="34" charset="-122"/>
                <a:cs typeface="Calibri" pitchFamily="34" charset="-120"/>
              </a:rPr>
              <a:t>Manusia: pemberi tujuan</a:t>
            </a:r>
            <a:endParaRPr lang="en-US" sz="850" dirty="0"/>
          </a:p>
        </p:txBody>
      </p:sp>
      <p:sp>
        <p:nvSpPr>
          <p:cNvPr id="31" name="Text 29"/>
          <p:cNvSpPr txBox="1"/>
          <p:nvPr/>
        </p:nvSpPr>
        <p:spPr>
          <a:xfrm>
            <a:off x="822960" y="5120640"/>
            <a:ext cx="3657600" cy="219456"/>
          </a:xfrm>
          <a:prstGeom prst="rect">
            <a:avLst/>
          </a:prstGeom>
          <a:noFill/>
          <a:ln/>
        </p:spPr>
        <p:txBody>
          <a:bodyPr wrap="square" lIns="0" tIns="0" rIns="0" bIns="0" rtlCol="0" anchor="ctr"/>
          <a:lstStyle/>
          <a:p>
            <a:pPr algn="l" indent="0" marL="0">
              <a:lnSpc>
                <a:spcPct val="122000"/>
              </a:lnSpc>
              <a:buNone/>
            </a:pPr>
            <a:r>
              <a:rPr lang="en-US" sz="850" b="1" spc="150" kern="0" dirty="0">
                <a:solidFill>
                  <a:srgbClr val="5F5F5F"/>
                </a:solidFill>
                <a:latin typeface="Calibri" pitchFamily="34" charset="0"/>
                <a:ea typeface="Calibri" pitchFamily="34" charset="-122"/>
                <a:cs typeface="Calibri" pitchFamily="34" charset="-120"/>
              </a:rPr>
              <a:t>KONTROL MANUAL</a:t>
            </a:r>
            <a:endParaRPr lang="en-US" sz="850" dirty="0"/>
          </a:p>
        </p:txBody>
      </p:sp>
      <p:sp>
        <p:nvSpPr>
          <p:cNvPr id="32" name="Text 30"/>
          <p:cNvSpPr txBox="1"/>
          <p:nvPr/>
        </p:nvSpPr>
        <p:spPr>
          <a:xfrm>
            <a:off x="7711135" y="5120640"/>
            <a:ext cx="3657600" cy="219456"/>
          </a:xfrm>
          <a:prstGeom prst="rect">
            <a:avLst/>
          </a:prstGeom>
          <a:noFill/>
          <a:ln/>
        </p:spPr>
        <p:txBody>
          <a:bodyPr wrap="square" lIns="0" tIns="0" rIns="0" bIns="0" rtlCol="0" anchor="ctr"/>
          <a:lstStyle/>
          <a:p>
            <a:pPr algn="r" indent="0" marL="0">
              <a:lnSpc>
                <a:spcPct val="122000"/>
              </a:lnSpc>
              <a:buNone/>
            </a:pPr>
            <a:r>
              <a:rPr lang="en-US" sz="850" b="1" spc="150" kern="0" dirty="0">
                <a:solidFill>
                  <a:srgbClr val="5F5F5F"/>
                </a:solidFill>
                <a:latin typeface="Calibri" pitchFamily="34" charset="0"/>
                <a:ea typeface="Calibri" pitchFamily="34" charset="-122"/>
                <a:cs typeface="Calibri" pitchFamily="34" charset="-120"/>
              </a:rPr>
              <a:t>OTONOMI AI</a:t>
            </a:r>
            <a:endParaRPr lang="en-US" sz="850" dirty="0"/>
          </a:p>
        </p:txBody>
      </p:sp>
      <p:sp>
        <p:nvSpPr>
          <p:cNvPr id="33" name="Shape 31"/>
          <p:cNvSpPr/>
          <p:nvPr/>
        </p:nvSpPr>
        <p:spPr>
          <a:xfrm>
            <a:off x="822960" y="5596128"/>
            <a:ext cx="10545775" cy="548640"/>
          </a:xfrm>
          <a:prstGeom prst="roundRect">
            <a:avLst>
              <a:gd name="adj" fmla="val 16667"/>
            </a:avLst>
          </a:prstGeom>
          <a:solidFill>
            <a:srgbClr val="EFEBF3"/>
          </a:solidFill>
          <a:ln/>
        </p:spPr>
      </p:sp>
      <p:sp>
        <p:nvSpPr>
          <p:cNvPr id="34" name="Text 32"/>
          <p:cNvSpPr txBox="1"/>
          <p:nvPr/>
        </p:nvSpPr>
        <p:spPr>
          <a:xfrm>
            <a:off x="1143000" y="5596128"/>
            <a:ext cx="9905695" cy="548640"/>
          </a:xfrm>
          <a:prstGeom prst="rect">
            <a:avLst/>
          </a:prstGeom>
          <a:noFill/>
          <a:ln/>
        </p:spPr>
        <p:txBody>
          <a:bodyPr wrap="square" lIns="0" tIns="0" rIns="0" bIns="0" rtlCol="0" anchor="ctr"/>
          <a:lstStyle/>
          <a:p>
            <a:pPr algn="l" indent="0" marL="0">
              <a:lnSpc>
                <a:spcPct val="122000"/>
              </a:lnSpc>
              <a:buNone/>
            </a:pPr>
            <a:r>
              <a:rPr lang="en-US" sz="1450" b="1" dirty="0">
                <a:solidFill>
                  <a:srgbClr val="635C77"/>
                </a:solidFill>
                <a:latin typeface="Calibri" pitchFamily="34" charset="0"/>
                <a:ea typeface="Calibri" pitchFamily="34" charset="-122"/>
                <a:cs typeface="Calibri" pitchFamily="34" charset="-120"/>
              </a:rPr>
              <a:t>Semakin ke kanan, menulis kode makin bukan pekerjaan utama kita. Yang jadi pekerjaan utama adalah spesifikasi dan review.</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02  ·  WHAT IS VIBECODING</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Landscape AI untuk Developer</a:t>
            </a:r>
            <a:endParaRPr lang="en-US" sz="3400" dirty="0"/>
          </a:p>
        </p:txBody>
      </p:sp>
      <p:sp>
        <p:nvSpPr>
          <p:cNvPr id="5" name="Text 3"/>
          <p:cNvSpPr txBox="1"/>
          <p:nvPr/>
        </p:nvSpPr>
        <p:spPr>
          <a:xfrm>
            <a:off x="822960" y="1536192"/>
            <a:ext cx="722376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Calibri" pitchFamily="34" charset="0"/>
                <a:ea typeface="Calibri" pitchFamily="34" charset="-122"/>
                <a:cs typeface="Calibri" pitchFamily="34" charset="-120"/>
              </a:rPr>
              <a:t>Empat kategori dengan cara pakai yang berbeda. Salah memilih kategori, salah juga ekspektasinya.</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07</a:t>
            </a:r>
            <a:endParaRPr lang="en-US" sz="800" dirty="0"/>
          </a:p>
        </p:txBody>
      </p:sp>
      <p:sp>
        <p:nvSpPr>
          <p:cNvPr id="8" name="Text 6"/>
          <p:cNvSpPr txBox="1"/>
          <p:nvPr/>
        </p:nvSpPr>
        <p:spPr>
          <a:xfrm>
            <a:off x="822960" y="2542032"/>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01</a:t>
            </a:r>
            <a:endParaRPr lang="en-US" sz="850" dirty="0"/>
          </a:p>
        </p:txBody>
      </p:sp>
      <p:sp>
        <p:nvSpPr>
          <p:cNvPr id="9" name="Text 7"/>
          <p:cNvSpPr txBox="1"/>
          <p:nvPr/>
        </p:nvSpPr>
        <p:spPr>
          <a:xfrm>
            <a:off x="822960" y="2816352"/>
            <a:ext cx="2179244" cy="310896"/>
          </a:xfrm>
          <a:prstGeom prst="rect">
            <a:avLst/>
          </a:prstGeom>
          <a:noFill/>
          <a:ln/>
        </p:spPr>
        <p:txBody>
          <a:bodyPr wrap="square" lIns="0" tIns="0" rIns="0" bIns="0" rtlCol="0" anchor="ctr"/>
          <a:lstStyle/>
          <a:p>
            <a:pPr algn="l" indent="0" marL="0">
              <a:lnSpc>
                <a:spcPct val="122000"/>
              </a:lnSpc>
              <a:buNone/>
            </a:pPr>
            <a:r>
              <a:rPr lang="en-US" sz="1750" b="1" dirty="0">
                <a:solidFill>
                  <a:srgbClr val="1A1A1A"/>
                </a:solidFill>
                <a:latin typeface="Calibri" pitchFamily="34" charset="0"/>
                <a:ea typeface="Calibri" pitchFamily="34" charset="-122"/>
                <a:cs typeface="Calibri" pitchFamily="34" charset="-120"/>
              </a:rPr>
              <a:t>AI Builder</a:t>
            </a:r>
            <a:endParaRPr lang="en-US" sz="1750" dirty="0"/>
          </a:p>
        </p:txBody>
      </p:sp>
      <p:sp>
        <p:nvSpPr>
          <p:cNvPr id="10" name="Text 8"/>
          <p:cNvSpPr txBox="1"/>
          <p:nvPr/>
        </p:nvSpPr>
        <p:spPr>
          <a:xfrm>
            <a:off x="822960" y="3236976"/>
            <a:ext cx="2133524" cy="603504"/>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Calibri" pitchFamily="34" charset="0"/>
                <a:ea typeface="Calibri" pitchFamily="34" charset="-122"/>
                <a:cs typeface="Calibri" pitchFamily="34" charset="-120"/>
              </a:rPr>
              <a:t>Prompt jadi aplikasi utuh dalam hitungan menit.</a:t>
            </a:r>
            <a:endParaRPr lang="en-US" sz="1050" dirty="0"/>
          </a:p>
        </p:txBody>
      </p:sp>
      <p:pic>
        <p:nvPicPr>
          <p:cNvPr id="11" name="Image 0" descr="C:\Seminar\generator\assets\logos\v0-light.png">    </p:cNvPr>
          <p:cNvPicPr>
            <a:picLocks noChangeAspect="1"/>
          </p:cNvPicPr>
          <p:nvPr/>
        </p:nvPicPr>
        <p:blipFill>
          <a:blip r:embed="rId1"/>
          <a:stretch>
            <a:fillRect/>
          </a:stretch>
        </p:blipFill>
        <p:spPr>
          <a:xfrm>
            <a:off x="877824" y="4059936"/>
            <a:ext cx="310896" cy="310896"/>
          </a:xfrm>
          <a:prstGeom prst="rect">
            <a:avLst/>
          </a:prstGeom>
        </p:spPr>
      </p:pic>
      <p:sp>
        <p:nvSpPr>
          <p:cNvPr id="12" name="Text 9"/>
          <p:cNvSpPr txBox="1"/>
          <p:nvPr/>
        </p:nvSpPr>
        <p:spPr>
          <a:xfrm>
            <a:off x="557784"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v0</a:t>
            </a:r>
            <a:endParaRPr lang="en-US" sz="850" dirty="0"/>
          </a:p>
        </p:txBody>
      </p:sp>
      <p:sp>
        <p:nvSpPr>
          <p:cNvPr id="13" name="Shape 10"/>
          <p:cNvSpPr/>
          <p:nvPr/>
        </p:nvSpPr>
        <p:spPr>
          <a:xfrm>
            <a:off x="2176272" y="4059936"/>
            <a:ext cx="310896" cy="310896"/>
          </a:xfrm>
          <a:prstGeom prst="ellipse">
            <a:avLst/>
          </a:prstGeom>
          <a:ln w="15875">
            <a:solidFill>
              <a:srgbClr val="DDD7CF"/>
            </a:solidFill>
            <a:prstDash val="solid"/>
          </a:ln>
        </p:spPr>
      </p:sp>
      <p:sp>
        <p:nvSpPr>
          <p:cNvPr id="14" name="Text 11"/>
          <p:cNvSpPr txBox="1"/>
          <p:nvPr/>
        </p:nvSpPr>
        <p:spPr>
          <a:xfrm>
            <a:off x="2176272" y="4059936"/>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Calibri" pitchFamily="34" charset="0"/>
                <a:ea typeface="Calibri" pitchFamily="34" charset="-122"/>
                <a:cs typeface="Calibri" pitchFamily="34" charset="-120"/>
              </a:rPr>
              <a:t>L</a:t>
            </a:r>
            <a:endParaRPr lang="en-US" sz="1450" dirty="0"/>
          </a:p>
        </p:txBody>
      </p:sp>
      <p:sp>
        <p:nvSpPr>
          <p:cNvPr id="15" name="Text 12"/>
          <p:cNvSpPr txBox="1"/>
          <p:nvPr/>
        </p:nvSpPr>
        <p:spPr>
          <a:xfrm>
            <a:off x="1856232"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Lovable</a:t>
            </a:r>
            <a:endParaRPr lang="en-US" sz="850" dirty="0"/>
          </a:p>
        </p:txBody>
      </p:sp>
      <p:sp>
        <p:nvSpPr>
          <p:cNvPr id="16" name="Shape 13"/>
          <p:cNvSpPr/>
          <p:nvPr/>
        </p:nvSpPr>
        <p:spPr>
          <a:xfrm>
            <a:off x="877824" y="4846320"/>
            <a:ext cx="310896" cy="310896"/>
          </a:xfrm>
          <a:prstGeom prst="ellipse">
            <a:avLst/>
          </a:prstGeom>
          <a:ln w="15875">
            <a:solidFill>
              <a:srgbClr val="DDD7CF"/>
            </a:solidFill>
            <a:prstDash val="solid"/>
          </a:ln>
        </p:spPr>
      </p:sp>
      <p:sp>
        <p:nvSpPr>
          <p:cNvPr id="17" name="Text 14"/>
          <p:cNvSpPr txBox="1"/>
          <p:nvPr/>
        </p:nvSpPr>
        <p:spPr>
          <a:xfrm>
            <a:off x="877824" y="4846320"/>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Calibri" pitchFamily="34" charset="0"/>
                <a:ea typeface="Calibri" pitchFamily="34" charset="-122"/>
                <a:cs typeface="Calibri" pitchFamily="34" charset="-120"/>
              </a:rPr>
              <a:t>B</a:t>
            </a:r>
            <a:endParaRPr lang="en-US" sz="1450" dirty="0"/>
          </a:p>
        </p:txBody>
      </p:sp>
      <p:sp>
        <p:nvSpPr>
          <p:cNvPr id="18" name="Text 15"/>
          <p:cNvSpPr txBox="1"/>
          <p:nvPr/>
        </p:nvSpPr>
        <p:spPr>
          <a:xfrm>
            <a:off x="557784"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Bolt</a:t>
            </a:r>
            <a:endParaRPr lang="en-US" sz="850" dirty="0"/>
          </a:p>
        </p:txBody>
      </p:sp>
      <p:pic>
        <p:nvPicPr>
          <p:cNvPr id="19" name="Image 1" descr="C:\Seminar\generator\assets\logos\firebase-light.png">    </p:cNvPr>
          <p:cNvPicPr>
            <a:picLocks noChangeAspect="1"/>
          </p:cNvPicPr>
          <p:nvPr/>
        </p:nvPicPr>
        <p:blipFill>
          <a:blip r:embed="rId2"/>
          <a:stretch>
            <a:fillRect/>
          </a:stretch>
        </p:blipFill>
        <p:spPr>
          <a:xfrm>
            <a:off x="2176272" y="4846320"/>
            <a:ext cx="310896" cy="310896"/>
          </a:xfrm>
          <a:prstGeom prst="rect">
            <a:avLst/>
          </a:prstGeom>
        </p:spPr>
      </p:pic>
      <p:sp>
        <p:nvSpPr>
          <p:cNvPr id="20" name="Text 16"/>
          <p:cNvSpPr txBox="1"/>
          <p:nvPr/>
        </p:nvSpPr>
        <p:spPr>
          <a:xfrm>
            <a:off x="1856232"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Firebase</a:t>
            </a:r>
            <a:endParaRPr lang="en-US" sz="850" dirty="0"/>
          </a:p>
        </p:txBody>
      </p:sp>
      <p:sp>
        <p:nvSpPr>
          <p:cNvPr id="21" name="Text 17"/>
          <p:cNvSpPr txBox="1"/>
          <p:nvPr/>
        </p:nvSpPr>
        <p:spPr>
          <a:xfrm>
            <a:off x="822960" y="5614416"/>
            <a:ext cx="2179244" cy="219456"/>
          </a:xfrm>
          <a:prstGeom prst="rect">
            <a:avLst/>
          </a:prstGeom>
          <a:noFill/>
          <a:ln/>
        </p:spPr>
        <p:txBody>
          <a:bodyPr wrap="square" lIns="0" tIns="0" rIns="0" bIns="0" rtlCol="0" anchor="ctr"/>
          <a:lstStyle/>
          <a:p>
            <a:pPr algn="l" indent="0" marL="0">
              <a:lnSpc>
                <a:spcPct val="122000"/>
              </a:lnSpc>
              <a:buNone/>
            </a:pPr>
            <a:r>
              <a:rPr lang="en-US" sz="850" b="1" spc="140" kern="0" dirty="0">
                <a:solidFill>
                  <a:srgbClr val="635C77"/>
                </a:solidFill>
                <a:latin typeface="Calibri" pitchFamily="34" charset="0"/>
                <a:ea typeface="Calibri" pitchFamily="34" charset="-122"/>
                <a:cs typeface="Calibri" pitchFamily="34" charset="-120"/>
              </a:rPr>
              <a:t>PROTOTYPE CEPAT</a:t>
            </a:r>
            <a:endParaRPr lang="en-US" sz="850" dirty="0"/>
          </a:p>
        </p:txBody>
      </p:sp>
      <p:sp>
        <p:nvSpPr>
          <p:cNvPr id="22" name="Shape 18"/>
          <p:cNvSpPr/>
          <p:nvPr/>
        </p:nvSpPr>
        <p:spPr>
          <a:xfrm>
            <a:off x="3185084" y="2432304"/>
            <a:ext cx="0" cy="3200400"/>
          </a:xfrm>
          <a:prstGeom prst="line">
            <a:avLst/>
          </a:prstGeom>
          <a:noFill/>
          <a:ln w="12700">
            <a:solidFill>
              <a:srgbClr val="DDD7CF"/>
            </a:solidFill>
            <a:prstDash val="solid"/>
          </a:ln>
        </p:spPr>
      </p:sp>
      <p:sp>
        <p:nvSpPr>
          <p:cNvPr id="23" name="Text 19"/>
          <p:cNvSpPr txBox="1"/>
          <p:nvPr/>
        </p:nvSpPr>
        <p:spPr>
          <a:xfrm>
            <a:off x="3459404" y="2542032"/>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02</a:t>
            </a:r>
            <a:endParaRPr lang="en-US" sz="850" dirty="0"/>
          </a:p>
        </p:txBody>
      </p:sp>
      <p:sp>
        <p:nvSpPr>
          <p:cNvPr id="24" name="Text 20"/>
          <p:cNvSpPr txBox="1"/>
          <p:nvPr/>
        </p:nvSpPr>
        <p:spPr>
          <a:xfrm>
            <a:off x="3459404" y="2816352"/>
            <a:ext cx="2179244" cy="310896"/>
          </a:xfrm>
          <a:prstGeom prst="rect">
            <a:avLst/>
          </a:prstGeom>
          <a:noFill/>
          <a:ln/>
        </p:spPr>
        <p:txBody>
          <a:bodyPr wrap="square" lIns="0" tIns="0" rIns="0" bIns="0" rtlCol="0" anchor="ctr"/>
          <a:lstStyle/>
          <a:p>
            <a:pPr algn="l" indent="0" marL="0">
              <a:lnSpc>
                <a:spcPct val="122000"/>
              </a:lnSpc>
              <a:buNone/>
            </a:pPr>
            <a:r>
              <a:rPr lang="en-US" sz="1750" b="1" dirty="0">
                <a:solidFill>
                  <a:srgbClr val="1A1A1A"/>
                </a:solidFill>
                <a:latin typeface="Calibri" pitchFamily="34" charset="0"/>
                <a:ea typeface="Calibri" pitchFamily="34" charset="-122"/>
                <a:cs typeface="Calibri" pitchFamily="34" charset="-120"/>
              </a:rPr>
              <a:t>AI Assistant</a:t>
            </a:r>
            <a:endParaRPr lang="en-US" sz="1750" dirty="0"/>
          </a:p>
        </p:txBody>
      </p:sp>
      <p:sp>
        <p:nvSpPr>
          <p:cNvPr id="25" name="Text 21"/>
          <p:cNvSpPr txBox="1"/>
          <p:nvPr/>
        </p:nvSpPr>
        <p:spPr>
          <a:xfrm>
            <a:off x="3459404" y="3236976"/>
            <a:ext cx="2133524" cy="603504"/>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Calibri" pitchFamily="34" charset="0"/>
                <a:ea typeface="Calibri" pitchFamily="34" charset="-122"/>
                <a:cs typeface="Calibri" pitchFamily="34" charset="-120"/>
              </a:rPr>
              <a:t>Menemani Anda mengetik kode di dalam editor.</a:t>
            </a:r>
            <a:endParaRPr lang="en-US" sz="1050" dirty="0"/>
          </a:p>
        </p:txBody>
      </p:sp>
      <p:pic>
        <p:nvPicPr>
          <p:cNvPr id="26" name="Image 2" descr="C:\Seminar\generator\assets\logos\githubcopilot-light.png">    </p:cNvPr>
          <p:cNvPicPr>
            <a:picLocks noChangeAspect="1"/>
          </p:cNvPicPr>
          <p:nvPr/>
        </p:nvPicPr>
        <p:blipFill>
          <a:blip r:embed="rId3"/>
          <a:stretch>
            <a:fillRect/>
          </a:stretch>
        </p:blipFill>
        <p:spPr>
          <a:xfrm>
            <a:off x="3514268" y="4059936"/>
            <a:ext cx="310896" cy="310896"/>
          </a:xfrm>
          <a:prstGeom prst="rect">
            <a:avLst/>
          </a:prstGeom>
        </p:spPr>
      </p:pic>
      <p:sp>
        <p:nvSpPr>
          <p:cNvPr id="27" name="Text 22"/>
          <p:cNvSpPr txBox="1"/>
          <p:nvPr/>
        </p:nvSpPr>
        <p:spPr>
          <a:xfrm>
            <a:off x="3194228"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Copilot</a:t>
            </a:r>
            <a:endParaRPr lang="en-US" sz="850" dirty="0"/>
          </a:p>
        </p:txBody>
      </p:sp>
      <p:pic>
        <p:nvPicPr>
          <p:cNvPr id="28" name="Image 3" descr="C:\Seminar\generator\assets\logos\cursor-light.png">    </p:cNvPr>
          <p:cNvPicPr>
            <a:picLocks noChangeAspect="1"/>
          </p:cNvPicPr>
          <p:nvPr/>
        </p:nvPicPr>
        <p:blipFill>
          <a:blip r:embed="rId4"/>
          <a:stretch>
            <a:fillRect/>
          </a:stretch>
        </p:blipFill>
        <p:spPr>
          <a:xfrm>
            <a:off x="4812716" y="4059936"/>
            <a:ext cx="310896" cy="310896"/>
          </a:xfrm>
          <a:prstGeom prst="rect">
            <a:avLst/>
          </a:prstGeom>
        </p:spPr>
      </p:pic>
      <p:sp>
        <p:nvSpPr>
          <p:cNvPr id="29" name="Text 23"/>
          <p:cNvSpPr txBox="1"/>
          <p:nvPr/>
        </p:nvSpPr>
        <p:spPr>
          <a:xfrm>
            <a:off x="4492676"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Cursor</a:t>
            </a:r>
            <a:endParaRPr lang="en-US" sz="850" dirty="0"/>
          </a:p>
        </p:txBody>
      </p:sp>
      <p:sp>
        <p:nvSpPr>
          <p:cNvPr id="30" name="Shape 24"/>
          <p:cNvSpPr/>
          <p:nvPr/>
        </p:nvSpPr>
        <p:spPr>
          <a:xfrm>
            <a:off x="3514268" y="4846320"/>
            <a:ext cx="310896" cy="310896"/>
          </a:xfrm>
          <a:prstGeom prst="ellipse">
            <a:avLst/>
          </a:prstGeom>
          <a:ln w="15875">
            <a:solidFill>
              <a:srgbClr val="DDD7CF"/>
            </a:solidFill>
            <a:prstDash val="solid"/>
          </a:ln>
        </p:spPr>
      </p:sp>
      <p:sp>
        <p:nvSpPr>
          <p:cNvPr id="31" name="Text 25"/>
          <p:cNvSpPr txBox="1"/>
          <p:nvPr/>
        </p:nvSpPr>
        <p:spPr>
          <a:xfrm>
            <a:off x="3514268" y="4846320"/>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Calibri" pitchFamily="34" charset="0"/>
                <a:ea typeface="Calibri" pitchFamily="34" charset="-122"/>
                <a:cs typeface="Calibri" pitchFamily="34" charset="-120"/>
              </a:rPr>
              <a:t>V</a:t>
            </a:r>
            <a:endParaRPr lang="en-US" sz="1450" dirty="0"/>
          </a:p>
        </p:txBody>
      </p:sp>
      <p:sp>
        <p:nvSpPr>
          <p:cNvPr id="32" name="Text 26"/>
          <p:cNvSpPr txBox="1"/>
          <p:nvPr/>
        </p:nvSpPr>
        <p:spPr>
          <a:xfrm>
            <a:off x="3194228"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VS Code</a:t>
            </a:r>
            <a:endParaRPr lang="en-US" sz="850" dirty="0"/>
          </a:p>
        </p:txBody>
      </p:sp>
      <p:sp>
        <p:nvSpPr>
          <p:cNvPr id="33" name="Text 27"/>
          <p:cNvSpPr txBox="1"/>
          <p:nvPr/>
        </p:nvSpPr>
        <p:spPr>
          <a:xfrm>
            <a:off x="3459404" y="5614416"/>
            <a:ext cx="2179244" cy="219456"/>
          </a:xfrm>
          <a:prstGeom prst="rect">
            <a:avLst/>
          </a:prstGeom>
          <a:noFill/>
          <a:ln/>
        </p:spPr>
        <p:txBody>
          <a:bodyPr wrap="square" lIns="0" tIns="0" rIns="0" bIns="0" rtlCol="0" anchor="ctr"/>
          <a:lstStyle/>
          <a:p>
            <a:pPr algn="l" indent="0" marL="0">
              <a:lnSpc>
                <a:spcPct val="122000"/>
              </a:lnSpc>
              <a:buNone/>
            </a:pPr>
            <a:r>
              <a:rPr lang="en-US" sz="850" b="1" spc="140" kern="0" dirty="0">
                <a:solidFill>
                  <a:srgbClr val="635C77"/>
                </a:solidFill>
                <a:latin typeface="Calibri" pitchFamily="34" charset="0"/>
                <a:ea typeface="Calibri" pitchFamily="34" charset="-122"/>
                <a:cs typeface="Calibri" pitchFamily="34" charset="-120"/>
              </a:rPr>
              <a:t>PERCEPAT CODING</a:t>
            </a:r>
            <a:endParaRPr lang="en-US" sz="850" dirty="0"/>
          </a:p>
        </p:txBody>
      </p:sp>
      <p:sp>
        <p:nvSpPr>
          <p:cNvPr id="34" name="Shape 28"/>
          <p:cNvSpPr/>
          <p:nvPr/>
        </p:nvSpPr>
        <p:spPr>
          <a:xfrm>
            <a:off x="5858104" y="2286000"/>
            <a:ext cx="2618156" cy="3602736"/>
          </a:xfrm>
          <a:prstGeom prst="roundRect">
            <a:avLst>
              <a:gd name="adj" fmla="val 4191"/>
            </a:avLst>
          </a:prstGeom>
          <a:solidFill>
            <a:srgbClr val="EFEBF3"/>
          </a:solidFill>
          <a:ln/>
        </p:spPr>
      </p:sp>
      <p:sp>
        <p:nvSpPr>
          <p:cNvPr id="35" name="Text 29"/>
          <p:cNvSpPr txBox="1"/>
          <p:nvPr/>
        </p:nvSpPr>
        <p:spPr>
          <a:xfrm>
            <a:off x="6095848" y="2542032"/>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635C77"/>
                </a:solidFill>
                <a:latin typeface="Calibri" pitchFamily="34" charset="0"/>
                <a:ea typeface="Calibri" pitchFamily="34" charset="-122"/>
                <a:cs typeface="Calibri" pitchFamily="34" charset="-120"/>
              </a:rPr>
              <a:t>03</a:t>
            </a:r>
            <a:endParaRPr lang="en-US" sz="850" dirty="0"/>
          </a:p>
        </p:txBody>
      </p:sp>
      <p:sp>
        <p:nvSpPr>
          <p:cNvPr id="36" name="Text 30"/>
          <p:cNvSpPr txBox="1"/>
          <p:nvPr/>
        </p:nvSpPr>
        <p:spPr>
          <a:xfrm>
            <a:off x="6095848" y="2816352"/>
            <a:ext cx="2179244" cy="310896"/>
          </a:xfrm>
          <a:prstGeom prst="rect">
            <a:avLst/>
          </a:prstGeom>
          <a:noFill/>
          <a:ln/>
        </p:spPr>
        <p:txBody>
          <a:bodyPr wrap="square" lIns="0" tIns="0" rIns="0" bIns="0" rtlCol="0" anchor="ctr"/>
          <a:lstStyle/>
          <a:p>
            <a:pPr algn="l" indent="0" marL="0">
              <a:lnSpc>
                <a:spcPct val="122000"/>
              </a:lnSpc>
              <a:buNone/>
            </a:pPr>
            <a:r>
              <a:rPr lang="en-US" sz="1750" b="1" dirty="0">
                <a:solidFill>
                  <a:srgbClr val="1A1A1A"/>
                </a:solidFill>
                <a:latin typeface="Calibri" pitchFamily="34" charset="0"/>
                <a:ea typeface="Calibri" pitchFamily="34" charset="-122"/>
                <a:cs typeface="Calibri" pitchFamily="34" charset="-120"/>
              </a:rPr>
              <a:t>AI Agent</a:t>
            </a:r>
            <a:endParaRPr lang="en-US" sz="1750" dirty="0"/>
          </a:p>
        </p:txBody>
      </p:sp>
      <p:sp>
        <p:nvSpPr>
          <p:cNvPr id="37" name="Text 31"/>
          <p:cNvSpPr txBox="1"/>
          <p:nvPr/>
        </p:nvSpPr>
        <p:spPr>
          <a:xfrm>
            <a:off x="6095848" y="3236976"/>
            <a:ext cx="2133524" cy="603504"/>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Calibri" pitchFamily="34" charset="0"/>
                <a:ea typeface="Calibri" pitchFamily="34" charset="-122"/>
                <a:cs typeface="Calibri" pitchFamily="34" charset="-120"/>
              </a:rPr>
              <a:t>Membaca dokumen, merencanakan, lalu mengerjakan.</a:t>
            </a:r>
            <a:endParaRPr lang="en-US" sz="1050" dirty="0"/>
          </a:p>
        </p:txBody>
      </p:sp>
      <p:pic>
        <p:nvPicPr>
          <p:cNvPr id="38" name="Image 4" descr="C:\Seminar\generator\assets\logos\claude-light.png">    </p:cNvPr>
          <p:cNvPicPr>
            <a:picLocks noChangeAspect="1"/>
          </p:cNvPicPr>
          <p:nvPr/>
        </p:nvPicPr>
        <p:blipFill>
          <a:blip r:embed="rId5"/>
          <a:stretch>
            <a:fillRect/>
          </a:stretch>
        </p:blipFill>
        <p:spPr>
          <a:xfrm>
            <a:off x="6150712" y="4059936"/>
            <a:ext cx="310896" cy="310896"/>
          </a:xfrm>
          <a:prstGeom prst="rect">
            <a:avLst/>
          </a:prstGeom>
        </p:spPr>
      </p:pic>
      <p:sp>
        <p:nvSpPr>
          <p:cNvPr id="39" name="Text 32"/>
          <p:cNvSpPr txBox="1"/>
          <p:nvPr/>
        </p:nvSpPr>
        <p:spPr>
          <a:xfrm>
            <a:off x="5830672"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Claude</a:t>
            </a:r>
            <a:endParaRPr lang="en-US" sz="850" dirty="0"/>
          </a:p>
        </p:txBody>
      </p:sp>
      <p:pic>
        <p:nvPicPr>
          <p:cNvPr id="40" name="Image 5" descr="C:\Seminar\generator\assets\logos\googlegemini-light.png">    </p:cNvPr>
          <p:cNvPicPr>
            <a:picLocks noChangeAspect="1"/>
          </p:cNvPicPr>
          <p:nvPr/>
        </p:nvPicPr>
        <p:blipFill>
          <a:blip r:embed="rId6"/>
          <a:stretch>
            <a:fillRect/>
          </a:stretch>
        </p:blipFill>
        <p:spPr>
          <a:xfrm>
            <a:off x="7449160" y="4059936"/>
            <a:ext cx="310896" cy="310896"/>
          </a:xfrm>
          <a:prstGeom prst="rect">
            <a:avLst/>
          </a:prstGeom>
        </p:spPr>
      </p:pic>
      <p:sp>
        <p:nvSpPr>
          <p:cNvPr id="41" name="Text 33"/>
          <p:cNvSpPr txBox="1"/>
          <p:nvPr/>
        </p:nvSpPr>
        <p:spPr>
          <a:xfrm>
            <a:off x="7129120"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Gemini</a:t>
            </a:r>
            <a:endParaRPr lang="en-US" sz="850" dirty="0"/>
          </a:p>
        </p:txBody>
      </p:sp>
      <p:pic>
        <p:nvPicPr>
          <p:cNvPr id="42" name="Image 6" descr="C:\Seminar\generator\assets\logos\opencode-light.png">    </p:cNvPr>
          <p:cNvPicPr>
            <a:picLocks noChangeAspect="1"/>
          </p:cNvPicPr>
          <p:nvPr/>
        </p:nvPicPr>
        <p:blipFill>
          <a:blip r:embed="rId7"/>
          <a:stretch>
            <a:fillRect/>
          </a:stretch>
        </p:blipFill>
        <p:spPr>
          <a:xfrm>
            <a:off x="6150712" y="4846320"/>
            <a:ext cx="310896" cy="310896"/>
          </a:xfrm>
          <a:prstGeom prst="rect">
            <a:avLst/>
          </a:prstGeom>
        </p:spPr>
      </p:pic>
      <p:sp>
        <p:nvSpPr>
          <p:cNvPr id="43" name="Text 34"/>
          <p:cNvSpPr txBox="1"/>
          <p:nvPr/>
        </p:nvSpPr>
        <p:spPr>
          <a:xfrm>
            <a:off x="5830672"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OpenCode</a:t>
            </a:r>
            <a:endParaRPr lang="en-US" sz="850" dirty="0"/>
          </a:p>
        </p:txBody>
      </p:sp>
      <p:sp>
        <p:nvSpPr>
          <p:cNvPr id="44" name="Shape 35"/>
          <p:cNvSpPr/>
          <p:nvPr/>
        </p:nvSpPr>
        <p:spPr>
          <a:xfrm>
            <a:off x="7449160" y="4846320"/>
            <a:ext cx="310896" cy="310896"/>
          </a:xfrm>
          <a:prstGeom prst="ellipse">
            <a:avLst/>
          </a:prstGeom>
          <a:ln w="15875">
            <a:solidFill>
              <a:srgbClr val="DDD7CF"/>
            </a:solidFill>
            <a:prstDash val="solid"/>
          </a:ln>
        </p:spPr>
      </p:sp>
      <p:sp>
        <p:nvSpPr>
          <p:cNvPr id="45" name="Text 36"/>
          <p:cNvSpPr txBox="1"/>
          <p:nvPr/>
        </p:nvSpPr>
        <p:spPr>
          <a:xfrm>
            <a:off x="7449160" y="4846320"/>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Calibri" pitchFamily="34" charset="0"/>
                <a:ea typeface="Calibri" pitchFamily="34" charset="-122"/>
                <a:cs typeface="Calibri" pitchFamily="34" charset="-120"/>
              </a:rPr>
              <a:t>A</a:t>
            </a:r>
            <a:endParaRPr lang="en-US" sz="1450" dirty="0"/>
          </a:p>
        </p:txBody>
      </p:sp>
      <p:sp>
        <p:nvSpPr>
          <p:cNvPr id="46" name="Text 37"/>
          <p:cNvSpPr txBox="1"/>
          <p:nvPr/>
        </p:nvSpPr>
        <p:spPr>
          <a:xfrm>
            <a:off x="7129120"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Antigravity</a:t>
            </a:r>
            <a:endParaRPr lang="en-US" sz="850" dirty="0"/>
          </a:p>
        </p:txBody>
      </p:sp>
      <p:sp>
        <p:nvSpPr>
          <p:cNvPr id="47" name="Text 38"/>
          <p:cNvSpPr txBox="1"/>
          <p:nvPr/>
        </p:nvSpPr>
        <p:spPr>
          <a:xfrm>
            <a:off x="6095848" y="5614416"/>
            <a:ext cx="2179244" cy="219456"/>
          </a:xfrm>
          <a:prstGeom prst="rect">
            <a:avLst/>
          </a:prstGeom>
          <a:noFill/>
          <a:ln/>
        </p:spPr>
        <p:txBody>
          <a:bodyPr wrap="square" lIns="0" tIns="0" rIns="0" bIns="0" rtlCol="0" anchor="ctr"/>
          <a:lstStyle/>
          <a:p>
            <a:pPr algn="l" indent="0" marL="0">
              <a:lnSpc>
                <a:spcPct val="122000"/>
              </a:lnSpc>
              <a:buNone/>
            </a:pPr>
            <a:r>
              <a:rPr lang="en-US" sz="850" b="1" spc="140" kern="0" dirty="0">
                <a:solidFill>
                  <a:srgbClr val="635C77"/>
                </a:solidFill>
                <a:latin typeface="Calibri" pitchFamily="34" charset="0"/>
                <a:ea typeface="Calibri" pitchFamily="34" charset="-122"/>
                <a:cs typeface="Calibri" pitchFamily="34" charset="-120"/>
              </a:rPr>
              <a:t>BANGUN FITUR UTUH</a:t>
            </a:r>
            <a:endParaRPr lang="en-US" sz="850" dirty="0"/>
          </a:p>
        </p:txBody>
      </p:sp>
      <p:sp>
        <p:nvSpPr>
          <p:cNvPr id="48" name="Shape 39"/>
          <p:cNvSpPr/>
          <p:nvPr/>
        </p:nvSpPr>
        <p:spPr>
          <a:xfrm>
            <a:off x="8457971" y="2432304"/>
            <a:ext cx="0" cy="3200400"/>
          </a:xfrm>
          <a:prstGeom prst="line">
            <a:avLst/>
          </a:prstGeom>
          <a:noFill/>
          <a:ln w="12700">
            <a:solidFill>
              <a:srgbClr val="DDD7CF"/>
            </a:solidFill>
            <a:prstDash val="solid"/>
          </a:ln>
        </p:spPr>
      </p:sp>
      <p:sp>
        <p:nvSpPr>
          <p:cNvPr id="49" name="Text 40"/>
          <p:cNvSpPr txBox="1"/>
          <p:nvPr/>
        </p:nvSpPr>
        <p:spPr>
          <a:xfrm>
            <a:off x="8732291" y="2542032"/>
            <a:ext cx="914400" cy="201168"/>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04</a:t>
            </a:r>
            <a:endParaRPr lang="en-US" sz="850" dirty="0"/>
          </a:p>
        </p:txBody>
      </p:sp>
      <p:sp>
        <p:nvSpPr>
          <p:cNvPr id="50" name="Text 41"/>
          <p:cNvSpPr txBox="1"/>
          <p:nvPr/>
        </p:nvSpPr>
        <p:spPr>
          <a:xfrm>
            <a:off x="8732291" y="2816352"/>
            <a:ext cx="2179244" cy="310896"/>
          </a:xfrm>
          <a:prstGeom prst="rect">
            <a:avLst/>
          </a:prstGeom>
          <a:noFill/>
          <a:ln/>
        </p:spPr>
        <p:txBody>
          <a:bodyPr wrap="square" lIns="0" tIns="0" rIns="0" bIns="0" rtlCol="0" anchor="ctr"/>
          <a:lstStyle/>
          <a:p>
            <a:pPr algn="l" indent="0" marL="0">
              <a:lnSpc>
                <a:spcPct val="122000"/>
              </a:lnSpc>
              <a:buNone/>
            </a:pPr>
            <a:r>
              <a:rPr lang="en-US" sz="1750" b="1" dirty="0">
                <a:solidFill>
                  <a:srgbClr val="1A1A1A"/>
                </a:solidFill>
                <a:latin typeface="Calibri" pitchFamily="34" charset="0"/>
                <a:ea typeface="Calibri" pitchFamily="34" charset="-122"/>
                <a:cs typeface="Calibri" pitchFamily="34" charset="-120"/>
              </a:rPr>
              <a:t>Autonomous</a:t>
            </a:r>
            <a:endParaRPr lang="en-US" sz="1750" dirty="0"/>
          </a:p>
        </p:txBody>
      </p:sp>
      <p:sp>
        <p:nvSpPr>
          <p:cNvPr id="51" name="Text 42"/>
          <p:cNvSpPr txBox="1"/>
          <p:nvPr/>
        </p:nvSpPr>
        <p:spPr>
          <a:xfrm>
            <a:off x="8732291" y="3236976"/>
            <a:ext cx="2133524" cy="603504"/>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Calibri" pitchFamily="34" charset="0"/>
                <a:ea typeface="Calibri" pitchFamily="34" charset="-122"/>
                <a:cs typeface="Calibri" pitchFamily="34" charset="-120"/>
              </a:rPr>
              <a:t>Menerima issue dan menyelesaikannya sendiri.</a:t>
            </a:r>
            <a:endParaRPr lang="en-US" sz="1050" dirty="0"/>
          </a:p>
        </p:txBody>
      </p:sp>
      <p:sp>
        <p:nvSpPr>
          <p:cNvPr id="52" name="Shape 43"/>
          <p:cNvSpPr/>
          <p:nvPr/>
        </p:nvSpPr>
        <p:spPr>
          <a:xfrm>
            <a:off x="8787155" y="4059936"/>
            <a:ext cx="310896" cy="310896"/>
          </a:xfrm>
          <a:prstGeom prst="ellipse">
            <a:avLst/>
          </a:prstGeom>
          <a:ln w="15875">
            <a:solidFill>
              <a:srgbClr val="DDD7CF"/>
            </a:solidFill>
            <a:prstDash val="solid"/>
          </a:ln>
        </p:spPr>
      </p:sp>
      <p:sp>
        <p:nvSpPr>
          <p:cNvPr id="53" name="Text 44"/>
          <p:cNvSpPr txBox="1"/>
          <p:nvPr/>
        </p:nvSpPr>
        <p:spPr>
          <a:xfrm>
            <a:off x="8787155" y="4059936"/>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Calibri" pitchFamily="34" charset="0"/>
                <a:ea typeface="Calibri" pitchFamily="34" charset="-122"/>
                <a:cs typeface="Calibri" pitchFamily="34" charset="-120"/>
              </a:rPr>
              <a:t>D</a:t>
            </a:r>
            <a:endParaRPr lang="en-US" sz="1450" dirty="0"/>
          </a:p>
        </p:txBody>
      </p:sp>
      <p:sp>
        <p:nvSpPr>
          <p:cNvPr id="54" name="Text 45"/>
          <p:cNvSpPr txBox="1"/>
          <p:nvPr/>
        </p:nvSpPr>
        <p:spPr>
          <a:xfrm>
            <a:off x="8467115"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Devin</a:t>
            </a:r>
            <a:endParaRPr lang="en-US" sz="850" dirty="0"/>
          </a:p>
        </p:txBody>
      </p:sp>
      <p:sp>
        <p:nvSpPr>
          <p:cNvPr id="55" name="Shape 46"/>
          <p:cNvSpPr/>
          <p:nvPr/>
        </p:nvSpPr>
        <p:spPr>
          <a:xfrm>
            <a:off x="10085603" y="4059936"/>
            <a:ext cx="310896" cy="310896"/>
          </a:xfrm>
          <a:prstGeom prst="ellipse">
            <a:avLst/>
          </a:prstGeom>
          <a:ln w="15875">
            <a:solidFill>
              <a:srgbClr val="DDD7CF"/>
            </a:solidFill>
            <a:prstDash val="solid"/>
          </a:ln>
        </p:spPr>
      </p:sp>
      <p:sp>
        <p:nvSpPr>
          <p:cNvPr id="56" name="Text 47"/>
          <p:cNvSpPr txBox="1"/>
          <p:nvPr/>
        </p:nvSpPr>
        <p:spPr>
          <a:xfrm>
            <a:off x="10085603" y="4059936"/>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Calibri" pitchFamily="34" charset="0"/>
                <a:ea typeface="Calibri" pitchFamily="34" charset="-122"/>
                <a:cs typeface="Calibri" pitchFamily="34" charset="-120"/>
              </a:rPr>
              <a:t>C</a:t>
            </a:r>
            <a:endParaRPr lang="en-US" sz="1450" dirty="0"/>
          </a:p>
        </p:txBody>
      </p:sp>
      <p:sp>
        <p:nvSpPr>
          <p:cNvPr id="57" name="Text 48"/>
          <p:cNvSpPr txBox="1"/>
          <p:nvPr/>
        </p:nvSpPr>
        <p:spPr>
          <a:xfrm>
            <a:off x="9765563" y="4480560"/>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Codex</a:t>
            </a:r>
            <a:endParaRPr lang="en-US" sz="850" dirty="0"/>
          </a:p>
        </p:txBody>
      </p:sp>
      <p:sp>
        <p:nvSpPr>
          <p:cNvPr id="58" name="Shape 49"/>
          <p:cNvSpPr/>
          <p:nvPr/>
        </p:nvSpPr>
        <p:spPr>
          <a:xfrm>
            <a:off x="8787155" y="4846320"/>
            <a:ext cx="310896" cy="310896"/>
          </a:xfrm>
          <a:prstGeom prst="ellipse">
            <a:avLst/>
          </a:prstGeom>
          <a:ln w="15875">
            <a:solidFill>
              <a:srgbClr val="DDD7CF"/>
            </a:solidFill>
            <a:prstDash val="solid"/>
          </a:ln>
        </p:spPr>
      </p:sp>
      <p:sp>
        <p:nvSpPr>
          <p:cNvPr id="59" name="Text 50"/>
          <p:cNvSpPr txBox="1"/>
          <p:nvPr/>
        </p:nvSpPr>
        <p:spPr>
          <a:xfrm>
            <a:off x="8787155" y="4846320"/>
            <a:ext cx="310896" cy="310896"/>
          </a:xfrm>
          <a:prstGeom prst="rect">
            <a:avLst/>
          </a:prstGeom>
          <a:noFill/>
          <a:ln/>
        </p:spPr>
        <p:txBody>
          <a:bodyPr wrap="square" lIns="0" tIns="0" rIns="0" bIns="0" rtlCol="0" anchor="ctr"/>
          <a:lstStyle/>
          <a:p>
            <a:pPr algn="ctr" indent="0" marL="0">
              <a:lnSpc>
                <a:spcPct val="122000"/>
              </a:lnSpc>
              <a:buNone/>
            </a:pPr>
            <a:r>
              <a:rPr lang="en-US" sz="1450" b="1" dirty="0">
                <a:solidFill>
                  <a:srgbClr val="847E96"/>
                </a:solidFill>
                <a:latin typeface="Calibri" pitchFamily="34" charset="0"/>
                <a:ea typeface="Calibri" pitchFamily="34" charset="-122"/>
                <a:cs typeface="Calibri" pitchFamily="34" charset="-120"/>
              </a:rPr>
              <a:t>S</a:t>
            </a:r>
            <a:endParaRPr lang="en-US" sz="1450" dirty="0"/>
          </a:p>
        </p:txBody>
      </p:sp>
      <p:sp>
        <p:nvSpPr>
          <p:cNvPr id="60" name="Text 51"/>
          <p:cNvSpPr txBox="1"/>
          <p:nvPr/>
        </p:nvSpPr>
        <p:spPr>
          <a:xfrm>
            <a:off x="8467115" y="5266944"/>
            <a:ext cx="950976" cy="182880"/>
          </a:xfrm>
          <a:prstGeom prst="rect">
            <a:avLst/>
          </a:prstGeom>
          <a:noFill/>
          <a:ln/>
        </p:spPr>
        <p:txBody>
          <a:bodyPr wrap="square" lIns="0" tIns="0" rIns="0" bIns="0" rtlCol="0" anchor="ctr"/>
          <a:lstStyle/>
          <a:p>
            <a:pPr algn="ctr" indent="0" marL="0">
              <a:lnSpc>
                <a:spcPct val="122000"/>
              </a:lnSpc>
              <a:buNone/>
            </a:pPr>
            <a:r>
              <a:rPr lang="en-US" sz="850" dirty="0">
                <a:solidFill>
                  <a:srgbClr val="5F5F5F"/>
                </a:solidFill>
                <a:latin typeface="Calibri" pitchFamily="34" charset="0"/>
                <a:ea typeface="Calibri" pitchFamily="34" charset="-122"/>
                <a:cs typeface="Calibri" pitchFamily="34" charset="-120"/>
              </a:rPr>
              <a:t>SWE Agent</a:t>
            </a:r>
            <a:endParaRPr lang="en-US" sz="850" dirty="0"/>
          </a:p>
        </p:txBody>
      </p:sp>
      <p:sp>
        <p:nvSpPr>
          <p:cNvPr id="61" name="Text 52"/>
          <p:cNvSpPr txBox="1"/>
          <p:nvPr/>
        </p:nvSpPr>
        <p:spPr>
          <a:xfrm>
            <a:off x="8732291" y="5614416"/>
            <a:ext cx="2179244" cy="219456"/>
          </a:xfrm>
          <a:prstGeom prst="rect">
            <a:avLst/>
          </a:prstGeom>
          <a:noFill/>
          <a:ln/>
        </p:spPr>
        <p:txBody>
          <a:bodyPr wrap="square" lIns="0" tIns="0" rIns="0" bIns="0" rtlCol="0" anchor="ctr"/>
          <a:lstStyle/>
          <a:p>
            <a:pPr algn="l" indent="0" marL="0">
              <a:lnSpc>
                <a:spcPct val="122000"/>
              </a:lnSpc>
              <a:buNone/>
            </a:pPr>
            <a:r>
              <a:rPr lang="en-US" sz="850" b="1" spc="140" kern="0" dirty="0">
                <a:solidFill>
                  <a:srgbClr val="635C77"/>
                </a:solidFill>
                <a:latin typeface="Calibri" pitchFamily="34" charset="0"/>
                <a:ea typeface="Calibri" pitchFamily="34" charset="-122"/>
                <a:cs typeface="Calibri" pitchFamily="34" charset="-120"/>
              </a:rPr>
              <a:t>KERJA TANPA DIAWASI</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02  ·  WHAT IS VIBECODING</a:t>
            </a:r>
            <a:endParaRPr lang="en-US" sz="850" dirty="0"/>
          </a:p>
        </p:txBody>
      </p:sp>
      <p:sp>
        <p:nvSpPr>
          <p:cNvPr id="4" name="Text 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5" name="Text 3"/>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08</a:t>
            </a:r>
            <a:endParaRPr lang="en-US" sz="800" dirty="0"/>
          </a:p>
        </p:txBody>
      </p:sp>
      <p:sp>
        <p:nvSpPr>
          <p:cNvPr id="6" name="Text 4"/>
          <p:cNvSpPr txBox="1"/>
          <p:nvPr/>
        </p:nvSpPr>
        <p:spPr>
          <a:xfrm>
            <a:off x="822960" y="914400"/>
            <a:ext cx="8778240" cy="51206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Salah paham terbesar soal Vibecoding</a:t>
            </a:r>
            <a:endParaRPr lang="en-US" sz="3400" dirty="0"/>
          </a:p>
        </p:txBody>
      </p:sp>
      <p:sp>
        <p:nvSpPr>
          <p:cNvPr id="7" name="Text 5"/>
          <p:cNvSpPr txBox="1"/>
          <p:nvPr/>
        </p:nvSpPr>
        <p:spPr>
          <a:xfrm>
            <a:off x="822960" y="1591056"/>
            <a:ext cx="7863840" cy="274320"/>
          </a:xfrm>
          <a:prstGeom prst="rect">
            <a:avLst/>
          </a:prstGeom>
          <a:noFill/>
          <a:ln/>
        </p:spPr>
        <p:txBody>
          <a:bodyPr wrap="square" lIns="0" tIns="0" rIns="0" bIns="0" rtlCol="0" anchor="ctr"/>
          <a:lstStyle/>
          <a:p>
            <a:pPr algn="l" indent="0" marL="0">
              <a:lnSpc>
                <a:spcPct val="122000"/>
              </a:lnSpc>
              <a:buNone/>
            </a:pPr>
            <a:r>
              <a:rPr lang="en-US" sz="1450" dirty="0">
                <a:solidFill>
                  <a:srgbClr val="5F5F5F"/>
                </a:solidFill>
                <a:latin typeface="Calibri" pitchFamily="34" charset="0"/>
                <a:ea typeface="Calibri" pitchFamily="34" charset="-122"/>
                <a:cs typeface="Calibri" pitchFamily="34" charset="-120"/>
              </a:rPr>
              <a:t>Vibecoding sering dikira jalan pintas. Padahal yang dipangkas AI adalah waktu mengetik, bukan waktu berpikir.</a:t>
            </a:r>
            <a:endParaRPr lang="en-US" sz="1450" dirty="0"/>
          </a:p>
        </p:txBody>
      </p:sp>
      <p:sp>
        <p:nvSpPr>
          <p:cNvPr id="8" name="Text 6"/>
          <p:cNvSpPr txBox="1"/>
          <p:nvPr/>
        </p:nvSpPr>
        <p:spPr>
          <a:xfrm>
            <a:off x="822960" y="2340864"/>
            <a:ext cx="274320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A9634F"/>
                </a:solidFill>
                <a:latin typeface="Calibri" pitchFamily="34" charset="0"/>
                <a:ea typeface="Calibri" pitchFamily="34" charset="-122"/>
                <a:cs typeface="Calibri" pitchFamily="34" charset="-120"/>
              </a:rPr>
              <a:t>MITOS</a:t>
            </a:r>
            <a:endParaRPr lang="en-US" sz="850" dirty="0"/>
          </a:p>
        </p:txBody>
      </p:sp>
      <p:sp>
        <p:nvSpPr>
          <p:cNvPr id="9" name="Text 7"/>
          <p:cNvSpPr txBox="1"/>
          <p:nvPr/>
        </p:nvSpPr>
        <p:spPr>
          <a:xfrm>
            <a:off x="822960" y="2651760"/>
            <a:ext cx="2377440" cy="566928"/>
          </a:xfrm>
          <a:prstGeom prst="rect">
            <a:avLst/>
          </a:prstGeom>
          <a:noFill/>
          <a:ln/>
        </p:spPr>
        <p:txBody>
          <a:bodyPr wrap="square" lIns="0" tIns="0" rIns="0" bIns="0" rtlCol="0" anchor="t"/>
          <a:lstStyle/>
          <a:p>
            <a:pPr algn="l" indent="0" marL="0">
              <a:lnSpc>
                <a:spcPct val="110000"/>
              </a:lnSpc>
              <a:buNone/>
            </a:pPr>
            <a:r>
              <a:rPr lang="en-US" sz="3300" b="1" dirty="0">
                <a:solidFill>
                  <a:srgbClr val="9C948B"/>
                </a:solidFill>
                <a:latin typeface="Calibri" pitchFamily="34" charset="0"/>
                <a:ea typeface="Calibri" pitchFamily="34" charset="-122"/>
                <a:cs typeface="Calibri" pitchFamily="34" charset="-120"/>
              </a:rPr>
              <a:t>Idea</a:t>
            </a:r>
            <a:endParaRPr lang="en-US" sz="3300" dirty="0"/>
          </a:p>
        </p:txBody>
      </p:sp>
      <p:sp>
        <p:nvSpPr>
          <p:cNvPr id="10" name="Text 8"/>
          <p:cNvSpPr txBox="1"/>
          <p:nvPr/>
        </p:nvSpPr>
        <p:spPr>
          <a:xfrm>
            <a:off x="3163824" y="2651760"/>
            <a:ext cx="457200" cy="566928"/>
          </a:xfrm>
          <a:prstGeom prst="rect">
            <a:avLst/>
          </a:prstGeom>
          <a:noFill/>
          <a:ln/>
        </p:spPr>
        <p:txBody>
          <a:bodyPr wrap="square" lIns="0" tIns="0" rIns="0" bIns="0" rtlCol="0" anchor="ctr"/>
          <a:lstStyle/>
          <a:p>
            <a:pPr algn="l" indent="0" marL="0">
              <a:lnSpc>
                <a:spcPct val="122000"/>
              </a:lnSpc>
              <a:buNone/>
            </a:pPr>
            <a:r>
              <a:rPr lang="en-US" sz="2600" dirty="0">
                <a:solidFill>
                  <a:srgbClr val="C7BFB4"/>
                </a:solidFill>
                <a:latin typeface="Calibri" pitchFamily="34" charset="0"/>
                <a:ea typeface="Calibri" pitchFamily="34" charset="-122"/>
                <a:cs typeface="Calibri" pitchFamily="34" charset="-120"/>
              </a:rPr>
              <a:t>→</a:t>
            </a:r>
            <a:endParaRPr lang="en-US" sz="2600" dirty="0"/>
          </a:p>
        </p:txBody>
      </p:sp>
      <p:sp>
        <p:nvSpPr>
          <p:cNvPr id="11" name="Text 9"/>
          <p:cNvSpPr txBox="1"/>
          <p:nvPr/>
        </p:nvSpPr>
        <p:spPr>
          <a:xfrm>
            <a:off x="3703320" y="2651760"/>
            <a:ext cx="2377440" cy="566928"/>
          </a:xfrm>
          <a:prstGeom prst="rect">
            <a:avLst/>
          </a:prstGeom>
          <a:noFill/>
          <a:ln/>
        </p:spPr>
        <p:txBody>
          <a:bodyPr wrap="square" lIns="0" tIns="0" rIns="0" bIns="0" rtlCol="0" anchor="t"/>
          <a:lstStyle/>
          <a:p>
            <a:pPr algn="l" indent="0" marL="0">
              <a:lnSpc>
                <a:spcPct val="110000"/>
              </a:lnSpc>
              <a:buNone/>
            </a:pPr>
            <a:r>
              <a:rPr lang="en-US" sz="3300" b="1" dirty="0">
                <a:solidFill>
                  <a:srgbClr val="9C948B"/>
                </a:solidFill>
                <a:latin typeface="Calibri" pitchFamily="34" charset="0"/>
                <a:ea typeface="Calibri" pitchFamily="34" charset="-122"/>
                <a:cs typeface="Calibri" pitchFamily="34" charset="-120"/>
              </a:rPr>
              <a:t>Prompt</a:t>
            </a:r>
            <a:endParaRPr lang="en-US" sz="3300" dirty="0"/>
          </a:p>
        </p:txBody>
      </p:sp>
      <p:sp>
        <p:nvSpPr>
          <p:cNvPr id="12" name="Text 10"/>
          <p:cNvSpPr txBox="1"/>
          <p:nvPr/>
        </p:nvSpPr>
        <p:spPr>
          <a:xfrm>
            <a:off x="6044184" y="2651760"/>
            <a:ext cx="457200" cy="566928"/>
          </a:xfrm>
          <a:prstGeom prst="rect">
            <a:avLst/>
          </a:prstGeom>
          <a:noFill/>
          <a:ln/>
        </p:spPr>
        <p:txBody>
          <a:bodyPr wrap="square" lIns="0" tIns="0" rIns="0" bIns="0" rtlCol="0" anchor="ctr"/>
          <a:lstStyle/>
          <a:p>
            <a:pPr algn="l" indent="0" marL="0">
              <a:lnSpc>
                <a:spcPct val="122000"/>
              </a:lnSpc>
              <a:buNone/>
            </a:pPr>
            <a:r>
              <a:rPr lang="en-US" sz="2600" dirty="0">
                <a:solidFill>
                  <a:srgbClr val="C7BFB4"/>
                </a:solidFill>
                <a:latin typeface="Calibri" pitchFamily="34" charset="0"/>
                <a:ea typeface="Calibri" pitchFamily="34" charset="-122"/>
                <a:cs typeface="Calibri" pitchFamily="34" charset="-120"/>
              </a:rPr>
              <a:t>→</a:t>
            </a:r>
            <a:endParaRPr lang="en-US" sz="2600" dirty="0"/>
          </a:p>
        </p:txBody>
      </p:sp>
      <p:sp>
        <p:nvSpPr>
          <p:cNvPr id="13" name="Text 11"/>
          <p:cNvSpPr txBox="1"/>
          <p:nvPr/>
        </p:nvSpPr>
        <p:spPr>
          <a:xfrm>
            <a:off x="6583680" y="2651760"/>
            <a:ext cx="3291840" cy="566928"/>
          </a:xfrm>
          <a:prstGeom prst="rect">
            <a:avLst/>
          </a:prstGeom>
          <a:noFill/>
          <a:ln/>
        </p:spPr>
        <p:txBody>
          <a:bodyPr wrap="square" lIns="0" tIns="0" rIns="0" bIns="0" rtlCol="0" anchor="t"/>
          <a:lstStyle/>
          <a:p>
            <a:pPr algn="l" indent="0" marL="0">
              <a:lnSpc>
                <a:spcPct val="110000"/>
              </a:lnSpc>
              <a:buNone/>
            </a:pPr>
            <a:r>
              <a:rPr lang="en-US" sz="3300" b="1" dirty="0">
                <a:solidFill>
                  <a:srgbClr val="A9634F"/>
                </a:solidFill>
                <a:latin typeface="Calibri" pitchFamily="34" charset="0"/>
                <a:ea typeface="Calibri" pitchFamily="34" charset="-122"/>
                <a:cs typeface="Calibri" pitchFamily="34" charset="-120"/>
              </a:rPr>
              <a:t>Aplikasi Jadi</a:t>
            </a:r>
            <a:endParaRPr lang="en-US" sz="3300" dirty="0"/>
          </a:p>
        </p:txBody>
      </p:sp>
      <p:sp>
        <p:nvSpPr>
          <p:cNvPr id="14" name="Shape 12"/>
          <p:cNvSpPr/>
          <p:nvPr/>
        </p:nvSpPr>
        <p:spPr>
          <a:xfrm>
            <a:off x="822960" y="2926080"/>
            <a:ext cx="7955280" cy="0"/>
          </a:xfrm>
          <a:prstGeom prst="line">
            <a:avLst/>
          </a:prstGeom>
          <a:noFill/>
          <a:ln w="19050">
            <a:solidFill>
              <a:srgbClr val="A9634F"/>
            </a:solidFill>
            <a:prstDash val="solid"/>
          </a:ln>
        </p:spPr>
      </p:sp>
      <p:sp>
        <p:nvSpPr>
          <p:cNvPr id="15" name="Text 13"/>
          <p:cNvSpPr txBox="1"/>
          <p:nvPr/>
        </p:nvSpPr>
        <p:spPr>
          <a:xfrm>
            <a:off x="9006840" y="2615184"/>
            <a:ext cx="731520" cy="640080"/>
          </a:xfrm>
          <a:prstGeom prst="rect">
            <a:avLst/>
          </a:prstGeom>
          <a:noFill/>
          <a:ln/>
        </p:spPr>
        <p:txBody>
          <a:bodyPr wrap="square" lIns="0" tIns="0" rIns="0" bIns="0" rtlCol="0" anchor="ctr"/>
          <a:lstStyle/>
          <a:p>
            <a:pPr algn="l" indent="0" marL="0">
              <a:lnSpc>
                <a:spcPct val="122000"/>
              </a:lnSpc>
              <a:buNone/>
            </a:pPr>
            <a:r>
              <a:rPr lang="en-US" sz="4000" b="1" dirty="0">
                <a:solidFill>
                  <a:srgbClr val="A9634F"/>
                </a:solidFill>
                <a:latin typeface="Calibri" pitchFamily="34" charset="0"/>
                <a:ea typeface="Calibri" pitchFamily="34" charset="-122"/>
                <a:cs typeface="Calibri" pitchFamily="34" charset="-120"/>
              </a:rPr>
              <a:t>✕</a:t>
            </a:r>
            <a:endParaRPr lang="en-US" sz="4000" dirty="0"/>
          </a:p>
        </p:txBody>
      </p:sp>
      <p:sp>
        <p:nvSpPr>
          <p:cNvPr id="16" name="Text 14"/>
          <p:cNvSpPr txBox="1"/>
          <p:nvPr/>
        </p:nvSpPr>
        <p:spPr>
          <a:xfrm>
            <a:off x="822960" y="3822192"/>
            <a:ext cx="548640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847E96"/>
                </a:solidFill>
                <a:latin typeface="Calibri" pitchFamily="34" charset="0"/>
                <a:ea typeface="Calibri" pitchFamily="34" charset="-122"/>
                <a:cs typeface="Calibri" pitchFamily="34" charset="-120"/>
              </a:rPr>
              <a:t>YANG BENAR-BENAR TERJADI</a:t>
            </a:r>
            <a:endParaRPr lang="en-US" sz="850" dirty="0"/>
          </a:p>
        </p:txBody>
      </p:sp>
      <p:sp>
        <p:nvSpPr>
          <p:cNvPr id="17" name="Shape 15"/>
          <p:cNvSpPr/>
          <p:nvPr/>
        </p:nvSpPr>
        <p:spPr>
          <a:xfrm>
            <a:off x="822960" y="4169664"/>
            <a:ext cx="5120640" cy="0"/>
          </a:xfrm>
          <a:prstGeom prst="line">
            <a:avLst/>
          </a:prstGeom>
          <a:noFill/>
          <a:ln w="12700">
            <a:solidFill>
              <a:srgbClr val="DDD7CF"/>
            </a:solidFill>
            <a:prstDash val="solid"/>
          </a:ln>
        </p:spPr>
      </p:sp>
      <p:sp>
        <p:nvSpPr>
          <p:cNvPr id="18" name="Text 16"/>
          <p:cNvSpPr txBox="1"/>
          <p:nvPr/>
        </p:nvSpPr>
        <p:spPr>
          <a:xfrm>
            <a:off x="822960" y="4334256"/>
            <a:ext cx="5120640" cy="256032"/>
          </a:xfrm>
          <a:prstGeom prst="rect">
            <a:avLst/>
          </a:prstGeom>
          <a:noFill/>
          <a:ln/>
        </p:spPr>
        <p:txBody>
          <a:bodyPr wrap="square" lIns="0" tIns="0" rIns="0" bIns="0" rtlCol="0" anchor="ctr"/>
          <a:lstStyle/>
          <a:p>
            <a:pPr algn="l" indent="0" marL="0">
              <a:lnSpc>
                <a:spcPct val="122000"/>
              </a:lnSpc>
              <a:buNone/>
            </a:pPr>
            <a:r>
              <a:rPr lang="en-US" sz="1500" b="1" dirty="0">
                <a:solidFill>
                  <a:srgbClr val="1A1A1A"/>
                </a:solidFill>
                <a:latin typeface="Calibri" pitchFamily="34" charset="0"/>
                <a:ea typeface="Calibri" pitchFamily="34" charset="-122"/>
                <a:cs typeface="Calibri" pitchFamily="34" charset="-120"/>
              </a:rPr>
              <a:t>Scope melebar tanpa rem</a:t>
            </a:r>
            <a:endParaRPr lang="en-US" sz="1500" dirty="0"/>
          </a:p>
        </p:txBody>
      </p:sp>
      <p:sp>
        <p:nvSpPr>
          <p:cNvPr id="19" name="Text 17"/>
          <p:cNvSpPr txBox="1"/>
          <p:nvPr/>
        </p:nvSpPr>
        <p:spPr>
          <a:xfrm>
            <a:off x="822960" y="4645152"/>
            <a:ext cx="4983480" cy="420624"/>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AI tidak tahu apa yang TIDAK boleh dibangun, jadi ia membangun semuanya.</a:t>
            </a:r>
            <a:endParaRPr lang="en-US" sz="1050" dirty="0"/>
          </a:p>
        </p:txBody>
      </p:sp>
      <p:sp>
        <p:nvSpPr>
          <p:cNvPr id="20" name="Shape 18"/>
          <p:cNvSpPr/>
          <p:nvPr/>
        </p:nvSpPr>
        <p:spPr>
          <a:xfrm>
            <a:off x="6236208" y="4169664"/>
            <a:ext cx="5120640" cy="0"/>
          </a:xfrm>
          <a:prstGeom prst="line">
            <a:avLst/>
          </a:prstGeom>
          <a:noFill/>
          <a:ln w="12700">
            <a:solidFill>
              <a:srgbClr val="DDD7CF"/>
            </a:solidFill>
            <a:prstDash val="solid"/>
          </a:ln>
        </p:spPr>
      </p:sp>
      <p:sp>
        <p:nvSpPr>
          <p:cNvPr id="21" name="Text 19"/>
          <p:cNvSpPr txBox="1"/>
          <p:nvPr/>
        </p:nvSpPr>
        <p:spPr>
          <a:xfrm>
            <a:off x="6236208" y="4334256"/>
            <a:ext cx="5120640" cy="256032"/>
          </a:xfrm>
          <a:prstGeom prst="rect">
            <a:avLst/>
          </a:prstGeom>
          <a:noFill/>
          <a:ln/>
        </p:spPr>
        <p:txBody>
          <a:bodyPr wrap="square" lIns="0" tIns="0" rIns="0" bIns="0" rtlCol="0" anchor="ctr"/>
          <a:lstStyle/>
          <a:p>
            <a:pPr algn="l" indent="0" marL="0">
              <a:lnSpc>
                <a:spcPct val="122000"/>
              </a:lnSpc>
              <a:buNone/>
            </a:pPr>
            <a:r>
              <a:rPr lang="en-US" sz="1500" b="1" dirty="0">
                <a:solidFill>
                  <a:srgbClr val="1A1A1A"/>
                </a:solidFill>
                <a:latin typeface="Calibri" pitchFamily="34" charset="0"/>
                <a:ea typeface="Calibri" pitchFamily="34" charset="-122"/>
                <a:cs typeface="Calibri" pitchFamily="34" charset="-120"/>
              </a:rPr>
              <a:t>Fitur meleset dari kebutuhan</a:t>
            </a:r>
            <a:endParaRPr lang="en-US" sz="1500" dirty="0"/>
          </a:p>
        </p:txBody>
      </p:sp>
      <p:sp>
        <p:nvSpPr>
          <p:cNvPr id="22" name="Text 20"/>
          <p:cNvSpPr txBox="1"/>
          <p:nvPr/>
        </p:nvSpPr>
        <p:spPr>
          <a:xfrm>
            <a:off x="6236208" y="4645152"/>
            <a:ext cx="4983480" cy="420624"/>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Yang jadi bukan yang dibutuhkan bisnis, tapi yang paling mudah ditebak AI.</a:t>
            </a:r>
            <a:endParaRPr lang="en-US" sz="1050" dirty="0"/>
          </a:p>
        </p:txBody>
      </p:sp>
      <p:sp>
        <p:nvSpPr>
          <p:cNvPr id="23" name="Shape 21"/>
          <p:cNvSpPr/>
          <p:nvPr/>
        </p:nvSpPr>
        <p:spPr>
          <a:xfrm>
            <a:off x="822960" y="5175504"/>
            <a:ext cx="5120640" cy="0"/>
          </a:xfrm>
          <a:prstGeom prst="line">
            <a:avLst/>
          </a:prstGeom>
          <a:noFill/>
          <a:ln w="12700">
            <a:solidFill>
              <a:srgbClr val="DDD7CF"/>
            </a:solidFill>
            <a:prstDash val="solid"/>
          </a:ln>
        </p:spPr>
      </p:sp>
      <p:sp>
        <p:nvSpPr>
          <p:cNvPr id="24" name="Text 22"/>
          <p:cNvSpPr txBox="1"/>
          <p:nvPr/>
        </p:nvSpPr>
        <p:spPr>
          <a:xfrm>
            <a:off x="822960" y="5340096"/>
            <a:ext cx="5120640" cy="256032"/>
          </a:xfrm>
          <a:prstGeom prst="rect">
            <a:avLst/>
          </a:prstGeom>
          <a:noFill/>
          <a:ln/>
        </p:spPr>
        <p:txBody>
          <a:bodyPr wrap="square" lIns="0" tIns="0" rIns="0" bIns="0" rtlCol="0" anchor="ctr"/>
          <a:lstStyle/>
          <a:p>
            <a:pPr algn="l" indent="0" marL="0">
              <a:lnSpc>
                <a:spcPct val="122000"/>
              </a:lnSpc>
              <a:buNone/>
            </a:pPr>
            <a:r>
              <a:rPr lang="en-US" sz="1500" b="1" dirty="0">
                <a:solidFill>
                  <a:srgbClr val="1A1A1A"/>
                </a:solidFill>
                <a:latin typeface="Calibri" pitchFamily="34" charset="0"/>
                <a:ea typeface="Calibri" pitchFamily="34" charset="-122"/>
                <a:cs typeface="Calibri" pitchFamily="34" charset="-120"/>
              </a:rPr>
              <a:t>Kode sulit dirawat</a:t>
            </a:r>
            <a:endParaRPr lang="en-US" sz="1500" dirty="0"/>
          </a:p>
        </p:txBody>
      </p:sp>
      <p:sp>
        <p:nvSpPr>
          <p:cNvPr id="25" name="Text 23"/>
          <p:cNvSpPr txBox="1"/>
          <p:nvPr/>
        </p:nvSpPr>
        <p:spPr>
          <a:xfrm>
            <a:off x="822960" y="5650992"/>
            <a:ext cx="4983480" cy="420624"/>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Struktur berubah tiap sesi karena tidak ada acuan arsitektur yang tetap.</a:t>
            </a:r>
            <a:endParaRPr lang="en-US" sz="1050" dirty="0"/>
          </a:p>
        </p:txBody>
      </p:sp>
      <p:sp>
        <p:nvSpPr>
          <p:cNvPr id="26" name="Shape 24"/>
          <p:cNvSpPr/>
          <p:nvPr/>
        </p:nvSpPr>
        <p:spPr>
          <a:xfrm>
            <a:off x="6236208" y="5175504"/>
            <a:ext cx="5120640" cy="0"/>
          </a:xfrm>
          <a:prstGeom prst="line">
            <a:avLst/>
          </a:prstGeom>
          <a:noFill/>
          <a:ln w="12700">
            <a:solidFill>
              <a:srgbClr val="DDD7CF"/>
            </a:solidFill>
            <a:prstDash val="solid"/>
          </a:ln>
        </p:spPr>
      </p:sp>
      <p:sp>
        <p:nvSpPr>
          <p:cNvPr id="27" name="Text 25"/>
          <p:cNvSpPr txBox="1"/>
          <p:nvPr/>
        </p:nvSpPr>
        <p:spPr>
          <a:xfrm>
            <a:off x="6236208" y="5340096"/>
            <a:ext cx="5120640" cy="256032"/>
          </a:xfrm>
          <a:prstGeom prst="rect">
            <a:avLst/>
          </a:prstGeom>
          <a:noFill/>
          <a:ln/>
        </p:spPr>
        <p:txBody>
          <a:bodyPr wrap="square" lIns="0" tIns="0" rIns="0" bIns="0" rtlCol="0" anchor="ctr"/>
          <a:lstStyle/>
          <a:p>
            <a:pPr algn="l" indent="0" marL="0">
              <a:lnSpc>
                <a:spcPct val="122000"/>
              </a:lnSpc>
              <a:buNone/>
            </a:pPr>
            <a:r>
              <a:rPr lang="en-US" sz="1500" b="1" dirty="0">
                <a:solidFill>
                  <a:srgbClr val="1A1A1A"/>
                </a:solidFill>
                <a:latin typeface="Calibri" pitchFamily="34" charset="0"/>
                <a:ea typeface="Calibri" pitchFamily="34" charset="-122"/>
                <a:cs typeface="Calibri" pitchFamily="34" charset="-120"/>
              </a:rPr>
              <a:t>Bug baru ketahuan di production</a:t>
            </a:r>
            <a:endParaRPr lang="en-US" sz="1500" dirty="0"/>
          </a:p>
        </p:txBody>
      </p:sp>
      <p:sp>
        <p:nvSpPr>
          <p:cNvPr id="28" name="Text 26"/>
          <p:cNvSpPr txBox="1"/>
          <p:nvPr/>
        </p:nvSpPr>
        <p:spPr>
          <a:xfrm>
            <a:off x="6236208" y="5650992"/>
            <a:ext cx="4983480" cy="420624"/>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Tidak ada definisi selesai, jadi tidak ada yang bisa diuji.</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C2B"/>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B5AEC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B5AEC6"/>
                </a:solidFill>
                <a:latin typeface="Calibri" pitchFamily="34" charset="0"/>
                <a:ea typeface="Calibri" pitchFamily="34" charset="-122"/>
                <a:cs typeface="Calibri" pitchFamily="34" charset="-120"/>
              </a:rPr>
              <a:t>SECTION 02  ·  WHAT IS VIBECODING</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F8F4EF"/>
                </a:solidFill>
                <a:latin typeface="Calibri" pitchFamily="34" charset="0"/>
                <a:ea typeface="Calibri" pitchFamily="34" charset="-122"/>
                <a:cs typeface="Calibri" pitchFamily="34" charset="-120"/>
              </a:rPr>
              <a:t>Master Workflow</a:t>
            </a:r>
            <a:endParaRPr lang="en-US" sz="3400" dirty="0"/>
          </a:p>
        </p:txBody>
      </p:sp>
      <p:sp>
        <p:nvSpPr>
          <p:cNvPr id="5" name="Text 3"/>
          <p:cNvSpPr txBox="1"/>
          <p:nvPr/>
        </p:nvSpPr>
        <p:spPr>
          <a:xfrm>
            <a:off x="822960" y="1536192"/>
            <a:ext cx="8595360" cy="566928"/>
          </a:xfrm>
          <a:prstGeom prst="rect">
            <a:avLst/>
          </a:prstGeom>
          <a:noFill/>
          <a:ln/>
        </p:spPr>
        <p:txBody>
          <a:bodyPr wrap="square" lIns="0" tIns="0" rIns="0" bIns="0" rtlCol="0" anchor="t"/>
          <a:lstStyle/>
          <a:p>
            <a:pPr algn="l" indent="0" marL="0">
              <a:lnSpc>
                <a:spcPct val="142000"/>
              </a:lnSpc>
              <a:buNone/>
            </a:pPr>
            <a:r>
              <a:rPr lang="en-US" sz="1650" dirty="0">
                <a:solidFill>
                  <a:srgbClr val="A9A2BA"/>
                </a:solidFill>
                <a:latin typeface="Calibri" pitchFamily="34" charset="0"/>
                <a:ea typeface="Calibri" pitchFamily="34" charset="-122"/>
                <a:cs typeface="Calibri" pitchFamily="34" charset="-120"/>
              </a:rPr>
              <a:t>Delapan langkah dari masalah bisnis sampai aplikasi hidup. Setiap langkah menghasilkan output yang menjadi input langkah berikutnya.</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Calibri" pitchFamily="34" charset="0"/>
                <a:ea typeface="Calibri" pitchFamily="34" charset="-122"/>
                <a:cs typeface="Calibri" pitchFamily="34" charset="-120"/>
              </a:rPr>
              <a:t>09</a:t>
            </a:r>
            <a:endParaRPr lang="en-US" sz="800" dirty="0"/>
          </a:p>
        </p:txBody>
      </p:sp>
      <p:sp>
        <p:nvSpPr>
          <p:cNvPr id="8" name="Text 6"/>
          <p:cNvSpPr txBox="1"/>
          <p:nvPr/>
        </p:nvSpPr>
        <p:spPr>
          <a:xfrm>
            <a:off x="822960" y="2194560"/>
            <a:ext cx="5120640" cy="201168"/>
          </a:xfrm>
          <a:prstGeom prst="rect">
            <a:avLst/>
          </a:prstGeom>
          <a:noFill/>
          <a:ln/>
        </p:spPr>
        <p:txBody>
          <a:bodyPr wrap="square" lIns="0" tIns="0" rIns="0" bIns="0" rtlCol="0" anchor="ctr"/>
          <a:lstStyle/>
          <a:p>
            <a:pPr algn="l" indent="0" marL="0">
              <a:lnSpc>
                <a:spcPct val="122000"/>
              </a:lnSpc>
              <a:buNone/>
            </a:pPr>
            <a:r>
              <a:rPr lang="en-US" sz="850" b="1" spc="160" kern="0" dirty="0">
                <a:solidFill>
                  <a:srgbClr val="B5AEC6"/>
                </a:solidFill>
                <a:latin typeface="Calibri" pitchFamily="34" charset="0"/>
                <a:ea typeface="Calibri" pitchFamily="34" charset="-122"/>
                <a:cs typeface="Calibri" pitchFamily="34" charset="-120"/>
              </a:rPr>
              <a:t>FASE 1  ·  PLANNING &amp; DOCUMENTATION</a:t>
            </a:r>
            <a:endParaRPr lang="en-US" sz="850" dirty="0"/>
          </a:p>
        </p:txBody>
      </p:sp>
      <p:sp>
        <p:nvSpPr>
          <p:cNvPr id="9" name="Text 7"/>
          <p:cNvSpPr txBox="1"/>
          <p:nvPr/>
        </p:nvSpPr>
        <p:spPr>
          <a:xfrm>
            <a:off x="822960" y="4187952"/>
            <a:ext cx="5120640" cy="201168"/>
          </a:xfrm>
          <a:prstGeom prst="rect">
            <a:avLst/>
          </a:prstGeom>
          <a:noFill/>
          <a:ln/>
        </p:spPr>
        <p:txBody>
          <a:bodyPr wrap="square" lIns="0" tIns="0" rIns="0" bIns="0" rtlCol="0" anchor="ctr"/>
          <a:lstStyle/>
          <a:p>
            <a:pPr algn="l" indent="0" marL="0">
              <a:lnSpc>
                <a:spcPct val="122000"/>
              </a:lnSpc>
              <a:buNone/>
            </a:pPr>
            <a:r>
              <a:rPr lang="en-US" sz="850" b="1" spc="160" kern="0" dirty="0">
                <a:solidFill>
                  <a:srgbClr val="B5AEC6"/>
                </a:solidFill>
                <a:latin typeface="Calibri" pitchFamily="34" charset="0"/>
                <a:ea typeface="Calibri" pitchFamily="34" charset="-122"/>
                <a:cs typeface="Calibri" pitchFamily="34" charset="-120"/>
              </a:rPr>
              <a:t>FASE 2  ·  EXECUTION &amp; DELIVERY</a:t>
            </a:r>
            <a:endParaRPr lang="en-US" sz="850" dirty="0"/>
          </a:p>
        </p:txBody>
      </p:sp>
      <p:sp>
        <p:nvSpPr>
          <p:cNvPr id="10" name="Shape 8"/>
          <p:cNvSpPr/>
          <p:nvPr/>
        </p:nvSpPr>
        <p:spPr>
          <a:xfrm>
            <a:off x="822960" y="2432304"/>
            <a:ext cx="2430704" cy="1645920"/>
          </a:xfrm>
          <a:prstGeom prst="roundRect">
            <a:avLst>
              <a:gd name="adj" fmla="val 6667"/>
            </a:avLst>
          </a:prstGeom>
          <a:solidFill>
            <a:srgbClr val="312C41"/>
          </a:solidFill>
          <a:ln w="12700">
            <a:solidFill>
              <a:srgbClr val="463F59"/>
            </a:solidFill>
            <a:prstDash val="solid"/>
          </a:ln>
        </p:spPr>
      </p:sp>
      <p:sp>
        <p:nvSpPr>
          <p:cNvPr id="11" name="Text 9"/>
          <p:cNvSpPr txBox="1"/>
          <p:nvPr/>
        </p:nvSpPr>
        <p:spPr>
          <a:xfrm>
            <a:off x="1078992" y="2651760"/>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Calibri" pitchFamily="34" charset="0"/>
                <a:ea typeface="Calibri" pitchFamily="34" charset="-122"/>
                <a:cs typeface="Calibri" pitchFamily="34" charset="-120"/>
              </a:rPr>
              <a:t>01</a:t>
            </a:r>
            <a:endParaRPr lang="en-US" sz="900" dirty="0"/>
          </a:p>
        </p:txBody>
      </p:sp>
      <p:sp>
        <p:nvSpPr>
          <p:cNvPr id="12" name="Text 10"/>
          <p:cNvSpPr txBox="1"/>
          <p:nvPr/>
        </p:nvSpPr>
        <p:spPr>
          <a:xfrm>
            <a:off x="1078992" y="2907792"/>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Calibri" pitchFamily="34" charset="0"/>
                <a:ea typeface="Calibri" pitchFamily="34" charset="-122"/>
                <a:cs typeface="Calibri" pitchFamily="34" charset="-120"/>
              </a:rPr>
              <a:t>Business Problem</a:t>
            </a:r>
            <a:endParaRPr lang="en-US" sz="1500" dirty="0"/>
          </a:p>
        </p:txBody>
      </p:sp>
      <p:sp>
        <p:nvSpPr>
          <p:cNvPr id="13" name="Text 11"/>
          <p:cNvSpPr txBox="1"/>
          <p:nvPr/>
        </p:nvSpPr>
        <p:spPr>
          <a:xfrm>
            <a:off x="1078992" y="3236976"/>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Masalah nyata dari bisnis nyata.</a:t>
            </a:r>
            <a:endParaRPr lang="en-US" sz="950" dirty="0"/>
          </a:p>
        </p:txBody>
      </p:sp>
      <p:sp>
        <p:nvSpPr>
          <p:cNvPr id="14" name="Shape 12"/>
          <p:cNvSpPr/>
          <p:nvPr/>
        </p:nvSpPr>
        <p:spPr>
          <a:xfrm>
            <a:off x="1078992" y="3712464"/>
            <a:ext cx="1918640" cy="274320"/>
          </a:xfrm>
          <a:prstGeom prst="roundRect">
            <a:avLst>
              <a:gd name="adj" fmla="val 50000"/>
            </a:avLst>
          </a:prstGeom>
          <a:ln w="12700">
            <a:solidFill>
              <a:srgbClr val="4E466B"/>
            </a:solidFill>
            <a:prstDash val="solid"/>
          </a:ln>
        </p:spPr>
      </p:sp>
      <p:sp>
        <p:nvSpPr>
          <p:cNvPr id="15" name="Text 13"/>
          <p:cNvSpPr txBox="1"/>
          <p:nvPr/>
        </p:nvSpPr>
        <p:spPr>
          <a:xfrm>
            <a:off x="1170432" y="3712464"/>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Calibri" pitchFamily="34" charset="0"/>
                <a:ea typeface="Calibri" pitchFamily="34" charset="-122"/>
                <a:cs typeface="Calibri" pitchFamily="34" charset="-120"/>
              </a:rPr>
              <a:t>Problem Statement</a:t>
            </a:r>
            <a:endParaRPr lang="en-US" sz="820" dirty="0"/>
          </a:p>
        </p:txBody>
      </p:sp>
      <p:sp>
        <p:nvSpPr>
          <p:cNvPr id="16" name="Shape 14"/>
          <p:cNvSpPr/>
          <p:nvPr/>
        </p:nvSpPr>
        <p:spPr>
          <a:xfrm>
            <a:off x="3308528" y="3255264"/>
            <a:ext cx="82296" cy="0"/>
          </a:xfrm>
          <a:prstGeom prst="line">
            <a:avLst/>
          </a:prstGeom>
          <a:noFill/>
          <a:ln w="15875">
            <a:solidFill>
              <a:srgbClr val="5C5280"/>
            </a:solidFill>
            <a:prstDash val="solid"/>
          </a:ln>
        </p:spPr>
      </p:sp>
      <p:sp>
        <p:nvSpPr>
          <p:cNvPr id="17" name="Shape 15"/>
          <p:cNvSpPr/>
          <p:nvPr/>
        </p:nvSpPr>
        <p:spPr>
          <a:xfrm rot="5400000">
            <a:off x="3381680" y="3204972"/>
            <a:ext cx="91440" cy="100584"/>
          </a:xfrm>
          <a:prstGeom prst="triangle">
            <a:avLst/>
          </a:prstGeom>
          <a:solidFill>
            <a:srgbClr val="5C5280"/>
          </a:solidFill>
          <a:ln/>
        </p:spPr>
      </p:sp>
      <p:sp>
        <p:nvSpPr>
          <p:cNvPr id="18" name="Shape 16"/>
          <p:cNvSpPr/>
          <p:nvPr/>
        </p:nvSpPr>
        <p:spPr>
          <a:xfrm>
            <a:off x="3527984" y="2432304"/>
            <a:ext cx="2430704" cy="1645920"/>
          </a:xfrm>
          <a:prstGeom prst="roundRect">
            <a:avLst>
              <a:gd name="adj" fmla="val 6667"/>
            </a:avLst>
          </a:prstGeom>
          <a:solidFill>
            <a:srgbClr val="312C41"/>
          </a:solidFill>
          <a:ln w="12700">
            <a:solidFill>
              <a:srgbClr val="463F59"/>
            </a:solidFill>
            <a:prstDash val="solid"/>
          </a:ln>
        </p:spPr>
      </p:sp>
      <p:sp>
        <p:nvSpPr>
          <p:cNvPr id="19" name="Text 17"/>
          <p:cNvSpPr txBox="1"/>
          <p:nvPr/>
        </p:nvSpPr>
        <p:spPr>
          <a:xfrm>
            <a:off x="3784016" y="2651760"/>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Calibri" pitchFamily="34" charset="0"/>
                <a:ea typeface="Calibri" pitchFamily="34" charset="-122"/>
                <a:cs typeface="Calibri" pitchFamily="34" charset="-120"/>
              </a:rPr>
              <a:t>02</a:t>
            </a:r>
            <a:endParaRPr lang="en-US" sz="900" dirty="0"/>
          </a:p>
        </p:txBody>
      </p:sp>
      <p:sp>
        <p:nvSpPr>
          <p:cNvPr id="20" name="Text 18"/>
          <p:cNvSpPr txBox="1"/>
          <p:nvPr/>
        </p:nvSpPr>
        <p:spPr>
          <a:xfrm>
            <a:off x="3784016" y="2907792"/>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Calibri" pitchFamily="34" charset="0"/>
                <a:ea typeface="Calibri" pitchFamily="34" charset="-122"/>
                <a:cs typeface="Calibri" pitchFamily="34" charset="-120"/>
              </a:rPr>
              <a:t>PRD</a:t>
            </a:r>
            <a:endParaRPr lang="en-US" sz="1500" dirty="0"/>
          </a:p>
        </p:txBody>
      </p:sp>
      <p:sp>
        <p:nvSpPr>
          <p:cNvPr id="21" name="Text 19"/>
          <p:cNvSpPr txBox="1"/>
          <p:nvPr/>
        </p:nvSpPr>
        <p:spPr>
          <a:xfrm>
            <a:off x="3784016" y="3236976"/>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Apa yang dibangun, dan untuk siapa.</a:t>
            </a:r>
            <a:endParaRPr lang="en-US" sz="950" dirty="0"/>
          </a:p>
        </p:txBody>
      </p:sp>
      <p:sp>
        <p:nvSpPr>
          <p:cNvPr id="22" name="Shape 20"/>
          <p:cNvSpPr/>
          <p:nvPr/>
        </p:nvSpPr>
        <p:spPr>
          <a:xfrm>
            <a:off x="3784016" y="3712464"/>
            <a:ext cx="1918640" cy="274320"/>
          </a:xfrm>
          <a:prstGeom prst="roundRect">
            <a:avLst>
              <a:gd name="adj" fmla="val 50000"/>
            </a:avLst>
          </a:prstGeom>
          <a:ln w="12700">
            <a:solidFill>
              <a:srgbClr val="4E466B"/>
            </a:solidFill>
            <a:prstDash val="solid"/>
          </a:ln>
        </p:spPr>
      </p:sp>
      <p:sp>
        <p:nvSpPr>
          <p:cNvPr id="23" name="Text 21"/>
          <p:cNvSpPr txBox="1"/>
          <p:nvPr/>
        </p:nvSpPr>
        <p:spPr>
          <a:xfrm>
            <a:off x="3875456" y="3712464"/>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Calibri" pitchFamily="34" charset="0"/>
                <a:ea typeface="Calibri" pitchFamily="34" charset="-122"/>
                <a:cs typeface="Calibri" pitchFamily="34" charset="-120"/>
              </a:rPr>
              <a:t>PRD.md</a:t>
            </a:r>
            <a:endParaRPr lang="en-US" sz="820" dirty="0"/>
          </a:p>
        </p:txBody>
      </p:sp>
      <p:sp>
        <p:nvSpPr>
          <p:cNvPr id="24" name="Shape 22"/>
          <p:cNvSpPr/>
          <p:nvPr/>
        </p:nvSpPr>
        <p:spPr>
          <a:xfrm>
            <a:off x="6013552" y="3255264"/>
            <a:ext cx="82296" cy="0"/>
          </a:xfrm>
          <a:prstGeom prst="line">
            <a:avLst/>
          </a:prstGeom>
          <a:noFill/>
          <a:ln w="15875">
            <a:solidFill>
              <a:srgbClr val="5C5280"/>
            </a:solidFill>
            <a:prstDash val="solid"/>
          </a:ln>
        </p:spPr>
      </p:sp>
      <p:sp>
        <p:nvSpPr>
          <p:cNvPr id="25" name="Shape 23"/>
          <p:cNvSpPr/>
          <p:nvPr/>
        </p:nvSpPr>
        <p:spPr>
          <a:xfrm rot="5400000">
            <a:off x="6086704" y="3204972"/>
            <a:ext cx="91440" cy="100584"/>
          </a:xfrm>
          <a:prstGeom prst="triangle">
            <a:avLst/>
          </a:prstGeom>
          <a:solidFill>
            <a:srgbClr val="5C5280"/>
          </a:solidFill>
          <a:ln/>
        </p:spPr>
      </p:sp>
      <p:sp>
        <p:nvSpPr>
          <p:cNvPr id="26" name="Shape 24"/>
          <p:cNvSpPr/>
          <p:nvPr/>
        </p:nvSpPr>
        <p:spPr>
          <a:xfrm>
            <a:off x="6233008" y="2432304"/>
            <a:ext cx="2430704" cy="1645920"/>
          </a:xfrm>
          <a:prstGeom prst="roundRect">
            <a:avLst>
              <a:gd name="adj" fmla="val 6667"/>
            </a:avLst>
          </a:prstGeom>
          <a:solidFill>
            <a:srgbClr val="312C41"/>
          </a:solidFill>
          <a:ln w="12700">
            <a:solidFill>
              <a:srgbClr val="463F59"/>
            </a:solidFill>
            <a:prstDash val="solid"/>
          </a:ln>
        </p:spPr>
      </p:sp>
      <p:sp>
        <p:nvSpPr>
          <p:cNvPr id="27" name="Text 25"/>
          <p:cNvSpPr txBox="1"/>
          <p:nvPr/>
        </p:nvSpPr>
        <p:spPr>
          <a:xfrm>
            <a:off x="6489040" y="2651760"/>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Calibri" pitchFamily="34" charset="0"/>
                <a:ea typeface="Calibri" pitchFamily="34" charset="-122"/>
                <a:cs typeface="Calibri" pitchFamily="34" charset="-120"/>
              </a:rPr>
              <a:t>03</a:t>
            </a:r>
            <a:endParaRPr lang="en-US" sz="900" dirty="0"/>
          </a:p>
        </p:txBody>
      </p:sp>
      <p:sp>
        <p:nvSpPr>
          <p:cNvPr id="28" name="Text 26"/>
          <p:cNvSpPr txBox="1"/>
          <p:nvPr/>
        </p:nvSpPr>
        <p:spPr>
          <a:xfrm>
            <a:off x="6489040" y="2907792"/>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Calibri" pitchFamily="34" charset="0"/>
                <a:ea typeface="Calibri" pitchFamily="34" charset="-122"/>
                <a:cs typeface="Calibri" pitchFamily="34" charset="-120"/>
              </a:rPr>
              <a:t>Scope</a:t>
            </a:r>
            <a:endParaRPr lang="en-US" sz="1500" dirty="0"/>
          </a:p>
        </p:txBody>
      </p:sp>
      <p:sp>
        <p:nvSpPr>
          <p:cNvPr id="29" name="Text 27"/>
          <p:cNvSpPr txBox="1"/>
          <p:nvPr/>
        </p:nvSpPr>
        <p:spPr>
          <a:xfrm>
            <a:off x="6489040" y="3236976"/>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Batas tegas: in scope dan out of scope.</a:t>
            </a:r>
            <a:endParaRPr lang="en-US" sz="950" dirty="0"/>
          </a:p>
        </p:txBody>
      </p:sp>
      <p:sp>
        <p:nvSpPr>
          <p:cNvPr id="30" name="Shape 28"/>
          <p:cNvSpPr/>
          <p:nvPr/>
        </p:nvSpPr>
        <p:spPr>
          <a:xfrm>
            <a:off x="6489040" y="3712464"/>
            <a:ext cx="1918640" cy="274320"/>
          </a:xfrm>
          <a:prstGeom prst="roundRect">
            <a:avLst>
              <a:gd name="adj" fmla="val 50000"/>
            </a:avLst>
          </a:prstGeom>
          <a:ln w="12700">
            <a:solidFill>
              <a:srgbClr val="4E466B"/>
            </a:solidFill>
            <a:prstDash val="solid"/>
          </a:ln>
        </p:spPr>
      </p:sp>
      <p:sp>
        <p:nvSpPr>
          <p:cNvPr id="31" name="Text 29"/>
          <p:cNvSpPr txBox="1"/>
          <p:nvPr/>
        </p:nvSpPr>
        <p:spPr>
          <a:xfrm>
            <a:off x="6580480" y="3712464"/>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Calibri" pitchFamily="34" charset="0"/>
                <a:ea typeface="Calibri" pitchFamily="34" charset="-122"/>
                <a:cs typeface="Calibri" pitchFamily="34" charset="-120"/>
              </a:rPr>
              <a:t>SCOPE.md</a:t>
            </a:r>
            <a:endParaRPr lang="en-US" sz="820" dirty="0"/>
          </a:p>
        </p:txBody>
      </p:sp>
      <p:sp>
        <p:nvSpPr>
          <p:cNvPr id="32" name="Shape 30"/>
          <p:cNvSpPr/>
          <p:nvPr/>
        </p:nvSpPr>
        <p:spPr>
          <a:xfrm>
            <a:off x="8718575" y="3255264"/>
            <a:ext cx="82296" cy="0"/>
          </a:xfrm>
          <a:prstGeom prst="line">
            <a:avLst/>
          </a:prstGeom>
          <a:noFill/>
          <a:ln w="15875">
            <a:solidFill>
              <a:srgbClr val="5C5280"/>
            </a:solidFill>
            <a:prstDash val="solid"/>
          </a:ln>
        </p:spPr>
      </p:sp>
      <p:sp>
        <p:nvSpPr>
          <p:cNvPr id="33" name="Shape 31"/>
          <p:cNvSpPr/>
          <p:nvPr/>
        </p:nvSpPr>
        <p:spPr>
          <a:xfrm rot="5400000">
            <a:off x="8791727" y="3204972"/>
            <a:ext cx="91440" cy="100584"/>
          </a:xfrm>
          <a:prstGeom prst="triangle">
            <a:avLst/>
          </a:prstGeom>
          <a:solidFill>
            <a:srgbClr val="5C5280"/>
          </a:solidFill>
          <a:ln/>
        </p:spPr>
      </p:sp>
      <p:sp>
        <p:nvSpPr>
          <p:cNvPr id="34" name="Shape 32"/>
          <p:cNvSpPr/>
          <p:nvPr/>
        </p:nvSpPr>
        <p:spPr>
          <a:xfrm>
            <a:off x="8938031" y="2432304"/>
            <a:ext cx="2430704" cy="1645920"/>
          </a:xfrm>
          <a:prstGeom prst="roundRect">
            <a:avLst>
              <a:gd name="adj" fmla="val 6667"/>
            </a:avLst>
          </a:prstGeom>
          <a:solidFill>
            <a:srgbClr val="312C41"/>
          </a:solidFill>
          <a:ln w="12700">
            <a:solidFill>
              <a:srgbClr val="463F59"/>
            </a:solidFill>
            <a:prstDash val="solid"/>
          </a:ln>
        </p:spPr>
      </p:sp>
      <p:sp>
        <p:nvSpPr>
          <p:cNvPr id="35" name="Text 33"/>
          <p:cNvSpPr txBox="1"/>
          <p:nvPr/>
        </p:nvSpPr>
        <p:spPr>
          <a:xfrm>
            <a:off x="9194063" y="2651760"/>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Calibri" pitchFamily="34" charset="0"/>
                <a:ea typeface="Calibri" pitchFamily="34" charset="-122"/>
                <a:cs typeface="Calibri" pitchFamily="34" charset="-120"/>
              </a:rPr>
              <a:t>04</a:t>
            </a:r>
            <a:endParaRPr lang="en-US" sz="900" dirty="0"/>
          </a:p>
        </p:txBody>
      </p:sp>
      <p:sp>
        <p:nvSpPr>
          <p:cNvPr id="36" name="Text 34"/>
          <p:cNvSpPr txBox="1"/>
          <p:nvPr/>
        </p:nvSpPr>
        <p:spPr>
          <a:xfrm>
            <a:off x="9194063" y="2907792"/>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Calibri" pitchFamily="34" charset="0"/>
                <a:ea typeface="Calibri" pitchFamily="34" charset="-122"/>
                <a:cs typeface="Calibri" pitchFamily="34" charset="-120"/>
              </a:rPr>
              <a:t>Design</a:t>
            </a:r>
            <a:endParaRPr lang="en-US" sz="1500" dirty="0"/>
          </a:p>
        </p:txBody>
      </p:sp>
      <p:sp>
        <p:nvSpPr>
          <p:cNvPr id="37" name="Text 35"/>
          <p:cNvSpPr txBox="1"/>
          <p:nvPr/>
        </p:nvSpPr>
        <p:spPr>
          <a:xfrm>
            <a:off x="9194063" y="3236976"/>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Struktur: pages, user flow, data.</a:t>
            </a:r>
            <a:endParaRPr lang="en-US" sz="950" dirty="0"/>
          </a:p>
        </p:txBody>
      </p:sp>
      <p:sp>
        <p:nvSpPr>
          <p:cNvPr id="38" name="Shape 36"/>
          <p:cNvSpPr/>
          <p:nvPr/>
        </p:nvSpPr>
        <p:spPr>
          <a:xfrm>
            <a:off x="9194063" y="3712464"/>
            <a:ext cx="1918640" cy="274320"/>
          </a:xfrm>
          <a:prstGeom prst="roundRect">
            <a:avLst>
              <a:gd name="adj" fmla="val 50000"/>
            </a:avLst>
          </a:prstGeom>
          <a:ln w="12700">
            <a:solidFill>
              <a:srgbClr val="4E466B"/>
            </a:solidFill>
            <a:prstDash val="solid"/>
          </a:ln>
        </p:spPr>
      </p:sp>
      <p:sp>
        <p:nvSpPr>
          <p:cNvPr id="39" name="Text 37"/>
          <p:cNvSpPr txBox="1"/>
          <p:nvPr/>
        </p:nvSpPr>
        <p:spPr>
          <a:xfrm>
            <a:off x="9285503" y="3712464"/>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Calibri" pitchFamily="34" charset="0"/>
                <a:ea typeface="Calibri" pitchFamily="34" charset="-122"/>
                <a:cs typeface="Calibri" pitchFamily="34" charset="-120"/>
              </a:rPr>
              <a:t>DESIGN.md</a:t>
            </a:r>
            <a:endParaRPr lang="en-US" sz="820" dirty="0"/>
          </a:p>
        </p:txBody>
      </p:sp>
      <p:sp>
        <p:nvSpPr>
          <p:cNvPr id="40" name="Shape 38"/>
          <p:cNvSpPr/>
          <p:nvPr/>
        </p:nvSpPr>
        <p:spPr>
          <a:xfrm>
            <a:off x="822960" y="4462272"/>
            <a:ext cx="2430704" cy="1645920"/>
          </a:xfrm>
          <a:prstGeom prst="roundRect">
            <a:avLst>
              <a:gd name="adj" fmla="val 6667"/>
            </a:avLst>
          </a:prstGeom>
          <a:solidFill>
            <a:srgbClr val="312C41"/>
          </a:solidFill>
          <a:ln w="12700">
            <a:solidFill>
              <a:srgbClr val="463F59"/>
            </a:solidFill>
            <a:prstDash val="solid"/>
          </a:ln>
        </p:spPr>
      </p:sp>
      <p:sp>
        <p:nvSpPr>
          <p:cNvPr id="41" name="Text 39"/>
          <p:cNvSpPr txBox="1"/>
          <p:nvPr/>
        </p:nvSpPr>
        <p:spPr>
          <a:xfrm>
            <a:off x="1078992" y="4681728"/>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Calibri" pitchFamily="34" charset="0"/>
                <a:ea typeface="Calibri" pitchFamily="34" charset="-122"/>
                <a:cs typeface="Calibri" pitchFamily="34" charset="-120"/>
              </a:rPr>
              <a:t>05</a:t>
            </a:r>
            <a:endParaRPr lang="en-US" sz="900" dirty="0"/>
          </a:p>
        </p:txBody>
      </p:sp>
      <p:sp>
        <p:nvSpPr>
          <p:cNvPr id="42" name="Text 40"/>
          <p:cNvSpPr txBox="1"/>
          <p:nvPr/>
        </p:nvSpPr>
        <p:spPr>
          <a:xfrm>
            <a:off x="1078992" y="4937760"/>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Calibri" pitchFamily="34" charset="0"/>
                <a:ea typeface="Calibri" pitchFamily="34" charset="-122"/>
                <a:cs typeface="Calibri" pitchFamily="34" charset="-120"/>
              </a:rPr>
              <a:t>Task Breakdown</a:t>
            </a:r>
            <a:endParaRPr lang="en-US" sz="1500" dirty="0"/>
          </a:p>
        </p:txBody>
      </p:sp>
      <p:sp>
        <p:nvSpPr>
          <p:cNvPr id="43" name="Text 41"/>
          <p:cNvSpPr txBox="1"/>
          <p:nvPr/>
        </p:nvSpPr>
        <p:spPr>
          <a:xfrm>
            <a:off x="1078992" y="5266944"/>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Urutan kerja yang dipecah per phase.</a:t>
            </a:r>
            <a:endParaRPr lang="en-US" sz="950" dirty="0"/>
          </a:p>
        </p:txBody>
      </p:sp>
      <p:sp>
        <p:nvSpPr>
          <p:cNvPr id="44" name="Shape 42"/>
          <p:cNvSpPr/>
          <p:nvPr/>
        </p:nvSpPr>
        <p:spPr>
          <a:xfrm>
            <a:off x="1078992" y="5742432"/>
            <a:ext cx="1918640" cy="274320"/>
          </a:xfrm>
          <a:prstGeom prst="roundRect">
            <a:avLst>
              <a:gd name="adj" fmla="val 50000"/>
            </a:avLst>
          </a:prstGeom>
          <a:ln w="12700">
            <a:solidFill>
              <a:srgbClr val="4E466B"/>
            </a:solidFill>
            <a:prstDash val="solid"/>
          </a:ln>
        </p:spPr>
      </p:sp>
      <p:sp>
        <p:nvSpPr>
          <p:cNvPr id="45" name="Text 43"/>
          <p:cNvSpPr txBox="1"/>
          <p:nvPr/>
        </p:nvSpPr>
        <p:spPr>
          <a:xfrm>
            <a:off x="1170432" y="5742432"/>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Calibri" pitchFamily="34" charset="0"/>
                <a:ea typeface="Calibri" pitchFamily="34" charset="-122"/>
                <a:cs typeface="Calibri" pitchFamily="34" charset="-120"/>
              </a:rPr>
              <a:t>TASK.md</a:t>
            </a:r>
            <a:endParaRPr lang="en-US" sz="820" dirty="0"/>
          </a:p>
        </p:txBody>
      </p:sp>
      <p:sp>
        <p:nvSpPr>
          <p:cNvPr id="46" name="Shape 44"/>
          <p:cNvSpPr/>
          <p:nvPr/>
        </p:nvSpPr>
        <p:spPr>
          <a:xfrm>
            <a:off x="3308528" y="5285232"/>
            <a:ext cx="82296" cy="0"/>
          </a:xfrm>
          <a:prstGeom prst="line">
            <a:avLst/>
          </a:prstGeom>
          <a:noFill/>
          <a:ln w="15875">
            <a:solidFill>
              <a:srgbClr val="5C5280"/>
            </a:solidFill>
            <a:prstDash val="solid"/>
          </a:ln>
        </p:spPr>
      </p:sp>
      <p:sp>
        <p:nvSpPr>
          <p:cNvPr id="47" name="Shape 45"/>
          <p:cNvSpPr/>
          <p:nvPr/>
        </p:nvSpPr>
        <p:spPr>
          <a:xfrm rot="5400000">
            <a:off x="3381680" y="5234940"/>
            <a:ext cx="91440" cy="100584"/>
          </a:xfrm>
          <a:prstGeom prst="triangle">
            <a:avLst/>
          </a:prstGeom>
          <a:solidFill>
            <a:srgbClr val="5C5280"/>
          </a:solidFill>
          <a:ln/>
        </p:spPr>
      </p:sp>
      <p:sp>
        <p:nvSpPr>
          <p:cNvPr id="48" name="Shape 46"/>
          <p:cNvSpPr/>
          <p:nvPr/>
        </p:nvSpPr>
        <p:spPr>
          <a:xfrm>
            <a:off x="3527984" y="4462272"/>
            <a:ext cx="2430704" cy="1645920"/>
          </a:xfrm>
          <a:prstGeom prst="roundRect">
            <a:avLst>
              <a:gd name="adj" fmla="val 6667"/>
            </a:avLst>
          </a:prstGeom>
          <a:solidFill>
            <a:srgbClr val="363050"/>
          </a:solidFill>
          <a:ln w="12700">
            <a:solidFill>
              <a:srgbClr val="5C5280"/>
            </a:solidFill>
            <a:prstDash val="solid"/>
          </a:ln>
        </p:spPr>
      </p:sp>
      <p:sp>
        <p:nvSpPr>
          <p:cNvPr id="49" name="Text 47"/>
          <p:cNvSpPr txBox="1"/>
          <p:nvPr/>
        </p:nvSpPr>
        <p:spPr>
          <a:xfrm>
            <a:off x="3784016" y="4681728"/>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Calibri" pitchFamily="34" charset="0"/>
                <a:ea typeface="Calibri" pitchFamily="34" charset="-122"/>
                <a:cs typeface="Calibri" pitchFamily="34" charset="-120"/>
              </a:rPr>
              <a:t>06</a:t>
            </a:r>
            <a:endParaRPr lang="en-US" sz="900" dirty="0"/>
          </a:p>
        </p:txBody>
      </p:sp>
      <p:sp>
        <p:nvSpPr>
          <p:cNvPr id="50" name="Text 48"/>
          <p:cNvSpPr txBox="1"/>
          <p:nvPr/>
        </p:nvSpPr>
        <p:spPr>
          <a:xfrm>
            <a:off x="3784016" y="4937760"/>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Calibri" pitchFamily="34" charset="0"/>
                <a:ea typeface="Calibri" pitchFamily="34" charset="-122"/>
                <a:cs typeface="Calibri" pitchFamily="34" charset="-120"/>
              </a:rPr>
              <a:t>AI Execute</a:t>
            </a:r>
            <a:endParaRPr lang="en-US" sz="1500" dirty="0"/>
          </a:p>
        </p:txBody>
      </p:sp>
      <p:sp>
        <p:nvSpPr>
          <p:cNvPr id="51" name="Text 49"/>
          <p:cNvSpPr txBox="1"/>
          <p:nvPr/>
        </p:nvSpPr>
        <p:spPr>
          <a:xfrm>
            <a:off x="3784016" y="5266944"/>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AI Agent menulis kode dari dokumen.</a:t>
            </a:r>
            <a:endParaRPr lang="en-US" sz="950" dirty="0"/>
          </a:p>
        </p:txBody>
      </p:sp>
      <p:sp>
        <p:nvSpPr>
          <p:cNvPr id="52" name="Shape 50"/>
          <p:cNvSpPr/>
          <p:nvPr/>
        </p:nvSpPr>
        <p:spPr>
          <a:xfrm>
            <a:off x="3784016" y="5742432"/>
            <a:ext cx="1918640" cy="274320"/>
          </a:xfrm>
          <a:prstGeom prst="roundRect">
            <a:avLst>
              <a:gd name="adj" fmla="val 50000"/>
            </a:avLst>
          </a:prstGeom>
          <a:ln w="12700">
            <a:solidFill>
              <a:srgbClr val="4E466B"/>
            </a:solidFill>
            <a:prstDash val="solid"/>
          </a:ln>
        </p:spPr>
      </p:sp>
      <p:sp>
        <p:nvSpPr>
          <p:cNvPr id="53" name="Text 51"/>
          <p:cNvSpPr txBox="1"/>
          <p:nvPr/>
        </p:nvSpPr>
        <p:spPr>
          <a:xfrm>
            <a:off x="3875456" y="5742432"/>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Calibri" pitchFamily="34" charset="0"/>
                <a:ea typeface="Calibri" pitchFamily="34" charset="-122"/>
                <a:cs typeface="Calibri" pitchFamily="34" charset="-120"/>
              </a:rPr>
              <a:t>Codebase</a:t>
            </a:r>
            <a:endParaRPr lang="en-US" sz="820" dirty="0"/>
          </a:p>
        </p:txBody>
      </p:sp>
      <p:sp>
        <p:nvSpPr>
          <p:cNvPr id="54" name="Shape 52"/>
          <p:cNvSpPr/>
          <p:nvPr/>
        </p:nvSpPr>
        <p:spPr>
          <a:xfrm>
            <a:off x="6013552" y="5285232"/>
            <a:ext cx="82296" cy="0"/>
          </a:xfrm>
          <a:prstGeom prst="line">
            <a:avLst/>
          </a:prstGeom>
          <a:noFill/>
          <a:ln w="15875">
            <a:solidFill>
              <a:srgbClr val="5C5280"/>
            </a:solidFill>
            <a:prstDash val="solid"/>
          </a:ln>
        </p:spPr>
      </p:sp>
      <p:sp>
        <p:nvSpPr>
          <p:cNvPr id="55" name="Shape 53"/>
          <p:cNvSpPr/>
          <p:nvPr/>
        </p:nvSpPr>
        <p:spPr>
          <a:xfrm rot="5400000">
            <a:off x="6086704" y="5234940"/>
            <a:ext cx="91440" cy="100584"/>
          </a:xfrm>
          <a:prstGeom prst="triangle">
            <a:avLst/>
          </a:prstGeom>
          <a:solidFill>
            <a:srgbClr val="5C5280"/>
          </a:solidFill>
          <a:ln/>
        </p:spPr>
      </p:sp>
      <p:sp>
        <p:nvSpPr>
          <p:cNvPr id="56" name="Shape 54"/>
          <p:cNvSpPr/>
          <p:nvPr/>
        </p:nvSpPr>
        <p:spPr>
          <a:xfrm>
            <a:off x="6233008" y="4462272"/>
            <a:ext cx="2430704" cy="1645920"/>
          </a:xfrm>
          <a:prstGeom prst="roundRect">
            <a:avLst>
              <a:gd name="adj" fmla="val 6667"/>
            </a:avLst>
          </a:prstGeom>
          <a:solidFill>
            <a:srgbClr val="363050"/>
          </a:solidFill>
          <a:ln w="12700">
            <a:solidFill>
              <a:srgbClr val="5C5280"/>
            </a:solidFill>
            <a:prstDash val="solid"/>
          </a:ln>
        </p:spPr>
      </p:sp>
      <p:sp>
        <p:nvSpPr>
          <p:cNvPr id="57" name="Text 55"/>
          <p:cNvSpPr txBox="1"/>
          <p:nvPr/>
        </p:nvSpPr>
        <p:spPr>
          <a:xfrm>
            <a:off x="6489040" y="4681728"/>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Calibri" pitchFamily="34" charset="0"/>
                <a:ea typeface="Calibri" pitchFamily="34" charset="-122"/>
                <a:cs typeface="Calibri" pitchFamily="34" charset="-120"/>
              </a:rPr>
              <a:t>07</a:t>
            </a:r>
            <a:endParaRPr lang="en-US" sz="900" dirty="0"/>
          </a:p>
        </p:txBody>
      </p:sp>
      <p:sp>
        <p:nvSpPr>
          <p:cNvPr id="58" name="Text 56"/>
          <p:cNvSpPr txBox="1"/>
          <p:nvPr/>
        </p:nvSpPr>
        <p:spPr>
          <a:xfrm>
            <a:off x="6489040" y="4937760"/>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Calibri" pitchFamily="34" charset="0"/>
                <a:ea typeface="Calibri" pitchFamily="34" charset="-122"/>
                <a:cs typeface="Calibri" pitchFamily="34" charset="-120"/>
              </a:rPr>
              <a:t>Review</a:t>
            </a:r>
            <a:endParaRPr lang="en-US" sz="1500" dirty="0"/>
          </a:p>
        </p:txBody>
      </p:sp>
      <p:sp>
        <p:nvSpPr>
          <p:cNvPr id="59" name="Text 57"/>
          <p:cNvSpPr txBox="1"/>
          <p:nvPr/>
        </p:nvSpPr>
        <p:spPr>
          <a:xfrm>
            <a:off x="6489040" y="5266944"/>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Audit oleh manusia, bukan oleh AI.</a:t>
            </a:r>
            <a:endParaRPr lang="en-US" sz="950" dirty="0"/>
          </a:p>
        </p:txBody>
      </p:sp>
      <p:sp>
        <p:nvSpPr>
          <p:cNvPr id="60" name="Shape 58"/>
          <p:cNvSpPr/>
          <p:nvPr/>
        </p:nvSpPr>
        <p:spPr>
          <a:xfrm>
            <a:off x="6489040" y="5742432"/>
            <a:ext cx="1918640" cy="274320"/>
          </a:xfrm>
          <a:prstGeom prst="roundRect">
            <a:avLst>
              <a:gd name="adj" fmla="val 50000"/>
            </a:avLst>
          </a:prstGeom>
          <a:ln w="12700">
            <a:solidFill>
              <a:srgbClr val="4E466B"/>
            </a:solidFill>
            <a:prstDash val="solid"/>
          </a:ln>
        </p:spPr>
      </p:sp>
      <p:sp>
        <p:nvSpPr>
          <p:cNvPr id="61" name="Text 59"/>
          <p:cNvSpPr txBox="1"/>
          <p:nvPr/>
        </p:nvSpPr>
        <p:spPr>
          <a:xfrm>
            <a:off x="6580480" y="5742432"/>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Calibri" pitchFamily="34" charset="0"/>
                <a:ea typeface="Calibri" pitchFamily="34" charset="-122"/>
                <a:cs typeface="Calibri" pitchFamily="34" charset="-120"/>
              </a:rPr>
              <a:t>Audit Report</a:t>
            </a:r>
            <a:endParaRPr lang="en-US" sz="820" dirty="0"/>
          </a:p>
        </p:txBody>
      </p:sp>
      <p:sp>
        <p:nvSpPr>
          <p:cNvPr id="62" name="Shape 60"/>
          <p:cNvSpPr/>
          <p:nvPr/>
        </p:nvSpPr>
        <p:spPr>
          <a:xfrm>
            <a:off x="8718575" y="5285232"/>
            <a:ext cx="82296" cy="0"/>
          </a:xfrm>
          <a:prstGeom prst="line">
            <a:avLst/>
          </a:prstGeom>
          <a:noFill/>
          <a:ln w="15875">
            <a:solidFill>
              <a:srgbClr val="5C5280"/>
            </a:solidFill>
            <a:prstDash val="solid"/>
          </a:ln>
        </p:spPr>
      </p:sp>
      <p:sp>
        <p:nvSpPr>
          <p:cNvPr id="63" name="Shape 61"/>
          <p:cNvSpPr/>
          <p:nvPr/>
        </p:nvSpPr>
        <p:spPr>
          <a:xfrm rot="5400000">
            <a:off x="8791727" y="5234940"/>
            <a:ext cx="91440" cy="100584"/>
          </a:xfrm>
          <a:prstGeom prst="triangle">
            <a:avLst/>
          </a:prstGeom>
          <a:solidFill>
            <a:srgbClr val="5C5280"/>
          </a:solidFill>
          <a:ln/>
        </p:spPr>
      </p:sp>
      <p:sp>
        <p:nvSpPr>
          <p:cNvPr id="64" name="Shape 62"/>
          <p:cNvSpPr/>
          <p:nvPr/>
        </p:nvSpPr>
        <p:spPr>
          <a:xfrm>
            <a:off x="8938031" y="4462272"/>
            <a:ext cx="2430704" cy="1645920"/>
          </a:xfrm>
          <a:prstGeom prst="roundRect">
            <a:avLst>
              <a:gd name="adj" fmla="val 6667"/>
            </a:avLst>
          </a:prstGeom>
          <a:solidFill>
            <a:srgbClr val="312C41"/>
          </a:solidFill>
          <a:ln w="12700">
            <a:solidFill>
              <a:srgbClr val="463F59"/>
            </a:solidFill>
            <a:prstDash val="solid"/>
          </a:ln>
        </p:spPr>
      </p:sp>
      <p:sp>
        <p:nvSpPr>
          <p:cNvPr id="65" name="Text 63"/>
          <p:cNvSpPr txBox="1"/>
          <p:nvPr/>
        </p:nvSpPr>
        <p:spPr>
          <a:xfrm>
            <a:off x="9194063" y="4681728"/>
            <a:ext cx="548640" cy="182880"/>
          </a:xfrm>
          <a:prstGeom prst="rect">
            <a:avLst/>
          </a:prstGeom>
          <a:noFill/>
          <a:ln/>
        </p:spPr>
        <p:txBody>
          <a:bodyPr wrap="square" lIns="0" tIns="0" rIns="0" bIns="0" rtlCol="0" anchor="ctr"/>
          <a:lstStyle/>
          <a:p>
            <a:pPr algn="l" indent="0" marL="0">
              <a:lnSpc>
                <a:spcPct val="122000"/>
              </a:lnSpc>
              <a:buNone/>
            </a:pPr>
            <a:r>
              <a:rPr lang="en-US" sz="900" b="1" spc="120" kern="0" dirty="0">
                <a:solidFill>
                  <a:srgbClr val="B5AEC6"/>
                </a:solidFill>
                <a:latin typeface="Calibri" pitchFamily="34" charset="0"/>
                <a:ea typeface="Calibri" pitchFamily="34" charset="-122"/>
                <a:cs typeface="Calibri" pitchFamily="34" charset="-120"/>
              </a:rPr>
              <a:t>08</a:t>
            </a:r>
            <a:endParaRPr lang="en-US" sz="900" dirty="0"/>
          </a:p>
        </p:txBody>
      </p:sp>
      <p:sp>
        <p:nvSpPr>
          <p:cNvPr id="66" name="Text 64"/>
          <p:cNvSpPr txBox="1"/>
          <p:nvPr/>
        </p:nvSpPr>
        <p:spPr>
          <a:xfrm>
            <a:off x="9194063" y="4937760"/>
            <a:ext cx="1918640" cy="274320"/>
          </a:xfrm>
          <a:prstGeom prst="rect">
            <a:avLst/>
          </a:prstGeom>
          <a:noFill/>
          <a:ln/>
        </p:spPr>
        <p:txBody>
          <a:bodyPr wrap="square" lIns="0" tIns="0" rIns="0" bIns="0" rtlCol="0" anchor="ctr"/>
          <a:lstStyle/>
          <a:p>
            <a:pPr algn="l" indent="0" marL="0">
              <a:lnSpc>
                <a:spcPct val="122000"/>
              </a:lnSpc>
              <a:buNone/>
            </a:pPr>
            <a:r>
              <a:rPr lang="en-US" sz="1500" b="1" dirty="0">
                <a:solidFill>
                  <a:srgbClr val="F8F4EF"/>
                </a:solidFill>
                <a:latin typeface="Calibri" pitchFamily="34" charset="0"/>
                <a:ea typeface="Calibri" pitchFamily="34" charset="-122"/>
                <a:cs typeface="Calibri" pitchFamily="34" charset="-120"/>
              </a:rPr>
              <a:t>Deploy</a:t>
            </a:r>
            <a:endParaRPr lang="en-US" sz="1500" dirty="0"/>
          </a:p>
        </p:txBody>
      </p:sp>
      <p:sp>
        <p:nvSpPr>
          <p:cNvPr id="67" name="Text 65"/>
          <p:cNvSpPr txBox="1"/>
          <p:nvPr/>
        </p:nvSpPr>
        <p:spPr>
          <a:xfrm>
            <a:off x="9194063" y="5266944"/>
            <a:ext cx="1918640" cy="45720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Aplikasi bisa diakses publik.</a:t>
            </a:r>
            <a:endParaRPr lang="en-US" sz="950" dirty="0"/>
          </a:p>
        </p:txBody>
      </p:sp>
      <p:sp>
        <p:nvSpPr>
          <p:cNvPr id="68" name="Shape 66"/>
          <p:cNvSpPr/>
          <p:nvPr/>
        </p:nvSpPr>
        <p:spPr>
          <a:xfrm>
            <a:off x="9194063" y="5742432"/>
            <a:ext cx="1918640" cy="274320"/>
          </a:xfrm>
          <a:prstGeom prst="roundRect">
            <a:avLst>
              <a:gd name="adj" fmla="val 50000"/>
            </a:avLst>
          </a:prstGeom>
          <a:ln w="12700">
            <a:solidFill>
              <a:srgbClr val="4E466B"/>
            </a:solidFill>
            <a:prstDash val="solid"/>
          </a:ln>
        </p:spPr>
      </p:sp>
      <p:sp>
        <p:nvSpPr>
          <p:cNvPr id="69" name="Text 67"/>
          <p:cNvSpPr txBox="1"/>
          <p:nvPr/>
        </p:nvSpPr>
        <p:spPr>
          <a:xfrm>
            <a:off x="9285503" y="5742432"/>
            <a:ext cx="1735760" cy="274320"/>
          </a:xfrm>
          <a:prstGeom prst="rect">
            <a:avLst/>
          </a:prstGeom>
          <a:noFill/>
          <a:ln/>
        </p:spPr>
        <p:txBody>
          <a:bodyPr wrap="square" lIns="0" tIns="0" rIns="0" bIns="0" rtlCol="0" anchor="ctr"/>
          <a:lstStyle/>
          <a:p>
            <a:pPr algn="ctr" indent="0" marL="0">
              <a:lnSpc>
                <a:spcPct val="122000"/>
              </a:lnSpc>
              <a:buNone/>
            </a:pPr>
            <a:r>
              <a:rPr lang="en-US" sz="820" b="1" spc="50" kern="0" dirty="0">
                <a:solidFill>
                  <a:srgbClr val="B5AEC6"/>
                </a:solidFill>
                <a:latin typeface="Calibri" pitchFamily="34" charset="0"/>
                <a:ea typeface="Calibri" pitchFamily="34" charset="-122"/>
                <a:cs typeface="Calibri" pitchFamily="34" charset="-120"/>
              </a:rPr>
              <a:t>Live App</a:t>
            </a:r>
            <a:endParaRPr lang="en-US" sz="820" dirty="0"/>
          </a:p>
        </p:txBody>
      </p:sp>
      <p:sp>
        <p:nvSpPr>
          <p:cNvPr id="70" name="Shape 68"/>
          <p:cNvSpPr/>
          <p:nvPr/>
        </p:nvSpPr>
        <p:spPr>
          <a:xfrm>
            <a:off x="11018520" y="4133088"/>
            <a:ext cx="0" cy="192024"/>
          </a:xfrm>
          <a:prstGeom prst="line">
            <a:avLst/>
          </a:prstGeom>
          <a:noFill/>
          <a:ln w="15875">
            <a:solidFill>
              <a:srgbClr val="5C5280"/>
            </a:solidFill>
            <a:prstDash val="solid"/>
          </a:ln>
        </p:spPr>
      </p:sp>
      <p:sp>
        <p:nvSpPr>
          <p:cNvPr id="71" name="Shape 69"/>
          <p:cNvSpPr/>
          <p:nvPr/>
        </p:nvSpPr>
        <p:spPr>
          <a:xfrm rot="10800000">
            <a:off x="10968228" y="4315968"/>
            <a:ext cx="100584" cy="91440"/>
          </a:xfrm>
          <a:prstGeom prst="triangle">
            <a:avLst/>
          </a:prstGeom>
          <a:solidFill>
            <a:srgbClr val="5C5280"/>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1C2B"/>
        </a:solidFill>
      </p:bgPr>
    </p:bg>
    <p:spTree>
      <p:nvGrpSpPr>
        <p:cNvPr id="1" name=""/>
        <p:cNvGrpSpPr/>
        <p:nvPr/>
      </p:nvGrpSpPr>
      <p:grpSpPr>
        <a:xfrm>
          <a:off x="0" y="0"/>
          <a:ext cx="0" cy="0"/>
          <a:chOff x="0" y="0"/>
          <a:chExt cx="0" cy="0"/>
        </a:xfrm>
      </p:grpSpPr>
      <p:pic>
        <p:nvPicPr>
          <p:cNvPr id="2" name="Image 0" descr="C:\Seminar\generator\assets\photos\section-padel.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1C2B">
              <a:alpha val="76000"/>
            </a:srgbClr>
          </a:solidFill>
          <a:ln/>
        </p:spPr>
      </p:sp>
      <p:sp>
        <p:nvSpPr>
          <p:cNvPr id="4" name="Text 1"/>
          <p:cNvSpPr txBox="1"/>
          <p:nvPr/>
        </p:nvSpPr>
        <p:spPr>
          <a:xfrm>
            <a:off x="822960" y="960120"/>
            <a:ext cx="6400800" cy="219456"/>
          </a:xfrm>
          <a:prstGeom prst="rect">
            <a:avLst/>
          </a:prstGeom>
          <a:noFill/>
          <a:ln/>
        </p:spPr>
        <p:txBody>
          <a:bodyPr wrap="square" lIns="0" tIns="0" rIns="0" bIns="0" rtlCol="0" anchor="ctr"/>
          <a:lstStyle/>
          <a:p>
            <a:pPr algn="l" indent="0" marL="0">
              <a:lnSpc>
                <a:spcPct val="122000"/>
              </a:lnSpc>
              <a:buNone/>
            </a:pPr>
            <a:r>
              <a:rPr lang="en-US" sz="900" b="1" spc="220" kern="0" dirty="0">
                <a:solidFill>
                  <a:srgbClr val="B5AEC6"/>
                </a:solidFill>
                <a:latin typeface="Calibri" pitchFamily="34" charset="0"/>
                <a:ea typeface="Calibri" pitchFamily="34" charset="-122"/>
                <a:cs typeface="Calibri" pitchFamily="34" charset="-120"/>
              </a:rPr>
              <a:t>SECTION 03  ·  BUSINESS DISCOVERY</a:t>
            </a:r>
            <a:endParaRPr lang="en-US" sz="900" dirty="0"/>
          </a:p>
        </p:txBody>
      </p:sp>
      <p:sp>
        <p:nvSpPr>
          <p:cNvPr id="5" name="Text 2"/>
          <p:cNvSpPr txBox="1"/>
          <p:nvPr/>
        </p:nvSpPr>
        <p:spPr>
          <a:xfrm>
            <a:off x="822960" y="1783080"/>
            <a:ext cx="8961120" cy="1828800"/>
          </a:xfrm>
          <a:prstGeom prst="rect">
            <a:avLst/>
          </a:prstGeom>
          <a:noFill/>
          <a:ln/>
        </p:spPr>
        <p:txBody>
          <a:bodyPr wrap="square" lIns="0" tIns="0" rIns="0" bIns="0" rtlCol="0" anchor="t"/>
          <a:lstStyle/>
          <a:p>
            <a:pPr algn="l" indent="0" marL="0">
              <a:lnSpc>
                <a:spcPct val="112000"/>
              </a:lnSpc>
              <a:buNone/>
            </a:pPr>
            <a:r>
              <a:rPr lang="en-US" sz="6200" b="1" dirty="0">
                <a:solidFill>
                  <a:srgbClr val="FFFFFF"/>
                </a:solidFill>
                <a:latin typeface="Calibri" pitchFamily="34" charset="0"/>
                <a:ea typeface="Calibri" pitchFamily="34" charset="-122"/>
                <a:cs typeface="Calibri" pitchFamily="34" charset="-120"/>
              </a:rPr>
              <a:t>Software tidak lahir</a:t>
            </a:r>
            <a:endParaRPr lang="en-US" sz="6200" dirty="0"/>
          </a:p>
          <a:p>
            <a:pPr algn="l" indent="0" marL="0">
              <a:lnSpc>
                <a:spcPct val="112000"/>
              </a:lnSpc>
              <a:buNone/>
            </a:pPr>
            <a:r>
              <a:rPr lang="en-US" sz="6200" b="1" dirty="0">
                <a:solidFill>
                  <a:srgbClr val="FFFFFF"/>
                </a:solidFill>
                <a:latin typeface="Calibri" pitchFamily="34" charset="0"/>
                <a:ea typeface="Calibri" pitchFamily="34" charset="-122"/>
                <a:cs typeface="Calibri" pitchFamily="34" charset="-120"/>
              </a:rPr>
              <a:t>dari ide</a:t>
            </a:r>
            <a:endParaRPr lang="en-US" sz="6200" dirty="0"/>
          </a:p>
        </p:txBody>
      </p:sp>
      <p:sp>
        <p:nvSpPr>
          <p:cNvPr id="6" name="Text 3"/>
          <p:cNvSpPr txBox="1"/>
          <p:nvPr/>
        </p:nvSpPr>
        <p:spPr>
          <a:xfrm>
            <a:off x="822960" y="3840480"/>
            <a:ext cx="6949440" cy="640080"/>
          </a:xfrm>
          <a:prstGeom prst="rect">
            <a:avLst/>
          </a:prstGeom>
          <a:noFill/>
          <a:ln/>
        </p:spPr>
        <p:txBody>
          <a:bodyPr wrap="square" lIns="0" tIns="0" rIns="0" bIns="0" rtlCol="0" anchor="t"/>
          <a:lstStyle/>
          <a:p>
            <a:pPr algn="l" indent="0" marL="0">
              <a:lnSpc>
                <a:spcPct val="155000"/>
              </a:lnSpc>
              <a:buNone/>
            </a:pPr>
            <a:r>
              <a:rPr lang="en-US" sz="1550" dirty="0">
                <a:solidFill>
                  <a:srgbClr val="CFC9DC"/>
                </a:solidFill>
                <a:latin typeface="Calibri" pitchFamily="34" charset="0"/>
                <a:ea typeface="Calibri" pitchFamily="34" charset="-122"/>
                <a:cs typeface="Calibri" pitchFamily="34" charset="-120"/>
              </a:rPr>
              <a:t>Software lahir dari masalah yang sudah ada dan sudah merugikan seseorang. Kalau tidak ada yang dirugikan hari ini, kemungkinan besar tidak ada yang memakai aplikasi Anda besok.</a:t>
            </a:r>
            <a:endParaRPr lang="en-US" sz="1550" dirty="0"/>
          </a:p>
        </p:txBody>
      </p:sp>
      <p:sp>
        <p:nvSpPr>
          <p:cNvPr id="7" name="Shape 4"/>
          <p:cNvSpPr/>
          <p:nvPr/>
        </p:nvSpPr>
        <p:spPr>
          <a:xfrm>
            <a:off x="822960" y="4901184"/>
            <a:ext cx="10543032" cy="0"/>
          </a:xfrm>
          <a:prstGeom prst="line">
            <a:avLst/>
          </a:prstGeom>
          <a:noFill/>
          <a:ln w="12700">
            <a:solidFill>
              <a:srgbClr val="5C5280"/>
            </a:solidFill>
            <a:prstDash val="solid"/>
          </a:ln>
        </p:spPr>
      </p:sp>
      <p:sp>
        <p:nvSpPr>
          <p:cNvPr id="8" name="Text 5"/>
          <p:cNvSpPr txBox="1"/>
          <p:nvPr/>
        </p:nvSpPr>
        <p:spPr>
          <a:xfrm>
            <a:off x="822960" y="5120640"/>
            <a:ext cx="274320" cy="256032"/>
          </a:xfrm>
          <a:prstGeom prst="rect">
            <a:avLst/>
          </a:prstGeom>
          <a:noFill/>
          <a:ln/>
        </p:spPr>
        <p:txBody>
          <a:bodyPr wrap="square" lIns="0" tIns="0" rIns="0" bIns="0" rtlCol="0" anchor="ctr"/>
          <a:lstStyle/>
          <a:p>
            <a:pPr algn="l" indent="0" marL="0">
              <a:lnSpc>
                <a:spcPct val="122000"/>
              </a:lnSpc>
              <a:buNone/>
            </a:pPr>
            <a:r>
              <a:rPr lang="en-US" sz="1450" b="1" dirty="0">
                <a:solidFill>
                  <a:srgbClr val="C99A8A"/>
                </a:solidFill>
                <a:latin typeface="Calibri" pitchFamily="34" charset="0"/>
                <a:ea typeface="Calibri" pitchFamily="34" charset="-122"/>
                <a:cs typeface="Calibri" pitchFamily="34" charset="-120"/>
              </a:rPr>
              <a:t>✕</a:t>
            </a:r>
            <a:endParaRPr lang="en-US" sz="1450" dirty="0"/>
          </a:p>
        </p:txBody>
      </p:sp>
      <p:sp>
        <p:nvSpPr>
          <p:cNvPr id="9" name="Text 6"/>
          <p:cNvSpPr txBox="1"/>
          <p:nvPr/>
        </p:nvSpPr>
        <p:spPr>
          <a:xfrm>
            <a:off x="1207008" y="5120640"/>
            <a:ext cx="4572000" cy="256032"/>
          </a:xfrm>
          <a:prstGeom prst="rect">
            <a:avLst/>
          </a:prstGeom>
          <a:noFill/>
          <a:ln/>
        </p:spPr>
        <p:txBody>
          <a:bodyPr wrap="square" lIns="0" tIns="0" rIns="0" bIns="0" rtlCol="0" anchor="ctr"/>
          <a:lstStyle/>
          <a:p>
            <a:pPr algn="l" indent="0" marL="0">
              <a:lnSpc>
                <a:spcPct val="122000"/>
              </a:lnSpc>
              <a:buNone/>
            </a:pPr>
            <a:r>
              <a:rPr lang="en-US" sz="1600" b="1" dirty="0">
                <a:solidFill>
                  <a:srgbClr val="9E97B4"/>
                </a:solidFill>
                <a:latin typeface="Calibri" pitchFamily="34" charset="0"/>
                <a:ea typeface="Calibri" pitchFamily="34" charset="-122"/>
                <a:cs typeface="Calibri" pitchFamily="34" charset="-120"/>
              </a:rPr>
              <a:t>Aplikasi apa yang mau kita buat?</a:t>
            </a:r>
            <a:endParaRPr lang="en-US" sz="1600" dirty="0"/>
          </a:p>
        </p:txBody>
      </p:sp>
      <p:sp>
        <p:nvSpPr>
          <p:cNvPr id="10" name="Text 7"/>
          <p:cNvSpPr txBox="1"/>
          <p:nvPr/>
        </p:nvSpPr>
        <p:spPr>
          <a:xfrm>
            <a:off x="6309360" y="5120640"/>
            <a:ext cx="274320" cy="256032"/>
          </a:xfrm>
          <a:prstGeom prst="rect">
            <a:avLst/>
          </a:prstGeom>
          <a:noFill/>
          <a:ln/>
        </p:spPr>
        <p:txBody>
          <a:bodyPr wrap="square" lIns="0" tIns="0" rIns="0" bIns="0" rtlCol="0" anchor="ctr"/>
          <a:lstStyle/>
          <a:p>
            <a:pPr algn="l" indent="0" marL="0">
              <a:lnSpc>
                <a:spcPct val="122000"/>
              </a:lnSpc>
              <a:buNone/>
            </a:pPr>
            <a:r>
              <a:rPr lang="en-US" sz="1450" b="1" dirty="0">
                <a:solidFill>
                  <a:srgbClr val="8FB59A"/>
                </a:solidFill>
                <a:latin typeface="Calibri" pitchFamily="34" charset="0"/>
                <a:ea typeface="Calibri" pitchFamily="34" charset="-122"/>
                <a:cs typeface="Calibri" pitchFamily="34" charset="-120"/>
              </a:rPr>
              <a:t>✓</a:t>
            </a:r>
            <a:endParaRPr lang="en-US" sz="1450" dirty="0"/>
          </a:p>
        </p:txBody>
      </p:sp>
      <p:sp>
        <p:nvSpPr>
          <p:cNvPr id="11" name="Text 8"/>
          <p:cNvSpPr txBox="1"/>
          <p:nvPr/>
        </p:nvSpPr>
        <p:spPr>
          <a:xfrm>
            <a:off x="6693408" y="5120640"/>
            <a:ext cx="4663440" cy="256032"/>
          </a:xfrm>
          <a:prstGeom prst="rect">
            <a:avLst/>
          </a:prstGeom>
          <a:noFill/>
          <a:ln/>
        </p:spPr>
        <p:txBody>
          <a:bodyPr wrap="square" lIns="0" tIns="0" rIns="0" bIns="0" rtlCol="0" anchor="ctr"/>
          <a:lstStyle/>
          <a:p>
            <a:pPr algn="l" indent="0" marL="0">
              <a:lnSpc>
                <a:spcPct val="122000"/>
              </a:lnSpc>
              <a:buNone/>
            </a:pPr>
            <a:r>
              <a:rPr lang="en-US" sz="1600" b="1" dirty="0">
                <a:solidFill>
                  <a:srgbClr val="FFFFFF"/>
                </a:solidFill>
                <a:latin typeface="Calibri" pitchFamily="34" charset="0"/>
                <a:ea typeface="Calibri" pitchFamily="34" charset="-122"/>
                <a:cs typeface="Calibri" pitchFamily="34" charset="-120"/>
              </a:rPr>
              <a:t>Masalah siapa yang mau kita selesaikan?</a:t>
            </a:r>
            <a:endParaRPr lang="en-US" sz="1600" dirty="0"/>
          </a:p>
        </p:txBody>
      </p:sp>
      <p:sp>
        <p:nvSpPr>
          <p:cNvPr id="12" name="Text 9"/>
          <p:cNvSpPr txBox="1"/>
          <p:nvPr/>
        </p:nvSpPr>
        <p:spPr>
          <a:xfrm>
            <a:off x="822960" y="5650992"/>
            <a:ext cx="10543032"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8C84A8"/>
                </a:solidFill>
                <a:latin typeface="Calibri" pitchFamily="34" charset="0"/>
                <a:ea typeface="Calibri" pitchFamily="34" charset="-122"/>
                <a:cs typeface="Calibri" pitchFamily="34" charset="-120"/>
              </a:rPr>
              <a:t>MASALAH  →  KEBUTUHAN  →  FITUR  →  SOFTWARE</a:t>
            </a:r>
            <a:endParaRPr lang="en-US" sz="850" dirty="0"/>
          </a:p>
        </p:txBody>
      </p:sp>
      <p:sp>
        <p:nvSpPr>
          <p:cNvPr id="13" name="Text 10"/>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14" name="Text 11"/>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03  ·  BUSINESS DISCOVERY</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Cari masalahnya di Google Maps</a:t>
            </a:r>
            <a:endParaRPr lang="en-US" sz="3400" dirty="0"/>
          </a:p>
        </p:txBody>
      </p:sp>
      <p:sp>
        <p:nvSpPr>
          <p:cNvPr id="5" name="Text 3"/>
          <p:cNvSpPr txBox="1"/>
          <p:nvPr/>
        </p:nvSpPr>
        <p:spPr>
          <a:xfrm>
            <a:off x="822960" y="1536192"/>
            <a:ext cx="512064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Calibri" pitchFamily="34" charset="0"/>
                <a:ea typeface="Calibri" pitchFamily="34" charset="-122"/>
                <a:cs typeface="Calibri" pitchFamily="34" charset="-120"/>
              </a:rPr>
              <a:t>Latihan paling cepat untuk menemukan masalah bisnis nyata: lihat bisnis yang benar-benar ada di sekitar kampus.</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11</a:t>
            </a:r>
            <a:endParaRPr lang="en-US" sz="800" dirty="0"/>
          </a:p>
        </p:txBody>
      </p:sp>
      <p:sp>
        <p:nvSpPr>
          <p:cNvPr id="8" name="Shape 6"/>
          <p:cNvSpPr/>
          <p:nvPr/>
        </p:nvSpPr>
        <p:spPr>
          <a:xfrm>
            <a:off x="822960" y="2615184"/>
            <a:ext cx="5029200" cy="0"/>
          </a:xfrm>
          <a:prstGeom prst="line">
            <a:avLst/>
          </a:prstGeom>
          <a:noFill/>
          <a:ln w="12700">
            <a:solidFill>
              <a:srgbClr val="DDD7CF"/>
            </a:solidFill>
            <a:prstDash val="solid"/>
          </a:ln>
        </p:spPr>
      </p:sp>
      <p:sp>
        <p:nvSpPr>
          <p:cNvPr id="9" name="Text 7"/>
          <p:cNvSpPr txBox="1"/>
          <p:nvPr/>
        </p:nvSpPr>
        <p:spPr>
          <a:xfrm>
            <a:off x="822960" y="2798064"/>
            <a:ext cx="45720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01</a:t>
            </a:r>
            <a:endParaRPr lang="en-US" sz="850" dirty="0"/>
          </a:p>
        </p:txBody>
      </p:sp>
      <p:sp>
        <p:nvSpPr>
          <p:cNvPr id="10" name="Text 8"/>
          <p:cNvSpPr txBox="1"/>
          <p:nvPr/>
        </p:nvSpPr>
        <p:spPr>
          <a:xfrm>
            <a:off x="1371600" y="2798064"/>
            <a:ext cx="4480560"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Calibri" pitchFamily="34" charset="0"/>
                <a:ea typeface="Calibri" pitchFamily="34" charset="-122"/>
                <a:cs typeface="Calibri" pitchFamily="34" charset="-120"/>
              </a:rPr>
              <a:t>Buka Google Maps</a:t>
            </a:r>
            <a:endParaRPr lang="en-US" sz="1600" dirty="0"/>
          </a:p>
        </p:txBody>
      </p:sp>
      <p:sp>
        <p:nvSpPr>
          <p:cNvPr id="11" name="Text 9"/>
          <p:cNvSpPr txBox="1"/>
          <p:nvPr/>
        </p:nvSpPr>
        <p:spPr>
          <a:xfrm>
            <a:off x="1371600" y="3127248"/>
            <a:ext cx="4343400" cy="457200"/>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Calibri" pitchFamily="34" charset="0"/>
                <a:ea typeface="Calibri" pitchFamily="34" charset="-122"/>
                <a:cs typeface="Calibri" pitchFamily="34" charset="-120"/>
              </a:rPr>
              <a:t>Cari bisnis dalam radius 3 km dari kampus. Jangan cari ide, cari tempat.</a:t>
            </a:r>
            <a:endParaRPr lang="en-US" sz="1050" dirty="0"/>
          </a:p>
        </p:txBody>
      </p:sp>
      <p:sp>
        <p:nvSpPr>
          <p:cNvPr id="12" name="Shape 10"/>
          <p:cNvSpPr/>
          <p:nvPr/>
        </p:nvSpPr>
        <p:spPr>
          <a:xfrm>
            <a:off x="822960" y="3657600"/>
            <a:ext cx="5029200" cy="0"/>
          </a:xfrm>
          <a:prstGeom prst="line">
            <a:avLst/>
          </a:prstGeom>
          <a:noFill/>
          <a:ln w="12700">
            <a:solidFill>
              <a:srgbClr val="DDD7CF"/>
            </a:solidFill>
            <a:prstDash val="solid"/>
          </a:ln>
        </p:spPr>
      </p:sp>
      <p:sp>
        <p:nvSpPr>
          <p:cNvPr id="13" name="Text 11"/>
          <p:cNvSpPr txBox="1"/>
          <p:nvPr/>
        </p:nvSpPr>
        <p:spPr>
          <a:xfrm>
            <a:off x="822960" y="3840480"/>
            <a:ext cx="45720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02</a:t>
            </a:r>
            <a:endParaRPr lang="en-US" sz="850" dirty="0"/>
          </a:p>
        </p:txBody>
      </p:sp>
      <p:sp>
        <p:nvSpPr>
          <p:cNvPr id="14" name="Text 12"/>
          <p:cNvSpPr txBox="1"/>
          <p:nvPr/>
        </p:nvSpPr>
        <p:spPr>
          <a:xfrm>
            <a:off x="1371600" y="3840480"/>
            <a:ext cx="4480560"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Calibri" pitchFamily="34" charset="0"/>
                <a:ea typeface="Calibri" pitchFamily="34" charset="-122"/>
                <a:cs typeface="Calibri" pitchFamily="34" charset="-120"/>
              </a:rPr>
              <a:t>Pilih satu bisnis</a:t>
            </a:r>
            <a:endParaRPr lang="en-US" sz="1600" dirty="0"/>
          </a:p>
        </p:txBody>
      </p:sp>
      <p:sp>
        <p:nvSpPr>
          <p:cNvPr id="15" name="Text 13"/>
          <p:cNvSpPr txBox="1"/>
          <p:nvPr/>
        </p:nvSpPr>
        <p:spPr>
          <a:xfrm>
            <a:off x="1371600" y="4169664"/>
            <a:ext cx="4343400" cy="457200"/>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Calibri" pitchFamily="34" charset="0"/>
                <a:ea typeface="Calibri" pitchFamily="34" charset="-122"/>
                <a:cs typeface="Calibri" pitchFamily="34" charset="-120"/>
              </a:rPr>
              <a:t>Utamakan yang operasionalnya masih manual: WhatsApp, buku tulis, atau spreadsheet.</a:t>
            </a:r>
            <a:endParaRPr lang="en-US" sz="1050" dirty="0"/>
          </a:p>
        </p:txBody>
      </p:sp>
      <p:sp>
        <p:nvSpPr>
          <p:cNvPr id="16" name="Shape 14"/>
          <p:cNvSpPr/>
          <p:nvPr/>
        </p:nvSpPr>
        <p:spPr>
          <a:xfrm>
            <a:off x="822960" y="4700016"/>
            <a:ext cx="5029200" cy="0"/>
          </a:xfrm>
          <a:prstGeom prst="line">
            <a:avLst/>
          </a:prstGeom>
          <a:noFill/>
          <a:ln w="12700">
            <a:solidFill>
              <a:srgbClr val="DDD7CF"/>
            </a:solidFill>
            <a:prstDash val="solid"/>
          </a:ln>
        </p:spPr>
      </p:sp>
      <p:sp>
        <p:nvSpPr>
          <p:cNvPr id="17" name="Text 15"/>
          <p:cNvSpPr txBox="1"/>
          <p:nvPr/>
        </p:nvSpPr>
        <p:spPr>
          <a:xfrm>
            <a:off x="822960" y="4882896"/>
            <a:ext cx="45720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03</a:t>
            </a:r>
            <a:endParaRPr lang="en-US" sz="850" dirty="0"/>
          </a:p>
        </p:txBody>
      </p:sp>
      <p:sp>
        <p:nvSpPr>
          <p:cNvPr id="18" name="Text 16"/>
          <p:cNvSpPr txBox="1"/>
          <p:nvPr/>
        </p:nvSpPr>
        <p:spPr>
          <a:xfrm>
            <a:off x="1371600" y="4882896"/>
            <a:ext cx="4480560"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Calibri" pitchFamily="34" charset="0"/>
                <a:ea typeface="Calibri" pitchFamily="34" charset="-122"/>
                <a:cs typeface="Calibri" pitchFamily="34" charset="-120"/>
              </a:rPr>
              <a:t>Catat cara kerjanya</a:t>
            </a:r>
            <a:endParaRPr lang="en-US" sz="1600" dirty="0"/>
          </a:p>
        </p:txBody>
      </p:sp>
      <p:sp>
        <p:nvSpPr>
          <p:cNvPr id="19" name="Text 17"/>
          <p:cNvSpPr txBox="1"/>
          <p:nvPr/>
        </p:nvSpPr>
        <p:spPr>
          <a:xfrm>
            <a:off x="1371600" y="5212080"/>
            <a:ext cx="4343400" cy="457200"/>
          </a:xfrm>
          <a:prstGeom prst="rect">
            <a:avLst/>
          </a:prstGeom>
          <a:noFill/>
          <a:ln/>
        </p:spPr>
        <p:txBody>
          <a:bodyPr wrap="square" lIns="0" tIns="0" rIns="0" bIns="0" rtlCol="0" anchor="t"/>
          <a:lstStyle/>
          <a:p>
            <a:pPr algn="l" indent="0" marL="0">
              <a:lnSpc>
                <a:spcPct val="145000"/>
              </a:lnSpc>
              <a:buNone/>
            </a:pPr>
            <a:r>
              <a:rPr lang="en-US" sz="1050" dirty="0">
                <a:solidFill>
                  <a:srgbClr val="5F5F5F"/>
                </a:solidFill>
                <a:latin typeface="Calibri" pitchFamily="34" charset="0"/>
                <a:ea typeface="Calibri" pitchFamily="34" charset="-122"/>
                <a:cs typeface="Calibri" pitchFamily="34" charset="-120"/>
              </a:rPr>
              <a:t>Bagaimana mereka menerima pesanan, mencatat, dan menagih hari ini?</a:t>
            </a:r>
            <a:endParaRPr lang="en-US" sz="1050" dirty="0"/>
          </a:p>
        </p:txBody>
      </p:sp>
      <p:sp>
        <p:nvSpPr>
          <p:cNvPr id="20" name="Shape 18"/>
          <p:cNvSpPr/>
          <p:nvPr/>
        </p:nvSpPr>
        <p:spPr>
          <a:xfrm>
            <a:off x="822960" y="5760720"/>
            <a:ext cx="5029200" cy="457200"/>
          </a:xfrm>
          <a:prstGeom prst="roundRect">
            <a:avLst>
              <a:gd name="adj" fmla="val 20000"/>
            </a:avLst>
          </a:prstGeom>
          <a:solidFill>
            <a:srgbClr val="EFEBF3"/>
          </a:solidFill>
          <a:ln/>
        </p:spPr>
      </p:sp>
      <p:sp>
        <p:nvSpPr>
          <p:cNvPr id="21" name="Text 19"/>
          <p:cNvSpPr txBox="1"/>
          <p:nvPr/>
        </p:nvSpPr>
        <p:spPr>
          <a:xfrm>
            <a:off x="1042416" y="5760720"/>
            <a:ext cx="4590288" cy="457200"/>
          </a:xfrm>
          <a:prstGeom prst="rect">
            <a:avLst/>
          </a:prstGeom>
          <a:noFill/>
          <a:ln/>
        </p:spPr>
        <p:txBody>
          <a:bodyPr wrap="square" lIns="0" tIns="0" rIns="0" bIns="0" rtlCol="0" anchor="ctr"/>
          <a:lstStyle/>
          <a:p>
            <a:pPr algn="l" indent="0" marL="0">
              <a:lnSpc>
                <a:spcPct val="122000"/>
              </a:lnSpc>
              <a:buNone/>
            </a:pPr>
            <a:r>
              <a:rPr lang="en-US" sz="1050" i="1" dirty="0">
                <a:solidFill>
                  <a:srgbClr val="635C77"/>
                </a:solidFill>
                <a:latin typeface="Calibri" pitchFamily="34" charset="0"/>
                <a:ea typeface="Calibri" pitchFamily="34" charset="-122"/>
                <a:cs typeface="Calibri" pitchFamily="34" charset="-120"/>
              </a:rPr>
              <a:t>Aturan main: pilih bisnis yang bisa Anda amati sendiri.</a:t>
            </a:r>
            <a:endParaRPr lang="en-US" sz="1050" dirty="0"/>
          </a:p>
        </p:txBody>
      </p:sp>
      <p:sp>
        <p:nvSpPr>
          <p:cNvPr id="22" name="Shape 20"/>
          <p:cNvSpPr/>
          <p:nvPr/>
        </p:nvSpPr>
        <p:spPr>
          <a:xfrm>
            <a:off x="6309360" y="2194560"/>
            <a:ext cx="5056632" cy="4023360"/>
          </a:xfrm>
          <a:prstGeom prst="roundRect">
            <a:avLst>
              <a:gd name="adj" fmla="val 2955"/>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23" name="Shape 21"/>
          <p:cNvSpPr/>
          <p:nvPr/>
        </p:nvSpPr>
        <p:spPr>
          <a:xfrm>
            <a:off x="6510528" y="2395728"/>
            <a:ext cx="4654296" cy="310896"/>
          </a:xfrm>
          <a:prstGeom prst="roundRect">
            <a:avLst>
              <a:gd name="adj" fmla="val 50000"/>
            </a:avLst>
          </a:prstGeom>
          <a:solidFill>
            <a:srgbClr val="F8F4EF"/>
          </a:solidFill>
          <a:ln w="12700">
            <a:solidFill>
              <a:srgbClr val="DDD7CF"/>
            </a:solidFill>
            <a:prstDash val="solid"/>
          </a:ln>
        </p:spPr>
      </p:sp>
      <p:pic>
        <p:nvPicPr>
          <p:cNvPr id="24" name="Image 0" descr="C:\Seminar\generator\assets\logos\googlemaps-light.png">    </p:cNvPr>
          <p:cNvPicPr>
            <a:picLocks noChangeAspect="1"/>
          </p:cNvPicPr>
          <p:nvPr/>
        </p:nvPicPr>
        <p:blipFill>
          <a:blip r:embed="rId1"/>
          <a:stretch>
            <a:fillRect/>
          </a:stretch>
        </p:blipFill>
        <p:spPr>
          <a:xfrm>
            <a:off x="6638544" y="2468880"/>
            <a:ext cx="164592" cy="164592"/>
          </a:xfrm>
          <a:prstGeom prst="rect">
            <a:avLst/>
          </a:prstGeom>
        </p:spPr>
      </p:pic>
      <p:sp>
        <p:nvSpPr>
          <p:cNvPr id="25" name="Text 22"/>
          <p:cNvSpPr txBox="1"/>
          <p:nvPr/>
        </p:nvSpPr>
        <p:spPr>
          <a:xfrm>
            <a:off x="6894576" y="2395728"/>
            <a:ext cx="4023360" cy="310896"/>
          </a:xfrm>
          <a:prstGeom prst="rect">
            <a:avLst/>
          </a:prstGeom>
          <a:noFill/>
          <a:ln/>
        </p:spPr>
        <p:txBody>
          <a:bodyPr wrap="square" lIns="0" tIns="0" rIns="0" bIns="0" rtlCol="0" anchor="ctr"/>
          <a:lstStyle/>
          <a:p>
            <a:pPr algn="l" indent="0" marL="0">
              <a:lnSpc>
                <a:spcPct val="122000"/>
              </a:lnSpc>
              <a:buNone/>
            </a:pPr>
            <a:r>
              <a:rPr lang="en-US" sz="1050" dirty="0">
                <a:solidFill>
                  <a:srgbClr val="5F5F5F"/>
                </a:solidFill>
                <a:latin typeface="Calibri" pitchFamily="34" charset="0"/>
                <a:ea typeface="Calibri" pitchFamily="34" charset="-122"/>
                <a:cs typeface="Calibri" pitchFamily="34" charset="-120"/>
              </a:rPr>
              <a:t>padel court near me</a:t>
            </a:r>
            <a:endParaRPr lang="en-US" sz="1050" dirty="0"/>
          </a:p>
        </p:txBody>
      </p:sp>
      <p:sp>
        <p:nvSpPr>
          <p:cNvPr id="26" name="Shape 23"/>
          <p:cNvSpPr/>
          <p:nvPr/>
        </p:nvSpPr>
        <p:spPr>
          <a:xfrm>
            <a:off x="6510528" y="2816352"/>
            <a:ext cx="4654296" cy="3017520"/>
          </a:xfrm>
          <a:prstGeom prst="rect">
            <a:avLst/>
          </a:prstGeom>
          <a:solidFill>
            <a:srgbClr val="EFEAE2"/>
          </a:solidFill>
          <a:ln/>
        </p:spPr>
      </p:sp>
      <p:sp>
        <p:nvSpPr>
          <p:cNvPr id="27" name="Shape 24"/>
          <p:cNvSpPr/>
          <p:nvPr/>
        </p:nvSpPr>
        <p:spPr>
          <a:xfrm>
            <a:off x="6510528" y="3310128"/>
            <a:ext cx="4654296" cy="0"/>
          </a:xfrm>
          <a:prstGeom prst="line">
            <a:avLst/>
          </a:prstGeom>
          <a:noFill/>
          <a:ln w="25400">
            <a:solidFill>
              <a:srgbClr val="E2DCD2"/>
            </a:solidFill>
            <a:prstDash val="solid"/>
          </a:ln>
        </p:spPr>
      </p:sp>
      <p:sp>
        <p:nvSpPr>
          <p:cNvPr id="28" name="Shape 25"/>
          <p:cNvSpPr/>
          <p:nvPr/>
        </p:nvSpPr>
        <p:spPr>
          <a:xfrm>
            <a:off x="6510528" y="4005072"/>
            <a:ext cx="4654296" cy="0"/>
          </a:xfrm>
          <a:prstGeom prst="line">
            <a:avLst/>
          </a:prstGeom>
          <a:noFill/>
          <a:ln w="25400">
            <a:solidFill>
              <a:srgbClr val="E2DCD2"/>
            </a:solidFill>
            <a:prstDash val="solid"/>
          </a:ln>
        </p:spPr>
      </p:sp>
      <p:sp>
        <p:nvSpPr>
          <p:cNvPr id="29" name="Shape 26"/>
          <p:cNvSpPr/>
          <p:nvPr/>
        </p:nvSpPr>
        <p:spPr>
          <a:xfrm>
            <a:off x="6510528" y="4956048"/>
            <a:ext cx="4654296" cy="0"/>
          </a:xfrm>
          <a:prstGeom prst="line">
            <a:avLst/>
          </a:prstGeom>
          <a:noFill/>
          <a:ln w="25400">
            <a:solidFill>
              <a:srgbClr val="E2DCD2"/>
            </a:solidFill>
            <a:prstDash val="solid"/>
          </a:ln>
        </p:spPr>
      </p:sp>
      <p:sp>
        <p:nvSpPr>
          <p:cNvPr id="30" name="Shape 27"/>
          <p:cNvSpPr/>
          <p:nvPr/>
        </p:nvSpPr>
        <p:spPr>
          <a:xfrm>
            <a:off x="7589520" y="2816352"/>
            <a:ext cx="0" cy="3017520"/>
          </a:xfrm>
          <a:prstGeom prst="line">
            <a:avLst/>
          </a:prstGeom>
          <a:noFill/>
          <a:ln w="25400">
            <a:solidFill>
              <a:srgbClr val="E2DCD2"/>
            </a:solidFill>
            <a:prstDash val="solid"/>
          </a:ln>
        </p:spPr>
      </p:sp>
      <p:sp>
        <p:nvSpPr>
          <p:cNvPr id="31" name="Shape 28"/>
          <p:cNvSpPr/>
          <p:nvPr/>
        </p:nvSpPr>
        <p:spPr>
          <a:xfrm>
            <a:off x="8796528" y="2816352"/>
            <a:ext cx="0" cy="3017520"/>
          </a:xfrm>
          <a:prstGeom prst="line">
            <a:avLst/>
          </a:prstGeom>
          <a:noFill/>
          <a:ln w="25400">
            <a:solidFill>
              <a:srgbClr val="E2DCD2"/>
            </a:solidFill>
            <a:prstDash val="solid"/>
          </a:ln>
        </p:spPr>
      </p:sp>
      <p:sp>
        <p:nvSpPr>
          <p:cNvPr id="32" name="Shape 29"/>
          <p:cNvSpPr/>
          <p:nvPr/>
        </p:nvSpPr>
        <p:spPr>
          <a:xfrm>
            <a:off x="10058400" y="2816352"/>
            <a:ext cx="0" cy="3017520"/>
          </a:xfrm>
          <a:prstGeom prst="line">
            <a:avLst/>
          </a:prstGeom>
          <a:noFill/>
          <a:ln w="25400">
            <a:solidFill>
              <a:srgbClr val="E2DCD2"/>
            </a:solidFill>
            <a:prstDash val="solid"/>
          </a:ln>
        </p:spPr>
      </p:sp>
      <p:sp>
        <p:nvSpPr>
          <p:cNvPr id="33" name="Shape 30"/>
          <p:cNvSpPr/>
          <p:nvPr/>
        </p:nvSpPr>
        <p:spPr>
          <a:xfrm>
            <a:off x="6839712" y="3072384"/>
            <a:ext cx="219456" cy="219456"/>
          </a:xfrm>
          <a:prstGeom prst="ellipse">
            <a:avLst/>
          </a:prstGeom>
          <a:solidFill>
            <a:srgbClr val="635C77"/>
          </a:solidFill>
          <a:ln/>
        </p:spPr>
      </p:sp>
      <p:sp>
        <p:nvSpPr>
          <p:cNvPr id="34" name="Shape 31"/>
          <p:cNvSpPr/>
          <p:nvPr/>
        </p:nvSpPr>
        <p:spPr>
          <a:xfrm>
            <a:off x="6917436" y="3150108"/>
            <a:ext cx="64008" cy="64008"/>
          </a:xfrm>
          <a:prstGeom prst="ellipse">
            <a:avLst/>
          </a:prstGeom>
          <a:solidFill>
            <a:srgbClr val="FFFFFF"/>
          </a:solidFill>
          <a:ln/>
        </p:spPr>
      </p:sp>
      <p:sp>
        <p:nvSpPr>
          <p:cNvPr id="35" name="Shape 32"/>
          <p:cNvSpPr/>
          <p:nvPr/>
        </p:nvSpPr>
        <p:spPr>
          <a:xfrm>
            <a:off x="7132320" y="3044952"/>
            <a:ext cx="1035101" cy="274320"/>
          </a:xfrm>
          <a:prstGeom prst="roundRect">
            <a:avLst>
              <a:gd name="adj" fmla="val 50000"/>
            </a:avLst>
          </a:prstGeom>
          <a:solidFill>
            <a:srgbClr val="635C77"/>
          </a:solidFill>
          <a:ln w="12700">
            <a:solidFill>
              <a:srgbClr val="635C77"/>
            </a:solidFill>
            <a:prstDash val="solid"/>
          </a:ln>
        </p:spPr>
      </p:sp>
      <p:sp>
        <p:nvSpPr>
          <p:cNvPr id="36" name="Text 33"/>
          <p:cNvSpPr txBox="1"/>
          <p:nvPr/>
        </p:nvSpPr>
        <p:spPr>
          <a:xfrm>
            <a:off x="7223760" y="3044952"/>
            <a:ext cx="852221" cy="274320"/>
          </a:xfrm>
          <a:prstGeom prst="rect">
            <a:avLst/>
          </a:prstGeom>
          <a:noFill/>
          <a:ln/>
        </p:spPr>
        <p:txBody>
          <a:bodyPr wrap="square" lIns="0" tIns="0" rIns="0" bIns="0" rtlCol="0" anchor="ctr"/>
          <a:lstStyle/>
          <a:p>
            <a:pPr algn="ctr" indent="0" marL="0">
              <a:lnSpc>
                <a:spcPct val="122000"/>
              </a:lnSpc>
              <a:buNone/>
            </a:pPr>
            <a:r>
              <a:rPr lang="en-US" sz="820" b="1" spc="30" kern="0" dirty="0">
                <a:solidFill>
                  <a:srgbClr val="FFFFFF"/>
                </a:solidFill>
                <a:latin typeface="Calibri" pitchFamily="34" charset="0"/>
                <a:ea typeface="Calibri" pitchFamily="34" charset="-122"/>
                <a:cs typeface="Calibri" pitchFamily="34" charset="-120"/>
              </a:rPr>
              <a:t>Padel Court</a:t>
            </a:r>
            <a:endParaRPr lang="en-US" sz="820" dirty="0"/>
          </a:p>
        </p:txBody>
      </p:sp>
      <p:sp>
        <p:nvSpPr>
          <p:cNvPr id="37" name="Shape 34"/>
          <p:cNvSpPr/>
          <p:nvPr/>
        </p:nvSpPr>
        <p:spPr>
          <a:xfrm>
            <a:off x="8247888" y="3877056"/>
            <a:ext cx="219456" cy="219456"/>
          </a:xfrm>
          <a:prstGeom prst="ellipse">
            <a:avLst/>
          </a:prstGeom>
          <a:solidFill>
            <a:srgbClr val="847E96"/>
          </a:solidFill>
          <a:ln/>
        </p:spPr>
      </p:sp>
      <p:sp>
        <p:nvSpPr>
          <p:cNvPr id="38" name="Shape 35"/>
          <p:cNvSpPr/>
          <p:nvPr/>
        </p:nvSpPr>
        <p:spPr>
          <a:xfrm>
            <a:off x="8325612" y="3954780"/>
            <a:ext cx="64008" cy="64008"/>
          </a:xfrm>
          <a:prstGeom prst="ellipse">
            <a:avLst/>
          </a:prstGeom>
          <a:solidFill>
            <a:srgbClr val="FFFFFF"/>
          </a:solidFill>
          <a:ln/>
        </p:spPr>
      </p:sp>
      <p:sp>
        <p:nvSpPr>
          <p:cNvPr id="39" name="Shape 36"/>
          <p:cNvSpPr/>
          <p:nvPr/>
        </p:nvSpPr>
        <p:spPr>
          <a:xfrm>
            <a:off x="8540496" y="3849624"/>
            <a:ext cx="1035101" cy="274320"/>
          </a:xfrm>
          <a:prstGeom prst="roundRect">
            <a:avLst>
              <a:gd name="adj" fmla="val 50000"/>
            </a:avLst>
          </a:prstGeom>
          <a:solidFill>
            <a:srgbClr val="FFFFFF"/>
          </a:solidFill>
          <a:ln w="12700">
            <a:solidFill>
              <a:srgbClr val="DDD7CF"/>
            </a:solidFill>
            <a:prstDash val="solid"/>
          </a:ln>
        </p:spPr>
      </p:sp>
      <p:sp>
        <p:nvSpPr>
          <p:cNvPr id="40" name="Text 37"/>
          <p:cNvSpPr txBox="1"/>
          <p:nvPr/>
        </p:nvSpPr>
        <p:spPr>
          <a:xfrm>
            <a:off x="8631936" y="3849624"/>
            <a:ext cx="852221" cy="274320"/>
          </a:xfrm>
          <a:prstGeom prst="rect">
            <a:avLst/>
          </a:prstGeom>
          <a:noFill/>
          <a:ln/>
        </p:spPr>
        <p:txBody>
          <a:bodyPr wrap="square" lIns="0" tIns="0" rIns="0" bIns="0" rtlCol="0" anchor="ctr"/>
          <a:lstStyle/>
          <a:p>
            <a:pPr algn="ctr" indent="0" marL="0">
              <a:lnSpc>
                <a:spcPct val="122000"/>
              </a:lnSpc>
              <a:buNone/>
            </a:pPr>
            <a:r>
              <a:rPr lang="en-US" sz="820" b="1" spc="30" kern="0" dirty="0">
                <a:solidFill>
                  <a:srgbClr val="1A1A1A"/>
                </a:solidFill>
                <a:latin typeface="Calibri" pitchFamily="34" charset="0"/>
                <a:ea typeface="Calibri" pitchFamily="34" charset="-122"/>
                <a:cs typeface="Calibri" pitchFamily="34" charset="-120"/>
              </a:rPr>
              <a:t>Coffee Shop</a:t>
            </a:r>
            <a:endParaRPr lang="en-US" sz="820" dirty="0"/>
          </a:p>
        </p:txBody>
      </p:sp>
      <p:sp>
        <p:nvSpPr>
          <p:cNvPr id="41" name="Shape 38"/>
          <p:cNvSpPr/>
          <p:nvPr/>
        </p:nvSpPr>
        <p:spPr>
          <a:xfrm>
            <a:off x="9646920" y="3017520"/>
            <a:ext cx="219456" cy="219456"/>
          </a:xfrm>
          <a:prstGeom prst="ellipse">
            <a:avLst/>
          </a:prstGeom>
          <a:solidFill>
            <a:srgbClr val="847E96"/>
          </a:solidFill>
          <a:ln/>
        </p:spPr>
      </p:sp>
      <p:sp>
        <p:nvSpPr>
          <p:cNvPr id="42" name="Shape 39"/>
          <p:cNvSpPr/>
          <p:nvPr/>
        </p:nvSpPr>
        <p:spPr>
          <a:xfrm>
            <a:off x="9724644" y="3095244"/>
            <a:ext cx="64008" cy="64008"/>
          </a:xfrm>
          <a:prstGeom prst="ellipse">
            <a:avLst/>
          </a:prstGeom>
          <a:solidFill>
            <a:srgbClr val="FFFFFF"/>
          </a:solidFill>
          <a:ln/>
        </p:spPr>
      </p:sp>
      <p:sp>
        <p:nvSpPr>
          <p:cNvPr id="43" name="Shape 40"/>
          <p:cNvSpPr/>
          <p:nvPr/>
        </p:nvSpPr>
        <p:spPr>
          <a:xfrm>
            <a:off x="9939528" y="2990088"/>
            <a:ext cx="771754" cy="274320"/>
          </a:xfrm>
          <a:prstGeom prst="roundRect">
            <a:avLst>
              <a:gd name="adj" fmla="val 50000"/>
            </a:avLst>
          </a:prstGeom>
          <a:solidFill>
            <a:srgbClr val="FFFFFF"/>
          </a:solidFill>
          <a:ln w="12700">
            <a:solidFill>
              <a:srgbClr val="DDD7CF"/>
            </a:solidFill>
            <a:prstDash val="solid"/>
          </a:ln>
        </p:spPr>
      </p:sp>
      <p:sp>
        <p:nvSpPr>
          <p:cNvPr id="44" name="Text 41"/>
          <p:cNvSpPr txBox="1"/>
          <p:nvPr/>
        </p:nvSpPr>
        <p:spPr>
          <a:xfrm>
            <a:off x="10030968" y="2990088"/>
            <a:ext cx="588874" cy="274320"/>
          </a:xfrm>
          <a:prstGeom prst="rect">
            <a:avLst/>
          </a:prstGeom>
          <a:noFill/>
          <a:ln/>
        </p:spPr>
        <p:txBody>
          <a:bodyPr wrap="square" lIns="0" tIns="0" rIns="0" bIns="0" rtlCol="0" anchor="ctr"/>
          <a:lstStyle/>
          <a:p>
            <a:pPr algn="ctr" indent="0" marL="0">
              <a:lnSpc>
                <a:spcPct val="122000"/>
              </a:lnSpc>
              <a:buNone/>
            </a:pPr>
            <a:r>
              <a:rPr lang="en-US" sz="820" b="1" spc="30" kern="0" dirty="0">
                <a:solidFill>
                  <a:srgbClr val="1A1A1A"/>
                </a:solidFill>
                <a:latin typeface="Calibri" pitchFamily="34" charset="0"/>
                <a:ea typeface="Calibri" pitchFamily="34" charset="-122"/>
                <a:cs typeface="Calibri" pitchFamily="34" charset="-120"/>
              </a:rPr>
              <a:t>Laundry</a:t>
            </a:r>
            <a:endParaRPr lang="en-US" sz="820" dirty="0"/>
          </a:p>
        </p:txBody>
      </p:sp>
      <p:sp>
        <p:nvSpPr>
          <p:cNvPr id="45" name="Shape 42"/>
          <p:cNvSpPr/>
          <p:nvPr/>
        </p:nvSpPr>
        <p:spPr>
          <a:xfrm>
            <a:off x="7269480" y="4846320"/>
            <a:ext cx="219456" cy="219456"/>
          </a:xfrm>
          <a:prstGeom prst="ellipse">
            <a:avLst/>
          </a:prstGeom>
          <a:solidFill>
            <a:srgbClr val="847E96"/>
          </a:solidFill>
          <a:ln/>
        </p:spPr>
      </p:sp>
      <p:sp>
        <p:nvSpPr>
          <p:cNvPr id="46" name="Shape 43"/>
          <p:cNvSpPr/>
          <p:nvPr/>
        </p:nvSpPr>
        <p:spPr>
          <a:xfrm>
            <a:off x="7347204" y="4924044"/>
            <a:ext cx="64008" cy="64008"/>
          </a:xfrm>
          <a:prstGeom prst="ellipse">
            <a:avLst/>
          </a:prstGeom>
          <a:solidFill>
            <a:srgbClr val="FFFFFF"/>
          </a:solidFill>
          <a:ln/>
        </p:spPr>
      </p:sp>
      <p:sp>
        <p:nvSpPr>
          <p:cNvPr id="47" name="Shape 44"/>
          <p:cNvSpPr/>
          <p:nvPr/>
        </p:nvSpPr>
        <p:spPr>
          <a:xfrm>
            <a:off x="7562088" y="4818888"/>
            <a:ext cx="969264" cy="274320"/>
          </a:xfrm>
          <a:prstGeom prst="roundRect">
            <a:avLst>
              <a:gd name="adj" fmla="val 50000"/>
            </a:avLst>
          </a:prstGeom>
          <a:solidFill>
            <a:srgbClr val="FFFFFF"/>
          </a:solidFill>
          <a:ln w="12700">
            <a:solidFill>
              <a:srgbClr val="DDD7CF"/>
            </a:solidFill>
            <a:prstDash val="solid"/>
          </a:ln>
        </p:spPr>
      </p:sp>
      <p:sp>
        <p:nvSpPr>
          <p:cNvPr id="48" name="Text 45"/>
          <p:cNvSpPr txBox="1"/>
          <p:nvPr/>
        </p:nvSpPr>
        <p:spPr>
          <a:xfrm>
            <a:off x="7653528" y="4818888"/>
            <a:ext cx="786384" cy="274320"/>
          </a:xfrm>
          <a:prstGeom prst="rect">
            <a:avLst/>
          </a:prstGeom>
          <a:noFill/>
          <a:ln/>
        </p:spPr>
        <p:txBody>
          <a:bodyPr wrap="square" lIns="0" tIns="0" rIns="0" bIns="0" rtlCol="0" anchor="ctr"/>
          <a:lstStyle/>
          <a:p>
            <a:pPr algn="ctr" indent="0" marL="0">
              <a:lnSpc>
                <a:spcPct val="122000"/>
              </a:lnSpc>
              <a:buNone/>
            </a:pPr>
            <a:r>
              <a:rPr lang="en-US" sz="820" b="1" spc="30" kern="0" dirty="0">
                <a:solidFill>
                  <a:srgbClr val="1A1A1A"/>
                </a:solidFill>
                <a:latin typeface="Calibri" pitchFamily="34" charset="0"/>
                <a:ea typeface="Calibri" pitchFamily="34" charset="-122"/>
                <a:cs typeface="Calibri" pitchFamily="34" charset="-120"/>
              </a:rPr>
              <a:t>Barbershop</a:t>
            </a:r>
            <a:endParaRPr lang="en-US" sz="820" dirty="0"/>
          </a:p>
        </p:txBody>
      </p:sp>
      <p:sp>
        <p:nvSpPr>
          <p:cNvPr id="49" name="Shape 46"/>
          <p:cNvSpPr/>
          <p:nvPr/>
        </p:nvSpPr>
        <p:spPr>
          <a:xfrm>
            <a:off x="9281160" y="4626864"/>
            <a:ext cx="219456" cy="219456"/>
          </a:xfrm>
          <a:prstGeom prst="ellipse">
            <a:avLst/>
          </a:prstGeom>
          <a:solidFill>
            <a:srgbClr val="847E96"/>
          </a:solidFill>
          <a:ln/>
        </p:spPr>
      </p:sp>
      <p:sp>
        <p:nvSpPr>
          <p:cNvPr id="50" name="Shape 47"/>
          <p:cNvSpPr/>
          <p:nvPr/>
        </p:nvSpPr>
        <p:spPr>
          <a:xfrm>
            <a:off x="9358884" y="4704588"/>
            <a:ext cx="64008" cy="64008"/>
          </a:xfrm>
          <a:prstGeom prst="ellipse">
            <a:avLst/>
          </a:prstGeom>
          <a:solidFill>
            <a:srgbClr val="FFFFFF"/>
          </a:solidFill>
          <a:ln/>
        </p:spPr>
      </p:sp>
      <p:sp>
        <p:nvSpPr>
          <p:cNvPr id="51" name="Shape 48"/>
          <p:cNvSpPr/>
          <p:nvPr/>
        </p:nvSpPr>
        <p:spPr>
          <a:xfrm>
            <a:off x="9573768" y="4599432"/>
            <a:ext cx="903427" cy="274320"/>
          </a:xfrm>
          <a:prstGeom prst="roundRect">
            <a:avLst>
              <a:gd name="adj" fmla="val 50000"/>
            </a:avLst>
          </a:prstGeom>
          <a:solidFill>
            <a:srgbClr val="FFFFFF"/>
          </a:solidFill>
          <a:ln w="12700">
            <a:solidFill>
              <a:srgbClr val="DDD7CF"/>
            </a:solidFill>
            <a:prstDash val="solid"/>
          </a:ln>
        </p:spPr>
      </p:sp>
      <p:sp>
        <p:nvSpPr>
          <p:cNvPr id="52" name="Text 49"/>
          <p:cNvSpPr txBox="1"/>
          <p:nvPr/>
        </p:nvSpPr>
        <p:spPr>
          <a:xfrm>
            <a:off x="9665208" y="4599432"/>
            <a:ext cx="720547" cy="274320"/>
          </a:xfrm>
          <a:prstGeom prst="rect">
            <a:avLst/>
          </a:prstGeom>
          <a:noFill/>
          <a:ln/>
        </p:spPr>
        <p:txBody>
          <a:bodyPr wrap="square" lIns="0" tIns="0" rIns="0" bIns="0" rtlCol="0" anchor="ctr"/>
          <a:lstStyle/>
          <a:p>
            <a:pPr algn="ctr" indent="0" marL="0">
              <a:lnSpc>
                <a:spcPct val="122000"/>
              </a:lnSpc>
              <a:buNone/>
            </a:pPr>
            <a:r>
              <a:rPr lang="en-US" sz="820" b="1" spc="30" kern="0" dirty="0">
                <a:solidFill>
                  <a:srgbClr val="1A1A1A"/>
                </a:solidFill>
                <a:latin typeface="Calibri" pitchFamily="34" charset="0"/>
                <a:ea typeface="Calibri" pitchFamily="34" charset="-122"/>
                <a:cs typeface="Calibri" pitchFamily="34" charset="-120"/>
              </a:rPr>
              <a:t>Coworking</a:t>
            </a:r>
            <a:endParaRPr lang="en-US" sz="820" dirty="0"/>
          </a:p>
        </p:txBody>
      </p:sp>
      <p:sp>
        <p:nvSpPr>
          <p:cNvPr id="53" name="Text 50"/>
          <p:cNvSpPr txBox="1"/>
          <p:nvPr/>
        </p:nvSpPr>
        <p:spPr>
          <a:xfrm>
            <a:off x="6510528" y="5925312"/>
            <a:ext cx="4654296" cy="201168"/>
          </a:xfrm>
          <a:prstGeom prst="rect">
            <a:avLst/>
          </a:prstGeom>
          <a:noFill/>
          <a:ln/>
        </p:spPr>
        <p:txBody>
          <a:bodyPr wrap="square" lIns="0" tIns="0" rIns="0" bIns="0" rtlCol="0" anchor="ctr"/>
          <a:lstStyle/>
          <a:p>
            <a:pPr algn="l" indent="0" marL="0">
              <a:lnSpc>
                <a:spcPct val="122000"/>
              </a:lnSpc>
              <a:buNone/>
            </a:pPr>
            <a:r>
              <a:rPr lang="en-US" sz="750" b="1" spc="100" kern="0" dirty="0">
                <a:solidFill>
                  <a:srgbClr val="9E958A"/>
                </a:solidFill>
                <a:latin typeface="Calibri" pitchFamily="34" charset="0"/>
                <a:ea typeface="Calibri" pitchFamily="34" charset="-122"/>
                <a:cs typeface="Calibri" pitchFamily="34" charset="-120"/>
              </a:rPr>
              <a:t>ILUSTRASI — GANTI DENGAN SCREEN SHARE GOOGLE MAPS SAAT DEMO</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1481328"/>
            <a:ext cx="4645152" cy="4480560"/>
          </a:xfrm>
          <a:prstGeom prst="roundRect">
            <a:avLst>
              <a:gd name="adj" fmla="val 2857"/>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3" name="Shape 1"/>
          <p:cNvSpPr/>
          <p:nvPr/>
        </p:nvSpPr>
        <p:spPr>
          <a:xfrm>
            <a:off x="822960" y="1481328"/>
            <a:ext cx="4645152" cy="603504"/>
          </a:xfrm>
          <a:prstGeom prst="roundRect">
            <a:avLst>
              <a:gd name="adj" fmla="val 21212"/>
            </a:avLst>
          </a:prstGeom>
          <a:solidFill>
            <a:srgbClr val="EFEBF3"/>
          </a:solidFill>
          <a:ln/>
        </p:spPr>
      </p:sp>
      <p:sp>
        <p:nvSpPr>
          <p:cNvPr id="4" name="Shape 2"/>
          <p:cNvSpPr/>
          <p:nvPr/>
        </p:nvSpPr>
        <p:spPr>
          <a:xfrm>
            <a:off x="822960" y="1892808"/>
            <a:ext cx="4645152" cy="192024"/>
          </a:xfrm>
          <a:prstGeom prst="rect">
            <a:avLst/>
          </a:prstGeom>
          <a:solidFill>
            <a:srgbClr val="EFEBF3"/>
          </a:solidFill>
          <a:ln/>
        </p:spPr>
      </p:sp>
      <p:sp>
        <p:nvSpPr>
          <p:cNvPr id="5" name="Shape 3"/>
          <p:cNvSpPr/>
          <p:nvPr/>
        </p:nvSpPr>
        <p:spPr>
          <a:xfrm>
            <a:off x="822960" y="2084832"/>
            <a:ext cx="4645152" cy="0"/>
          </a:xfrm>
          <a:prstGeom prst="line">
            <a:avLst/>
          </a:prstGeom>
          <a:noFill/>
          <a:ln w="12700">
            <a:solidFill>
              <a:srgbClr val="B5AEC6"/>
            </a:solidFill>
            <a:prstDash val="solid"/>
          </a:ln>
        </p:spPr>
      </p:sp>
      <p:sp>
        <p:nvSpPr>
          <p:cNvPr id="6" name="Shape 4"/>
          <p:cNvSpPr/>
          <p:nvPr/>
        </p:nvSpPr>
        <p:spPr>
          <a:xfrm>
            <a:off x="1051560" y="1636776"/>
            <a:ext cx="292608" cy="292608"/>
          </a:xfrm>
          <a:prstGeom prst="ellipse">
            <a:avLst/>
          </a:prstGeom>
          <a:solidFill>
            <a:srgbClr val="847E96"/>
          </a:solidFill>
          <a:ln/>
        </p:spPr>
      </p:sp>
      <p:pic>
        <p:nvPicPr>
          <p:cNvPr id="7" name="Image 0" descr="C:\Seminar\generator\assets\logos\whatsapp-light.png">    </p:cNvPr>
          <p:cNvPicPr>
            <a:picLocks noChangeAspect="1"/>
          </p:cNvPicPr>
          <p:nvPr/>
        </p:nvPicPr>
        <p:blipFill>
          <a:blip r:embed="rId1"/>
          <a:stretch>
            <a:fillRect/>
          </a:stretch>
        </p:blipFill>
        <p:spPr>
          <a:xfrm>
            <a:off x="4937760" y="1700784"/>
            <a:ext cx="182880" cy="182880"/>
          </a:xfrm>
          <a:prstGeom prst="rect">
            <a:avLst/>
          </a:prstGeom>
        </p:spPr>
      </p:pic>
      <p:sp>
        <p:nvSpPr>
          <p:cNvPr id="8" name="Text 5"/>
          <p:cNvSpPr txBox="1"/>
          <p:nvPr/>
        </p:nvSpPr>
        <p:spPr>
          <a:xfrm>
            <a:off x="1453896" y="1618488"/>
            <a:ext cx="3108960" cy="182880"/>
          </a:xfrm>
          <a:prstGeom prst="rect">
            <a:avLst/>
          </a:prstGeom>
          <a:noFill/>
          <a:ln/>
        </p:spPr>
        <p:txBody>
          <a:bodyPr wrap="square" lIns="0" tIns="0" rIns="0" bIns="0" rtlCol="0" anchor="ctr"/>
          <a:lstStyle/>
          <a:p>
            <a:pPr algn="l" indent="0" marL="0">
              <a:lnSpc>
                <a:spcPct val="122000"/>
              </a:lnSpc>
              <a:buNone/>
            </a:pPr>
            <a:r>
              <a:rPr lang="en-US" sz="1050" b="1" dirty="0">
                <a:solidFill>
                  <a:srgbClr val="1A1A1A"/>
                </a:solidFill>
                <a:latin typeface="Calibri" pitchFamily="34" charset="0"/>
                <a:ea typeface="Calibri" pitchFamily="34" charset="-122"/>
                <a:cs typeface="Calibri" pitchFamily="34" charset="-120"/>
              </a:rPr>
              <a:t>Padel Arena</a:t>
            </a:r>
            <a:endParaRPr lang="en-US" sz="1050" dirty="0"/>
          </a:p>
        </p:txBody>
      </p:sp>
      <p:sp>
        <p:nvSpPr>
          <p:cNvPr id="9" name="Text 6"/>
          <p:cNvSpPr txBox="1"/>
          <p:nvPr/>
        </p:nvSpPr>
        <p:spPr>
          <a:xfrm>
            <a:off x="1453896" y="1801368"/>
            <a:ext cx="3108960" cy="164592"/>
          </a:xfrm>
          <a:prstGeom prst="rect">
            <a:avLst/>
          </a:prstGeom>
          <a:noFill/>
          <a:ln/>
        </p:spPr>
        <p:txBody>
          <a:bodyPr wrap="square" lIns="0" tIns="0" rIns="0" bIns="0" rtlCol="0" anchor="ctr"/>
          <a:lstStyle/>
          <a:p>
            <a:pPr algn="l" indent="0" marL="0">
              <a:lnSpc>
                <a:spcPct val="122000"/>
              </a:lnSpc>
              <a:buNone/>
            </a:pPr>
            <a:r>
              <a:rPr lang="en-US" sz="800" dirty="0">
                <a:solidFill>
                  <a:srgbClr val="5F5F5F"/>
                </a:solidFill>
                <a:latin typeface="Calibri" pitchFamily="34" charset="0"/>
                <a:ea typeface="Calibri" pitchFamily="34" charset="-122"/>
                <a:cs typeface="Calibri" pitchFamily="34" charset="-120"/>
              </a:rPr>
              <a:t>admin  ·  online</a:t>
            </a:r>
            <a:endParaRPr lang="en-US" sz="800" dirty="0"/>
          </a:p>
        </p:txBody>
      </p:sp>
      <p:sp>
        <p:nvSpPr>
          <p:cNvPr id="10" name="Shape 7"/>
          <p:cNvSpPr/>
          <p:nvPr/>
        </p:nvSpPr>
        <p:spPr>
          <a:xfrm>
            <a:off x="1051560" y="2267712"/>
            <a:ext cx="3246120" cy="585216"/>
          </a:xfrm>
          <a:prstGeom prst="roundRect">
            <a:avLst>
              <a:gd name="adj" fmla="val 15625"/>
            </a:avLst>
          </a:prstGeom>
          <a:solidFill>
            <a:srgbClr val="F8F4EF"/>
          </a:solidFill>
          <a:ln w="12700">
            <a:solidFill>
              <a:srgbClr val="DDD7CF"/>
            </a:solidFill>
            <a:prstDash val="solid"/>
          </a:ln>
        </p:spPr>
      </p:sp>
      <p:sp>
        <p:nvSpPr>
          <p:cNvPr id="11" name="Text 8"/>
          <p:cNvSpPr txBox="1"/>
          <p:nvPr/>
        </p:nvSpPr>
        <p:spPr>
          <a:xfrm>
            <a:off x="1197864" y="2267712"/>
            <a:ext cx="2953512" cy="585216"/>
          </a:xfrm>
          <a:prstGeom prst="rect">
            <a:avLst/>
          </a:prstGeom>
          <a:noFill/>
          <a:ln/>
        </p:spPr>
        <p:txBody>
          <a:bodyPr wrap="square" lIns="0" tIns="0" rIns="0" bIns="0" rtlCol="0" anchor="ctr"/>
          <a:lstStyle/>
          <a:p>
            <a:pPr algn="l" indent="0" marL="0">
              <a:lnSpc>
                <a:spcPct val="135000"/>
              </a:lnSpc>
              <a:buNone/>
            </a:pPr>
            <a:r>
              <a:rPr lang="en-US" sz="950" dirty="0">
                <a:solidFill>
                  <a:srgbClr val="1A1A1A"/>
                </a:solidFill>
                <a:latin typeface="Calibri" pitchFamily="34" charset="0"/>
                <a:ea typeface="Calibri" pitchFamily="34" charset="-122"/>
                <a:cs typeface="Calibri" pitchFamily="34" charset="-120"/>
              </a:rPr>
              <a:t>Bang, lapangan 1 besok jam 7 malam masih kosong?</a:t>
            </a:r>
            <a:endParaRPr lang="en-US" sz="950" dirty="0"/>
          </a:p>
        </p:txBody>
      </p:sp>
      <p:sp>
        <p:nvSpPr>
          <p:cNvPr id="12" name="Shape 9"/>
          <p:cNvSpPr/>
          <p:nvPr/>
        </p:nvSpPr>
        <p:spPr>
          <a:xfrm>
            <a:off x="1993392" y="2980944"/>
            <a:ext cx="3246120" cy="585216"/>
          </a:xfrm>
          <a:prstGeom prst="roundRect">
            <a:avLst>
              <a:gd name="adj" fmla="val 15625"/>
            </a:avLst>
          </a:prstGeom>
          <a:solidFill>
            <a:srgbClr val="EFEBF3"/>
          </a:solidFill>
          <a:ln w="12700">
            <a:solidFill>
              <a:srgbClr val="B5AEC6"/>
            </a:solidFill>
            <a:prstDash val="solid"/>
          </a:ln>
        </p:spPr>
      </p:sp>
      <p:sp>
        <p:nvSpPr>
          <p:cNvPr id="13" name="Text 10"/>
          <p:cNvSpPr txBox="1"/>
          <p:nvPr/>
        </p:nvSpPr>
        <p:spPr>
          <a:xfrm>
            <a:off x="2139696" y="2980944"/>
            <a:ext cx="2953512" cy="585216"/>
          </a:xfrm>
          <a:prstGeom prst="rect">
            <a:avLst/>
          </a:prstGeom>
          <a:noFill/>
          <a:ln/>
        </p:spPr>
        <p:txBody>
          <a:bodyPr wrap="square" lIns="0" tIns="0" rIns="0" bIns="0" rtlCol="0" anchor="ctr"/>
          <a:lstStyle/>
          <a:p>
            <a:pPr algn="l" indent="0" marL="0">
              <a:lnSpc>
                <a:spcPct val="135000"/>
              </a:lnSpc>
              <a:buNone/>
            </a:pPr>
            <a:r>
              <a:rPr lang="en-US" sz="950" dirty="0">
                <a:solidFill>
                  <a:srgbClr val="1A1A1A"/>
                </a:solidFill>
                <a:latin typeface="Calibri" pitchFamily="34" charset="0"/>
                <a:ea typeface="Calibri" pitchFamily="34" charset="-122"/>
                <a:cs typeface="Calibri" pitchFamily="34" charset="-120"/>
              </a:rPr>
              <a:t>Sebentar ya, saya cek buku dulu</a:t>
            </a:r>
            <a:endParaRPr lang="en-US" sz="950" dirty="0"/>
          </a:p>
        </p:txBody>
      </p:sp>
      <p:sp>
        <p:nvSpPr>
          <p:cNvPr id="14" name="Shape 11"/>
          <p:cNvSpPr/>
          <p:nvPr/>
        </p:nvSpPr>
        <p:spPr>
          <a:xfrm>
            <a:off x="1051560" y="3694176"/>
            <a:ext cx="3246120" cy="585216"/>
          </a:xfrm>
          <a:prstGeom prst="roundRect">
            <a:avLst>
              <a:gd name="adj" fmla="val 15625"/>
            </a:avLst>
          </a:prstGeom>
          <a:solidFill>
            <a:srgbClr val="F8F4EF"/>
          </a:solidFill>
          <a:ln w="12700">
            <a:solidFill>
              <a:srgbClr val="DDD7CF"/>
            </a:solidFill>
            <a:prstDash val="solid"/>
          </a:ln>
        </p:spPr>
      </p:sp>
      <p:sp>
        <p:nvSpPr>
          <p:cNvPr id="15" name="Text 12"/>
          <p:cNvSpPr txBox="1"/>
          <p:nvPr/>
        </p:nvSpPr>
        <p:spPr>
          <a:xfrm>
            <a:off x="1197864" y="3694176"/>
            <a:ext cx="2953512" cy="585216"/>
          </a:xfrm>
          <a:prstGeom prst="rect">
            <a:avLst/>
          </a:prstGeom>
          <a:noFill/>
          <a:ln/>
        </p:spPr>
        <p:txBody>
          <a:bodyPr wrap="square" lIns="0" tIns="0" rIns="0" bIns="0" rtlCol="0" anchor="ctr"/>
          <a:lstStyle/>
          <a:p>
            <a:pPr algn="l" indent="0" marL="0">
              <a:lnSpc>
                <a:spcPct val="135000"/>
              </a:lnSpc>
              <a:buNone/>
            </a:pPr>
            <a:r>
              <a:rPr lang="en-US" sz="950" dirty="0">
                <a:solidFill>
                  <a:srgbClr val="1A1A1A"/>
                </a:solidFill>
                <a:latin typeface="Calibri" pitchFamily="34" charset="0"/>
                <a:ea typeface="Calibri" pitchFamily="34" charset="-122"/>
                <a:cs typeface="Calibri" pitchFamily="34" charset="-120"/>
              </a:rPr>
              <a:t>Saya juga mau jam 7 bang, buat 4 orang</a:t>
            </a:r>
            <a:endParaRPr lang="en-US" sz="950" dirty="0"/>
          </a:p>
        </p:txBody>
      </p:sp>
      <p:sp>
        <p:nvSpPr>
          <p:cNvPr id="16" name="Shape 13"/>
          <p:cNvSpPr/>
          <p:nvPr/>
        </p:nvSpPr>
        <p:spPr>
          <a:xfrm>
            <a:off x="1993392" y="4407408"/>
            <a:ext cx="3246120" cy="585216"/>
          </a:xfrm>
          <a:prstGeom prst="roundRect">
            <a:avLst>
              <a:gd name="adj" fmla="val 15625"/>
            </a:avLst>
          </a:prstGeom>
          <a:solidFill>
            <a:srgbClr val="EFEBF3"/>
          </a:solidFill>
          <a:ln w="12700">
            <a:solidFill>
              <a:srgbClr val="B5AEC6"/>
            </a:solidFill>
            <a:prstDash val="solid"/>
          </a:ln>
        </p:spPr>
      </p:sp>
      <p:sp>
        <p:nvSpPr>
          <p:cNvPr id="17" name="Text 14"/>
          <p:cNvSpPr txBox="1"/>
          <p:nvPr/>
        </p:nvSpPr>
        <p:spPr>
          <a:xfrm>
            <a:off x="2139696" y="4407408"/>
            <a:ext cx="2953512" cy="585216"/>
          </a:xfrm>
          <a:prstGeom prst="rect">
            <a:avLst/>
          </a:prstGeom>
          <a:noFill/>
          <a:ln/>
        </p:spPr>
        <p:txBody>
          <a:bodyPr wrap="square" lIns="0" tIns="0" rIns="0" bIns="0" rtlCol="0" anchor="ctr"/>
          <a:lstStyle/>
          <a:p>
            <a:pPr algn="l" indent="0" marL="0">
              <a:lnSpc>
                <a:spcPct val="135000"/>
              </a:lnSpc>
              <a:buNone/>
            </a:pPr>
            <a:r>
              <a:rPr lang="en-US" sz="950" dirty="0">
                <a:solidFill>
                  <a:srgbClr val="1A1A1A"/>
                </a:solidFill>
                <a:latin typeface="Calibri" pitchFamily="34" charset="0"/>
                <a:ea typeface="Calibri" pitchFamily="34" charset="-122"/>
                <a:cs typeface="Calibri" pitchFamily="34" charset="-120"/>
              </a:rPr>
              <a:t>Waduh bentrok, tadi sudah ada yang ambil jam itu</a:t>
            </a:r>
            <a:endParaRPr lang="en-US" sz="950" dirty="0"/>
          </a:p>
        </p:txBody>
      </p:sp>
      <p:sp>
        <p:nvSpPr>
          <p:cNvPr id="18" name="Shape 15"/>
          <p:cNvSpPr/>
          <p:nvPr/>
        </p:nvSpPr>
        <p:spPr>
          <a:xfrm>
            <a:off x="1051560" y="5120640"/>
            <a:ext cx="3246120" cy="585216"/>
          </a:xfrm>
          <a:prstGeom prst="roundRect">
            <a:avLst>
              <a:gd name="adj" fmla="val 15625"/>
            </a:avLst>
          </a:prstGeom>
          <a:solidFill>
            <a:srgbClr val="F8F4EF"/>
          </a:solidFill>
          <a:ln w="12700">
            <a:solidFill>
              <a:srgbClr val="DDD7CF"/>
            </a:solidFill>
            <a:prstDash val="solid"/>
          </a:ln>
        </p:spPr>
      </p:sp>
      <p:sp>
        <p:nvSpPr>
          <p:cNvPr id="19" name="Text 16"/>
          <p:cNvSpPr txBox="1"/>
          <p:nvPr/>
        </p:nvSpPr>
        <p:spPr>
          <a:xfrm>
            <a:off x="1197864" y="5120640"/>
            <a:ext cx="2953512" cy="585216"/>
          </a:xfrm>
          <a:prstGeom prst="rect">
            <a:avLst/>
          </a:prstGeom>
          <a:noFill/>
          <a:ln/>
        </p:spPr>
        <p:txBody>
          <a:bodyPr wrap="square" lIns="0" tIns="0" rIns="0" bIns="0" rtlCol="0" anchor="ctr"/>
          <a:lstStyle/>
          <a:p>
            <a:pPr algn="l" indent="0" marL="0">
              <a:lnSpc>
                <a:spcPct val="135000"/>
              </a:lnSpc>
              <a:buNone/>
            </a:pPr>
            <a:r>
              <a:rPr lang="en-US" sz="950" dirty="0">
                <a:solidFill>
                  <a:srgbClr val="1A1A1A"/>
                </a:solidFill>
                <a:latin typeface="Calibri" pitchFamily="34" charset="0"/>
                <a:ea typeface="Calibri" pitchFamily="34" charset="-122"/>
                <a:cs typeface="Calibri" pitchFamily="34" charset="-120"/>
              </a:rPr>
              <a:t>Yang minggu lalu saya booking jadinya kapan ya?</a:t>
            </a:r>
            <a:endParaRPr lang="en-US" sz="950" dirty="0"/>
          </a:p>
        </p:txBody>
      </p:sp>
      <p:sp>
        <p:nvSpPr>
          <p:cNvPr id="20" name="Text 17"/>
          <p:cNvSpPr txBox="1"/>
          <p:nvPr/>
        </p:nvSpPr>
        <p:spPr>
          <a:xfrm>
            <a:off x="822960" y="6053328"/>
            <a:ext cx="4645152" cy="219456"/>
          </a:xfrm>
          <a:prstGeom prst="rect">
            <a:avLst/>
          </a:prstGeom>
          <a:noFill/>
          <a:ln/>
        </p:spPr>
        <p:txBody>
          <a:bodyPr wrap="square" lIns="0" tIns="0" rIns="0" bIns="0" rtlCol="0" anchor="ctr"/>
          <a:lstStyle/>
          <a:p>
            <a:pPr algn="ctr" indent="0" marL="0">
              <a:lnSpc>
                <a:spcPct val="122000"/>
              </a:lnSpc>
              <a:buNone/>
            </a:pPr>
            <a:r>
              <a:rPr lang="en-US" sz="950" i="1" dirty="0">
                <a:solidFill>
                  <a:srgbClr val="5F5F5F"/>
                </a:solidFill>
                <a:latin typeface="Calibri" pitchFamily="34" charset="0"/>
                <a:ea typeface="Calibri" pitchFamily="34" charset="-122"/>
                <a:cs typeface="Calibri" pitchFamily="34" charset="-120"/>
              </a:rPr>
              <a:t>Masalahnya hidup di chat, bukan di sistem.</a:t>
            </a:r>
            <a:endParaRPr lang="en-US" sz="950" dirty="0"/>
          </a:p>
        </p:txBody>
      </p:sp>
      <p:sp>
        <p:nvSpPr>
          <p:cNvPr id="21" name="Text 18"/>
          <p:cNvSpPr txBox="1"/>
          <p:nvPr/>
        </p:nvSpPr>
        <p:spPr>
          <a:xfrm>
            <a:off x="5989320" y="1481328"/>
            <a:ext cx="5486400" cy="219456"/>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03  ·  BUSINESS DISCOVERY</a:t>
            </a:r>
            <a:endParaRPr lang="en-US" sz="850" dirty="0"/>
          </a:p>
        </p:txBody>
      </p:sp>
      <p:sp>
        <p:nvSpPr>
          <p:cNvPr id="22" name="Text 19"/>
          <p:cNvSpPr txBox="1"/>
          <p:nvPr/>
        </p:nvSpPr>
        <p:spPr>
          <a:xfrm>
            <a:off x="5989320" y="1883664"/>
            <a:ext cx="5394960" cy="1097280"/>
          </a:xfrm>
          <a:prstGeom prst="rect">
            <a:avLst/>
          </a:prstGeom>
          <a:noFill/>
          <a:ln/>
        </p:spPr>
        <p:txBody>
          <a:bodyPr wrap="square" lIns="0" tIns="0" rIns="0" bIns="0" rtlCol="0" anchor="t"/>
          <a:lstStyle/>
          <a:p>
            <a:pPr algn="l" indent="0" marL="0">
              <a:lnSpc>
                <a:spcPct val="112000"/>
              </a:lnSpc>
              <a:buNone/>
            </a:pPr>
            <a:r>
              <a:rPr lang="en-US" sz="4200" b="1" dirty="0">
                <a:solidFill>
                  <a:srgbClr val="1A1A1A"/>
                </a:solidFill>
                <a:latin typeface="Calibri" pitchFamily="34" charset="0"/>
                <a:ea typeface="Calibri" pitchFamily="34" charset="-122"/>
                <a:cs typeface="Calibri" pitchFamily="34" charset="-120"/>
              </a:rPr>
              <a:t>Studi kasus:</a:t>
            </a:r>
            <a:endParaRPr lang="en-US" sz="4200" dirty="0"/>
          </a:p>
          <a:p>
            <a:pPr algn="l" indent="0" marL="0">
              <a:lnSpc>
                <a:spcPct val="112000"/>
              </a:lnSpc>
              <a:buNone/>
            </a:pPr>
            <a:r>
              <a:rPr lang="en-US" sz="4200" b="1" dirty="0">
                <a:solidFill>
                  <a:srgbClr val="1A1A1A"/>
                </a:solidFill>
                <a:latin typeface="Calibri" pitchFamily="34" charset="0"/>
                <a:ea typeface="Calibri" pitchFamily="34" charset="-122"/>
                <a:cs typeface="Calibri" pitchFamily="34" charset="-120"/>
              </a:rPr>
              <a:t>Padel Court</a:t>
            </a:r>
            <a:endParaRPr lang="en-US" sz="4200" dirty="0"/>
          </a:p>
        </p:txBody>
      </p:sp>
      <p:sp>
        <p:nvSpPr>
          <p:cNvPr id="23" name="Text 20"/>
          <p:cNvSpPr txBox="1"/>
          <p:nvPr/>
        </p:nvSpPr>
        <p:spPr>
          <a:xfrm>
            <a:off x="5989320" y="3127248"/>
            <a:ext cx="5303520" cy="548640"/>
          </a:xfrm>
          <a:prstGeom prst="rect">
            <a:avLst/>
          </a:prstGeom>
          <a:noFill/>
          <a:ln/>
        </p:spPr>
        <p:txBody>
          <a:bodyPr wrap="square" lIns="0" tIns="0" rIns="0" bIns="0" rtlCol="0" anchor="t"/>
          <a:lstStyle/>
          <a:p>
            <a:pPr algn="l" indent="0" marL="0">
              <a:lnSpc>
                <a:spcPct val="150000"/>
              </a:lnSpc>
              <a:buNone/>
            </a:pPr>
            <a:r>
              <a:rPr lang="en-US" sz="1550" dirty="0">
                <a:solidFill>
                  <a:srgbClr val="5F5F5F"/>
                </a:solidFill>
                <a:latin typeface="Calibri" pitchFamily="34" charset="0"/>
                <a:ea typeface="Calibri" pitchFamily="34" charset="-122"/>
                <a:cs typeface="Calibri" pitchFamily="34" charset="-120"/>
              </a:rPr>
              <a:t>Satu bisnis nyata yang akan kita bawa sampai production sore ini.</a:t>
            </a:r>
            <a:endParaRPr lang="en-US" sz="1550" dirty="0"/>
          </a:p>
        </p:txBody>
      </p:sp>
      <p:sp>
        <p:nvSpPr>
          <p:cNvPr id="24" name="Shape 21"/>
          <p:cNvSpPr/>
          <p:nvPr/>
        </p:nvSpPr>
        <p:spPr>
          <a:xfrm>
            <a:off x="5989320" y="3877056"/>
            <a:ext cx="5376672" cy="0"/>
          </a:xfrm>
          <a:prstGeom prst="line">
            <a:avLst/>
          </a:prstGeom>
          <a:noFill/>
          <a:ln w="12700">
            <a:solidFill>
              <a:srgbClr val="DDD7CF"/>
            </a:solidFill>
            <a:prstDash val="solid"/>
          </a:ln>
        </p:spPr>
      </p:sp>
      <p:sp>
        <p:nvSpPr>
          <p:cNvPr id="25" name="Text 22"/>
          <p:cNvSpPr txBox="1"/>
          <p:nvPr/>
        </p:nvSpPr>
        <p:spPr>
          <a:xfrm>
            <a:off x="5989320" y="4023360"/>
            <a:ext cx="1737360" cy="219456"/>
          </a:xfrm>
          <a:prstGeom prst="rect">
            <a:avLst/>
          </a:prstGeom>
          <a:noFill/>
          <a:ln/>
        </p:spPr>
        <p:txBody>
          <a:bodyPr wrap="square" lIns="0" tIns="0" rIns="0" bIns="0" rtlCol="0" anchor="ctr"/>
          <a:lstStyle/>
          <a:p>
            <a:pPr algn="l" indent="0" marL="0">
              <a:lnSpc>
                <a:spcPct val="122000"/>
              </a:lnSpc>
              <a:buNone/>
            </a:pPr>
            <a:r>
              <a:rPr lang="en-US" sz="820" b="1" spc="110" kern="0" dirty="0">
                <a:solidFill>
                  <a:srgbClr val="847E96"/>
                </a:solidFill>
                <a:latin typeface="Calibri" pitchFamily="34" charset="0"/>
                <a:ea typeface="Calibri" pitchFamily="34" charset="-122"/>
                <a:cs typeface="Calibri" pitchFamily="34" charset="-120"/>
              </a:rPr>
              <a:t>BISNIS</a:t>
            </a:r>
            <a:endParaRPr lang="en-US" sz="820" dirty="0"/>
          </a:p>
        </p:txBody>
      </p:sp>
      <p:sp>
        <p:nvSpPr>
          <p:cNvPr id="26" name="Text 23"/>
          <p:cNvSpPr txBox="1"/>
          <p:nvPr/>
        </p:nvSpPr>
        <p:spPr>
          <a:xfrm>
            <a:off x="7818120" y="4023360"/>
            <a:ext cx="3547872" cy="219456"/>
          </a:xfrm>
          <a:prstGeom prst="rect">
            <a:avLst/>
          </a:prstGeom>
          <a:noFill/>
          <a:ln/>
        </p:spPr>
        <p:txBody>
          <a:bodyPr wrap="square" lIns="0" tIns="0" rIns="0" bIns="0" rtlCol="0" anchor="ctr"/>
          <a:lstStyle/>
          <a:p>
            <a:pPr algn="l" indent="0" marL="0">
              <a:lnSpc>
                <a:spcPct val="122000"/>
              </a:lnSpc>
              <a:buNone/>
            </a:pPr>
            <a:r>
              <a:rPr lang="en-US" sz="1050" dirty="0">
                <a:solidFill>
                  <a:srgbClr val="1A1A1A"/>
                </a:solidFill>
                <a:latin typeface="Calibri" pitchFamily="34" charset="0"/>
                <a:ea typeface="Calibri" pitchFamily="34" charset="-122"/>
                <a:cs typeface="Calibri" pitchFamily="34" charset="-120"/>
              </a:rPr>
              <a:t>Padel Arena — penyewaan lapangan per jam</a:t>
            </a:r>
            <a:endParaRPr lang="en-US" sz="1050" dirty="0"/>
          </a:p>
        </p:txBody>
      </p:sp>
      <p:sp>
        <p:nvSpPr>
          <p:cNvPr id="27" name="Shape 24"/>
          <p:cNvSpPr/>
          <p:nvPr/>
        </p:nvSpPr>
        <p:spPr>
          <a:xfrm>
            <a:off x="5989320" y="4443984"/>
            <a:ext cx="5376672" cy="0"/>
          </a:xfrm>
          <a:prstGeom prst="line">
            <a:avLst/>
          </a:prstGeom>
          <a:noFill/>
          <a:ln w="12700">
            <a:solidFill>
              <a:srgbClr val="DDD7CF"/>
            </a:solidFill>
            <a:prstDash val="solid"/>
          </a:ln>
        </p:spPr>
      </p:sp>
      <p:sp>
        <p:nvSpPr>
          <p:cNvPr id="28" name="Text 25"/>
          <p:cNvSpPr txBox="1"/>
          <p:nvPr/>
        </p:nvSpPr>
        <p:spPr>
          <a:xfrm>
            <a:off x="5989320" y="4590288"/>
            <a:ext cx="1737360" cy="219456"/>
          </a:xfrm>
          <a:prstGeom prst="rect">
            <a:avLst/>
          </a:prstGeom>
          <a:noFill/>
          <a:ln/>
        </p:spPr>
        <p:txBody>
          <a:bodyPr wrap="square" lIns="0" tIns="0" rIns="0" bIns="0" rtlCol="0" anchor="ctr"/>
          <a:lstStyle/>
          <a:p>
            <a:pPr algn="l" indent="0" marL="0">
              <a:lnSpc>
                <a:spcPct val="122000"/>
              </a:lnSpc>
              <a:buNone/>
            </a:pPr>
            <a:r>
              <a:rPr lang="en-US" sz="820" b="1" spc="110" kern="0" dirty="0">
                <a:solidFill>
                  <a:srgbClr val="847E96"/>
                </a:solidFill>
                <a:latin typeface="Calibri" pitchFamily="34" charset="0"/>
                <a:ea typeface="Calibri" pitchFamily="34" charset="-122"/>
                <a:cs typeface="Calibri" pitchFamily="34" charset="-120"/>
              </a:rPr>
              <a:t>PELANGGAN</a:t>
            </a:r>
            <a:endParaRPr lang="en-US" sz="820" dirty="0"/>
          </a:p>
        </p:txBody>
      </p:sp>
      <p:sp>
        <p:nvSpPr>
          <p:cNvPr id="29" name="Text 26"/>
          <p:cNvSpPr txBox="1"/>
          <p:nvPr/>
        </p:nvSpPr>
        <p:spPr>
          <a:xfrm>
            <a:off x="7818120" y="4590288"/>
            <a:ext cx="3547872" cy="219456"/>
          </a:xfrm>
          <a:prstGeom prst="rect">
            <a:avLst/>
          </a:prstGeom>
          <a:noFill/>
          <a:ln/>
        </p:spPr>
        <p:txBody>
          <a:bodyPr wrap="square" lIns="0" tIns="0" rIns="0" bIns="0" rtlCol="0" anchor="ctr"/>
          <a:lstStyle/>
          <a:p>
            <a:pPr algn="l" indent="0" marL="0">
              <a:lnSpc>
                <a:spcPct val="122000"/>
              </a:lnSpc>
              <a:buNone/>
            </a:pPr>
            <a:r>
              <a:rPr lang="en-US" sz="1050" dirty="0">
                <a:solidFill>
                  <a:srgbClr val="1A1A1A"/>
                </a:solidFill>
                <a:latin typeface="Calibri" pitchFamily="34" charset="0"/>
                <a:ea typeface="Calibri" pitchFamily="34" charset="-122"/>
                <a:cs typeface="Calibri" pitchFamily="34" charset="-120"/>
              </a:rPr>
              <a:t>Komunitas dan pemain casual, ramai sore dan malam</a:t>
            </a:r>
            <a:endParaRPr lang="en-US" sz="1050" dirty="0"/>
          </a:p>
        </p:txBody>
      </p:sp>
      <p:sp>
        <p:nvSpPr>
          <p:cNvPr id="30" name="Shape 27"/>
          <p:cNvSpPr/>
          <p:nvPr/>
        </p:nvSpPr>
        <p:spPr>
          <a:xfrm>
            <a:off x="5989320" y="5010912"/>
            <a:ext cx="5376672" cy="0"/>
          </a:xfrm>
          <a:prstGeom prst="line">
            <a:avLst/>
          </a:prstGeom>
          <a:noFill/>
          <a:ln w="12700">
            <a:solidFill>
              <a:srgbClr val="DDD7CF"/>
            </a:solidFill>
            <a:prstDash val="solid"/>
          </a:ln>
        </p:spPr>
      </p:sp>
      <p:sp>
        <p:nvSpPr>
          <p:cNvPr id="31" name="Text 28"/>
          <p:cNvSpPr txBox="1"/>
          <p:nvPr/>
        </p:nvSpPr>
        <p:spPr>
          <a:xfrm>
            <a:off x="5989320" y="5157216"/>
            <a:ext cx="1737360" cy="219456"/>
          </a:xfrm>
          <a:prstGeom prst="rect">
            <a:avLst/>
          </a:prstGeom>
          <a:noFill/>
          <a:ln/>
        </p:spPr>
        <p:txBody>
          <a:bodyPr wrap="square" lIns="0" tIns="0" rIns="0" bIns="0" rtlCol="0" anchor="ctr"/>
          <a:lstStyle/>
          <a:p>
            <a:pPr algn="l" indent="0" marL="0">
              <a:lnSpc>
                <a:spcPct val="122000"/>
              </a:lnSpc>
              <a:buNone/>
            </a:pPr>
            <a:r>
              <a:rPr lang="en-US" sz="820" b="1" spc="110" kern="0" dirty="0">
                <a:solidFill>
                  <a:srgbClr val="847E96"/>
                </a:solidFill>
                <a:latin typeface="Calibri" pitchFamily="34" charset="0"/>
                <a:ea typeface="Calibri" pitchFamily="34" charset="-122"/>
                <a:cs typeface="Calibri" pitchFamily="34" charset="-120"/>
              </a:rPr>
              <a:t>BOOKING HARI INI</a:t>
            </a:r>
            <a:endParaRPr lang="en-US" sz="820" dirty="0"/>
          </a:p>
        </p:txBody>
      </p:sp>
      <p:sp>
        <p:nvSpPr>
          <p:cNvPr id="32" name="Text 29"/>
          <p:cNvSpPr txBox="1"/>
          <p:nvPr/>
        </p:nvSpPr>
        <p:spPr>
          <a:xfrm>
            <a:off x="7818120" y="5157216"/>
            <a:ext cx="3547872" cy="219456"/>
          </a:xfrm>
          <a:prstGeom prst="rect">
            <a:avLst/>
          </a:prstGeom>
          <a:noFill/>
          <a:ln/>
        </p:spPr>
        <p:txBody>
          <a:bodyPr wrap="square" lIns="0" tIns="0" rIns="0" bIns="0" rtlCol="0" anchor="ctr"/>
          <a:lstStyle/>
          <a:p>
            <a:pPr algn="l" indent="0" marL="0">
              <a:lnSpc>
                <a:spcPct val="122000"/>
              </a:lnSpc>
              <a:buNone/>
            </a:pPr>
            <a:r>
              <a:rPr lang="en-US" sz="1050" dirty="0">
                <a:solidFill>
                  <a:srgbClr val="1A1A1A"/>
                </a:solidFill>
                <a:latin typeface="Calibri" pitchFamily="34" charset="0"/>
                <a:ea typeface="Calibri" pitchFamily="34" charset="-122"/>
                <a:cs typeface="Calibri" pitchFamily="34" charset="-120"/>
              </a:rPr>
              <a:t>Chat WhatsApp ke admin, dicatat manual di buku</a:t>
            </a:r>
            <a:endParaRPr lang="en-US" sz="1050" dirty="0"/>
          </a:p>
        </p:txBody>
      </p:sp>
      <p:sp>
        <p:nvSpPr>
          <p:cNvPr id="33" name="Shape 30"/>
          <p:cNvSpPr/>
          <p:nvPr/>
        </p:nvSpPr>
        <p:spPr>
          <a:xfrm>
            <a:off x="5989320" y="5705856"/>
            <a:ext cx="5376672" cy="457200"/>
          </a:xfrm>
          <a:prstGeom prst="roundRect">
            <a:avLst>
              <a:gd name="adj" fmla="val 20000"/>
            </a:avLst>
          </a:prstGeom>
          <a:solidFill>
            <a:srgbClr val="EFEBF3"/>
          </a:solidFill>
          <a:ln/>
        </p:spPr>
      </p:sp>
      <p:sp>
        <p:nvSpPr>
          <p:cNvPr id="34" name="Text 31"/>
          <p:cNvSpPr txBox="1"/>
          <p:nvPr/>
        </p:nvSpPr>
        <p:spPr>
          <a:xfrm>
            <a:off x="6208776" y="5705856"/>
            <a:ext cx="4937760" cy="457200"/>
          </a:xfrm>
          <a:prstGeom prst="rect">
            <a:avLst/>
          </a:prstGeom>
          <a:noFill/>
          <a:ln/>
        </p:spPr>
        <p:txBody>
          <a:bodyPr wrap="square" lIns="0" tIns="0" rIns="0" bIns="0" rtlCol="0" anchor="ctr"/>
          <a:lstStyle/>
          <a:p>
            <a:pPr algn="l" indent="0" marL="0">
              <a:lnSpc>
                <a:spcPct val="122000"/>
              </a:lnSpc>
              <a:buNone/>
            </a:pPr>
            <a:r>
              <a:rPr lang="en-US" sz="1050" i="1" dirty="0">
                <a:solidFill>
                  <a:srgbClr val="635C77"/>
                </a:solidFill>
                <a:latin typeface="Calibri" pitchFamily="34" charset="0"/>
                <a:ea typeface="Calibri" pitchFamily="34" charset="-122"/>
                <a:cs typeface="Calibri" pitchFamily="34" charset="-120"/>
              </a:rPr>
              <a:t>Cukup kecil untuk jadi MVP, cukup nyata untuk dipakai orang.</a:t>
            </a:r>
            <a:endParaRPr lang="en-US" sz="1050" dirty="0"/>
          </a:p>
        </p:txBody>
      </p:sp>
      <p:sp>
        <p:nvSpPr>
          <p:cNvPr id="35" name="Text 3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36" name="Text 33"/>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03  ·  BUSINESS DISCOVERY</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Merumuskan Problem Statement</a:t>
            </a:r>
            <a:endParaRPr lang="en-US" sz="3400" dirty="0"/>
          </a:p>
        </p:txBody>
      </p:sp>
      <p:sp>
        <p:nvSpPr>
          <p:cNvPr id="5" name="Text 3"/>
          <p:cNvSpPr txBox="1"/>
          <p:nvPr/>
        </p:nvSpPr>
        <p:spPr>
          <a:xfrm>
            <a:off x="822960" y="1536192"/>
            <a:ext cx="658368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Calibri" pitchFamily="34" charset="0"/>
                <a:ea typeface="Calibri" pitchFamily="34" charset="-122"/>
                <a:cs typeface="Calibri" pitchFamily="34" charset="-120"/>
              </a:rPr>
              <a:t>Kumpulkan gejalanya dulu, baru rumuskan masalahnya dalam satu paragraf yang bisa diuji.</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13</a:t>
            </a:r>
            <a:endParaRPr lang="en-US" sz="800" dirty="0"/>
          </a:p>
        </p:txBody>
      </p:sp>
      <p:sp>
        <p:nvSpPr>
          <p:cNvPr id="8" name="Shape 6"/>
          <p:cNvSpPr/>
          <p:nvPr/>
        </p:nvSpPr>
        <p:spPr>
          <a:xfrm>
            <a:off x="822960" y="2304288"/>
            <a:ext cx="5943600" cy="0"/>
          </a:xfrm>
          <a:prstGeom prst="line">
            <a:avLst/>
          </a:prstGeom>
          <a:noFill/>
          <a:ln w="12700">
            <a:solidFill>
              <a:srgbClr val="DDD7CF"/>
            </a:solidFill>
            <a:prstDash val="solid"/>
          </a:ln>
        </p:spPr>
      </p:sp>
      <p:sp>
        <p:nvSpPr>
          <p:cNvPr id="9" name="Text 7"/>
          <p:cNvSpPr txBox="1"/>
          <p:nvPr/>
        </p:nvSpPr>
        <p:spPr>
          <a:xfrm>
            <a:off x="822960" y="246888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01</a:t>
            </a:r>
            <a:endParaRPr lang="en-US" sz="850" dirty="0"/>
          </a:p>
        </p:txBody>
      </p:sp>
      <p:sp>
        <p:nvSpPr>
          <p:cNvPr id="10" name="Text 8"/>
          <p:cNvSpPr txBox="1"/>
          <p:nvPr/>
        </p:nvSpPr>
        <p:spPr>
          <a:xfrm>
            <a:off x="1371600" y="2468880"/>
            <a:ext cx="5394960" cy="237744"/>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Booking hanya lewat WhatsApp</a:t>
            </a:r>
            <a:endParaRPr lang="en-US" sz="1550" dirty="0"/>
          </a:p>
        </p:txBody>
      </p:sp>
      <p:sp>
        <p:nvSpPr>
          <p:cNvPr id="11" name="Text 9"/>
          <p:cNvSpPr txBox="1"/>
          <p:nvPr/>
        </p:nvSpPr>
        <p:spPr>
          <a:xfrm>
            <a:off x="1371600" y="2761488"/>
            <a:ext cx="530352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Tidak ada antrean, tidak ada bukti, semua bergantung admin.</a:t>
            </a:r>
            <a:endParaRPr lang="en-US" sz="1050" dirty="0"/>
          </a:p>
        </p:txBody>
      </p:sp>
      <p:sp>
        <p:nvSpPr>
          <p:cNvPr id="12" name="Shape 10"/>
          <p:cNvSpPr/>
          <p:nvPr/>
        </p:nvSpPr>
        <p:spPr>
          <a:xfrm>
            <a:off x="822960" y="3035808"/>
            <a:ext cx="5943600" cy="0"/>
          </a:xfrm>
          <a:prstGeom prst="line">
            <a:avLst/>
          </a:prstGeom>
          <a:noFill/>
          <a:ln w="12700">
            <a:solidFill>
              <a:srgbClr val="DDD7CF"/>
            </a:solidFill>
            <a:prstDash val="solid"/>
          </a:ln>
        </p:spPr>
      </p:sp>
      <p:sp>
        <p:nvSpPr>
          <p:cNvPr id="13" name="Text 11"/>
          <p:cNvSpPr txBox="1"/>
          <p:nvPr/>
        </p:nvSpPr>
        <p:spPr>
          <a:xfrm>
            <a:off x="822960" y="320040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02</a:t>
            </a:r>
            <a:endParaRPr lang="en-US" sz="850" dirty="0"/>
          </a:p>
        </p:txBody>
      </p:sp>
      <p:sp>
        <p:nvSpPr>
          <p:cNvPr id="14" name="Text 12"/>
          <p:cNvSpPr txBox="1"/>
          <p:nvPr/>
        </p:nvSpPr>
        <p:spPr>
          <a:xfrm>
            <a:off x="1371600" y="3200400"/>
            <a:ext cx="5394960" cy="237744"/>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Jadwal sering bentrok</a:t>
            </a:r>
            <a:endParaRPr lang="en-US" sz="1550" dirty="0"/>
          </a:p>
        </p:txBody>
      </p:sp>
      <p:sp>
        <p:nvSpPr>
          <p:cNvPr id="15" name="Text 13"/>
          <p:cNvSpPr txBox="1"/>
          <p:nvPr/>
        </p:nvSpPr>
        <p:spPr>
          <a:xfrm>
            <a:off x="1371600" y="3493008"/>
            <a:ext cx="530352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Dua pelanggan bisa merasa sama-sama sudah memesan slot yang sama.</a:t>
            </a:r>
            <a:endParaRPr lang="en-US" sz="1050" dirty="0"/>
          </a:p>
        </p:txBody>
      </p:sp>
      <p:sp>
        <p:nvSpPr>
          <p:cNvPr id="16" name="Shape 14"/>
          <p:cNvSpPr/>
          <p:nvPr/>
        </p:nvSpPr>
        <p:spPr>
          <a:xfrm>
            <a:off x="822960" y="3767328"/>
            <a:ext cx="5943600" cy="0"/>
          </a:xfrm>
          <a:prstGeom prst="line">
            <a:avLst/>
          </a:prstGeom>
          <a:noFill/>
          <a:ln w="12700">
            <a:solidFill>
              <a:srgbClr val="DDD7CF"/>
            </a:solidFill>
            <a:prstDash val="solid"/>
          </a:ln>
        </p:spPr>
      </p:sp>
      <p:sp>
        <p:nvSpPr>
          <p:cNvPr id="17" name="Text 15"/>
          <p:cNvSpPr txBox="1"/>
          <p:nvPr/>
        </p:nvSpPr>
        <p:spPr>
          <a:xfrm>
            <a:off x="822960" y="393192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03</a:t>
            </a:r>
            <a:endParaRPr lang="en-US" sz="850" dirty="0"/>
          </a:p>
        </p:txBody>
      </p:sp>
      <p:sp>
        <p:nvSpPr>
          <p:cNvPr id="18" name="Text 16"/>
          <p:cNvSpPr txBox="1"/>
          <p:nvPr/>
        </p:nvSpPr>
        <p:spPr>
          <a:xfrm>
            <a:off x="1371600" y="3931920"/>
            <a:ext cx="5394960" cy="237744"/>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Tidak ada kalender booking</a:t>
            </a:r>
            <a:endParaRPr lang="en-US" sz="1550" dirty="0"/>
          </a:p>
        </p:txBody>
      </p:sp>
      <p:sp>
        <p:nvSpPr>
          <p:cNvPr id="19" name="Text 17"/>
          <p:cNvSpPr txBox="1"/>
          <p:nvPr/>
        </p:nvSpPr>
        <p:spPr>
          <a:xfrm>
            <a:off x="1371600" y="4224528"/>
            <a:ext cx="530352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Pelanggan tidak bisa melihat slot kosong tanpa bertanya.</a:t>
            </a:r>
            <a:endParaRPr lang="en-US" sz="1050" dirty="0"/>
          </a:p>
        </p:txBody>
      </p:sp>
      <p:sp>
        <p:nvSpPr>
          <p:cNvPr id="20" name="Shape 18"/>
          <p:cNvSpPr/>
          <p:nvPr/>
        </p:nvSpPr>
        <p:spPr>
          <a:xfrm>
            <a:off x="822960" y="4498848"/>
            <a:ext cx="5943600" cy="0"/>
          </a:xfrm>
          <a:prstGeom prst="line">
            <a:avLst/>
          </a:prstGeom>
          <a:noFill/>
          <a:ln w="12700">
            <a:solidFill>
              <a:srgbClr val="DDD7CF"/>
            </a:solidFill>
            <a:prstDash val="solid"/>
          </a:ln>
        </p:spPr>
      </p:sp>
      <p:sp>
        <p:nvSpPr>
          <p:cNvPr id="21" name="Text 19"/>
          <p:cNvSpPr txBox="1"/>
          <p:nvPr/>
        </p:nvSpPr>
        <p:spPr>
          <a:xfrm>
            <a:off x="822960" y="466344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04</a:t>
            </a:r>
            <a:endParaRPr lang="en-US" sz="850" dirty="0"/>
          </a:p>
        </p:txBody>
      </p:sp>
      <p:sp>
        <p:nvSpPr>
          <p:cNvPr id="22" name="Text 20"/>
          <p:cNvSpPr txBox="1"/>
          <p:nvPr/>
        </p:nvSpPr>
        <p:spPr>
          <a:xfrm>
            <a:off x="1371600" y="4663440"/>
            <a:ext cx="5394960" cy="237744"/>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Tidak ada dashboard admin</a:t>
            </a:r>
            <a:endParaRPr lang="en-US" sz="1550" dirty="0"/>
          </a:p>
        </p:txBody>
      </p:sp>
      <p:sp>
        <p:nvSpPr>
          <p:cNvPr id="23" name="Text 21"/>
          <p:cNvSpPr txBox="1"/>
          <p:nvPr/>
        </p:nvSpPr>
        <p:spPr>
          <a:xfrm>
            <a:off x="1371600" y="4956048"/>
            <a:ext cx="530352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Pemilik tidak tahu okupansi lapangan tanpa membuka buku catatan.</a:t>
            </a:r>
            <a:endParaRPr lang="en-US" sz="1050" dirty="0"/>
          </a:p>
        </p:txBody>
      </p:sp>
      <p:sp>
        <p:nvSpPr>
          <p:cNvPr id="24" name="Shape 22"/>
          <p:cNvSpPr/>
          <p:nvPr/>
        </p:nvSpPr>
        <p:spPr>
          <a:xfrm>
            <a:off x="822960" y="5230368"/>
            <a:ext cx="5943600" cy="0"/>
          </a:xfrm>
          <a:prstGeom prst="line">
            <a:avLst/>
          </a:prstGeom>
          <a:noFill/>
          <a:ln w="12700">
            <a:solidFill>
              <a:srgbClr val="DDD7CF"/>
            </a:solidFill>
            <a:prstDash val="solid"/>
          </a:ln>
        </p:spPr>
      </p:sp>
      <p:sp>
        <p:nvSpPr>
          <p:cNvPr id="25" name="Text 23"/>
          <p:cNvSpPr txBox="1"/>
          <p:nvPr/>
        </p:nvSpPr>
        <p:spPr>
          <a:xfrm>
            <a:off x="822960" y="539496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B5AEC6"/>
                </a:solidFill>
                <a:latin typeface="Calibri" pitchFamily="34" charset="0"/>
                <a:ea typeface="Calibri" pitchFamily="34" charset="-122"/>
                <a:cs typeface="Calibri" pitchFamily="34" charset="-120"/>
              </a:rPr>
              <a:t>05</a:t>
            </a:r>
            <a:endParaRPr lang="en-US" sz="850" dirty="0"/>
          </a:p>
        </p:txBody>
      </p:sp>
      <p:sp>
        <p:nvSpPr>
          <p:cNvPr id="26" name="Text 24"/>
          <p:cNvSpPr txBox="1"/>
          <p:nvPr/>
        </p:nvSpPr>
        <p:spPr>
          <a:xfrm>
            <a:off x="1371600" y="5394960"/>
            <a:ext cx="5394960" cy="237744"/>
          </a:xfrm>
          <a:prstGeom prst="rect">
            <a:avLst/>
          </a:prstGeom>
          <a:noFill/>
          <a:ln/>
        </p:spPr>
        <p:txBody>
          <a:bodyPr wrap="square" lIns="0" tIns="0" rIns="0" bIns="0" rtlCol="0" anchor="ctr"/>
          <a:lstStyle/>
          <a:p>
            <a:pPr algn="l" indent="0" marL="0">
              <a:lnSpc>
                <a:spcPct val="122000"/>
              </a:lnSpc>
              <a:buNone/>
            </a:pPr>
            <a:r>
              <a:rPr lang="en-US" sz="1550" b="1" dirty="0">
                <a:solidFill>
                  <a:srgbClr val="1A1A1A"/>
                </a:solidFill>
                <a:latin typeface="Calibri" pitchFamily="34" charset="0"/>
                <a:ea typeface="Calibri" pitchFamily="34" charset="-122"/>
                <a:cs typeface="Calibri" pitchFamily="34" charset="-120"/>
              </a:rPr>
              <a:t>Histori sulit dilacak</a:t>
            </a:r>
            <a:endParaRPr lang="en-US" sz="1550" dirty="0"/>
          </a:p>
        </p:txBody>
      </p:sp>
      <p:sp>
        <p:nvSpPr>
          <p:cNvPr id="27" name="Text 25"/>
          <p:cNvSpPr txBox="1"/>
          <p:nvPr/>
        </p:nvSpPr>
        <p:spPr>
          <a:xfrm>
            <a:off x="1371600" y="5687568"/>
            <a:ext cx="530352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Klaim pelanggan sulit diverifikasi karena tidak ada catatan digital.</a:t>
            </a:r>
            <a:endParaRPr lang="en-US" sz="1050" dirty="0"/>
          </a:p>
        </p:txBody>
      </p:sp>
      <p:sp>
        <p:nvSpPr>
          <p:cNvPr id="28" name="Shape 26"/>
          <p:cNvSpPr/>
          <p:nvPr/>
        </p:nvSpPr>
        <p:spPr>
          <a:xfrm>
            <a:off x="7178040" y="2304288"/>
            <a:ext cx="4187952" cy="3749040"/>
          </a:xfrm>
          <a:prstGeom prst="roundRect">
            <a:avLst>
              <a:gd name="adj" fmla="val 3171"/>
            </a:avLst>
          </a:prstGeom>
          <a:solidFill>
            <a:srgbClr val="EFEBF3"/>
          </a:solidFill>
          <a:ln/>
        </p:spPr>
      </p:sp>
      <p:sp>
        <p:nvSpPr>
          <p:cNvPr id="29" name="Text 27"/>
          <p:cNvSpPr txBox="1"/>
          <p:nvPr/>
        </p:nvSpPr>
        <p:spPr>
          <a:xfrm>
            <a:off x="7452360" y="2560320"/>
            <a:ext cx="3657600" cy="219456"/>
          </a:xfrm>
          <a:prstGeom prst="rect">
            <a:avLst/>
          </a:prstGeom>
          <a:noFill/>
          <a:ln/>
        </p:spPr>
        <p:txBody>
          <a:bodyPr wrap="square" lIns="0" tIns="0" rIns="0" bIns="0" rtlCol="0" anchor="ctr"/>
          <a:lstStyle/>
          <a:p>
            <a:pPr algn="l" indent="0" marL="0">
              <a:lnSpc>
                <a:spcPct val="122000"/>
              </a:lnSpc>
              <a:buNone/>
            </a:pPr>
            <a:r>
              <a:rPr lang="en-US" sz="850" b="1" spc="150" kern="0" dirty="0">
                <a:solidFill>
                  <a:srgbClr val="635C77"/>
                </a:solidFill>
                <a:latin typeface="Calibri" pitchFamily="34" charset="0"/>
                <a:ea typeface="Calibri" pitchFamily="34" charset="-122"/>
                <a:cs typeface="Calibri" pitchFamily="34" charset="-120"/>
              </a:rPr>
              <a:t>BUSINESS PROBLEM STATEMENT</a:t>
            </a:r>
            <a:endParaRPr lang="en-US" sz="850" dirty="0"/>
          </a:p>
        </p:txBody>
      </p:sp>
      <p:sp>
        <p:nvSpPr>
          <p:cNvPr id="30" name="Text 28"/>
          <p:cNvSpPr txBox="1"/>
          <p:nvPr/>
        </p:nvSpPr>
        <p:spPr>
          <a:xfrm>
            <a:off x="7452360" y="2962656"/>
            <a:ext cx="3639312" cy="2194560"/>
          </a:xfrm>
          <a:prstGeom prst="rect">
            <a:avLst/>
          </a:prstGeom>
          <a:noFill/>
          <a:ln/>
        </p:spPr>
        <p:txBody>
          <a:bodyPr wrap="square" lIns="0" tIns="0" rIns="0" bIns="0" rtlCol="0" anchor="t"/>
          <a:lstStyle/>
          <a:p>
            <a:pPr algn="l" indent="0" marL="0">
              <a:lnSpc>
                <a:spcPct val="160000"/>
              </a:lnSpc>
              <a:buNone/>
            </a:pPr>
            <a:r>
              <a:rPr lang="en-US" sz="1200" dirty="0">
                <a:solidFill>
                  <a:srgbClr val="1A1A1A"/>
                </a:solidFill>
                <a:latin typeface="Calibri" pitchFamily="34" charset="0"/>
                <a:ea typeface="Calibri" pitchFamily="34" charset="-122"/>
                <a:cs typeface="Calibri" pitchFamily="34" charset="-120"/>
              </a:rPr>
              <a:t>Padel Arena kehilangan pendapatan dan kepercayaan pelanggan karena seluruh proses booking berjalan lewat WhatsApp dan catatan manual. Tidak ada satu sumber kebenaran untuk jadwal, sehingga slot bisa terjual dua kali, riwayat pemesanan tidak bisa diverifikasi, dan pemilik tidak punya visibilitas atas okupansi lapangannya.</a:t>
            </a:r>
            <a:endParaRPr lang="en-US" sz="1200" dirty="0"/>
          </a:p>
        </p:txBody>
      </p:sp>
      <p:sp>
        <p:nvSpPr>
          <p:cNvPr id="31" name="Shape 29"/>
          <p:cNvSpPr/>
          <p:nvPr/>
        </p:nvSpPr>
        <p:spPr>
          <a:xfrm>
            <a:off x="7452360" y="5358384"/>
            <a:ext cx="3639312" cy="0"/>
          </a:xfrm>
          <a:prstGeom prst="line">
            <a:avLst/>
          </a:prstGeom>
          <a:noFill/>
          <a:ln w="12700">
            <a:solidFill>
              <a:srgbClr val="B5AEC6"/>
            </a:solidFill>
            <a:prstDash val="solid"/>
          </a:ln>
        </p:spPr>
      </p:sp>
      <p:sp>
        <p:nvSpPr>
          <p:cNvPr id="32" name="Text 30"/>
          <p:cNvSpPr txBox="1"/>
          <p:nvPr/>
        </p:nvSpPr>
        <p:spPr>
          <a:xfrm>
            <a:off x="7452360" y="5486400"/>
            <a:ext cx="1828800" cy="219456"/>
          </a:xfrm>
          <a:prstGeom prst="rect">
            <a:avLst/>
          </a:prstGeom>
          <a:noFill/>
          <a:ln/>
        </p:spPr>
        <p:txBody>
          <a:bodyPr wrap="square" lIns="0" tIns="0" rIns="0" bIns="0" rtlCol="0" anchor="ctr"/>
          <a:lstStyle/>
          <a:p>
            <a:pPr algn="l" indent="0" marL="0">
              <a:lnSpc>
                <a:spcPct val="122000"/>
              </a:lnSpc>
              <a:buNone/>
            </a:pPr>
            <a:r>
              <a:rPr lang="en-US" sz="850" b="1" spc="150" kern="0" dirty="0">
                <a:solidFill>
                  <a:srgbClr val="635C77"/>
                </a:solidFill>
                <a:latin typeface="Calibri" pitchFamily="34" charset="0"/>
                <a:ea typeface="Calibri" pitchFamily="34" charset="-122"/>
                <a:cs typeface="Calibri" pitchFamily="34" charset="-120"/>
              </a:rPr>
              <a:t>OUTPUT</a:t>
            </a:r>
            <a:endParaRPr lang="en-US" sz="850" dirty="0"/>
          </a:p>
        </p:txBody>
      </p:sp>
      <p:sp>
        <p:nvSpPr>
          <p:cNvPr id="33" name="Text 31"/>
          <p:cNvSpPr txBox="1"/>
          <p:nvPr/>
        </p:nvSpPr>
        <p:spPr>
          <a:xfrm>
            <a:off x="9509760" y="5486400"/>
            <a:ext cx="1581912" cy="219456"/>
          </a:xfrm>
          <a:prstGeom prst="rect">
            <a:avLst/>
          </a:prstGeom>
          <a:noFill/>
          <a:ln/>
        </p:spPr>
        <p:txBody>
          <a:bodyPr wrap="square" lIns="0" tIns="0" rIns="0" bIns="0" rtlCol="0" anchor="ctr"/>
          <a:lstStyle/>
          <a:p>
            <a:pPr algn="r" indent="0" marL="0">
              <a:lnSpc>
                <a:spcPct val="122000"/>
              </a:lnSpc>
              <a:buNone/>
            </a:pPr>
            <a:r>
              <a:rPr lang="en-US" sz="950" b="1" dirty="0">
                <a:solidFill>
                  <a:srgbClr val="1A1A1A"/>
                </a:solidFill>
                <a:latin typeface="Calibri" pitchFamily="34" charset="0"/>
                <a:ea typeface="Calibri" pitchFamily="34" charset="-122"/>
                <a:cs typeface="Calibri" pitchFamily="34" charset="-120"/>
              </a:rPr>
              <a:t>PROBLEM.md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955548"/>
            <a:ext cx="68580" cy="68580"/>
          </a:xfrm>
          <a:prstGeom prst="ellipse">
            <a:avLst/>
          </a:prstGeom>
          <a:solidFill>
            <a:srgbClr val="847E96"/>
          </a:solidFill>
          <a:ln/>
        </p:spPr>
      </p:sp>
      <p:sp>
        <p:nvSpPr>
          <p:cNvPr id="3" name="Text 1"/>
          <p:cNvSpPr txBox="1"/>
          <p:nvPr/>
        </p:nvSpPr>
        <p:spPr>
          <a:xfrm>
            <a:off x="978408" y="896112"/>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04  ·  DOCUMENTATION</a:t>
            </a:r>
            <a:endParaRPr lang="en-US" sz="850" dirty="0"/>
          </a:p>
        </p:txBody>
      </p:sp>
      <p:sp>
        <p:nvSpPr>
          <p:cNvPr id="4" name="Text 2"/>
          <p:cNvSpPr txBox="1"/>
          <p:nvPr/>
        </p:nvSpPr>
        <p:spPr>
          <a:xfrm>
            <a:off x="822960" y="1828800"/>
            <a:ext cx="10241280" cy="2011680"/>
          </a:xfrm>
          <a:prstGeom prst="rect">
            <a:avLst/>
          </a:prstGeom>
          <a:noFill/>
          <a:ln/>
        </p:spPr>
        <p:txBody>
          <a:bodyPr wrap="square" lIns="0" tIns="0" rIns="0" bIns="0" rtlCol="0" anchor="t"/>
          <a:lstStyle/>
          <a:p>
            <a:pPr algn="l" indent="0" marL="0">
              <a:lnSpc>
                <a:spcPct val="116000"/>
              </a:lnSpc>
              <a:buNone/>
            </a:pPr>
            <a:r>
              <a:rPr lang="en-US" sz="6400" b="1" dirty="0">
                <a:solidFill>
                  <a:srgbClr val="1A1A1A"/>
                </a:solidFill>
                <a:latin typeface="Calibri" pitchFamily="34" charset="0"/>
                <a:ea typeface="Calibri" pitchFamily="34" charset="-122"/>
                <a:cs typeface="Calibri" pitchFamily="34" charset="-120"/>
              </a:rPr>
              <a:t>Documentation Driven</a:t>
            </a:r>
            <a:endParaRPr lang="en-US" sz="6400" dirty="0"/>
          </a:p>
          <a:p>
            <a:pPr algn="l" indent="0" marL="0">
              <a:lnSpc>
                <a:spcPct val="116000"/>
              </a:lnSpc>
              <a:buNone/>
            </a:pPr>
            <a:r>
              <a:rPr lang="en-US" sz="6400" b="1" dirty="0">
                <a:solidFill>
                  <a:srgbClr val="1A1A1A"/>
                </a:solidFill>
                <a:latin typeface="Calibri" pitchFamily="34" charset="0"/>
                <a:ea typeface="Calibri" pitchFamily="34" charset="-122"/>
                <a:cs typeface="Calibri" pitchFamily="34" charset="-120"/>
              </a:rPr>
              <a:t>Development</a:t>
            </a:r>
            <a:endParaRPr lang="en-US" sz="6400" dirty="0"/>
          </a:p>
        </p:txBody>
      </p:sp>
      <p:sp>
        <p:nvSpPr>
          <p:cNvPr id="5" name="Text 3"/>
          <p:cNvSpPr txBox="1"/>
          <p:nvPr/>
        </p:nvSpPr>
        <p:spPr>
          <a:xfrm>
            <a:off x="822960" y="4114800"/>
            <a:ext cx="8046720" cy="822960"/>
          </a:xfrm>
          <a:prstGeom prst="rect">
            <a:avLst/>
          </a:prstGeom>
          <a:noFill/>
          <a:ln/>
        </p:spPr>
        <p:txBody>
          <a:bodyPr wrap="square" lIns="0" tIns="0" rIns="0" bIns="0" rtlCol="0" anchor="t"/>
          <a:lstStyle/>
          <a:p>
            <a:pPr algn="l" indent="0" marL="0">
              <a:lnSpc>
                <a:spcPct val="155000"/>
              </a:lnSpc>
              <a:buNone/>
            </a:pPr>
            <a:r>
              <a:rPr lang="en-US" sz="1800" dirty="0">
                <a:solidFill>
                  <a:srgbClr val="5F5F5F"/>
                </a:solidFill>
                <a:latin typeface="Calibri" pitchFamily="34" charset="0"/>
                <a:ea typeface="Calibri" pitchFamily="34" charset="-122"/>
                <a:cs typeface="Calibri" pitchFamily="34" charset="-120"/>
              </a:rPr>
              <a:t>Sebelum satu baris kode ditulis, empat dokumen harus selesai. Dokumen inilah yang dibaca AI Agent — bukan pikiran Anda.</a:t>
            </a:r>
            <a:endParaRPr lang="en-US" sz="180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14</a:t>
            </a:r>
            <a:endParaRPr lang="en-US" sz="800" dirty="0"/>
          </a:p>
        </p:txBody>
      </p:sp>
      <p:sp>
        <p:nvSpPr>
          <p:cNvPr id="8" name="Shape 6"/>
          <p:cNvSpPr/>
          <p:nvPr/>
        </p:nvSpPr>
        <p:spPr>
          <a:xfrm>
            <a:off x="822960" y="5138928"/>
            <a:ext cx="10543032" cy="0"/>
          </a:xfrm>
          <a:prstGeom prst="line">
            <a:avLst/>
          </a:prstGeom>
          <a:noFill/>
          <a:ln w="12700">
            <a:solidFill>
              <a:srgbClr val="DDD7CF"/>
            </a:solidFill>
            <a:prstDash val="solid"/>
          </a:ln>
        </p:spPr>
      </p:sp>
      <p:sp>
        <p:nvSpPr>
          <p:cNvPr id="9" name="Text 7"/>
          <p:cNvSpPr txBox="1"/>
          <p:nvPr/>
        </p:nvSpPr>
        <p:spPr>
          <a:xfrm>
            <a:off x="822960" y="5376672"/>
            <a:ext cx="2560320" cy="402336"/>
          </a:xfrm>
          <a:prstGeom prst="rect">
            <a:avLst/>
          </a:prstGeom>
          <a:noFill/>
          <a:ln/>
        </p:spPr>
        <p:txBody>
          <a:bodyPr wrap="square" lIns="0" tIns="0" rIns="0" bIns="0" rtlCol="0" anchor="t"/>
          <a:lstStyle/>
          <a:p>
            <a:pPr algn="l" indent="0" marL="0">
              <a:lnSpc>
                <a:spcPct val="100000"/>
              </a:lnSpc>
              <a:buNone/>
            </a:pPr>
            <a:r>
              <a:rPr lang="en-US" sz="2600" b="1" dirty="0">
                <a:solidFill>
                  <a:srgbClr val="635C77"/>
                </a:solidFill>
                <a:latin typeface="Calibri" pitchFamily="34" charset="0"/>
                <a:ea typeface="Calibri" pitchFamily="34" charset="-122"/>
                <a:cs typeface="Calibri" pitchFamily="34" charset="-120"/>
              </a:rPr>
              <a:t>PRD.md</a:t>
            </a:r>
            <a:endParaRPr lang="en-US" sz="2600" dirty="0"/>
          </a:p>
        </p:txBody>
      </p:sp>
      <p:sp>
        <p:nvSpPr>
          <p:cNvPr id="10" name="Text 8"/>
          <p:cNvSpPr txBox="1"/>
          <p:nvPr/>
        </p:nvSpPr>
        <p:spPr>
          <a:xfrm>
            <a:off x="3520440" y="5376672"/>
            <a:ext cx="2560320" cy="402336"/>
          </a:xfrm>
          <a:prstGeom prst="rect">
            <a:avLst/>
          </a:prstGeom>
          <a:noFill/>
          <a:ln/>
        </p:spPr>
        <p:txBody>
          <a:bodyPr wrap="square" lIns="0" tIns="0" rIns="0" bIns="0" rtlCol="0" anchor="t"/>
          <a:lstStyle/>
          <a:p>
            <a:pPr algn="l" indent="0" marL="0">
              <a:lnSpc>
                <a:spcPct val="100000"/>
              </a:lnSpc>
              <a:buNone/>
            </a:pPr>
            <a:r>
              <a:rPr lang="en-US" sz="2600" b="1" dirty="0">
                <a:solidFill>
                  <a:srgbClr val="635C77"/>
                </a:solidFill>
                <a:latin typeface="Calibri" pitchFamily="34" charset="0"/>
                <a:ea typeface="Calibri" pitchFamily="34" charset="-122"/>
                <a:cs typeface="Calibri" pitchFamily="34" charset="-120"/>
              </a:rPr>
              <a:t>SCOPE.md</a:t>
            </a:r>
            <a:endParaRPr lang="en-US" sz="2600" dirty="0"/>
          </a:p>
        </p:txBody>
      </p:sp>
      <p:sp>
        <p:nvSpPr>
          <p:cNvPr id="11" name="Text 9"/>
          <p:cNvSpPr txBox="1"/>
          <p:nvPr/>
        </p:nvSpPr>
        <p:spPr>
          <a:xfrm>
            <a:off x="6217920" y="5376672"/>
            <a:ext cx="2560320" cy="402336"/>
          </a:xfrm>
          <a:prstGeom prst="rect">
            <a:avLst/>
          </a:prstGeom>
          <a:noFill/>
          <a:ln/>
        </p:spPr>
        <p:txBody>
          <a:bodyPr wrap="square" lIns="0" tIns="0" rIns="0" bIns="0" rtlCol="0" anchor="t"/>
          <a:lstStyle/>
          <a:p>
            <a:pPr algn="l" indent="0" marL="0">
              <a:lnSpc>
                <a:spcPct val="100000"/>
              </a:lnSpc>
              <a:buNone/>
            </a:pPr>
            <a:r>
              <a:rPr lang="en-US" sz="2600" b="1" dirty="0">
                <a:solidFill>
                  <a:srgbClr val="635C77"/>
                </a:solidFill>
                <a:latin typeface="Calibri" pitchFamily="34" charset="0"/>
                <a:ea typeface="Calibri" pitchFamily="34" charset="-122"/>
                <a:cs typeface="Calibri" pitchFamily="34" charset="-120"/>
              </a:rPr>
              <a:t>DESIGN.md</a:t>
            </a:r>
            <a:endParaRPr lang="en-US" sz="2600" dirty="0"/>
          </a:p>
        </p:txBody>
      </p:sp>
      <p:sp>
        <p:nvSpPr>
          <p:cNvPr id="12" name="Text 10"/>
          <p:cNvSpPr txBox="1"/>
          <p:nvPr/>
        </p:nvSpPr>
        <p:spPr>
          <a:xfrm>
            <a:off x="8915400" y="5376672"/>
            <a:ext cx="2560320" cy="402336"/>
          </a:xfrm>
          <a:prstGeom prst="rect">
            <a:avLst/>
          </a:prstGeom>
          <a:noFill/>
          <a:ln/>
        </p:spPr>
        <p:txBody>
          <a:bodyPr wrap="square" lIns="0" tIns="0" rIns="0" bIns="0" rtlCol="0" anchor="t"/>
          <a:lstStyle/>
          <a:p>
            <a:pPr algn="l" indent="0" marL="0">
              <a:lnSpc>
                <a:spcPct val="100000"/>
              </a:lnSpc>
              <a:buNone/>
            </a:pPr>
            <a:r>
              <a:rPr lang="en-US" sz="2600" b="1" dirty="0">
                <a:solidFill>
                  <a:srgbClr val="635C77"/>
                </a:solidFill>
                <a:latin typeface="Calibri" pitchFamily="34" charset="0"/>
                <a:ea typeface="Calibri" pitchFamily="34" charset="-122"/>
                <a:cs typeface="Calibri" pitchFamily="34" charset="-120"/>
              </a:rPr>
              <a:t>TASK.md</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04  ·  DOCUMENTATION</a:t>
            </a:r>
            <a:endParaRPr lang="en-US" sz="850" dirty="0"/>
          </a:p>
        </p:txBody>
      </p:sp>
      <p:sp>
        <p:nvSpPr>
          <p:cNvPr id="4" name="Text 2"/>
          <p:cNvSpPr txBox="1"/>
          <p:nvPr/>
        </p:nvSpPr>
        <p:spPr>
          <a:xfrm>
            <a:off x="822960" y="868680"/>
            <a:ext cx="9875520" cy="603504"/>
          </a:xfrm>
          <a:prstGeom prst="rect">
            <a:avLst/>
          </a:prstGeom>
          <a:noFill/>
          <a:ln/>
        </p:spPr>
        <p:txBody>
          <a:bodyPr wrap="square" lIns="0" tIns="0" rIns="0" bIns="0" rtlCol="0" anchor="t"/>
          <a:lstStyle/>
          <a:p>
            <a:pPr algn="l" indent="0" marL="0">
              <a:lnSpc>
                <a:spcPct val="110000"/>
              </a:lnSpc>
              <a:buNone/>
            </a:pPr>
            <a:r>
              <a:rPr lang="en-US" sz="2900" b="1" dirty="0">
                <a:solidFill>
                  <a:srgbClr val="1A1A1A"/>
                </a:solidFill>
                <a:latin typeface="Calibri" pitchFamily="34" charset="0"/>
                <a:ea typeface="Calibri" pitchFamily="34" charset="-122"/>
                <a:cs typeface="Calibri" pitchFamily="34" charset="-120"/>
              </a:rPr>
              <a:t>Kenapa dokumentasi menentukan hasil AI</a:t>
            </a:r>
            <a:endParaRPr lang="en-US" sz="2900" dirty="0"/>
          </a:p>
        </p:txBody>
      </p:sp>
      <p:sp>
        <p:nvSpPr>
          <p:cNvPr id="5" name="Text 3"/>
          <p:cNvSpPr txBox="1"/>
          <p:nvPr/>
        </p:nvSpPr>
        <p:spPr>
          <a:xfrm>
            <a:off x="822960" y="1536192"/>
            <a:ext cx="786384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Calibri" pitchFamily="34" charset="0"/>
                <a:ea typeface="Calibri" pitchFamily="34" charset="-122"/>
                <a:cs typeface="Calibri" pitchFamily="34" charset="-120"/>
              </a:rPr>
              <a:t>AI Agent tidak membaca pikiran Anda. Ia membaca file.</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15</a:t>
            </a:r>
            <a:endParaRPr lang="en-US" sz="800" dirty="0"/>
          </a:p>
        </p:txBody>
      </p:sp>
      <p:sp>
        <p:nvSpPr>
          <p:cNvPr id="8" name="Text 6"/>
          <p:cNvSpPr txBox="1"/>
          <p:nvPr/>
        </p:nvSpPr>
        <p:spPr>
          <a:xfrm>
            <a:off x="822960" y="2395728"/>
            <a:ext cx="484632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A9634F"/>
                </a:solidFill>
                <a:latin typeface="Calibri" pitchFamily="34" charset="0"/>
                <a:ea typeface="Calibri" pitchFamily="34" charset="-122"/>
                <a:cs typeface="Calibri" pitchFamily="34" charset="-120"/>
              </a:rPr>
              <a:t>TANPA DOKUMENTASI</a:t>
            </a:r>
            <a:endParaRPr lang="en-US" sz="850" dirty="0"/>
          </a:p>
        </p:txBody>
      </p:sp>
      <p:sp>
        <p:nvSpPr>
          <p:cNvPr id="9" name="Text 7"/>
          <p:cNvSpPr txBox="1"/>
          <p:nvPr/>
        </p:nvSpPr>
        <p:spPr>
          <a:xfrm>
            <a:off x="6428232" y="2395728"/>
            <a:ext cx="484632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635C77"/>
                </a:solidFill>
                <a:latin typeface="Calibri" pitchFamily="34" charset="0"/>
                <a:ea typeface="Calibri" pitchFamily="34" charset="-122"/>
                <a:cs typeface="Calibri" pitchFamily="34" charset="-120"/>
              </a:rPr>
              <a:t>DENGAN DOKUMENTASI</a:t>
            </a:r>
            <a:endParaRPr lang="en-US" sz="850" dirty="0"/>
          </a:p>
        </p:txBody>
      </p:sp>
      <p:sp>
        <p:nvSpPr>
          <p:cNvPr id="10" name="Shape 8"/>
          <p:cNvSpPr/>
          <p:nvPr/>
        </p:nvSpPr>
        <p:spPr>
          <a:xfrm>
            <a:off x="6062472" y="2395728"/>
            <a:ext cx="0" cy="3291840"/>
          </a:xfrm>
          <a:prstGeom prst="line">
            <a:avLst/>
          </a:prstGeom>
          <a:noFill/>
          <a:ln w="12700">
            <a:solidFill>
              <a:srgbClr val="DDD7CF"/>
            </a:solidFill>
            <a:prstDash val="solid"/>
          </a:ln>
        </p:spPr>
      </p:sp>
      <p:sp>
        <p:nvSpPr>
          <p:cNvPr id="11" name="Shape 9"/>
          <p:cNvSpPr/>
          <p:nvPr/>
        </p:nvSpPr>
        <p:spPr>
          <a:xfrm>
            <a:off x="822960" y="2852928"/>
            <a:ext cx="4846320" cy="0"/>
          </a:xfrm>
          <a:prstGeom prst="line">
            <a:avLst/>
          </a:prstGeom>
          <a:noFill/>
          <a:ln w="12700">
            <a:solidFill>
              <a:srgbClr val="DDD7CF"/>
            </a:solidFill>
            <a:prstDash val="solid"/>
          </a:ln>
        </p:spPr>
      </p:sp>
      <p:sp>
        <p:nvSpPr>
          <p:cNvPr id="12" name="Shape 10"/>
          <p:cNvSpPr/>
          <p:nvPr/>
        </p:nvSpPr>
        <p:spPr>
          <a:xfrm>
            <a:off x="6428232" y="2852928"/>
            <a:ext cx="4937760" cy="0"/>
          </a:xfrm>
          <a:prstGeom prst="line">
            <a:avLst/>
          </a:prstGeom>
          <a:noFill/>
          <a:ln w="12700">
            <a:solidFill>
              <a:srgbClr val="B5AEC6"/>
            </a:solidFill>
            <a:prstDash val="solid"/>
          </a:ln>
        </p:spPr>
      </p:sp>
      <p:sp>
        <p:nvSpPr>
          <p:cNvPr id="13" name="Text 11"/>
          <p:cNvSpPr txBox="1"/>
          <p:nvPr/>
        </p:nvSpPr>
        <p:spPr>
          <a:xfrm>
            <a:off x="822960" y="301752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A9634F"/>
                </a:solidFill>
                <a:latin typeface="Calibri" pitchFamily="34" charset="0"/>
                <a:ea typeface="Calibri" pitchFamily="34" charset="-122"/>
                <a:cs typeface="Calibri" pitchFamily="34" charset="-120"/>
              </a:rPr>
              <a:t>✕</a:t>
            </a:r>
            <a:endParaRPr lang="en-US" sz="1050" dirty="0"/>
          </a:p>
        </p:txBody>
      </p:sp>
      <p:sp>
        <p:nvSpPr>
          <p:cNvPr id="14" name="Text 12"/>
          <p:cNvSpPr txBox="1"/>
          <p:nvPr/>
        </p:nvSpPr>
        <p:spPr>
          <a:xfrm>
            <a:off x="1133856" y="301752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AI menebak kebutuhan</a:t>
            </a:r>
            <a:endParaRPr lang="en-US" sz="1450" dirty="0"/>
          </a:p>
        </p:txBody>
      </p:sp>
      <p:sp>
        <p:nvSpPr>
          <p:cNvPr id="15" name="Text 13"/>
          <p:cNvSpPr txBox="1"/>
          <p:nvPr/>
        </p:nvSpPr>
        <p:spPr>
          <a:xfrm>
            <a:off x="1133856" y="329184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Setiap sesi menghasilkan asumsi baru yang saling bertabrakan.</a:t>
            </a:r>
            <a:endParaRPr lang="en-US" sz="1050" dirty="0"/>
          </a:p>
        </p:txBody>
      </p:sp>
      <p:sp>
        <p:nvSpPr>
          <p:cNvPr id="16" name="Text 14"/>
          <p:cNvSpPr txBox="1"/>
          <p:nvPr/>
        </p:nvSpPr>
        <p:spPr>
          <a:xfrm>
            <a:off x="6428232" y="301752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5F7A63"/>
                </a:solidFill>
                <a:latin typeface="Calibri" pitchFamily="34" charset="0"/>
                <a:ea typeface="Calibri" pitchFamily="34" charset="-122"/>
                <a:cs typeface="Calibri" pitchFamily="34" charset="-120"/>
              </a:rPr>
              <a:t>✓</a:t>
            </a:r>
            <a:endParaRPr lang="en-US" sz="1050" dirty="0"/>
          </a:p>
        </p:txBody>
      </p:sp>
      <p:sp>
        <p:nvSpPr>
          <p:cNvPr id="17" name="Text 15"/>
          <p:cNvSpPr txBox="1"/>
          <p:nvPr/>
        </p:nvSpPr>
        <p:spPr>
          <a:xfrm>
            <a:off x="6739128" y="301752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AI mengeksekusi, bukan menebak</a:t>
            </a:r>
            <a:endParaRPr lang="en-US" sz="1450" dirty="0"/>
          </a:p>
        </p:txBody>
      </p:sp>
      <p:sp>
        <p:nvSpPr>
          <p:cNvPr id="18" name="Text 16"/>
          <p:cNvSpPr txBox="1"/>
          <p:nvPr/>
        </p:nvSpPr>
        <p:spPr>
          <a:xfrm>
            <a:off x="6739128" y="329184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Kebutuhan sudah tertulis, tinggal diterjemahkan jadi kode.</a:t>
            </a:r>
            <a:endParaRPr lang="en-US" sz="1050" dirty="0"/>
          </a:p>
        </p:txBody>
      </p:sp>
      <p:sp>
        <p:nvSpPr>
          <p:cNvPr id="19" name="Shape 17"/>
          <p:cNvSpPr/>
          <p:nvPr/>
        </p:nvSpPr>
        <p:spPr>
          <a:xfrm>
            <a:off x="822960" y="3584448"/>
            <a:ext cx="4846320" cy="0"/>
          </a:xfrm>
          <a:prstGeom prst="line">
            <a:avLst/>
          </a:prstGeom>
          <a:noFill/>
          <a:ln w="12700">
            <a:solidFill>
              <a:srgbClr val="DDD7CF"/>
            </a:solidFill>
            <a:prstDash val="solid"/>
          </a:ln>
        </p:spPr>
      </p:sp>
      <p:sp>
        <p:nvSpPr>
          <p:cNvPr id="20" name="Shape 18"/>
          <p:cNvSpPr/>
          <p:nvPr/>
        </p:nvSpPr>
        <p:spPr>
          <a:xfrm>
            <a:off x="6428232" y="3584448"/>
            <a:ext cx="4937760" cy="0"/>
          </a:xfrm>
          <a:prstGeom prst="line">
            <a:avLst/>
          </a:prstGeom>
          <a:noFill/>
          <a:ln w="12700">
            <a:solidFill>
              <a:srgbClr val="B5AEC6"/>
            </a:solidFill>
            <a:prstDash val="solid"/>
          </a:ln>
        </p:spPr>
      </p:sp>
      <p:sp>
        <p:nvSpPr>
          <p:cNvPr id="21" name="Text 19"/>
          <p:cNvSpPr txBox="1"/>
          <p:nvPr/>
        </p:nvSpPr>
        <p:spPr>
          <a:xfrm>
            <a:off x="822960" y="374904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A9634F"/>
                </a:solidFill>
                <a:latin typeface="Calibri" pitchFamily="34" charset="0"/>
                <a:ea typeface="Calibri" pitchFamily="34" charset="-122"/>
                <a:cs typeface="Calibri" pitchFamily="34" charset="-120"/>
              </a:rPr>
              <a:t>✕</a:t>
            </a:r>
            <a:endParaRPr lang="en-US" sz="1050" dirty="0"/>
          </a:p>
        </p:txBody>
      </p:sp>
      <p:sp>
        <p:nvSpPr>
          <p:cNvPr id="22" name="Text 20"/>
          <p:cNvSpPr txBox="1"/>
          <p:nvPr/>
        </p:nvSpPr>
        <p:spPr>
          <a:xfrm>
            <a:off x="1133856" y="374904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Tidak ada batas scope</a:t>
            </a:r>
            <a:endParaRPr lang="en-US" sz="1450" dirty="0"/>
          </a:p>
        </p:txBody>
      </p:sp>
      <p:sp>
        <p:nvSpPr>
          <p:cNvPr id="23" name="Text 21"/>
          <p:cNvSpPr txBox="1"/>
          <p:nvPr/>
        </p:nvSpPr>
        <p:spPr>
          <a:xfrm>
            <a:off x="1133856" y="402336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Fitur terus bertambah karena tidak ada yang menyatakan cukup.</a:t>
            </a:r>
            <a:endParaRPr lang="en-US" sz="1050" dirty="0"/>
          </a:p>
        </p:txBody>
      </p:sp>
      <p:sp>
        <p:nvSpPr>
          <p:cNvPr id="24" name="Text 22"/>
          <p:cNvSpPr txBox="1"/>
          <p:nvPr/>
        </p:nvSpPr>
        <p:spPr>
          <a:xfrm>
            <a:off x="6428232" y="374904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5F7A63"/>
                </a:solidFill>
                <a:latin typeface="Calibri" pitchFamily="34" charset="0"/>
                <a:ea typeface="Calibri" pitchFamily="34" charset="-122"/>
                <a:cs typeface="Calibri" pitchFamily="34" charset="-120"/>
              </a:rPr>
              <a:t>✓</a:t>
            </a:r>
            <a:endParaRPr lang="en-US" sz="1050" dirty="0"/>
          </a:p>
        </p:txBody>
      </p:sp>
      <p:sp>
        <p:nvSpPr>
          <p:cNvPr id="25" name="Text 23"/>
          <p:cNvSpPr txBox="1"/>
          <p:nvPr/>
        </p:nvSpPr>
        <p:spPr>
          <a:xfrm>
            <a:off x="6739128" y="374904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Scope punya rem</a:t>
            </a:r>
            <a:endParaRPr lang="en-US" sz="1450" dirty="0"/>
          </a:p>
        </p:txBody>
      </p:sp>
      <p:sp>
        <p:nvSpPr>
          <p:cNvPr id="26" name="Text 24"/>
          <p:cNvSpPr txBox="1"/>
          <p:nvPr/>
        </p:nvSpPr>
        <p:spPr>
          <a:xfrm>
            <a:off x="6739128" y="402336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Yang tidak tertulis di scope tidak dikerjakan. Titik.</a:t>
            </a:r>
            <a:endParaRPr lang="en-US" sz="1050" dirty="0"/>
          </a:p>
        </p:txBody>
      </p:sp>
      <p:sp>
        <p:nvSpPr>
          <p:cNvPr id="27" name="Shape 25"/>
          <p:cNvSpPr/>
          <p:nvPr/>
        </p:nvSpPr>
        <p:spPr>
          <a:xfrm>
            <a:off x="822960" y="4315968"/>
            <a:ext cx="4846320" cy="0"/>
          </a:xfrm>
          <a:prstGeom prst="line">
            <a:avLst/>
          </a:prstGeom>
          <a:noFill/>
          <a:ln w="12700">
            <a:solidFill>
              <a:srgbClr val="DDD7CF"/>
            </a:solidFill>
            <a:prstDash val="solid"/>
          </a:ln>
        </p:spPr>
      </p:sp>
      <p:sp>
        <p:nvSpPr>
          <p:cNvPr id="28" name="Shape 26"/>
          <p:cNvSpPr/>
          <p:nvPr/>
        </p:nvSpPr>
        <p:spPr>
          <a:xfrm>
            <a:off x="6428232" y="4315968"/>
            <a:ext cx="4937760" cy="0"/>
          </a:xfrm>
          <a:prstGeom prst="line">
            <a:avLst/>
          </a:prstGeom>
          <a:noFill/>
          <a:ln w="12700">
            <a:solidFill>
              <a:srgbClr val="B5AEC6"/>
            </a:solidFill>
            <a:prstDash val="solid"/>
          </a:ln>
        </p:spPr>
      </p:sp>
      <p:sp>
        <p:nvSpPr>
          <p:cNvPr id="29" name="Text 27"/>
          <p:cNvSpPr txBox="1"/>
          <p:nvPr/>
        </p:nvSpPr>
        <p:spPr>
          <a:xfrm>
            <a:off x="822960" y="448056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A9634F"/>
                </a:solidFill>
                <a:latin typeface="Calibri" pitchFamily="34" charset="0"/>
                <a:ea typeface="Calibri" pitchFamily="34" charset="-122"/>
                <a:cs typeface="Calibri" pitchFamily="34" charset="-120"/>
              </a:rPr>
              <a:t>✕</a:t>
            </a:r>
            <a:endParaRPr lang="en-US" sz="1050" dirty="0"/>
          </a:p>
        </p:txBody>
      </p:sp>
      <p:sp>
        <p:nvSpPr>
          <p:cNvPr id="30" name="Text 28"/>
          <p:cNvSpPr txBox="1"/>
          <p:nvPr/>
        </p:nvSpPr>
        <p:spPr>
          <a:xfrm>
            <a:off x="1133856" y="448056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Struktur berubah-ubah</a:t>
            </a:r>
            <a:endParaRPr lang="en-US" sz="1450" dirty="0"/>
          </a:p>
        </p:txBody>
      </p:sp>
      <p:sp>
        <p:nvSpPr>
          <p:cNvPr id="31" name="Text 29"/>
          <p:cNvSpPr txBox="1"/>
          <p:nvPr/>
        </p:nvSpPr>
        <p:spPr>
          <a:xfrm>
            <a:off x="1133856" y="475488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Nama folder dan pola kode berbeda di tiap bagian aplikasi.</a:t>
            </a:r>
            <a:endParaRPr lang="en-US" sz="1050" dirty="0"/>
          </a:p>
        </p:txBody>
      </p:sp>
      <p:sp>
        <p:nvSpPr>
          <p:cNvPr id="32" name="Text 30"/>
          <p:cNvSpPr txBox="1"/>
          <p:nvPr/>
        </p:nvSpPr>
        <p:spPr>
          <a:xfrm>
            <a:off x="6428232" y="448056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5F7A63"/>
                </a:solidFill>
                <a:latin typeface="Calibri" pitchFamily="34" charset="0"/>
                <a:ea typeface="Calibri" pitchFamily="34" charset="-122"/>
                <a:cs typeface="Calibri" pitchFamily="34" charset="-120"/>
              </a:rPr>
              <a:t>✓</a:t>
            </a:r>
            <a:endParaRPr lang="en-US" sz="1050" dirty="0"/>
          </a:p>
        </p:txBody>
      </p:sp>
      <p:sp>
        <p:nvSpPr>
          <p:cNvPr id="33" name="Text 31"/>
          <p:cNvSpPr txBox="1"/>
          <p:nvPr/>
        </p:nvSpPr>
        <p:spPr>
          <a:xfrm>
            <a:off x="6739128" y="448056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Struktur konsisten</a:t>
            </a:r>
            <a:endParaRPr lang="en-US" sz="1450" dirty="0"/>
          </a:p>
        </p:txBody>
      </p:sp>
      <p:sp>
        <p:nvSpPr>
          <p:cNvPr id="34" name="Text 32"/>
          <p:cNvSpPr txBox="1"/>
          <p:nvPr/>
        </p:nvSpPr>
        <p:spPr>
          <a:xfrm>
            <a:off x="6739128" y="475488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Desain dan penamaan mengikuti satu acuan yang sama.</a:t>
            </a:r>
            <a:endParaRPr lang="en-US" sz="1050" dirty="0"/>
          </a:p>
        </p:txBody>
      </p:sp>
      <p:sp>
        <p:nvSpPr>
          <p:cNvPr id="35" name="Shape 33"/>
          <p:cNvSpPr/>
          <p:nvPr/>
        </p:nvSpPr>
        <p:spPr>
          <a:xfrm>
            <a:off x="822960" y="5047488"/>
            <a:ext cx="4846320" cy="0"/>
          </a:xfrm>
          <a:prstGeom prst="line">
            <a:avLst/>
          </a:prstGeom>
          <a:noFill/>
          <a:ln w="12700">
            <a:solidFill>
              <a:srgbClr val="DDD7CF"/>
            </a:solidFill>
            <a:prstDash val="solid"/>
          </a:ln>
        </p:spPr>
      </p:sp>
      <p:sp>
        <p:nvSpPr>
          <p:cNvPr id="36" name="Shape 34"/>
          <p:cNvSpPr/>
          <p:nvPr/>
        </p:nvSpPr>
        <p:spPr>
          <a:xfrm>
            <a:off x="6428232" y="5047488"/>
            <a:ext cx="4937760" cy="0"/>
          </a:xfrm>
          <a:prstGeom prst="line">
            <a:avLst/>
          </a:prstGeom>
          <a:noFill/>
          <a:ln w="12700">
            <a:solidFill>
              <a:srgbClr val="B5AEC6"/>
            </a:solidFill>
            <a:prstDash val="solid"/>
          </a:ln>
        </p:spPr>
      </p:sp>
      <p:sp>
        <p:nvSpPr>
          <p:cNvPr id="37" name="Text 35"/>
          <p:cNvSpPr txBox="1"/>
          <p:nvPr/>
        </p:nvSpPr>
        <p:spPr>
          <a:xfrm>
            <a:off x="822960" y="521208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A9634F"/>
                </a:solidFill>
                <a:latin typeface="Calibri" pitchFamily="34" charset="0"/>
                <a:ea typeface="Calibri" pitchFamily="34" charset="-122"/>
                <a:cs typeface="Calibri" pitchFamily="34" charset="-120"/>
              </a:rPr>
              <a:t>✕</a:t>
            </a:r>
            <a:endParaRPr lang="en-US" sz="1050" dirty="0"/>
          </a:p>
        </p:txBody>
      </p:sp>
      <p:sp>
        <p:nvSpPr>
          <p:cNvPr id="38" name="Text 36"/>
          <p:cNvSpPr txBox="1"/>
          <p:nvPr/>
        </p:nvSpPr>
        <p:spPr>
          <a:xfrm>
            <a:off x="1133856" y="521208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Tidak bisa diaudit</a:t>
            </a:r>
            <a:endParaRPr lang="en-US" sz="1450" dirty="0"/>
          </a:p>
        </p:txBody>
      </p:sp>
      <p:sp>
        <p:nvSpPr>
          <p:cNvPr id="39" name="Text 37"/>
          <p:cNvSpPr txBox="1"/>
          <p:nvPr/>
        </p:nvSpPr>
        <p:spPr>
          <a:xfrm>
            <a:off x="1133856" y="548640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Tidak ada acuan untuk menilai hasilnya benar atau salah.</a:t>
            </a:r>
            <a:endParaRPr lang="en-US" sz="1050" dirty="0"/>
          </a:p>
        </p:txBody>
      </p:sp>
      <p:sp>
        <p:nvSpPr>
          <p:cNvPr id="40" name="Text 38"/>
          <p:cNvSpPr txBox="1"/>
          <p:nvPr/>
        </p:nvSpPr>
        <p:spPr>
          <a:xfrm>
            <a:off x="6428232" y="5212080"/>
            <a:ext cx="237744" cy="219456"/>
          </a:xfrm>
          <a:prstGeom prst="rect">
            <a:avLst/>
          </a:prstGeom>
          <a:noFill/>
          <a:ln/>
        </p:spPr>
        <p:txBody>
          <a:bodyPr wrap="square" lIns="0" tIns="0" rIns="0" bIns="0" rtlCol="0" anchor="ctr"/>
          <a:lstStyle/>
          <a:p>
            <a:pPr algn="l" indent="0" marL="0">
              <a:lnSpc>
                <a:spcPct val="122000"/>
              </a:lnSpc>
              <a:buNone/>
            </a:pPr>
            <a:r>
              <a:rPr lang="en-US" sz="1050" b="1" dirty="0">
                <a:solidFill>
                  <a:srgbClr val="5F7A63"/>
                </a:solidFill>
                <a:latin typeface="Calibri" pitchFamily="34" charset="0"/>
                <a:ea typeface="Calibri" pitchFamily="34" charset="-122"/>
                <a:cs typeface="Calibri" pitchFamily="34" charset="-120"/>
              </a:rPr>
              <a:t>✓</a:t>
            </a:r>
            <a:endParaRPr lang="en-US" sz="1050" dirty="0"/>
          </a:p>
        </p:txBody>
      </p:sp>
      <p:sp>
        <p:nvSpPr>
          <p:cNvPr id="41" name="Text 39"/>
          <p:cNvSpPr txBox="1"/>
          <p:nvPr/>
        </p:nvSpPr>
        <p:spPr>
          <a:xfrm>
            <a:off x="6739128" y="5212080"/>
            <a:ext cx="45720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Bisa diaudit siapa saja</a:t>
            </a:r>
            <a:endParaRPr lang="en-US" sz="1450" dirty="0"/>
          </a:p>
        </p:txBody>
      </p:sp>
      <p:sp>
        <p:nvSpPr>
          <p:cNvPr id="42" name="Text 40"/>
          <p:cNvSpPr txBox="1"/>
          <p:nvPr/>
        </p:nvSpPr>
        <p:spPr>
          <a:xfrm>
            <a:off x="6739128" y="5486400"/>
            <a:ext cx="4480560" cy="256032"/>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Hasil kerja AI bisa dibandingkan langsung dengan dokumennya.</a:t>
            </a:r>
            <a:endParaRPr lang="en-US" sz="1050" dirty="0"/>
          </a:p>
        </p:txBody>
      </p:sp>
      <p:sp>
        <p:nvSpPr>
          <p:cNvPr id="43" name="Text 41"/>
          <p:cNvSpPr txBox="1"/>
          <p:nvPr/>
        </p:nvSpPr>
        <p:spPr>
          <a:xfrm>
            <a:off x="822960" y="5852160"/>
            <a:ext cx="10545775" cy="310896"/>
          </a:xfrm>
          <a:prstGeom prst="rect">
            <a:avLst/>
          </a:prstGeom>
          <a:noFill/>
          <a:ln/>
        </p:spPr>
        <p:txBody>
          <a:bodyPr wrap="square" lIns="0" tIns="0" rIns="0" bIns="0" rtlCol="0" anchor="ctr"/>
          <a:lstStyle/>
          <a:p>
            <a:pPr algn="ctr" indent="0" marL="0">
              <a:lnSpc>
                <a:spcPct val="122000"/>
              </a:lnSpc>
              <a:buNone/>
            </a:pPr>
            <a:r>
              <a:rPr lang="en-US" sz="1650" b="1" dirty="0">
                <a:solidFill>
                  <a:srgbClr val="635C77"/>
                </a:solidFill>
                <a:latin typeface="Calibri" pitchFamily="34" charset="0"/>
                <a:ea typeface="Calibri" pitchFamily="34" charset="-122"/>
                <a:cs typeface="Calibri" pitchFamily="34" charset="-120"/>
              </a:rPr>
              <a:t>Dokumen ditulis lebih dulu. Kode menyusul sebagai konsekuensinya.</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04  ·  DOCUMENTATION</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Documentation Stack</a:t>
            </a:r>
            <a:endParaRPr lang="en-US" sz="3400" dirty="0"/>
          </a:p>
        </p:txBody>
      </p:sp>
      <p:sp>
        <p:nvSpPr>
          <p:cNvPr id="5" name="Text 3"/>
          <p:cNvSpPr txBox="1"/>
          <p:nvPr/>
        </p:nvSpPr>
        <p:spPr>
          <a:xfrm>
            <a:off x="822960" y="1536192"/>
            <a:ext cx="731520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Calibri" pitchFamily="34" charset="0"/>
                <a:ea typeface="Calibri" pitchFamily="34" charset="-122"/>
                <a:cs typeface="Calibri" pitchFamily="34" charset="-120"/>
              </a:rPr>
              <a:t>Empat dokumen yang menumpuk jadi satu blueprint. Inilah yang sebenarnya Anda serahkan ke AI Agent.</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16</a:t>
            </a:r>
            <a:endParaRPr lang="en-US" sz="800" dirty="0"/>
          </a:p>
        </p:txBody>
      </p:sp>
      <p:sp>
        <p:nvSpPr>
          <p:cNvPr id="8" name="Shape 6"/>
          <p:cNvSpPr/>
          <p:nvPr/>
        </p:nvSpPr>
        <p:spPr>
          <a:xfrm>
            <a:off x="914400" y="2240280"/>
            <a:ext cx="4023360" cy="960120"/>
          </a:xfrm>
          <a:prstGeom prst="roundRect">
            <a:avLst>
              <a:gd name="adj" fmla="val 10476"/>
            </a:avLst>
          </a:prstGeom>
          <a:solidFill>
            <a:srgbClr val="EFEBF3"/>
          </a:solidFill>
          <a:ln w="12700">
            <a:solidFill>
              <a:srgbClr val="B5AEC6"/>
            </a:solidFill>
            <a:prstDash val="solid"/>
          </a:ln>
          <a:effectLst>
            <a:outerShdw sx="100000" sy="100000" kx="0" ky="0" algn="bl" rotWithShape="0" blurRad="165100" dist="38100" dir="5400000">
              <a:srgbClr val="9E9686">
                <a:alpha val="15000"/>
              </a:srgbClr>
            </a:outerShdw>
          </a:effectLst>
        </p:spPr>
      </p:sp>
      <p:sp>
        <p:nvSpPr>
          <p:cNvPr id="9" name="Shape 7"/>
          <p:cNvSpPr/>
          <p:nvPr/>
        </p:nvSpPr>
        <p:spPr>
          <a:xfrm>
            <a:off x="1152144" y="2423160"/>
            <a:ext cx="1298448" cy="274320"/>
          </a:xfrm>
          <a:prstGeom prst="roundRect">
            <a:avLst>
              <a:gd name="adj" fmla="val 50000"/>
            </a:avLst>
          </a:prstGeom>
          <a:solidFill>
            <a:srgbClr val="FFFFFF"/>
          </a:solidFill>
          <a:ln w="12700">
            <a:solidFill>
              <a:srgbClr val="B5AEC6"/>
            </a:solidFill>
            <a:prstDash val="solid"/>
          </a:ln>
        </p:spPr>
      </p:sp>
      <p:sp>
        <p:nvSpPr>
          <p:cNvPr id="10" name="Text 8"/>
          <p:cNvSpPr txBox="1"/>
          <p:nvPr/>
        </p:nvSpPr>
        <p:spPr>
          <a:xfrm>
            <a:off x="1243584" y="2423160"/>
            <a:ext cx="1115568" cy="274320"/>
          </a:xfrm>
          <a:prstGeom prst="rect">
            <a:avLst/>
          </a:prstGeom>
          <a:noFill/>
          <a:ln/>
        </p:spPr>
        <p:txBody>
          <a:bodyPr wrap="square" lIns="0" tIns="0" rIns="0" bIns="0" rtlCol="0" anchor="ctr"/>
          <a:lstStyle/>
          <a:p>
            <a:pPr algn="ctr" indent="0" marL="0">
              <a:lnSpc>
                <a:spcPct val="122000"/>
              </a:lnSpc>
              <a:buNone/>
            </a:pPr>
            <a:r>
              <a:rPr lang="en-US" sz="850" b="1" spc="60" kern="0" dirty="0">
                <a:solidFill>
                  <a:srgbClr val="635C77"/>
                </a:solidFill>
                <a:latin typeface="Calibri" pitchFamily="34" charset="0"/>
                <a:ea typeface="Calibri" pitchFamily="34" charset="-122"/>
                <a:cs typeface="Calibri" pitchFamily="34" charset="-120"/>
              </a:rPr>
              <a:t>PRD.md</a:t>
            </a:r>
            <a:endParaRPr lang="en-US" sz="850" dirty="0"/>
          </a:p>
        </p:txBody>
      </p:sp>
      <p:sp>
        <p:nvSpPr>
          <p:cNvPr id="11" name="Text 9"/>
          <p:cNvSpPr txBox="1"/>
          <p:nvPr/>
        </p:nvSpPr>
        <p:spPr>
          <a:xfrm>
            <a:off x="1152144" y="2788920"/>
            <a:ext cx="3547872" cy="274320"/>
          </a:xfrm>
          <a:prstGeom prst="rect">
            <a:avLst/>
          </a:prstGeom>
          <a:noFill/>
          <a:ln/>
        </p:spPr>
        <p:txBody>
          <a:bodyPr wrap="square" lIns="0" tIns="0" rIns="0" bIns="0" rtlCol="0" anchor="ctr"/>
          <a:lstStyle/>
          <a:p>
            <a:pPr algn="l" indent="0" marL="0">
              <a:lnSpc>
                <a:spcPct val="130000"/>
              </a:lnSpc>
              <a:buNone/>
            </a:pPr>
            <a:r>
              <a:rPr lang="en-US" sz="1050" dirty="0">
                <a:solidFill>
                  <a:srgbClr val="1A1A1A"/>
                </a:solidFill>
                <a:latin typeface="Calibri" pitchFamily="34" charset="0"/>
                <a:ea typeface="Calibri" pitchFamily="34" charset="-122"/>
                <a:cs typeface="Calibri" pitchFamily="34" charset="-120"/>
              </a:rPr>
              <a:t>Apa yang dibangun, dan untuk siapa</a:t>
            </a:r>
            <a:endParaRPr lang="en-US" sz="1050" dirty="0"/>
          </a:p>
        </p:txBody>
      </p:sp>
      <p:sp>
        <p:nvSpPr>
          <p:cNvPr id="12" name="Text 10"/>
          <p:cNvSpPr txBox="1"/>
          <p:nvPr/>
        </p:nvSpPr>
        <p:spPr>
          <a:xfrm>
            <a:off x="4370832" y="2423160"/>
            <a:ext cx="365760" cy="274320"/>
          </a:xfrm>
          <a:prstGeom prst="rect">
            <a:avLst/>
          </a:prstGeom>
          <a:noFill/>
          <a:ln/>
        </p:spPr>
        <p:txBody>
          <a:bodyPr wrap="square" lIns="0" tIns="0" rIns="0" bIns="0" rtlCol="0" anchor="ctr"/>
          <a:lstStyle/>
          <a:p>
            <a:pPr algn="r" indent="0" marL="0">
              <a:lnSpc>
                <a:spcPct val="122000"/>
              </a:lnSpc>
              <a:buNone/>
            </a:pPr>
            <a:r>
              <a:rPr lang="en-US" sz="850" b="1" spc="80" kern="0" dirty="0">
                <a:solidFill>
                  <a:srgbClr val="635C77"/>
                </a:solidFill>
                <a:latin typeface="Calibri" pitchFamily="34" charset="0"/>
                <a:ea typeface="Calibri" pitchFamily="34" charset="-122"/>
                <a:cs typeface="Calibri" pitchFamily="34" charset="-120"/>
              </a:rPr>
              <a:t>01</a:t>
            </a:r>
            <a:endParaRPr lang="en-US" sz="850" dirty="0"/>
          </a:p>
        </p:txBody>
      </p:sp>
      <p:sp>
        <p:nvSpPr>
          <p:cNvPr id="13" name="Shape 11"/>
          <p:cNvSpPr/>
          <p:nvPr/>
        </p:nvSpPr>
        <p:spPr>
          <a:xfrm>
            <a:off x="1298448" y="3108960"/>
            <a:ext cx="4023360" cy="960120"/>
          </a:xfrm>
          <a:prstGeom prst="roundRect">
            <a:avLst>
              <a:gd name="adj" fmla="val 10476"/>
            </a:avLst>
          </a:prstGeom>
          <a:solidFill>
            <a:srgbClr val="E7E2EE"/>
          </a:solidFill>
          <a:ln w="12700">
            <a:solidFill>
              <a:srgbClr val="B5AEC6"/>
            </a:solidFill>
            <a:prstDash val="solid"/>
          </a:ln>
          <a:effectLst>
            <a:outerShdw sx="100000" sy="100000" kx="0" ky="0" algn="bl" rotWithShape="0" blurRad="165100" dist="38100" dir="5400000">
              <a:srgbClr val="9E9686">
                <a:alpha val="15000"/>
              </a:srgbClr>
            </a:outerShdw>
          </a:effectLst>
        </p:spPr>
      </p:sp>
      <p:sp>
        <p:nvSpPr>
          <p:cNvPr id="14" name="Shape 12"/>
          <p:cNvSpPr/>
          <p:nvPr/>
        </p:nvSpPr>
        <p:spPr>
          <a:xfrm>
            <a:off x="1536192" y="3291840"/>
            <a:ext cx="1298448" cy="274320"/>
          </a:xfrm>
          <a:prstGeom prst="roundRect">
            <a:avLst>
              <a:gd name="adj" fmla="val 50000"/>
            </a:avLst>
          </a:prstGeom>
          <a:solidFill>
            <a:srgbClr val="FFFFFF"/>
          </a:solidFill>
          <a:ln w="12700">
            <a:solidFill>
              <a:srgbClr val="B5AEC6"/>
            </a:solidFill>
            <a:prstDash val="solid"/>
          </a:ln>
        </p:spPr>
      </p:sp>
      <p:sp>
        <p:nvSpPr>
          <p:cNvPr id="15" name="Text 13"/>
          <p:cNvSpPr txBox="1"/>
          <p:nvPr/>
        </p:nvSpPr>
        <p:spPr>
          <a:xfrm>
            <a:off x="1627632" y="3291840"/>
            <a:ext cx="1115568" cy="274320"/>
          </a:xfrm>
          <a:prstGeom prst="rect">
            <a:avLst/>
          </a:prstGeom>
          <a:noFill/>
          <a:ln/>
        </p:spPr>
        <p:txBody>
          <a:bodyPr wrap="square" lIns="0" tIns="0" rIns="0" bIns="0" rtlCol="0" anchor="ctr"/>
          <a:lstStyle/>
          <a:p>
            <a:pPr algn="ctr" indent="0" marL="0">
              <a:lnSpc>
                <a:spcPct val="122000"/>
              </a:lnSpc>
              <a:buNone/>
            </a:pPr>
            <a:r>
              <a:rPr lang="en-US" sz="850" b="1" spc="60" kern="0" dirty="0">
                <a:solidFill>
                  <a:srgbClr val="635C77"/>
                </a:solidFill>
                <a:latin typeface="Calibri" pitchFamily="34" charset="0"/>
                <a:ea typeface="Calibri" pitchFamily="34" charset="-122"/>
                <a:cs typeface="Calibri" pitchFamily="34" charset="-120"/>
              </a:rPr>
              <a:t>SCOPE.md</a:t>
            </a:r>
            <a:endParaRPr lang="en-US" sz="850" dirty="0"/>
          </a:p>
        </p:txBody>
      </p:sp>
      <p:sp>
        <p:nvSpPr>
          <p:cNvPr id="16" name="Text 14"/>
          <p:cNvSpPr txBox="1"/>
          <p:nvPr/>
        </p:nvSpPr>
        <p:spPr>
          <a:xfrm>
            <a:off x="1536192" y="3657600"/>
            <a:ext cx="3547872" cy="274320"/>
          </a:xfrm>
          <a:prstGeom prst="rect">
            <a:avLst/>
          </a:prstGeom>
          <a:noFill/>
          <a:ln/>
        </p:spPr>
        <p:txBody>
          <a:bodyPr wrap="square" lIns="0" tIns="0" rIns="0" bIns="0" rtlCol="0" anchor="ctr"/>
          <a:lstStyle/>
          <a:p>
            <a:pPr algn="l" indent="0" marL="0">
              <a:lnSpc>
                <a:spcPct val="130000"/>
              </a:lnSpc>
              <a:buNone/>
            </a:pPr>
            <a:r>
              <a:rPr lang="en-US" sz="1050" dirty="0">
                <a:solidFill>
                  <a:srgbClr val="1A1A1A"/>
                </a:solidFill>
                <a:latin typeface="Calibri" pitchFamily="34" charset="0"/>
                <a:ea typeface="Calibri" pitchFamily="34" charset="-122"/>
                <a:cs typeface="Calibri" pitchFamily="34" charset="-120"/>
              </a:rPr>
              <a:t>Sampai mana batasnya, dan apa yang tidak dikerjakan</a:t>
            </a:r>
            <a:endParaRPr lang="en-US" sz="1050" dirty="0"/>
          </a:p>
        </p:txBody>
      </p:sp>
      <p:sp>
        <p:nvSpPr>
          <p:cNvPr id="17" name="Text 15"/>
          <p:cNvSpPr txBox="1"/>
          <p:nvPr/>
        </p:nvSpPr>
        <p:spPr>
          <a:xfrm>
            <a:off x="4754880" y="3291840"/>
            <a:ext cx="365760" cy="274320"/>
          </a:xfrm>
          <a:prstGeom prst="rect">
            <a:avLst/>
          </a:prstGeom>
          <a:noFill/>
          <a:ln/>
        </p:spPr>
        <p:txBody>
          <a:bodyPr wrap="square" lIns="0" tIns="0" rIns="0" bIns="0" rtlCol="0" anchor="ctr"/>
          <a:lstStyle/>
          <a:p>
            <a:pPr algn="r" indent="0" marL="0">
              <a:lnSpc>
                <a:spcPct val="122000"/>
              </a:lnSpc>
              <a:buNone/>
            </a:pPr>
            <a:r>
              <a:rPr lang="en-US" sz="850" b="1" spc="80" kern="0" dirty="0">
                <a:solidFill>
                  <a:srgbClr val="635C77"/>
                </a:solidFill>
                <a:latin typeface="Calibri" pitchFamily="34" charset="0"/>
                <a:ea typeface="Calibri" pitchFamily="34" charset="-122"/>
                <a:cs typeface="Calibri" pitchFamily="34" charset="-120"/>
              </a:rPr>
              <a:t>02</a:t>
            </a:r>
            <a:endParaRPr lang="en-US" sz="850" dirty="0"/>
          </a:p>
        </p:txBody>
      </p:sp>
      <p:sp>
        <p:nvSpPr>
          <p:cNvPr id="18" name="Shape 16"/>
          <p:cNvSpPr/>
          <p:nvPr/>
        </p:nvSpPr>
        <p:spPr>
          <a:xfrm>
            <a:off x="1682496" y="3977640"/>
            <a:ext cx="4023360" cy="960120"/>
          </a:xfrm>
          <a:prstGeom prst="roundRect">
            <a:avLst>
              <a:gd name="adj" fmla="val 10476"/>
            </a:avLst>
          </a:prstGeom>
          <a:solidFill>
            <a:srgbClr val="DFD9E9"/>
          </a:solidFill>
          <a:ln w="12700">
            <a:solidFill>
              <a:srgbClr val="B5AEC6"/>
            </a:solidFill>
            <a:prstDash val="solid"/>
          </a:ln>
          <a:effectLst>
            <a:outerShdw sx="100000" sy="100000" kx="0" ky="0" algn="bl" rotWithShape="0" blurRad="165100" dist="38100" dir="5400000">
              <a:srgbClr val="9E9686">
                <a:alpha val="15000"/>
              </a:srgbClr>
            </a:outerShdw>
          </a:effectLst>
        </p:spPr>
      </p:sp>
      <p:sp>
        <p:nvSpPr>
          <p:cNvPr id="19" name="Shape 17"/>
          <p:cNvSpPr/>
          <p:nvPr/>
        </p:nvSpPr>
        <p:spPr>
          <a:xfrm>
            <a:off x="1920240" y="4160520"/>
            <a:ext cx="1298448" cy="274320"/>
          </a:xfrm>
          <a:prstGeom prst="roundRect">
            <a:avLst>
              <a:gd name="adj" fmla="val 50000"/>
            </a:avLst>
          </a:prstGeom>
          <a:solidFill>
            <a:srgbClr val="FFFFFF"/>
          </a:solidFill>
          <a:ln w="12700">
            <a:solidFill>
              <a:srgbClr val="B5AEC6"/>
            </a:solidFill>
            <a:prstDash val="solid"/>
          </a:ln>
        </p:spPr>
      </p:sp>
      <p:sp>
        <p:nvSpPr>
          <p:cNvPr id="20" name="Text 18"/>
          <p:cNvSpPr txBox="1"/>
          <p:nvPr/>
        </p:nvSpPr>
        <p:spPr>
          <a:xfrm>
            <a:off x="2011680" y="4160520"/>
            <a:ext cx="1115568" cy="274320"/>
          </a:xfrm>
          <a:prstGeom prst="rect">
            <a:avLst/>
          </a:prstGeom>
          <a:noFill/>
          <a:ln/>
        </p:spPr>
        <p:txBody>
          <a:bodyPr wrap="square" lIns="0" tIns="0" rIns="0" bIns="0" rtlCol="0" anchor="ctr"/>
          <a:lstStyle/>
          <a:p>
            <a:pPr algn="ctr" indent="0" marL="0">
              <a:lnSpc>
                <a:spcPct val="122000"/>
              </a:lnSpc>
              <a:buNone/>
            </a:pPr>
            <a:r>
              <a:rPr lang="en-US" sz="850" b="1" spc="60" kern="0" dirty="0">
                <a:solidFill>
                  <a:srgbClr val="635C77"/>
                </a:solidFill>
                <a:latin typeface="Calibri" pitchFamily="34" charset="0"/>
                <a:ea typeface="Calibri" pitchFamily="34" charset="-122"/>
                <a:cs typeface="Calibri" pitchFamily="34" charset="-120"/>
              </a:rPr>
              <a:t>DESIGN.md</a:t>
            </a:r>
            <a:endParaRPr lang="en-US" sz="850" dirty="0"/>
          </a:p>
        </p:txBody>
      </p:sp>
      <p:sp>
        <p:nvSpPr>
          <p:cNvPr id="21" name="Text 19"/>
          <p:cNvSpPr txBox="1"/>
          <p:nvPr/>
        </p:nvSpPr>
        <p:spPr>
          <a:xfrm>
            <a:off x="1920240" y="4526280"/>
            <a:ext cx="3547872" cy="274320"/>
          </a:xfrm>
          <a:prstGeom prst="rect">
            <a:avLst/>
          </a:prstGeom>
          <a:noFill/>
          <a:ln/>
        </p:spPr>
        <p:txBody>
          <a:bodyPr wrap="square" lIns="0" tIns="0" rIns="0" bIns="0" rtlCol="0" anchor="ctr"/>
          <a:lstStyle/>
          <a:p>
            <a:pPr algn="l" indent="0" marL="0">
              <a:lnSpc>
                <a:spcPct val="130000"/>
              </a:lnSpc>
              <a:buNone/>
            </a:pPr>
            <a:r>
              <a:rPr lang="en-US" sz="1050" dirty="0">
                <a:solidFill>
                  <a:srgbClr val="1A1A1A"/>
                </a:solidFill>
                <a:latin typeface="Calibri" pitchFamily="34" charset="0"/>
                <a:ea typeface="Calibri" pitchFamily="34" charset="-122"/>
                <a:cs typeface="Calibri" pitchFamily="34" charset="-120"/>
              </a:rPr>
              <a:t>Bagaimana bentuk dan strukturnya</a:t>
            </a:r>
            <a:endParaRPr lang="en-US" sz="1050" dirty="0"/>
          </a:p>
        </p:txBody>
      </p:sp>
      <p:sp>
        <p:nvSpPr>
          <p:cNvPr id="22" name="Text 20"/>
          <p:cNvSpPr txBox="1"/>
          <p:nvPr/>
        </p:nvSpPr>
        <p:spPr>
          <a:xfrm>
            <a:off x="5138928" y="4160520"/>
            <a:ext cx="365760" cy="274320"/>
          </a:xfrm>
          <a:prstGeom prst="rect">
            <a:avLst/>
          </a:prstGeom>
          <a:noFill/>
          <a:ln/>
        </p:spPr>
        <p:txBody>
          <a:bodyPr wrap="square" lIns="0" tIns="0" rIns="0" bIns="0" rtlCol="0" anchor="ctr"/>
          <a:lstStyle/>
          <a:p>
            <a:pPr algn="r" indent="0" marL="0">
              <a:lnSpc>
                <a:spcPct val="122000"/>
              </a:lnSpc>
              <a:buNone/>
            </a:pPr>
            <a:r>
              <a:rPr lang="en-US" sz="850" b="1" spc="80" kern="0" dirty="0">
                <a:solidFill>
                  <a:srgbClr val="635C77"/>
                </a:solidFill>
                <a:latin typeface="Calibri" pitchFamily="34" charset="0"/>
                <a:ea typeface="Calibri" pitchFamily="34" charset="-122"/>
                <a:cs typeface="Calibri" pitchFamily="34" charset="-120"/>
              </a:rPr>
              <a:t>03</a:t>
            </a:r>
            <a:endParaRPr lang="en-US" sz="850" dirty="0"/>
          </a:p>
        </p:txBody>
      </p:sp>
      <p:sp>
        <p:nvSpPr>
          <p:cNvPr id="23" name="Shape 21"/>
          <p:cNvSpPr/>
          <p:nvPr/>
        </p:nvSpPr>
        <p:spPr>
          <a:xfrm>
            <a:off x="2066544" y="4846320"/>
            <a:ext cx="4023360" cy="960120"/>
          </a:xfrm>
          <a:prstGeom prst="roundRect">
            <a:avLst>
              <a:gd name="adj" fmla="val 10476"/>
            </a:avLst>
          </a:prstGeom>
          <a:solidFill>
            <a:srgbClr val="D6CFE4"/>
          </a:solidFill>
          <a:ln w="12700">
            <a:solidFill>
              <a:srgbClr val="B5AEC6"/>
            </a:solidFill>
            <a:prstDash val="solid"/>
          </a:ln>
          <a:effectLst>
            <a:outerShdw sx="100000" sy="100000" kx="0" ky="0" algn="bl" rotWithShape="0" blurRad="165100" dist="38100" dir="5400000">
              <a:srgbClr val="9E9686">
                <a:alpha val="15000"/>
              </a:srgbClr>
            </a:outerShdw>
          </a:effectLst>
        </p:spPr>
      </p:sp>
      <p:sp>
        <p:nvSpPr>
          <p:cNvPr id="24" name="Shape 22"/>
          <p:cNvSpPr/>
          <p:nvPr/>
        </p:nvSpPr>
        <p:spPr>
          <a:xfrm>
            <a:off x="2304288" y="5029200"/>
            <a:ext cx="1298448" cy="274320"/>
          </a:xfrm>
          <a:prstGeom prst="roundRect">
            <a:avLst>
              <a:gd name="adj" fmla="val 50000"/>
            </a:avLst>
          </a:prstGeom>
          <a:solidFill>
            <a:srgbClr val="FFFFFF"/>
          </a:solidFill>
          <a:ln w="12700">
            <a:solidFill>
              <a:srgbClr val="B5AEC6"/>
            </a:solidFill>
            <a:prstDash val="solid"/>
          </a:ln>
        </p:spPr>
      </p:sp>
      <p:sp>
        <p:nvSpPr>
          <p:cNvPr id="25" name="Text 23"/>
          <p:cNvSpPr txBox="1"/>
          <p:nvPr/>
        </p:nvSpPr>
        <p:spPr>
          <a:xfrm>
            <a:off x="2395728" y="5029200"/>
            <a:ext cx="1115568" cy="274320"/>
          </a:xfrm>
          <a:prstGeom prst="rect">
            <a:avLst/>
          </a:prstGeom>
          <a:noFill/>
          <a:ln/>
        </p:spPr>
        <p:txBody>
          <a:bodyPr wrap="square" lIns="0" tIns="0" rIns="0" bIns="0" rtlCol="0" anchor="ctr"/>
          <a:lstStyle/>
          <a:p>
            <a:pPr algn="ctr" indent="0" marL="0">
              <a:lnSpc>
                <a:spcPct val="122000"/>
              </a:lnSpc>
              <a:buNone/>
            </a:pPr>
            <a:r>
              <a:rPr lang="en-US" sz="850" b="1" spc="60" kern="0" dirty="0">
                <a:solidFill>
                  <a:srgbClr val="635C77"/>
                </a:solidFill>
                <a:latin typeface="Calibri" pitchFamily="34" charset="0"/>
                <a:ea typeface="Calibri" pitchFamily="34" charset="-122"/>
                <a:cs typeface="Calibri" pitchFamily="34" charset="-120"/>
              </a:rPr>
              <a:t>TASK.md</a:t>
            </a:r>
            <a:endParaRPr lang="en-US" sz="850" dirty="0"/>
          </a:p>
        </p:txBody>
      </p:sp>
      <p:sp>
        <p:nvSpPr>
          <p:cNvPr id="26" name="Text 24"/>
          <p:cNvSpPr txBox="1"/>
          <p:nvPr/>
        </p:nvSpPr>
        <p:spPr>
          <a:xfrm>
            <a:off x="2304288" y="5394960"/>
            <a:ext cx="3547872" cy="274320"/>
          </a:xfrm>
          <a:prstGeom prst="rect">
            <a:avLst/>
          </a:prstGeom>
          <a:noFill/>
          <a:ln/>
        </p:spPr>
        <p:txBody>
          <a:bodyPr wrap="square" lIns="0" tIns="0" rIns="0" bIns="0" rtlCol="0" anchor="ctr"/>
          <a:lstStyle/>
          <a:p>
            <a:pPr algn="l" indent="0" marL="0">
              <a:lnSpc>
                <a:spcPct val="130000"/>
              </a:lnSpc>
              <a:buNone/>
            </a:pPr>
            <a:r>
              <a:rPr lang="en-US" sz="1050" dirty="0">
                <a:solidFill>
                  <a:srgbClr val="1A1A1A"/>
                </a:solidFill>
                <a:latin typeface="Calibri" pitchFamily="34" charset="0"/>
                <a:ea typeface="Calibri" pitchFamily="34" charset="-122"/>
                <a:cs typeface="Calibri" pitchFamily="34" charset="-120"/>
              </a:rPr>
              <a:t>Dalam urutan apa dikerjakan</a:t>
            </a:r>
            <a:endParaRPr lang="en-US" sz="1050" dirty="0"/>
          </a:p>
        </p:txBody>
      </p:sp>
      <p:sp>
        <p:nvSpPr>
          <p:cNvPr id="27" name="Text 25"/>
          <p:cNvSpPr txBox="1"/>
          <p:nvPr/>
        </p:nvSpPr>
        <p:spPr>
          <a:xfrm>
            <a:off x="5522976" y="5029200"/>
            <a:ext cx="365760" cy="274320"/>
          </a:xfrm>
          <a:prstGeom prst="rect">
            <a:avLst/>
          </a:prstGeom>
          <a:noFill/>
          <a:ln/>
        </p:spPr>
        <p:txBody>
          <a:bodyPr wrap="square" lIns="0" tIns="0" rIns="0" bIns="0" rtlCol="0" anchor="ctr"/>
          <a:lstStyle/>
          <a:p>
            <a:pPr algn="r" indent="0" marL="0">
              <a:lnSpc>
                <a:spcPct val="122000"/>
              </a:lnSpc>
              <a:buNone/>
            </a:pPr>
            <a:r>
              <a:rPr lang="en-US" sz="850" b="1" spc="80" kern="0" dirty="0">
                <a:solidFill>
                  <a:srgbClr val="635C77"/>
                </a:solidFill>
                <a:latin typeface="Calibri" pitchFamily="34" charset="0"/>
                <a:ea typeface="Calibri" pitchFamily="34" charset="-122"/>
                <a:cs typeface="Calibri" pitchFamily="34" charset="-120"/>
              </a:rPr>
              <a:t>04</a:t>
            </a:r>
            <a:endParaRPr lang="en-US" sz="850" dirty="0"/>
          </a:p>
        </p:txBody>
      </p:sp>
      <p:sp>
        <p:nvSpPr>
          <p:cNvPr id="28" name="Shape 26"/>
          <p:cNvSpPr/>
          <p:nvPr/>
        </p:nvSpPr>
        <p:spPr>
          <a:xfrm>
            <a:off x="5394960" y="4041648"/>
            <a:ext cx="466344" cy="0"/>
          </a:xfrm>
          <a:prstGeom prst="line">
            <a:avLst/>
          </a:prstGeom>
          <a:noFill/>
          <a:ln w="15875">
            <a:solidFill>
              <a:srgbClr val="B5AEC6"/>
            </a:solidFill>
            <a:prstDash val="solid"/>
          </a:ln>
        </p:spPr>
      </p:sp>
      <p:sp>
        <p:nvSpPr>
          <p:cNvPr id="29" name="Shape 27"/>
          <p:cNvSpPr/>
          <p:nvPr/>
        </p:nvSpPr>
        <p:spPr>
          <a:xfrm rot="5400000">
            <a:off x="5852160" y="3991356"/>
            <a:ext cx="91440" cy="100584"/>
          </a:xfrm>
          <a:prstGeom prst="triangle">
            <a:avLst/>
          </a:prstGeom>
          <a:solidFill>
            <a:srgbClr val="B5AEC6"/>
          </a:solidFill>
          <a:ln/>
        </p:spPr>
      </p:sp>
      <p:sp>
        <p:nvSpPr>
          <p:cNvPr id="30" name="Text 28"/>
          <p:cNvSpPr txBox="1"/>
          <p:nvPr/>
        </p:nvSpPr>
        <p:spPr>
          <a:xfrm>
            <a:off x="6309360" y="2240280"/>
            <a:ext cx="5056632" cy="219456"/>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BLUEPRINT STACK</a:t>
            </a:r>
            <a:endParaRPr lang="en-US" sz="850" dirty="0"/>
          </a:p>
        </p:txBody>
      </p:sp>
      <p:sp>
        <p:nvSpPr>
          <p:cNvPr id="31" name="Text 29"/>
          <p:cNvSpPr txBox="1"/>
          <p:nvPr/>
        </p:nvSpPr>
        <p:spPr>
          <a:xfrm>
            <a:off x="6309360" y="2578608"/>
            <a:ext cx="5056632" cy="822960"/>
          </a:xfrm>
          <a:prstGeom prst="rect">
            <a:avLst/>
          </a:prstGeom>
          <a:noFill/>
          <a:ln/>
        </p:spPr>
        <p:txBody>
          <a:bodyPr wrap="square" lIns="0" tIns="0" rIns="0" bIns="0" rtlCol="0" anchor="t"/>
          <a:lstStyle/>
          <a:p>
            <a:pPr algn="l" indent="0" marL="0">
              <a:lnSpc>
                <a:spcPct val="125000"/>
              </a:lnSpc>
              <a:buNone/>
            </a:pPr>
            <a:r>
              <a:rPr lang="en-US" sz="2400" b="1" dirty="0">
                <a:solidFill>
                  <a:srgbClr val="1A1A1A"/>
                </a:solidFill>
                <a:latin typeface="Calibri" pitchFamily="34" charset="0"/>
                <a:ea typeface="Calibri" pitchFamily="34" charset="-122"/>
                <a:cs typeface="Calibri" pitchFamily="34" charset="-120"/>
              </a:rPr>
              <a:t>Empat lapis yang saling</a:t>
            </a:r>
            <a:endParaRPr lang="en-US" sz="2400" dirty="0"/>
          </a:p>
          <a:p>
            <a:pPr algn="l" indent="0" marL="0">
              <a:lnSpc>
                <a:spcPct val="125000"/>
              </a:lnSpc>
              <a:buNone/>
            </a:pPr>
            <a:r>
              <a:rPr lang="en-US" sz="2400" b="1" dirty="0">
                <a:solidFill>
                  <a:srgbClr val="1A1A1A"/>
                </a:solidFill>
                <a:latin typeface="Calibri" pitchFamily="34" charset="0"/>
                <a:ea typeface="Calibri" pitchFamily="34" charset="-122"/>
                <a:cs typeface="Calibri" pitchFamily="34" charset="-120"/>
              </a:rPr>
              <a:t>mengunci</a:t>
            </a:r>
            <a:endParaRPr lang="en-US" sz="2400" dirty="0"/>
          </a:p>
        </p:txBody>
      </p:sp>
      <p:sp>
        <p:nvSpPr>
          <p:cNvPr id="32" name="Text 30"/>
          <p:cNvSpPr txBox="1"/>
          <p:nvPr/>
        </p:nvSpPr>
        <p:spPr>
          <a:xfrm>
            <a:off x="6309360" y="3584448"/>
            <a:ext cx="4937760" cy="1371600"/>
          </a:xfrm>
          <a:prstGeom prst="rect">
            <a:avLst/>
          </a:prstGeom>
          <a:noFill/>
          <a:ln/>
        </p:spPr>
        <p:txBody>
          <a:bodyPr wrap="square" lIns="0" tIns="0" rIns="0" bIns="0" rtlCol="0" anchor="t"/>
          <a:lstStyle/>
          <a:p>
            <a:pPr algn="l" indent="0" marL="0">
              <a:lnSpc>
                <a:spcPct val="160000"/>
              </a:lnSpc>
              <a:buNone/>
            </a:pPr>
            <a:r>
              <a:rPr lang="en-US" sz="1250" dirty="0">
                <a:solidFill>
                  <a:srgbClr val="5F5F5F"/>
                </a:solidFill>
                <a:latin typeface="Calibri" pitchFamily="34" charset="0"/>
                <a:ea typeface="Calibri" pitchFamily="34" charset="-122"/>
                <a:cs typeface="Calibri" pitchFamily="34" charset="-120"/>
              </a:rPr>
              <a:t>Setiap lapis menjawab pertanyaan berbeda, dan setiap lapis membatasi lapis berikutnya. PRD menentukan isi Scope. Scope menentukan isi Design. Design menentukan isi Task. Kalau satu lapis dilewati, lapis di bawahnya kehilangan pijakan.</a:t>
            </a:r>
            <a:endParaRPr lang="en-US" sz="1250" dirty="0"/>
          </a:p>
        </p:txBody>
      </p:sp>
      <p:sp>
        <p:nvSpPr>
          <p:cNvPr id="33" name="Shape 31"/>
          <p:cNvSpPr/>
          <p:nvPr/>
        </p:nvSpPr>
        <p:spPr>
          <a:xfrm>
            <a:off x="6309360" y="5120640"/>
            <a:ext cx="5056632" cy="0"/>
          </a:xfrm>
          <a:prstGeom prst="line">
            <a:avLst/>
          </a:prstGeom>
          <a:noFill/>
          <a:ln w="12700">
            <a:solidFill>
              <a:srgbClr val="DDD7CF"/>
            </a:solidFill>
            <a:prstDash val="solid"/>
          </a:ln>
        </p:spPr>
      </p:sp>
      <p:sp>
        <p:nvSpPr>
          <p:cNvPr id="34" name="Text 32"/>
          <p:cNvSpPr txBox="1"/>
          <p:nvPr/>
        </p:nvSpPr>
        <p:spPr>
          <a:xfrm>
            <a:off x="6309360" y="5285232"/>
            <a:ext cx="5056632" cy="219456"/>
          </a:xfrm>
          <a:prstGeom prst="rect">
            <a:avLst/>
          </a:prstGeom>
          <a:noFill/>
          <a:ln/>
        </p:spPr>
        <p:txBody>
          <a:bodyPr wrap="square" lIns="0" tIns="0" rIns="0" bIns="0" rtlCol="0" anchor="ctr"/>
          <a:lstStyle/>
          <a:p>
            <a:pPr algn="l" indent="0" marL="0">
              <a:lnSpc>
                <a:spcPct val="122000"/>
              </a:lnSpc>
              <a:buNone/>
            </a:pPr>
            <a:r>
              <a:rPr lang="en-US" sz="850" b="1" spc="150" kern="0" dirty="0">
                <a:solidFill>
                  <a:srgbClr val="635C77"/>
                </a:solidFill>
                <a:latin typeface="Calibri" pitchFamily="34" charset="0"/>
                <a:ea typeface="Calibri" pitchFamily="34" charset="-122"/>
                <a:cs typeface="Calibri" pitchFamily="34" charset="-120"/>
              </a:rPr>
              <a:t>YANG DISERAHKAN KE AI AGENT</a:t>
            </a:r>
            <a:endParaRPr lang="en-US" sz="850" dirty="0"/>
          </a:p>
        </p:txBody>
      </p:sp>
      <p:sp>
        <p:nvSpPr>
          <p:cNvPr id="35" name="Text 33"/>
          <p:cNvSpPr txBox="1"/>
          <p:nvPr/>
        </p:nvSpPr>
        <p:spPr>
          <a:xfrm>
            <a:off x="6309360" y="5596128"/>
            <a:ext cx="5056632" cy="310896"/>
          </a:xfrm>
          <a:prstGeom prst="rect">
            <a:avLst/>
          </a:prstGeom>
          <a:noFill/>
          <a:ln/>
        </p:spPr>
        <p:txBody>
          <a:bodyPr wrap="square" lIns="0" tIns="0" rIns="0" bIns="0" rtlCol="0" anchor="ctr"/>
          <a:lstStyle/>
          <a:p>
            <a:pPr algn="l" indent="0" marL="0">
              <a:lnSpc>
                <a:spcPct val="122000"/>
              </a:lnSpc>
              <a:buNone/>
            </a:pPr>
            <a:r>
              <a:rPr lang="en-US" sz="1300" i="1" dirty="0">
                <a:solidFill>
                  <a:srgbClr val="1A1A1A"/>
                </a:solidFill>
                <a:latin typeface="Calibri" pitchFamily="34" charset="0"/>
                <a:ea typeface="Calibri" pitchFamily="34" charset="-122"/>
                <a:cs typeface="Calibri" pitchFamily="34" charset="-120"/>
              </a:rPr>
              <a:t>Empat file, satu folder. Itu seluruh konteksnya.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1C2B"/>
        </a:solidFill>
      </p:bgPr>
    </p:bg>
    <p:spTree>
      <p:nvGrpSpPr>
        <p:cNvPr id="1" name=""/>
        <p:cNvGrpSpPr/>
        <p:nvPr/>
      </p:nvGrpSpPr>
      <p:grpSpPr>
        <a:xfrm>
          <a:off x="0" y="0"/>
          <a:ext cx="0" cy="0"/>
          <a:chOff x="0" y="0"/>
          <a:chExt cx="0" cy="0"/>
        </a:xfrm>
      </p:grpSpPr>
      <p:sp>
        <p:nvSpPr>
          <p:cNvPr id="2" name="Shape 0"/>
          <p:cNvSpPr/>
          <p:nvPr/>
        </p:nvSpPr>
        <p:spPr>
          <a:xfrm>
            <a:off x="822960" y="955548"/>
            <a:ext cx="68580" cy="68580"/>
          </a:xfrm>
          <a:prstGeom prst="ellipse">
            <a:avLst/>
          </a:prstGeom>
          <a:solidFill>
            <a:srgbClr val="B5AEC6"/>
          </a:solidFill>
          <a:ln/>
        </p:spPr>
      </p:sp>
      <p:sp>
        <p:nvSpPr>
          <p:cNvPr id="3" name="Text 1"/>
          <p:cNvSpPr txBox="1"/>
          <p:nvPr/>
        </p:nvSpPr>
        <p:spPr>
          <a:xfrm>
            <a:off x="978408" y="896112"/>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B5AEC6"/>
                </a:solidFill>
                <a:latin typeface="Calibri" pitchFamily="34" charset="0"/>
                <a:ea typeface="Calibri" pitchFamily="34" charset="-122"/>
                <a:cs typeface="Calibri" pitchFamily="34" charset="-120"/>
              </a:rPr>
              <a:t>SECTION 04  ·  DOCUMENTATION</a:t>
            </a:r>
            <a:endParaRPr lang="en-US" sz="850" dirty="0"/>
          </a:p>
        </p:txBody>
      </p:sp>
      <p:sp>
        <p:nvSpPr>
          <p:cNvPr id="4" name="Text 2"/>
          <p:cNvSpPr txBox="1"/>
          <p:nvPr/>
        </p:nvSpPr>
        <p:spPr>
          <a:xfrm>
            <a:off x="822960" y="2057400"/>
            <a:ext cx="9144000" cy="2103120"/>
          </a:xfrm>
          <a:prstGeom prst="rect">
            <a:avLst/>
          </a:prstGeom>
          <a:noFill/>
          <a:ln/>
        </p:spPr>
        <p:txBody>
          <a:bodyPr wrap="square" lIns="0" tIns="0" rIns="0" bIns="0" rtlCol="0" anchor="t"/>
          <a:lstStyle/>
          <a:p>
            <a:pPr algn="l" indent="0" marL="0">
              <a:lnSpc>
                <a:spcPct val="116000"/>
              </a:lnSpc>
              <a:buNone/>
            </a:pPr>
            <a:r>
              <a:rPr lang="en-US" sz="6800" b="1" dirty="0">
                <a:solidFill>
                  <a:srgbClr val="F8F4EF"/>
                </a:solidFill>
                <a:latin typeface="Calibri" pitchFamily="34" charset="0"/>
                <a:ea typeface="Calibri" pitchFamily="34" charset="-122"/>
                <a:cs typeface="Calibri" pitchFamily="34" charset="-120"/>
              </a:rPr>
              <a:t>Sekarang kita</a:t>
            </a:r>
            <a:endParaRPr lang="en-US" sz="6800" dirty="0"/>
          </a:p>
          <a:p>
            <a:pPr algn="l" indent="0" marL="0">
              <a:lnSpc>
                <a:spcPct val="116000"/>
              </a:lnSpc>
              <a:buNone/>
            </a:pPr>
            <a:r>
              <a:rPr lang="en-US" sz="6800" b="1" dirty="0">
                <a:solidFill>
                  <a:srgbClr val="F8F4EF"/>
                </a:solidFill>
                <a:latin typeface="Calibri" pitchFamily="34" charset="0"/>
                <a:ea typeface="Calibri" pitchFamily="34" charset="-122"/>
                <a:cs typeface="Calibri" pitchFamily="34" charset="-120"/>
              </a:rPr>
              <a:t>buka IDE.</a:t>
            </a:r>
            <a:endParaRPr lang="en-US" sz="6800" dirty="0"/>
          </a:p>
        </p:txBody>
      </p:sp>
      <p:sp>
        <p:nvSpPr>
          <p:cNvPr id="5" name="Text 3"/>
          <p:cNvSpPr txBox="1"/>
          <p:nvPr/>
        </p:nvSpPr>
        <p:spPr>
          <a:xfrm>
            <a:off x="822960" y="4480560"/>
            <a:ext cx="7315200" cy="822960"/>
          </a:xfrm>
          <a:prstGeom prst="rect">
            <a:avLst/>
          </a:prstGeom>
          <a:noFill/>
          <a:ln/>
        </p:spPr>
        <p:txBody>
          <a:bodyPr wrap="square" lIns="0" tIns="0" rIns="0" bIns="0" rtlCol="0" anchor="t"/>
          <a:lstStyle/>
          <a:p>
            <a:pPr algn="l" indent="0" marL="0">
              <a:lnSpc>
                <a:spcPct val="155000"/>
              </a:lnSpc>
              <a:buNone/>
            </a:pPr>
            <a:r>
              <a:rPr lang="en-US" sz="1800" dirty="0">
                <a:solidFill>
                  <a:srgbClr val="A9A2BA"/>
                </a:solidFill>
                <a:latin typeface="Calibri" pitchFamily="34" charset="0"/>
                <a:ea typeface="Calibri" pitchFamily="34" charset="-122"/>
                <a:cs typeface="Calibri" pitchFamily="34" charset="-120"/>
              </a:rPr>
              <a:t>Empat template ini kita tulis langsung, bukan dibaca dari slide.</a:t>
            </a:r>
            <a:endParaRPr lang="en-US" sz="180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Calibri" pitchFamily="34" charset="0"/>
                <a:ea typeface="Calibri" pitchFamily="34" charset="-122"/>
                <a:cs typeface="Calibri" pitchFamily="34" charset="-120"/>
              </a:rPr>
              <a:t>17</a:t>
            </a:r>
            <a:endParaRPr lang="en-US" sz="800" dirty="0"/>
          </a:p>
        </p:txBody>
      </p:sp>
      <p:sp>
        <p:nvSpPr>
          <p:cNvPr id="8" name="Shape 6"/>
          <p:cNvSpPr/>
          <p:nvPr/>
        </p:nvSpPr>
        <p:spPr>
          <a:xfrm>
            <a:off x="822960" y="5212080"/>
            <a:ext cx="10543032" cy="0"/>
          </a:xfrm>
          <a:prstGeom prst="line">
            <a:avLst/>
          </a:prstGeom>
          <a:noFill/>
          <a:ln w="12700">
            <a:solidFill>
              <a:srgbClr val="463F59"/>
            </a:solidFill>
            <a:prstDash val="solid"/>
          </a:ln>
        </p:spPr>
      </p:sp>
      <p:sp>
        <p:nvSpPr>
          <p:cNvPr id="9" name="Text 7"/>
          <p:cNvSpPr txBox="1"/>
          <p:nvPr/>
        </p:nvSpPr>
        <p:spPr>
          <a:xfrm>
            <a:off x="822960" y="5431536"/>
            <a:ext cx="2560320" cy="292608"/>
          </a:xfrm>
          <a:prstGeom prst="rect">
            <a:avLst/>
          </a:prstGeom>
          <a:noFill/>
          <a:ln/>
        </p:spPr>
        <p:txBody>
          <a:bodyPr wrap="square" lIns="0" tIns="0" rIns="0" bIns="0" rtlCol="0" anchor="ctr"/>
          <a:lstStyle/>
          <a:p>
            <a:pPr algn="l" indent="0" marL="0">
              <a:lnSpc>
                <a:spcPct val="122000"/>
              </a:lnSpc>
              <a:buNone/>
            </a:pPr>
            <a:r>
              <a:rPr lang="en-US" sz="2000" b="1" dirty="0">
                <a:solidFill>
                  <a:srgbClr val="B5AEC6"/>
                </a:solidFill>
                <a:latin typeface="Calibri" pitchFamily="34" charset="0"/>
                <a:ea typeface="Calibri" pitchFamily="34" charset="-122"/>
                <a:cs typeface="Calibri" pitchFamily="34" charset="-120"/>
              </a:rPr>
              <a:t>PRD.md</a:t>
            </a:r>
            <a:endParaRPr lang="en-US" sz="2000" dirty="0"/>
          </a:p>
        </p:txBody>
      </p:sp>
      <p:sp>
        <p:nvSpPr>
          <p:cNvPr id="10" name="Text 8"/>
          <p:cNvSpPr txBox="1"/>
          <p:nvPr/>
        </p:nvSpPr>
        <p:spPr>
          <a:xfrm>
            <a:off x="3520440" y="5431536"/>
            <a:ext cx="2560320" cy="292608"/>
          </a:xfrm>
          <a:prstGeom prst="rect">
            <a:avLst/>
          </a:prstGeom>
          <a:noFill/>
          <a:ln/>
        </p:spPr>
        <p:txBody>
          <a:bodyPr wrap="square" lIns="0" tIns="0" rIns="0" bIns="0" rtlCol="0" anchor="ctr"/>
          <a:lstStyle/>
          <a:p>
            <a:pPr algn="l" indent="0" marL="0">
              <a:lnSpc>
                <a:spcPct val="122000"/>
              </a:lnSpc>
              <a:buNone/>
            </a:pPr>
            <a:r>
              <a:rPr lang="en-US" sz="2000" b="1" dirty="0">
                <a:solidFill>
                  <a:srgbClr val="B5AEC6"/>
                </a:solidFill>
                <a:latin typeface="Calibri" pitchFamily="34" charset="0"/>
                <a:ea typeface="Calibri" pitchFamily="34" charset="-122"/>
                <a:cs typeface="Calibri" pitchFamily="34" charset="-120"/>
              </a:rPr>
              <a:t>SCOPE.md</a:t>
            </a:r>
            <a:endParaRPr lang="en-US" sz="2000" dirty="0"/>
          </a:p>
        </p:txBody>
      </p:sp>
      <p:sp>
        <p:nvSpPr>
          <p:cNvPr id="11" name="Text 9"/>
          <p:cNvSpPr txBox="1"/>
          <p:nvPr/>
        </p:nvSpPr>
        <p:spPr>
          <a:xfrm>
            <a:off x="6217920" y="5431536"/>
            <a:ext cx="2560320" cy="292608"/>
          </a:xfrm>
          <a:prstGeom prst="rect">
            <a:avLst/>
          </a:prstGeom>
          <a:noFill/>
          <a:ln/>
        </p:spPr>
        <p:txBody>
          <a:bodyPr wrap="square" lIns="0" tIns="0" rIns="0" bIns="0" rtlCol="0" anchor="ctr"/>
          <a:lstStyle/>
          <a:p>
            <a:pPr algn="l" indent="0" marL="0">
              <a:lnSpc>
                <a:spcPct val="122000"/>
              </a:lnSpc>
              <a:buNone/>
            </a:pPr>
            <a:r>
              <a:rPr lang="en-US" sz="2000" b="1" dirty="0">
                <a:solidFill>
                  <a:srgbClr val="B5AEC6"/>
                </a:solidFill>
                <a:latin typeface="Calibri" pitchFamily="34" charset="0"/>
                <a:ea typeface="Calibri" pitchFamily="34" charset="-122"/>
                <a:cs typeface="Calibri" pitchFamily="34" charset="-120"/>
              </a:rPr>
              <a:t>DESIGN.md</a:t>
            </a:r>
            <a:endParaRPr lang="en-US" sz="2000" dirty="0"/>
          </a:p>
        </p:txBody>
      </p:sp>
      <p:sp>
        <p:nvSpPr>
          <p:cNvPr id="12" name="Text 10"/>
          <p:cNvSpPr txBox="1"/>
          <p:nvPr/>
        </p:nvSpPr>
        <p:spPr>
          <a:xfrm>
            <a:off x="8915400" y="5431536"/>
            <a:ext cx="2560320" cy="292608"/>
          </a:xfrm>
          <a:prstGeom prst="rect">
            <a:avLst/>
          </a:prstGeom>
          <a:noFill/>
          <a:ln/>
        </p:spPr>
        <p:txBody>
          <a:bodyPr wrap="square" lIns="0" tIns="0" rIns="0" bIns="0" rtlCol="0" anchor="ctr"/>
          <a:lstStyle/>
          <a:p>
            <a:pPr algn="l" indent="0" marL="0">
              <a:lnSpc>
                <a:spcPct val="122000"/>
              </a:lnSpc>
              <a:buNone/>
            </a:pPr>
            <a:r>
              <a:rPr lang="en-US" sz="2000" b="1" dirty="0">
                <a:solidFill>
                  <a:srgbClr val="B5AEC6"/>
                </a:solidFill>
                <a:latin typeface="Calibri" pitchFamily="34" charset="0"/>
                <a:ea typeface="Calibri" pitchFamily="34" charset="-122"/>
                <a:cs typeface="Calibri" pitchFamily="34" charset="-120"/>
              </a:rPr>
              <a:t>TASK.md</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05  ·  AGENTIC DEVELOPMENT</a:t>
            </a:r>
            <a:endParaRPr lang="en-US" sz="850" dirty="0"/>
          </a:p>
        </p:txBody>
      </p:sp>
      <p:sp>
        <p:nvSpPr>
          <p:cNvPr id="4" name="Text 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5" name="Text 3"/>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18</a:t>
            </a:r>
            <a:endParaRPr lang="en-US" sz="800" dirty="0"/>
          </a:p>
        </p:txBody>
      </p:sp>
      <p:sp>
        <p:nvSpPr>
          <p:cNvPr id="6" name="Text 4"/>
          <p:cNvSpPr txBox="1"/>
          <p:nvPr/>
        </p:nvSpPr>
        <p:spPr>
          <a:xfrm>
            <a:off x="822960" y="896112"/>
            <a:ext cx="7315200" cy="51206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Planner vs Executor</a:t>
            </a:r>
            <a:endParaRPr lang="en-US" sz="3400" dirty="0"/>
          </a:p>
        </p:txBody>
      </p:sp>
      <p:sp>
        <p:nvSpPr>
          <p:cNvPr id="7" name="Text 5"/>
          <p:cNvSpPr txBox="1"/>
          <p:nvPr/>
        </p:nvSpPr>
        <p:spPr>
          <a:xfrm>
            <a:off x="822960" y="1536192"/>
            <a:ext cx="8046720" cy="274320"/>
          </a:xfrm>
          <a:prstGeom prst="rect">
            <a:avLst/>
          </a:prstGeom>
          <a:noFill/>
          <a:ln/>
        </p:spPr>
        <p:txBody>
          <a:bodyPr wrap="square" lIns="0" tIns="0" rIns="0" bIns="0" rtlCol="0" anchor="ctr"/>
          <a:lstStyle/>
          <a:p>
            <a:pPr algn="l" indent="0" marL="0">
              <a:lnSpc>
                <a:spcPct val="122000"/>
              </a:lnSpc>
              <a:buNone/>
            </a:pPr>
            <a:r>
              <a:rPr lang="en-US" sz="1250" dirty="0">
                <a:solidFill>
                  <a:srgbClr val="5F5F5F"/>
                </a:solidFill>
                <a:latin typeface="Calibri" pitchFamily="34" charset="0"/>
                <a:ea typeface="Calibri" pitchFamily="34" charset="-122"/>
                <a:cs typeface="Calibri" pitchFamily="34" charset="-120"/>
              </a:rPr>
              <a:t>Dua peran AI yang berbeda. Kesalahan paling umum adalah memakai satu AI untuk mengerjakan keduanya sekaligus.</a:t>
            </a:r>
            <a:endParaRPr lang="en-US" sz="1250" dirty="0"/>
          </a:p>
        </p:txBody>
      </p:sp>
      <p:sp>
        <p:nvSpPr>
          <p:cNvPr id="8" name="Shape 6"/>
          <p:cNvSpPr/>
          <p:nvPr/>
        </p:nvSpPr>
        <p:spPr>
          <a:xfrm>
            <a:off x="822960" y="2121408"/>
            <a:ext cx="4937760" cy="3931920"/>
          </a:xfrm>
          <a:prstGeom prst="roundRect">
            <a:avLst>
              <a:gd name="adj" fmla="val 3256"/>
            </a:avLst>
          </a:prstGeom>
          <a:solidFill>
            <a:srgbClr val="FFFFFF"/>
          </a:solidFill>
          <a:ln w="12700">
            <a:solidFill>
              <a:srgbClr val="B5AEC6"/>
            </a:solidFill>
            <a:prstDash val="solid"/>
          </a:ln>
          <a:effectLst>
            <a:outerShdw sx="100000" sy="100000" kx="0" ky="0" algn="bl" rotWithShape="0" blurRad="165100" dist="38100" dir="5400000">
              <a:srgbClr val="9E9686">
                <a:alpha val="15000"/>
              </a:srgbClr>
            </a:outerShdw>
          </a:effectLst>
        </p:spPr>
      </p:sp>
      <p:sp>
        <p:nvSpPr>
          <p:cNvPr id="9" name="Shape 7"/>
          <p:cNvSpPr/>
          <p:nvPr/>
        </p:nvSpPr>
        <p:spPr>
          <a:xfrm>
            <a:off x="1097280" y="2359152"/>
            <a:ext cx="1371600" cy="292608"/>
          </a:xfrm>
          <a:prstGeom prst="roundRect">
            <a:avLst>
              <a:gd name="adj" fmla="val 50000"/>
            </a:avLst>
          </a:prstGeom>
          <a:solidFill>
            <a:srgbClr val="EFEBF3"/>
          </a:solidFill>
          <a:ln w="12700">
            <a:solidFill>
              <a:srgbClr val="B5AEC6"/>
            </a:solidFill>
            <a:prstDash val="solid"/>
          </a:ln>
        </p:spPr>
      </p:sp>
      <p:sp>
        <p:nvSpPr>
          <p:cNvPr id="10" name="Text 8"/>
          <p:cNvSpPr txBox="1"/>
          <p:nvPr/>
        </p:nvSpPr>
        <p:spPr>
          <a:xfrm>
            <a:off x="1188720" y="2359152"/>
            <a:ext cx="1188720" cy="292608"/>
          </a:xfrm>
          <a:prstGeom prst="rect">
            <a:avLst/>
          </a:prstGeom>
          <a:noFill/>
          <a:ln/>
        </p:spPr>
        <p:txBody>
          <a:bodyPr wrap="square" lIns="0" tIns="0" rIns="0" bIns="0" rtlCol="0" anchor="ctr"/>
          <a:lstStyle/>
          <a:p>
            <a:pPr algn="ctr" indent="0" marL="0">
              <a:lnSpc>
                <a:spcPct val="122000"/>
              </a:lnSpc>
              <a:buNone/>
            </a:pPr>
            <a:r>
              <a:rPr lang="en-US" sz="900" b="1" spc="60" kern="0" dirty="0">
                <a:solidFill>
                  <a:srgbClr val="635C77"/>
                </a:solidFill>
                <a:latin typeface="Calibri" pitchFamily="34" charset="0"/>
                <a:ea typeface="Calibri" pitchFamily="34" charset="-122"/>
                <a:cs typeface="Calibri" pitchFamily="34" charset="-120"/>
              </a:rPr>
              <a:t>PLANNER</a:t>
            </a:r>
            <a:endParaRPr lang="en-US" sz="900" dirty="0"/>
          </a:p>
        </p:txBody>
      </p:sp>
      <p:sp>
        <p:nvSpPr>
          <p:cNvPr id="11" name="Text 9"/>
          <p:cNvSpPr txBox="1"/>
          <p:nvPr/>
        </p:nvSpPr>
        <p:spPr>
          <a:xfrm>
            <a:off x="1097280" y="2816352"/>
            <a:ext cx="4389120" cy="310896"/>
          </a:xfrm>
          <a:prstGeom prst="rect">
            <a:avLst/>
          </a:prstGeom>
          <a:noFill/>
          <a:ln/>
        </p:spPr>
        <p:txBody>
          <a:bodyPr wrap="square" lIns="0" tIns="0" rIns="0" bIns="0" rtlCol="0" anchor="ctr"/>
          <a:lstStyle/>
          <a:p>
            <a:pPr algn="l" indent="0" marL="0">
              <a:lnSpc>
                <a:spcPct val="122000"/>
              </a:lnSpc>
              <a:buNone/>
            </a:pPr>
            <a:r>
              <a:rPr lang="en-US" sz="1800" b="1" dirty="0">
                <a:solidFill>
                  <a:srgbClr val="1A1A1A"/>
                </a:solidFill>
                <a:latin typeface="Calibri" pitchFamily="34" charset="0"/>
                <a:ea typeface="Calibri" pitchFamily="34" charset="-122"/>
                <a:cs typeface="Calibri" pitchFamily="34" charset="-120"/>
              </a:rPr>
              <a:t>Berpikir sebelum mengetik</a:t>
            </a:r>
            <a:endParaRPr lang="en-US" sz="1800" dirty="0"/>
          </a:p>
        </p:txBody>
      </p:sp>
      <p:sp>
        <p:nvSpPr>
          <p:cNvPr id="12" name="Shape 10"/>
          <p:cNvSpPr/>
          <p:nvPr/>
        </p:nvSpPr>
        <p:spPr>
          <a:xfrm>
            <a:off x="1097280" y="3346704"/>
            <a:ext cx="4389120" cy="0"/>
          </a:xfrm>
          <a:prstGeom prst="line">
            <a:avLst/>
          </a:prstGeom>
          <a:noFill/>
          <a:ln w="12700">
            <a:solidFill>
              <a:srgbClr val="DDD7CF"/>
            </a:solidFill>
            <a:prstDash val="solid"/>
          </a:ln>
        </p:spPr>
      </p:sp>
      <p:sp>
        <p:nvSpPr>
          <p:cNvPr id="13" name="Text 11"/>
          <p:cNvSpPr txBox="1"/>
          <p:nvPr/>
        </p:nvSpPr>
        <p:spPr>
          <a:xfrm>
            <a:off x="1097280" y="3456432"/>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Analyze</a:t>
            </a:r>
            <a:endParaRPr lang="en-US" sz="1450" dirty="0"/>
          </a:p>
        </p:txBody>
      </p:sp>
      <p:sp>
        <p:nvSpPr>
          <p:cNvPr id="14" name="Text 12"/>
          <p:cNvSpPr txBox="1"/>
          <p:nvPr/>
        </p:nvSpPr>
        <p:spPr>
          <a:xfrm>
            <a:off x="2514600" y="3456432"/>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5F5F5F"/>
                </a:solidFill>
                <a:latin typeface="Calibri" pitchFamily="34" charset="0"/>
                <a:ea typeface="Calibri" pitchFamily="34" charset="-122"/>
                <a:cs typeface="Calibri" pitchFamily="34" charset="-120"/>
              </a:rPr>
              <a:t>Membedah masalah bisnis jadi kebutuhan konkret.</a:t>
            </a:r>
            <a:endParaRPr lang="en-US" sz="950" dirty="0"/>
          </a:p>
        </p:txBody>
      </p:sp>
      <p:sp>
        <p:nvSpPr>
          <p:cNvPr id="15" name="Shape 13"/>
          <p:cNvSpPr/>
          <p:nvPr/>
        </p:nvSpPr>
        <p:spPr>
          <a:xfrm>
            <a:off x="1097280" y="3858768"/>
            <a:ext cx="4389120" cy="0"/>
          </a:xfrm>
          <a:prstGeom prst="line">
            <a:avLst/>
          </a:prstGeom>
          <a:noFill/>
          <a:ln w="12700">
            <a:solidFill>
              <a:srgbClr val="DDD7CF"/>
            </a:solidFill>
            <a:prstDash val="solid"/>
          </a:ln>
        </p:spPr>
      </p:sp>
      <p:sp>
        <p:nvSpPr>
          <p:cNvPr id="16" name="Text 14"/>
          <p:cNvSpPr txBox="1"/>
          <p:nvPr/>
        </p:nvSpPr>
        <p:spPr>
          <a:xfrm>
            <a:off x="1097280" y="3968496"/>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Plan</a:t>
            </a:r>
            <a:endParaRPr lang="en-US" sz="1450" dirty="0"/>
          </a:p>
        </p:txBody>
      </p:sp>
      <p:sp>
        <p:nvSpPr>
          <p:cNvPr id="17" name="Text 15"/>
          <p:cNvSpPr txBox="1"/>
          <p:nvPr/>
        </p:nvSpPr>
        <p:spPr>
          <a:xfrm>
            <a:off x="2514600" y="3968496"/>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5F5F5F"/>
                </a:solidFill>
                <a:latin typeface="Calibri" pitchFamily="34" charset="0"/>
                <a:ea typeface="Calibri" pitchFamily="34" charset="-122"/>
                <a:cs typeface="Calibri" pitchFamily="34" charset="-120"/>
              </a:rPr>
              <a:t>Menyusun scope, prioritas, dan urutan pengerjaan.</a:t>
            </a:r>
            <a:endParaRPr lang="en-US" sz="950" dirty="0"/>
          </a:p>
        </p:txBody>
      </p:sp>
      <p:sp>
        <p:nvSpPr>
          <p:cNvPr id="18" name="Shape 16"/>
          <p:cNvSpPr/>
          <p:nvPr/>
        </p:nvSpPr>
        <p:spPr>
          <a:xfrm>
            <a:off x="1097280" y="4370832"/>
            <a:ext cx="4389120" cy="0"/>
          </a:xfrm>
          <a:prstGeom prst="line">
            <a:avLst/>
          </a:prstGeom>
          <a:noFill/>
          <a:ln w="12700">
            <a:solidFill>
              <a:srgbClr val="DDD7CF"/>
            </a:solidFill>
            <a:prstDash val="solid"/>
          </a:ln>
        </p:spPr>
      </p:sp>
      <p:sp>
        <p:nvSpPr>
          <p:cNvPr id="19" name="Text 17"/>
          <p:cNvSpPr txBox="1"/>
          <p:nvPr/>
        </p:nvSpPr>
        <p:spPr>
          <a:xfrm>
            <a:off x="1097280" y="4480560"/>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Design</a:t>
            </a:r>
            <a:endParaRPr lang="en-US" sz="1450" dirty="0"/>
          </a:p>
        </p:txBody>
      </p:sp>
      <p:sp>
        <p:nvSpPr>
          <p:cNvPr id="20" name="Text 18"/>
          <p:cNvSpPr txBox="1"/>
          <p:nvPr/>
        </p:nvSpPr>
        <p:spPr>
          <a:xfrm>
            <a:off x="2514600" y="4480560"/>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5F5F5F"/>
                </a:solidFill>
                <a:latin typeface="Calibri" pitchFamily="34" charset="0"/>
                <a:ea typeface="Calibri" pitchFamily="34" charset="-122"/>
                <a:cs typeface="Calibri" pitchFamily="34" charset="-120"/>
              </a:rPr>
              <a:t>Menetapkan halaman, alur pengguna, struktur data.</a:t>
            </a:r>
            <a:endParaRPr lang="en-US" sz="950" dirty="0"/>
          </a:p>
        </p:txBody>
      </p:sp>
      <p:sp>
        <p:nvSpPr>
          <p:cNvPr id="21" name="Text 19"/>
          <p:cNvSpPr txBox="1"/>
          <p:nvPr/>
        </p:nvSpPr>
        <p:spPr>
          <a:xfrm>
            <a:off x="1097280" y="4956048"/>
            <a:ext cx="1097280" cy="201168"/>
          </a:xfrm>
          <a:prstGeom prst="rect">
            <a:avLst/>
          </a:prstGeom>
          <a:noFill/>
          <a:ln/>
        </p:spPr>
        <p:txBody>
          <a:bodyPr wrap="square" lIns="0" tIns="0" rIns="0" bIns="0" rtlCol="0" anchor="ctr"/>
          <a:lstStyle/>
          <a:p>
            <a:pPr algn="l" indent="0" marL="0">
              <a:lnSpc>
                <a:spcPct val="122000"/>
              </a:lnSpc>
              <a:buNone/>
            </a:pPr>
            <a:r>
              <a:rPr lang="en-US" sz="800" b="1" spc="140" kern="0" dirty="0">
                <a:solidFill>
                  <a:srgbClr val="847E96"/>
                </a:solidFill>
                <a:latin typeface="Calibri" pitchFamily="34" charset="0"/>
                <a:ea typeface="Calibri" pitchFamily="34" charset="-122"/>
                <a:cs typeface="Calibri" pitchFamily="34" charset="-120"/>
              </a:rPr>
              <a:t>TOOLS</a:t>
            </a:r>
            <a:endParaRPr lang="en-US" sz="800" dirty="0"/>
          </a:p>
        </p:txBody>
      </p:sp>
      <p:pic>
        <p:nvPicPr>
          <p:cNvPr id="22" name="Image 0" descr="C:\Seminar\generator\assets\logos\claude-light.png">    </p:cNvPr>
          <p:cNvPicPr>
            <a:picLocks noChangeAspect="1"/>
          </p:cNvPicPr>
          <p:nvPr/>
        </p:nvPicPr>
        <p:blipFill>
          <a:blip r:embed="rId1"/>
          <a:stretch>
            <a:fillRect/>
          </a:stretch>
        </p:blipFill>
        <p:spPr>
          <a:xfrm>
            <a:off x="1097280" y="5212080"/>
            <a:ext cx="274320" cy="274320"/>
          </a:xfrm>
          <a:prstGeom prst="rect">
            <a:avLst/>
          </a:prstGeom>
        </p:spPr>
      </p:pic>
      <p:pic>
        <p:nvPicPr>
          <p:cNvPr id="23" name="Image 1" descr="C:\Seminar\generator\assets\logos\googlegemini-light.png">    </p:cNvPr>
          <p:cNvPicPr>
            <a:picLocks noChangeAspect="1"/>
          </p:cNvPicPr>
          <p:nvPr/>
        </p:nvPicPr>
        <p:blipFill>
          <a:blip r:embed="rId2"/>
          <a:stretch>
            <a:fillRect/>
          </a:stretch>
        </p:blipFill>
        <p:spPr>
          <a:xfrm>
            <a:off x="1609344" y="5212080"/>
            <a:ext cx="274320" cy="274320"/>
          </a:xfrm>
          <a:prstGeom prst="rect">
            <a:avLst/>
          </a:prstGeom>
        </p:spPr>
      </p:pic>
      <p:sp>
        <p:nvSpPr>
          <p:cNvPr id="24" name="Text 20"/>
          <p:cNvSpPr txBox="1"/>
          <p:nvPr/>
        </p:nvSpPr>
        <p:spPr>
          <a:xfrm>
            <a:off x="2121408" y="5212080"/>
            <a:ext cx="803758" cy="274320"/>
          </a:xfrm>
          <a:prstGeom prst="rect">
            <a:avLst/>
          </a:prstGeom>
          <a:noFill/>
          <a:ln/>
        </p:spPr>
        <p:txBody>
          <a:bodyPr wrap="square" lIns="0" tIns="0" rIns="0" bIns="0" rtlCol="0" anchor="ctr"/>
          <a:lstStyle/>
          <a:p>
            <a:pPr algn="l" indent="0" marL="0">
              <a:lnSpc>
                <a:spcPct val="122000"/>
              </a:lnSpc>
              <a:buNone/>
            </a:pPr>
            <a:r>
              <a:rPr lang="en-US" sz="850" b="1" spc="50" kern="0" dirty="0">
                <a:solidFill>
                  <a:srgbClr val="847E96"/>
                </a:solidFill>
                <a:latin typeface="Calibri" pitchFamily="34" charset="0"/>
                <a:ea typeface="Calibri" pitchFamily="34" charset="-122"/>
                <a:cs typeface="Calibri" pitchFamily="34" charset="-120"/>
              </a:rPr>
              <a:t>ChatGPT</a:t>
            </a:r>
            <a:endParaRPr lang="en-US" sz="850" dirty="0"/>
          </a:p>
        </p:txBody>
      </p:sp>
      <p:sp>
        <p:nvSpPr>
          <p:cNvPr id="25" name="Text 21"/>
          <p:cNvSpPr txBox="1"/>
          <p:nvPr/>
        </p:nvSpPr>
        <p:spPr>
          <a:xfrm>
            <a:off x="3162910" y="5212080"/>
            <a:ext cx="1085393" cy="274320"/>
          </a:xfrm>
          <a:prstGeom prst="rect">
            <a:avLst/>
          </a:prstGeom>
          <a:noFill/>
          <a:ln/>
        </p:spPr>
        <p:txBody>
          <a:bodyPr wrap="square" lIns="0" tIns="0" rIns="0" bIns="0" rtlCol="0" anchor="ctr"/>
          <a:lstStyle/>
          <a:p>
            <a:pPr algn="l" indent="0" marL="0">
              <a:lnSpc>
                <a:spcPct val="122000"/>
              </a:lnSpc>
              <a:buNone/>
            </a:pPr>
            <a:r>
              <a:rPr lang="en-US" sz="850" b="1" spc="50" kern="0" dirty="0">
                <a:solidFill>
                  <a:srgbClr val="847E96"/>
                </a:solidFill>
                <a:latin typeface="Calibri" pitchFamily="34" charset="0"/>
                <a:ea typeface="Calibri" pitchFamily="34" charset="-122"/>
                <a:cs typeface="Calibri" pitchFamily="34" charset="-120"/>
              </a:rPr>
              <a:t>Antigravity</a:t>
            </a:r>
            <a:endParaRPr lang="en-US" sz="850" dirty="0"/>
          </a:p>
        </p:txBody>
      </p:sp>
      <p:sp>
        <p:nvSpPr>
          <p:cNvPr id="26" name="Shape 22"/>
          <p:cNvSpPr/>
          <p:nvPr/>
        </p:nvSpPr>
        <p:spPr>
          <a:xfrm>
            <a:off x="1097280" y="5650992"/>
            <a:ext cx="4389120" cy="0"/>
          </a:xfrm>
          <a:prstGeom prst="line">
            <a:avLst/>
          </a:prstGeom>
          <a:noFill/>
          <a:ln w="12700">
            <a:solidFill>
              <a:srgbClr val="DDD7CF"/>
            </a:solidFill>
            <a:prstDash val="solid"/>
          </a:ln>
        </p:spPr>
      </p:sp>
      <p:sp>
        <p:nvSpPr>
          <p:cNvPr id="27" name="Text 23"/>
          <p:cNvSpPr txBox="1"/>
          <p:nvPr/>
        </p:nvSpPr>
        <p:spPr>
          <a:xfrm>
            <a:off x="1097280" y="5760720"/>
            <a:ext cx="4572000" cy="201168"/>
          </a:xfrm>
          <a:prstGeom prst="rect">
            <a:avLst/>
          </a:prstGeom>
          <a:noFill/>
          <a:ln/>
        </p:spPr>
        <p:txBody>
          <a:bodyPr wrap="square" lIns="0" tIns="0" rIns="0" bIns="0" rtlCol="0" anchor="ctr"/>
          <a:lstStyle/>
          <a:p>
            <a:pPr algn="l" indent="0" marL="0">
              <a:lnSpc>
                <a:spcPct val="122000"/>
              </a:lnSpc>
              <a:buNone/>
            </a:pPr>
            <a:r>
              <a:rPr lang="en-US" sz="800" b="1" spc="80" kern="0" dirty="0">
                <a:solidFill>
                  <a:srgbClr val="635C77"/>
                </a:solidFill>
                <a:latin typeface="Calibri" pitchFamily="34" charset="0"/>
                <a:ea typeface="Calibri" pitchFamily="34" charset="-122"/>
                <a:cs typeface="Calibri" pitchFamily="34" charset="-120"/>
              </a:rPr>
              <a:t>OUTPUT   PRD.md · SCOPE.md · DESIGN.md · TASK.md</a:t>
            </a:r>
            <a:endParaRPr lang="en-US" sz="800" dirty="0"/>
          </a:p>
        </p:txBody>
      </p:sp>
      <p:sp>
        <p:nvSpPr>
          <p:cNvPr id="28" name="Text 24"/>
          <p:cNvSpPr txBox="1"/>
          <p:nvPr/>
        </p:nvSpPr>
        <p:spPr>
          <a:xfrm>
            <a:off x="5779008" y="3858768"/>
            <a:ext cx="640080" cy="182880"/>
          </a:xfrm>
          <a:prstGeom prst="rect">
            <a:avLst/>
          </a:prstGeom>
          <a:noFill/>
          <a:ln/>
        </p:spPr>
        <p:txBody>
          <a:bodyPr wrap="square" lIns="0" tIns="0" rIns="0" bIns="0" rtlCol="0" anchor="ctr"/>
          <a:lstStyle/>
          <a:p>
            <a:pPr algn="ctr" indent="0" marL="0">
              <a:lnSpc>
                <a:spcPct val="122000"/>
              </a:lnSpc>
              <a:buNone/>
            </a:pPr>
            <a:r>
              <a:rPr lang="en-US" sz="700" b="1" spc="80" kern="0" dirty="0">
                <a:solidFill>
                  <a:srgbClr val="847E96"/>
                </a:solidFill>
                <a:latin typeface="Calibri" pitchFamily="34" charset="0"/>
                <a:ea typeface="Calibri" pitchFamily="34" charset="-122"/>
                <a:cs typeface="Calibri" pitchFamily="34" charset="-120"/>
              </a:rPr>
              <a:t>HANDOFF</a:t>
            </a:r>
            <a:endParaRPr lang="en-US" sz="700" dirty="0"/>
          </a:p>
        </p:txBody>
      </p:sp>
      <p:sp>
        <p:nvSpPr>
          <p:cNvPr id="29" name="Shape 25"/>
          <p:cNvSpPr/>
          <p:nvPr/>
        </p:nvSpPr>
        <p:spPr>
          <a:xfrm>
            <a:off x="5870448" y="4206240"/>
            <a:ext cx="374904" cy="0"/>
          </a:xfrm>
          <a:prstGeom prst="line">
            <a:avLst/>
          </a:prstGeom>
          <a:noFill/>
          <a:ln w="15875">
            <a:solidFill>
              <a:srgbClr val="847E96"/>
            </a:solidFill>
            <a:prstDash val="solid"/>
          </a:ln>
        </p:spPr>
      </p:sp>
      <p:sp>
        <p:nvSpPr>
          <p:cNvPr id="30" name="Shape 26"/>
          <p:cNvSpPr/>
          <p:nvPr/>
        </p:nvSpPr>
        <p:spPr>
          <a:xfrm rot="5400000">
            <a:off x="6236208" y="4155948"/>
            <a:ext cx="91440" cy="100584"/>
          </a:xfrm>
          <a:prstGeom prst="triangle">
            <a:avLst/>
          </a:prstGeom>
          <a:solidFill>
            <a:srgbClr val="847E96"/>
          </a:solidFill>
          <a:ln/>
        </p:spPr>
      </p:sp>
      <p:sp>
        <p:nvSpPr>
          <p:cNvPr id="31" name="Shape 27"/>
          <p:cNvSpPr/>
          <p:nvPr/>
        </p:nvSpPr>
        <p:spPr>
          <a:xfrm>
            <a:off x="6428232" y="2121408"/>
            <a:ext cx="4937760" cy="3931920"/>
          </a:xfrm>
          <a:prstGeom prst="roundRect">
            <a:avLst>
              <a:gd name="adj" fmla="val 3256"/>
            </a:avLst>
          </a:prstGeom>
          <a:solidFill>
            <a:srgbClr val="1F1C2B"/>
          </a:solidFill>
          <a:ln w="12700">
            <a:solidFill>
              <a:srgbClr val="463F59"/>
            </a:solidFill>
            <a:prstDash val="solid"/>
          </a:ln>
          <a:effectLst>
            <a:outerShdw sx="100000" sy="100000" kx="0" ky="0" algn="bl" rotWithShape="0" blurRad="165100" dist="38100" dir="5400000">
              <a:srgbClr val="9E9686">
                <a:alpha val="15000"/>
              </a:srgbClr>
            </a:outerShdw>
          </a:effectLst>
        </p:spPr>
      </p:sp>
      <p:sp>
        <p:nvSpPr>
          <p:cNvPr id="32" name="Shape 28"/>
          <p:cNvSpPr/>
          <p:nvPr/>
        </p:nvSpPr>
        <p:spPr>
          <a:xfrm>
            <a:off x="6702552" y="2359152"/>
            <a:ext cx="1517904" cy="292608"/>
          </a:xfrm>
          <a:prstGeom prst="roundRect">
            <a:avLst>
              <a:gd name="adj" fmla="val 50000"/>
            </a:avLst>
          </a:prstGeom>
          <a:solidFill>
            <a:srgbClr val="3B3450"/>
          </a:solidFill>
          <a:ln w="12700">
            <a:solidFill>
              <a:srgbClr val="5C5280"/>
            </a:solidFill>
            <a:prstDash val="solid"/>
          </a:ln>
        </p:spPr>
      </p:sp>
      <p:sp>
        <p:nvSpPr>
          <p:cNvPr id="33" name="Text 29"/>
          <p:cNvSpPr txBox="1"/>
          <p:nvPr/>
        </p:nvSpPr>
        <p:spPr>
          <a:xfrm>
            <a:off x="6793992" y="2359152"/>
            <a:ext cx="1335024" cy="292608"/>
          </a:xfrm>
          <a:prstGeom prst="rect">
            <a:avLst/>
          </a:prstGeom>
          <a:noFill/>
          <a:ln/>
        </p:spPr>
        <p:txBody>
          <a:bodyPr wrap="square" lIns="0" tIns="0" rIns="0" bIns="0" rtlCol="0" anchor="ctr"/>
          <a:lstStyle/>
          <a:p>
            <a:pPr algn="ctr" indent="0" marL="0">
              <a:lnSpc>
                <a:spcPct val="122000"/>
              </a:lnSpc>
              <a:buNone/>
            </a:pPr>
            <a:r>
              <a:rPr lang="en-US" sz="900" b="1" spc="60" kern="0" dirty="0">
                <a:solidFill>
                  <a:srgbClr val="B5AEC6"/>
                </a:solidFill>
                <a:latin typeface="Calibri" pitchFamily="34" charset="0"/>
                <a:ea typeface="Calibri" pitchFamily="34" charset="-122"/>
                <a:cs typeface="Calibri" pitchFamily="34" charset="-120"/>
              </a:rPr>
              <a:t>EXECUTOR</a:t>
            </a:r>
            <a:endParaRPr lang="en-US" sz="900" dirty="0"/>
          </a:p>
        </p:txBody>
      </p:sp>
      <p:sp>
        <p:nvSpPr>
          <p:cNvPr id="34" name="Text 30"/>
          <p:cNvSpPr txBox="1"/>
          <p:nvPr/>
        </p:nvSpPr>
        <p:spPr>
          <a:xfrm>
            <a:off x="6702552" y="2816352"/>
            <a:ext cx="4389120" cy="310896"/>
          </a:xfrm>
          <a:prstGeom prst="rect">
            <a:avLst/>
          </a:prstGeom>
          <a:noFill/>
          <a:ln/>
        </p:spPr>
        <p:txBody>
          <a:bodyPr wrap="square" lIns="0" tIns="0" rIns="0" bIns="0" rtlCol="0" anchor="ctr"/>
          <a:lstStyle/>
          <a:p>
            <a:pPr algn="l" indent="0" marL="0">
              <a:lnSpc>
                <a:spcPct val="122000"/>
              </a:lnSpc>
              <a:buNone/>
            </a:pPr>
            <a:r>
              <a:rPr lang="en-US" sz="1600" b="1" dirty="0">
                <a:solidFill>
                  <a:srgbClr val="F8F4EF"/>
                </a:solidFill>
                <a:latin typeface="Calibri" pitchFamily="34" charset="0"/>
                <a:ea typeface="Calibri" pitchFamily="34" charset="-122"/>
                <a:cs typeface="Calibri" pitchFamily="34" charset="-120"/>
              </a:rPr>
              <a:t>Mengeksekusi yang sudah diputuskan</a:t>
            </a:r>
            <a:endParaRPr lang="en-US" sz="1600" dirty="0"/>
          </a:p>
        </p:txBody>
      </p:sp>
      <p:sp>
        <p:nvSpPr>
          <p:cNvPr id="35" name="Shape 31"/>
          <p:cNvSpPr/>
          <p:nvPr/>
        </p:nvSpPr>
        <p:spPr>
          <a:xfrm>
            <a:off x="6702552" y="3346704"/>
            <a:ext cx="4389120" cy="0"/>
          </a:xfrm>
          <a:prstGeom prst="line">
            <a:avLst/>
          </a:prstGeom>
          <a:noFill/>
          <a:ln w="12700">
            <a:solidFill>
              <a:srgbClr val="463F59"/>
            </a:solidFill>
            <a:prstDash val="solid"/>
          </a:ln>
        </p:spPr>
      </p:sp>
      <p:sp>
        <p:nvSpPr>
          <p:cNvPr id="36" name="Text 32"/>
          <p:cNvSpPr txBox="1"/>
          <p:nvPr/>
        </p:nvSpPr>
        <p:spPr>
          <a:xfrm>
            <a:off x="6702552" y="3456432"/>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Calibri" pitchFamily="34" charset="0"/>
                <a:ea typeface="Calibri" pitchFamily="34" charset="-122"/>
                <a:cs typeface="Calibri" pitchFamily="34" charset="-120"/>
              </a:rPr>
              <a:t>Build</a:t>
            </a:r>
            <a:endParaRPr lang="en-US" sz="1450" dirty="0"/>
          </a:p>
        </p:txBody>
      </p:sp>
      <p:sp>
        <p:nvSpPr>
          <p:cNvPr id="37" name="Text 33"/>
          <p:cNvSpPr txBox="1"/>
          <p:nvPr/>
        </p:nvSpPr>
        <p:spPr>
          <a:xfrm>
            <a:off x="8119872" y="3456432"/>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A9A2BA"/>
                </a:solidFill>
                <a:latin typeface="Calibri" pitchFamily="34" charset="0"/>
                <a:ea typeface="Calibri" pitchFamily="34" charset="-122"/>
                <a:cs typeface="Calibri" pitchFamily="34" charset="-120"/>
              </a:rPr>
              <a:t>Menulis kode dari dokumen, satu phase sekali jalan.</a:t>
            </a:r>
            <a:endParaRPr lang="en-US" sz="950" dirty="0"/>
          </a:p>
        </p:txBody>
      </p:sp>
      <p:sp>
        <p:nvSpPr>
          <p:cNvPr id="38" name="Shape 34"/>
          <p:cNvSpPr/>
          <p:nvPr/>
        </p:nvSpPr>
        <p:spPr>
          <a:xfrm>
            <a:off x="6702552" y="3858768"/>
            <a:ext cx="4389120" cy="0"/>
          </a:xfrm>
          <a:prstGeom prst="line">
            <a:avLst/>
          </a:prstGeom>
          <a:noFill/>
          <a:ln w="12700">
            <a:solidFill>
              <a:srgbClr val="463F59"/>
            </a:solidFill>
            <a:prstDash val="solid"/>
          </a:ln>
        </p:spPr>
      </p:sp>
      <p:sp>
        <p:nvSpPr>
          <p:cNvPr id="39" name="Text 35"/>
          <p:cNvSpPr txBox="1"/>
          <p:nvPr/>
        </p:nvSpPr>
        <p:spPr>
          <a:xfrm>
            <a:off x="6702552" y="3968496"/>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Calibri" pitchFamily="34" charset="0"/>
                <a:ea typeface="Calibri" pitchFamily="34" charset="-122"/>
                <a:cs typeface="Calibri" pitchFamily="34" charset="-120"/>
              </a:rPr>
              <a:t>Refactor</a:t>
            </a:r>
            <a:endParaRPr lang="en-US" sz="1450" dirty="0"/>
          </a:p>
        </p:txBody>
      </p:sp>
      <p:sp>
        <p:nvSpPr>
          <p:cNvPr id="40" name="Text 36"/>
          <p:cNvSpPr txBox="1"/>
          <p:nvPr/>
        </p:nvSpPr>
        <p:spPr>
          <a:xfrm>
            <a:off x="8119872" y="3968496"/>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A9A2BA"/>
                </a:solidFill>
                <a:latin typeface="Calibri" pitchFamily="34" charset="0"/>
                <a:ea typeface="Calibri" pitchFamily="34" charset="-122"/>
                <a:cs typeface="Calibri" pitchFamily="34" charset="-120"/>
              </a:rPr>
              <a:t>Merapikan struktur agar konsisten dengan Design.</a:t>
            </a:r>
            <a:endParaRPr lang="en-US" sz="950" dirty="0"/>
          </a:p>
        </p:txBody>
      </p:sp>
      <p:sp>
        <p:nvSpPr>
          <p:cNvPr id="41" name="Shape 37"/>
          <p:cNvSpPr/>
          <p:nvPr/>
        </p:nvSpPr>
        <p:spPr>
          <a:xfrm>
            <a:off x="6702552" y="4370832"/>
            <a:ext cx="4389120" cy="0"/>
          </a:xfrm>
          <a:prstGeom prst="line">
            <a:avLst/>
          </a:prstGeom>
          <a:noFill/>
          <a:ln w="12700">
            <a:solidFill>
              <a:srgbClr val="463F59"/>
            </a:solidFill>
            <a:prstDash val="solid"/>
          </a:ln>
        </p:spPr>
      </p:sp>
      <p:sp>
        <p:nvSpPr>
          <p:cNvPr id="42" name="Text 38"/>
          <p:cNvSpPr txBox="1"/>
          <p:nvPr/>
        </p:nvSpPr>
        <p:spPr>
          <a:xfrm>
            <a:off x="6702552" y="4480560"/>
            <a:ext cx="137160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Calibri" pitchFamily="34" charset="0"/>
                <a:ea typeface="Calibri" pitchFamily="34" charset="-122"/>
                <a:cs typeface="Calibri" pitchFamily="34" charset="-120"/>
              </a:rPr>
              <a:t>Test</a:t>
            </a:r>
            <a:endParaRPr lang="en-US" sz="1450" dirty="0"/>
          </a:p>
        </p:txBody>
      </p:sp>
      <p:sp>
        <p:nvSpPr>
          <p:cNvPr id="43" name="Text 39"/>
          <p:cNvSpPr txBox="1"/>
          <p:nvPr/>
        </p:nvSpPr>
        <p:spPr>
          <a:xfrm>
            <a:off x="8119872" y="4480560"/>
            <a:ext cx="2971800" cy="310896"/>
          </a:xfrm>
          <a:prstGeom prst="rect">
            <a:avLst/>
          </a:prstGeom>
          <a:noFill/>
          <a:ln/>
        </p:spPr>
        <p:txBody>
          <a:bodyPr wrap="square" lIns="0" tIns="0" rIns="0" bIns="0" rtlCol="0" anchor="t"/>
          <a:lstStyle/>
          <a:p>
            <a:pPr algn="l" indent="0" marL="0">
              <a:lnSpc>
                <a:spcPct val="135000"/>
              </a:lnSpc>
              <a:buNone/>
            </a:pPr>
            <a:r>
              <a:rPr lang="en-US" sz="950" dirty="0">
                <a:solidFill>
                  <a:srgbClr val="A9A2BA"/>
                </a:solidFill>
                <a:latin typeface="Calibri" pitchFamily="34" charset="0"/>
                <a:ea typeface="Calibri" pitchFamily="34" charset="-122"/>
                <a:cs typeface="Calibri" pitchFamily="34" charset="-120"/>
              </a:rPr>
              <a:t>Menjalankan skenario utama, memperbaiki yang gagal.</a:t>
            </a:r>
            <a:endParaRPr lang="en-US" sz="950" dirty="0"/>
          </a:p>
        </p:txBody>
      </p:sp>
      <p:sp>
        <p:nvSpPr>
          <p:cNvPr id="44" name="Text 40"/>
          <p:cNvSpPr txBox="1"/>
          <p:nvPr/>
        </p:nvSpPr>
        <p:spPr>
          <a:xfrm>
            <a:off x="6702552" y="4956048"/>
            <a:ext cx="1097280" cy="201168"/>
          </a:xfrm>
          <a:prstGeom prst="rect">
            <a:avLst/>
          </a:prstGeom>
          <a:noFill/>
          <a:ln/>
        </p:spPr>
        <p:txBody>
          <a:bodyPr wrap="square" lIns="0" tIns="0" rIns="0" bIns="0" rtlCol="0" anchor="ctr"/>
          <a:lstStyle/>
          <a:p>
            <a:pPr algn="l" indent="0" marL="0">
              <a:lnSpc>
                <a:spcPct val="122000"/>
              </a:lnSpc>
              <a:buNone/>
            </a:pPr>
            <a:r>
              <a:rPr lang="en-US" sz="800" b="1" spc="140" kern="0" dirty="0">
                <a:solidFill>
                  <a:srgbClr val="B5AEC6"/>
                </a:solidFill>
                <a:latin typeface="Calibri" pitchFamily="34" charset="0"/>
                <a:ea typeface="Calibri" pitchFamily="34" charset="-122"/>
                <a:cs typeface="Calibri" pitchFamily="34" charset="-120"/>
              </a:rPr>
              <a:t>TOOLS</a:t>
            </a:r>
            <a:endParaRPr lang="en-US" sz="800" dirty="0"/>
          </a:p>
        </p:txBody>
      </p:sp>
      <p:pic>
        <p:nvPicPr>
          <p:cNvPr id="45" name="Image 2" descr="C:\Seminar\generator\assets\logos\cursor-dark.png">    </p:cNvPr>
          <p:cNvPicPr>
            <a:picLocks noChangeAspect="1"/>
          </p:cNvPicPr>
          <p:nvPr/>
        </p:nvPicPr>
        <p:blipFill>
          <a:blip r:embed="rId3"/>
          <a:stretch>
            <a:fillRect/>
          </a:stretch>
        </p:blipFill>
        <p:spPr>
          <a:xfrm>
            <a:off x="6702552" y="5212080"/>
            <a:ext cx="274320" cy="274320"/>
          </a:xfrm>
          <a:prstGeom prst="rect">
            <a:avLst/>
          </a:prstGeom>
        </p:spPr>
      </p:pic>
      <p:pic>
        <p:nvPicPr>
          <p:cNvPr id="46" name="Image 3" descr="C:\Seminar\generator\assets\logos\githubcopilot-dark.png">    </p:cNvPr>
          <p:cNvPicPr>
            <a:picLocks noChangeAspect="1"/>
          </p:cNvPicPr>
          <p:nvPr/>
        </p:nvPicPr>
        <p:blipFill>
          <a:blip r:embed="rId4"/>
          <a:stretch>
            <a:fillRect/>
          </a:stretch>
        </p:blipFill>
        <p:spPr>
          <a:xfrm>
            <a:off x="7214616" y="5212080"/>
            <a:ext cx="274320" cy="274320"/>
          </a:xfrm>
          <a:prstGeom prst="rect">
            <a:avLst/>
          </a:prstGeom>
        </p:spPr>
      </p:pic>
      <p:pic>
        <p:nvPicPr>
          <p:cNvPr id="47" name="Image 4" descr="C:\Seminar\generator\assets\logos\opencode-dark.png">    </p:cNvPr>
          <p:cNvPicPr>
            <a:picLocks noChangeAspect="1"/>
          </p:cNvPicPr>
          <p:nvPr/>
        </p:nvPicPr>
        <p:blipFill>
          <a:blip r:embed="rId5"/>
          <a:stretch>
            <a:fillRect/>
          </a:stretch>
        </p:blipFill>
        <p:spPr>
          <a:xfrm>
            <a:off x="7726680" y="5212080"/>
            <a:ext cx="274320" cy="274320"/>
          </a:xfrm>
          <a:prstGeom prst="rect">
            <a:avLst/>
          </a:prstGeom>
        </p:spPr>
      </p:pic>
      <p:sp>
        <p:nvSpPr>
          <p:cNvPr id="48" name="Text 41"/>
          <p:cNvSpPr txBox="1"/>
          <p:nvPr/>
        </p:nvSpPr>
        <p:spPr>
          <a:xfrm>
            <a:off x="8238744" y="5212080"/>
            <a:ext cx="1085393" cy="274320"/>
          </a:xfrm>
          <a:prstGeom prst="rect">
            <a:avLst/>
          </a:prstGeom>
          <a:noFill/>
          <a:ln/>
        </p:spPr>
        <p:txBody>
          <a:bodyPr wrap="square" lIns="0" tIns="0" rIns="0" bIns="0" rtlCol="0" anchor="ctr"/>
          <a:lstStyle/>
          <a:p>
            <a:pPr algn="l" indent="0" marL="0">
              <a:lnSpc>
                <a:spcPct val="122000"/>
              </a:lnSpc>
              <a:buNone/>
            </a:pPr>
            <a:r>
              <a:rPr lang="en-US" sz="850" b="1" spc="50" kern="0" dirty="0">
                <a:solidFill>
                  <a:srgbClr val="B5AEC6"/>
                </a:solidFill>
                <a:latin typeface="Calibri" pitchFamily="34" charset="0"/>
                <a:ea typeface="Calibri" pitchFamily="34" charset="-122"/>
                <a:cs typeface="Calibri" pitchFamily="34" charset="-120"/>
              </a:rPr>
              <a:t>Antigravity</a:t>
            </a:r>
            <a:endParaRPr lang="en-US" sz="850" dirty="0"/>
          </a:p>
        </p:txBody>
      </p:sp>
      <p:sp>
        <p:nvSpPr>
          <p:cNvPr id="49" name="Shape 42"/>
          <p:cNvSpPr/>
          <p:nvPr/>
        </p:nvSpPr>
        <p:spPr>
          <a:xfrm>
            <a:off x="6702552" y="5650992"/>
            <a:ext cx="4389120" cy="0"/>
          </a:xfrm>
          <a:prstGeom prst="line">
            <a:avLst/>
          </a:prstGeom>
          <a:noFill/>
          <a:ln w="12700">
            <a:solidFill>
              <a:srgbClr val="463F59"/>
            </a:solidFill>
            <a:prstDash val="solid"/>
          </a:ln>
        </p:spPr>
      </p:sp>
      <p:sp>
        <p:nvSpPr>
          <p:cNvPr id="50" name="Text 43"/>
          <p:cNvSpPr txBox="1"/>
          <p:nvPr/>
        </p:nvSpPr>
        <p:spPr>
          <a:xfrm>
            <a:off x="6702552" y="5760720"/>
            <a:ext cx="4572000" cy="201168"/>
          </a:xfrm>
          <a:prstGeom prst="rect">
            <a:avLst/>
          </a:prstGeom>
          <a:noFill/>
          <a:ln/>
        </p:spPr>
        <p:txBody>
          <a:bodyPr wrap="square" lIns="0" tIns="0" rIns="0" bIns="0" rtlCol="0" anchor="ctr"/>
          <a:lstStyle/>
          <a:p>
            <a:pPr algn="l" indent="0" marL="0">
              <a:lnSpc>
                <a:spcPct val="122000"/>
              </a:lnSpc>
              <a:buNone/>
            </a:pPr>
            <a:r>
              <a:rPr lang="en-US" sz="800" b="1" spc="80" kern="0" dirty="0">
                <a:solidFill>
                  <a:srgbClr val="B5AEC6"/>
                </a:solidFill>
                <a:latin typeface="Calibri" pitchFamily="34" charset="0"/>
                <a:ea typeface="Calibri" pitchFamily="34" charset="-122"/>
                <a:cs typeface="Calibri" pitchFamily="34" charset="-120"/>
              </a:rPr>
              <a:t>OUTPUT   Frontend · Backend · Database · API</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1C2B"/>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B5AEC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B5AEC6"/>
                </a:solidFill>
                <a:latin typeface="Calibri" pitchFamily="34" charset="0"/>
                <a:ea typeface="Calibri" pitchFamily="34" charset="-122"/>
                <a:cs typeface="Calibri" pitchFamily="34" charset="-120"/>
              </a:rPr>
              <a:t>SECTION 05  ·  AGENTIC DEVELOPMENT</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F8F4EF"/>
                </a:solidFill>
                <a:latin typeface="Calibri" pitchFamily="34" charset="0"/>
                <a:ea typeface="Calibri" pitchFamily="34" charset="-122"/>
                <a:cs typeface="Calibri" pitchFamily="34" charset="-120"/>
              </a:rPr>
              <a:t>Live Demo</a:t>
            </a:r>
            <a:endParaRPr lang="en-US" sz="3400" dirty="0"/>
          </a:p>
        </p:txBody>
      </p:sp>
      <p:sp>
        <p:nvSpPr>
          <p:cNvPr id="5" name="Text 3"/>
          <p:cNvSpPr txBox="1"/>
          <p:nvPr/>
        </p:nvSpPr>
        <p:spPr>
          <a:xfrm>
            <a:off x="822960" y="1536192"/>
            <a:ext cx="5486400" cy="566928"/>
          </a:xfrm>
          <a:prstGeom prst="rect">
            <a:avLst/>
          </a:prstGeom>
          <a:noFill/>
          <a:ln/>
        </p:spPr>
        <p:txBody>
          <a:bodyPr wrap="square" lIns="0" tIns="0" rIns="0" bIns="0" rtlCol="0" anchor="t"/>
          <a:lstStyle/>
          <a:p>
            <a:pPr algn="l" indent="0" marL="0">
              <a:lnSpc>
                <a:spcPct val="142000"/>
              </a:lnSpc>
              <a:buNone/>
            </a:pPr>
            <a:r>
              <a:rPr lang="en-US" sz="1650" dirty="0">
                <a:solidFill>
                  <a:srgbClr val="A9A2BA"/>
                </a:solidFill>
                <a:latin typeface="Calibri" pitchFamily="34" charset="0"/>
                <a:ea typeface="Calibri" pitchFamily="34" charset="-122"/>
                <a:cs typeface="Calibri" pitchFamily="34" charset="-120"/>
              </a:rPr>
              <a:t>Empat dokumen masuk. Satu aplikasi keluar. Yang menarik justru ada di bagian yang kita hentikan.</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Calibri" pitchFamily="34" charset="0"/>
                <a:ea typeface="Calibri" pitchFamily="34" charset="-122"/>
                <a:cs typeface="Calibri" pitchFamily="34" charset="-120"/>
              </a:rPr>
              <a:t>19</a:t>
            </a:r>
            <a:endParaRPr lang="en-US" sz="800" dirty="0"/>
          </a:p>
        </p:txBody>
      </p:sp>
      <p:sp>
        <p:nvSpPr>
          <p:cNvPr id="8" name="Text 6"/>
          <p:cNvSpPr txBox="1"/>
          <p:nvPr/>
        </p:nvSpPr>
        <p:spPr>
          <a:xfrm>
            <a:off x="822960" y="2395728"/>
            <a:ext cx="4937760" cy="219456"/>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B5AEC6"/>
                </a:solidFill>
                <a:latin typeface="Calibri" pitchFamily="34" charset="0"/>
                <a:ea typeface="Calibri" pitchFamily="34" charset="-122"/>
                <a:cs typeface="Calibri" pitchFamily="34" charset="-120"/>
              </a:rPr>
              <a:t>YANG AKAN TERJADI</a:t>
            </a:r>
            <a:endParaRPr lang="en-US" sz="850" dirty="0"/>
          </a:p>
        </p:txBody>
      </p:sp>
      <p:sp>
        <p:nvSpPr>
          <p:cNvPr id="9" name="Shape 7"/>
          <p:cNvSpPr/>
          <p:nvPr/>
        </p:nvSpPr>
        <p:spPr>
          <a:xfrm>
            <a:off x="822960" y="2761488"/>
            <a:ext cx="4937760" cy="0"/>
          </a:xfrm>
          <a:prstGeom prst="line">
            <a:avLst/>
          </a:prstGeom>
          <a:noFill/>
          <a:ln w="12700">
            <a:solidFill>
              <a:srgbClr val="463F59"/>
            </a:solidFill>
            <a:prstDash val="solid"/>
          </a:ln>
        </p:spPr>
      </p:sp>
      <p:sp>
        <p:nvSpPr>
          <p:cNvPr id="10" name="Text 8"/>
          <p:cNvSpPr txBox="1"/>
          <p:nvPr/>
        </p:nvSpPr>
        <p:spPr>
          <a:xfrm>
            <a:off x="822960" y="292608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6E6688"/>
                </a:solidFill>
                <a:latin typeface="Calibri" pitchFamily="34" charset="0"/>
                <a:ea typeface="Calibri" pitchFamily="34" charset="-122"/>
                <a:cs typeface="Calibri" pitchFamily="34" charset="-120"/>
              </a:rPr>
              <a:t>01</a:t>
            </a:r>
            <a:endParaRPr lang="en-US" sz="850" dirty="0"/>
          </a:p>
        </p:txBody>
      </p:sp>
      <p:sp>
        <p:nvSpPr>
          <p:cNvPr id="11" name="Text 9"/>
          <p:cNvSpPr txBox="1"/>
          <p:nvPr/>
        </p:nvSpPr>
        <p:spPr>
          <a:xfrm>
            <a:off x="1325880" y="2926080"/>
            <a:ext cx="443484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Calibri" pitchFamily="34" charset="0"/>
                <a:ea typeface="Calibri" pitchFamily="34" charset="-122"/>
                <a:cs typeface="Calibri" pitchFamily="34" charset="-120"/>
              </a:rPr>
              <a:t>Serahkan dokumen</a:t>
            </a:r>
            <a:endParaRPr lang="en-US" sz="1450" dirty="0"/>
          </a:p>
        </p:txBody>
      </p:sp>
      <p:sp>
        <p:nvSpPr>
          <p:cNvPr id="12" name="Text 10"/>
          <p:cNvSpPr txBox="1"/>
          <p:nvPr/>
        </p:nvSpPr>
        <p:spPr>
          <a:xfrm>
            <a:off x="1325880" y="3200400"/>
            <a:ext cx="4389120" cy="27432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PRD, Scope, Design, dan Task diberikan sebagai satu paket.</a:t>
            </a:r>
            <a:endParaRPr lang="en-US" sz="950" dirty="0"/>
          </a:p>
        </p:txBody>
      </p:sp>
      <p:sp>
        <p:nvSpPr>
          <p:cNvPr id="13" name="Shape 11"/>
          <p:cNvSpPr/>
          <p:nvPr/>
        </p:nvSpPr>
        <p:spPr>
          <a:xfrm>
            <a:off x="822960" y="3493008"/>
            <a:ext cx="4937760" cy="0"/>
          </a:xfrm>
          <a:prstGeom prst="line">
            <a:avLst/>
          </a:prstGeom>
          <a:noFill/>
          <a:ln w="12700">
            <a:solidFill>
              <a:srgbClr val="463F59"/>
            </a:solidFill>
            <a:prstDash val="solid"/>
          </a:ln>
        </p:spPr>
      </p:sp>
      <p:sp>
        <p:nvSpPr>
          <p:cNvPr id="14" name="Text 12"/>
          <p:cNvSpPr txBox="1"/>
          <p:nvPr/>
        </p:nvSpPr>
        <p:spPr>
          <a:xfrm>
            <a:off x="822960" y="365760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6E6688"/>
                </a:solidFill>
                <a:latin typeface="Calibri" pitchFamily="34" charset="0"/>
                <a:ea typeface="Calibri" pitchFamily="34" charset="-122"/>
                <a:cs typeface="Calibri" pitchFamily="34" charset="-120"/>
              </a:rPr>
              <a:t>02</a:t>
            </a:r>
            <a:endParaRPr lang="en-US" sz="850" dirty="0"/>
          </a:p>
        </p:txBody>
      </p:sp>
      <p:sp>
        <p:nvSpPr>
          <p:cNvPr id="15" name="Text 13"/>
          <p:cNvSpPr txBox="1"/>
          <p:nvPr/>
        </p:nvSpPr>
        <p:spPr>
          <a:xfrm>
            <a:off x="1325880" y="3657600"/>
            <a:ext cx="443484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Calibri" pitchFamily="34" charset="0"/>
                <a:ea typeface="Calibri" pitchFamily="34" charset="-122"/>
                <a:cs typeface="Calibri" pitchFamily="34" charset="-120"/>
              </a:rPr>
              <a:t>Jalankan per phase</a:t>
            </a:r>
            <a:endParaRPr lang="en-US" sz="1450" dirty="0"/>
          </a:p>
        </p:txBody>
      </p:sp>
      <p:sp>
        <p:nvSpPr>
          <p:cNvPr id="16" name="Text 14"/>
          <p:cNvSpPr txBox="1"/>
          <p:nvPr/>
        </p:nvSpPr>
        <p:spPr>
          <a:xfrm>
            <a:off x="1325880" y="3931920"/>
            <a:ext cx="4389120" cy="27432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Phase 1 sampai 4 dieksekusi berurutan, bukan sekaligus.</a:t>
            </a:r>
            <a:endParaRPr lang="en-US" sz="950" dirty="0"/>
          </a:p>
        </p:txBody>
      </p:sp>
      <p:sp>
        <p:nvSpPr>
          <p:cNvPr id="17" name="Shape 15"/>
          <p:cNvSpPr/>
          <p:nvPr/>
        </p:nvSpPr>
        <p:spPr>
          <a:xfrm>
            <a:off x="822960" y="4224528"/>
            <a:ext cx="4937760" cy="0"/>
          </a:xfrm>
          <a:prstGeom prst="line">
            <a:avLst/>
          </a:prstGeom>
          <a:noFill/>
          <a:ln w="12700">
            <a:solidFill>
              <a:srgbClr val="463F59"/>
            </a:solidFill>
            <a:prstDash val="solid"/>
          </a:ln>
        </p:spPr>
      </p:sp>
      <p:sp>
        <p:nvSpPr>
          <p:cNvPr id="18" name="Text 16"/>
          <p:cNvSpPr txBox="1"/>
          <p:nvPr/>
        </p:nvSpPr>
        <p:spPr>
          <a:xfrm>
            <a:off x="822960" y="438912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6E6688"/>
                </a:solidFill>
                <a:latin typeface="Calibri" pitchFamily="34" charset="0"/>
                <a:ea typeface="Calibri" pitchFamily="34" charset="-122"/>
                <a:cs typeface="Calibri" pitchFamily="34" charset="-120"/>
              </a:rPr>
              <a:t>03</a:t>
            </a:r>
            <a:endParaRPr lang="en-US" sz="850" dirty="0"/>
          </a:p>
        </p:txBody>
      </p:sp>
      <p:sp>
        <p:nvSpPr>
          <p:cNvPr id="19" name="Text 17"/>
          <p:cNvSpPr txBox="1"/>
          <p:nvPr/>
        </p:nvSpPr>
        <p:spPr>
          <a:xfrm>
            <a:off x="1325880" y="4389120"/>
            <a:ext cx="443484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Calibri" pitchFamily="34" charset="0"/>
                <a:ea typeface="Calibri" pitchFamily="34" charset="-122"/>
                <a:cs typeface="Calibri" pitchFamily="34" charset="-120"/>
              </a:rPr>
              <a:t>Hentikan dan baca</a:t>
            </a:r>
            <a:endParaRPr lang="en-US" sz="1450" dirty="0"/>
          </a:p>
        </p:txBody>
      </p:sp>
      <p:sp>
        <p:nvSpPr>
          <p:cNvPr id="20" name="Text 18"/>
          <p:cNvSpPr txBox="1"/>
          <p:nvPr/>
        </p:nvSpPr>
        <p:spPr>
          <a:xfrm>
            <a:off x="1325880" y="4663440"/>
            <a:ext cx="4389120" cy="27432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Setiap phase selesai, kita berhenti dan membaca hasilnya.</a:t>
            </a:r>
            <a:endParaRPr lang="en-US" sz="950" dirty="0"/>
          </a:p>
        </p:txBody>
      </p:sp>
      <p:sp>
        <p:nvSpPr>
          <p:cNvPr id="21" name="Shape 19"/>
          <p:cNvSpPr/>
          <p:nvPr/>
        </p:nvSpPr>
        <p:spPr>
          <a:xfrm>
            <a:off x="822960" y="4956048"/>
            <a:ext cx="4937760" cy="0"/>
          </a:xfrm>
          <a:prstGeom prst="line">
            <a:avLst/>
          </a:prstGeom>
          <a:noFill/>
          <a:ln w="12700">
            <a:solidFill>
              <a:srgbClr val="463F59"/>
            </a:solidFill>
            <a:prstDash val="solid"/>
          </a:ln>
        </p:spPr>
      </p:sp>
      <p:sp>
        <p:nvSpPr>
          <p:cNvPr id="22" name="Text 20"/>
          <p:cNvSpPr txBox="1"/>
          <p:nvPr/>
        </p:nvSpPr>
        <p:spPr>
          <a:xfrm>
            <a:off x="822960" y="5120640"/>
            <a:ext cx="365760" cy="219456"/>
          </a:xfrm>
          <a:prstGeom prst="rect">
            <a:avLst/>
          </a:prstGeom>
          <a:noFill/>
          <a:ln/>
        </p:spPr>
        <p:txBody>
          <a:bodyPr wrap="square" lIns="0" tIns="0" rIns="0" bIns="0" rtlCol="0" anchor="ctr"/>
          <a:lstStyle/>
          <a:p>
            <a:pPr algn="l" indent="0" marL="0">
              <a:lnSpc>
                <a:spcPct val="122000"/>
              </a:lnSpc>
              <a:buNone/>
            </a:pPr>
            <a:r>
              <a:rPr lang="en-US" sz="850" b="1" spc="120" kern="0" dirty="0">
                <a:solidFill>
                  <a:srgbClr val="6E6688"/>
                </a:solidFill>
                <a:latin typeface="Calibri" pitchFamily="34" charset="0"/>
                <a:ea typeface="Calibri" pitchFamily="34" charset="-122"/>
                <a:cs typeface="Calibri" pitchFamily="34" charset="-120"/>
              </a:rPr>
              <a:t>04</a:t>
            </a:r>
            <a:endParaRPr lang="en-US" sz="850" dirty="0"/>
          </a:p>
        </p:txBody>
      </p:sp>
      <p:sp>
        <p:nvSpPr>
          <p:cNvPr id="23" name="Text 21"/>
          <p:cNvSpPr txBox="1"/>
          <p:nvPr/>
        </p:nvSpPr>
        <p:spPr>
          <a:xfrm>
            <a:off x="1325880" y="5120640"/>
            <a:ext cx="4434840" cy="219456"/>
          </a:xfrm>
          <a:prstGeom prst="rect">
            <a:avLst/>
          </a:prstGeom>
          <a:noFill/>
          <a:ln/>
        </p:spPr>
        <p:txBody>
          <a:bodyPr wrap="square" lIns="0" tIns="0" rIns="0" bIns="0" rtlCol="0" anchor="ctr"/>
          <a:lstStyle/>
          <a:p>
            <a:pPr algn="l" indent="0" marL="0">
              <a:lnSpc>
                <a:spcPct val="122000"/>
              </a:lnSpc>
              <a:buNone/>
            </a:pPr>
            <a:r>
              <a:rPr lang="en-US" sz="1450" b="1" dirty="0">
                <a:solidFill>
                  <a:srgbClr val="F8F4EF"/>
                </a:solidFill>
                <a:latin typeface="Calibri" pitchFamily="34" charset="0"/>
                <a:ea typeface="Calibri" pitchFamily="34" charset="-122"/>
                <a:cs typeface="Calibri" pitchFamily="34" charset="-120"/>
              </a:rPr>
              <a:t>Jalankan aplikasinya</a:t>
            </a:r>
            <a:endParaRPr lang="en-US" sz="1450" dirty="0"/>
          </a:p>
        </p:txBody>
      </p:sp>
      <p:sp>
        <p:nvSpPr>
          <p:cNvPr id="24" name="Text 22"/>
          <p:cNvSpPr txBox="1"/>
          <p:nvPr/>
        </p:nvSpPr>
        <p:spPr>
          <a:xfrm>
            <a:off x="1325880" y="5394960"/>
            <a:ext cx="4389120" cy="274320"/>
          </a:xfrm>
          <a:prstGeom prst="rect">
            <a:avLst/>
          </a:prstGeom>
          <a:noFill/>
          <a:ln/>
        </p:spPr>
        <p:txBody>
          <a:bodyPr wrap="square" lIns="0" tIns="0" rIns="0" bIns="0" rtlCol="0" anchor="t"/>
          <a:lstStyle/>
          <a:p>
            <a:pPr algn="l" indent="0" marL="0">
              <a:lnSpc>
                <a:spcPct val="140000"/>
              </a:lnSpc>
              <a:buNone/>
            </a:pPr>
            <a:r>
              <a:rPr lang="en-US" sz="950" dirty="0">
                <a:solidFill>
                  <a:srgbClr val="A9A2BA"/>
                </a:solidFill>
                <a:latin typeface="Calibri" pitchFamily="34" charset="0"/>
                <a:ea typeface="Calibri" pitchFamily="34" charset="-122"/>
                <a:cs typeface="Calibri" pitchFamily="34" charset="-120"/>
              </a:rPr>
              <a:t>Booking dibuat dari browser, bukan dari chat WhatsApp.</a:t>
            </a:r>
            <a:endParaRPr lang="en-US" sz="950" dirty="0"/>
          </a:p>
        </p:txBody>
      </p:sp>
      <p:sp>
        <p:nvSpPr>
          <p:cNvPr id="25" name="Text 23"/>
          <p:cNvSpPr txBox="1"/>
          <p:nvPr/>
        </p:nvSpPr>
        <p:spPr>
          <a:xfrm>
            <a:off x="822960" y="5797296"/>
            <a:ext cx="4937760" cy="365760"/>
          </a:xfrm>
          <a:prstGeom prst="rect">
            <a:avLst/>
          </a:prstGeom>
          <a:noFill/>
          <a:ln/>
        </p:spPr>
        <p:txBody>
          <a:bodyPr wrap="square" lIns="0" tIns="0" rIns="0" bIns="0" rtlCol="0" anchor="ctr"/>
          <a:lstStyle/>
          <a:p>
            <a:pPr algn="l" indent="0" marL="0">
              <a:lnSpc>
                <a:spcPct val="122000"/>
              </a:lnSpc>
              <a:buNone/>
            </a:pPr>
            <a:r>
              <a:rPr lang="en-US" sz="1050" i="1" dirty="0">
                <a:solidFill>
                  <a:srgbClr val="B5AEC6"/>
                </a:solidFill>
                <a:latin typeface="Calibri" pitchFamily="34" charset="0"/>
                <a:ea typeface="Calibri" pitchFamily="34" charset="-122"/>
                <a:cs typeface="Calibri" pitchFamily="34" charset="-120"/>
              </a:rPr>
              <a:t>Perhatikan berapa kali saya menghentikan AI, dan kenapa.</a:t>
            </a:r>
            <a:endParaRPr lang="en-US" sz="1050" dirty="0"/>
          </a:p>
        </p:txBody>
      </p:sp>
      <p:sp>
        <p:nvSpPr>
          <p:cNvPr id="26" name="Shape 24"/>
          <p:cNvSpPr/>
          <p:nvPr/>
        </p:nvSpPr>
        <p:spPr>
          <a:xfrm>
            <a:off x="6428232" y="2212848"/>
            <a:ext cx="4937760" cy="3968496"/>
          </a:xfrm>
          <a:prstGeom prst="roundRect">
            <a:avLst>
              <a:gd name="adj" fmla="val 2995"/>
            </a:avLst>
          </a:prstGeom>
          <a:solidFill>
            <a:srgbClr val="15121C"/>
          </a:solidFill>
          <a:ln w="12700">
            <a:solidFill>
              <a:srgbClr val="463F59"/>
            </a:solidFill>
            <a:prstDash val="solid"/>
          </a:ln>
        </p:spPr>
      </p:sp>
      <p:sp>
        <p:nvSpPr>
          <p:cNvPr id="27" name="Shape 25"/>
          <p:cNvSpPr/>
          <p:nvPr/>
        </p:nvSpPr>
        <p:spPr>
          <a:xfrm>
            <a:off x="6428232" y="2212848"/>
            <a:ext cx="4937760" cy="420624"/>
          </a:xfrm>
          <a:prstGeom prst="roundRect">
            <a:avLst>
              <a:gd name="adj" fmla="val 28261"/>
            </a:avLst>
          </a:prstGeom>
          <a:solidFill>
            <a:srgbClr val="221E2E"/>
          </a:solidFill>
          <a:ln/>
        </p:spPr>
      </p:sp>
      <p:sp>
        <p:nvSpPr>
          <p:cNvPr id="28" name="Shape 26"/>
          <p:cNvSpPr/>
          <p:nvPr/>
        </p:nvSpPr>
        <p:spPr>
          <a:xfrm>
            <a:off x="6428232" y="2487168"/>
            <a:ext cx="4937760" cy="146304"/>
          </a:xfrm>
          <a:prstGeom prst="rect">
            <a:avLst/>
          </a:prstGeom>
          <a:solidFill>
            <a:srgbClr val="221E2E"/>
          </a:solidFill>
          <a:ln/>
        </p:spPr>
      </p:sp>
      <p:sp>
        <p:nvSpPr>
          <p:cNvPr id="29" name="Shape 27"/>
          <p:cNvSpPr/>
          <p:nvPr/>
        </p:nvSpPr>
        <p:spPr>
          <a:xfrm>
            <a:off x="6428232" y="2633472"/>
            <a:ext cx="4937760" cy="0"/>
          </a:xfrm>
          <a:prstGeom prst="line">
            <a:avLst/>
          </a:prstGeom>
          <a:noFill/>
          <a:ln w="12700">
            <a:solidFill>
              <a:srgbClr val="463F59"/>
            </a:solidFill>
            <a:prstDash val="solid"/>
          </a:ln>
        </p:spPr>
      </p:sp>
      <p:sp>
        <p:nvSpPr>
          <p:cNvPr id="30" name="Shape 28"/>
          <p:cNvSpPr/>
          <p:nvPr/>
        </p:nvSpPr>
        <p:spPr>
          <a:xfrm>
            <a:off x="6638544" y="2359152"/>
            <a:ext cx="118872" cy="118872"/>
          </a:xfrm>
          <a:prstGeom prst="ellipse">
            <a:avLst/>
          </a:prstGeom>
          <a:solidFill>
            <a:srgbClr val="5C5280"/>
          </a:solidFill>
          <a:ln/>
        </p:spPr>
      </p:sp>
      <p:sp>
        <p:nvSpPr>
          <p:cNvPr id="31" name="Shape 29"/>
          <p:cNvSpPr/>
          <p:nvPr/>
        </p:nvSpPr>
        <p:spPr>
          <a:xfrm>
            <a:off x="6839712" y="2359152"/>
            <a:ext cx="118872" cy="118872"/>
          </a:xfrm>
          <a:prstGeom prst="ellipse">
            <a:avLst/>
          </a:prstGeom>
          <a:solidFill>
            <a:srgbClr val="463F59"/>
          </a:solidFill>
          <a:ln/>
        </p:spPr>
      </p:sp>
      <p:sp>
        <p:nvSpPr>
          <p:cNvPr id="32" name="Shape 30"/>
          <p:cNvSpPr/>
          <p:nvPr/>
        </p:nvSpPr>
        <p:spPr>
          <a:xfrm>
            <a:off x="7040880" y="2359152"/>
            <a:ext cx="118872" cy="118872"/>
          </a:xfrm>
          <a:prstGeom prst="ellipse">
            <a:avLst/>
          </a:prstGeom>
          <a:solidFill>
            <a:srgbClr val="3A3350"/>
          </a:solidFill>
          <a:ln/>
        </p:spPr>
      </p:sp>
      <p:sp>
        <p:nvSpPr>
          <p:cNvPr id="33" name="Text 31"/>
          <p:cNvSpPr txBox="1"/>
          <p:nvPr/>
        </p:nvSpPr>
        <p:spPr>
          <a:xfrm>
            <a:off x="7406640" y="2212848"/>
            <a:ext cx="2286000" cy="420624"/>
          </a:xfrm>
          <a:prstGeom prst="rect">
            <a:avLst/>
          </a:prstGeom>
          <a:noFill/>
          <a:ln/>
        </p:spPr>
        <p:txBody>
          <a:bodyPr wrap="square" lIns="0" tIns="0" rIns="0" bIns="0" rtlCol="0" anchor="ctr"/>
          <a:lstStyle/>
          <a:p>
            <a:pPr algn="l" indent="0" marL="0">
              <a:lnSpc>
                <a:spcPct val="122000"/>
              </a:lnSpc>
              <a:buNone/>
            </a:pPr>
            <a:r>
              <a:rPr lang="en-US" sz="850" dirty="0">
                <a:solidFill>
                  <a:srgbClr val="6E6688"/>
                </a:solidFill>
                <a:latin typeface="Courier New" pitchFamily="34" charset="0"/>
                <a:ea typeface="Courier New" pitchFamily="34" charset="-122"/>
                <a:cs typeface="Courier New" pitchFamily="34" charset="-120"/>
              </a:rPr>
              <a:t>agent  ·  padel-booking</a:t>
            </a:r>
            <a:endParaRPr lang="en-US" sz="850" dirty="0"/>
          </a:p>
        </p:txBody>
      </p:sp>
      <p:pic>
        <p:nvPicPr>
          <p:cNvPr id="34" name="Image 0" descr="C:\Seminar\generator\assets\logos\nextdotjs-dark.png">    </p:cNvPr>
          <p:cNvPicPr>
            <a:picLocks noChangeAspect="1"/>
          </p:cNvPicPr>
          <p:nvPr/>
        </p:nvPicPr>
        <p:blipFill>
          <a:blip r:embed="rId1"/>
          <a:stretch>
            <a:fillRect/>
          </a:stretch>
        </p:blipFill>
        <p:spPr>
          <a:xfrm>
            <a:off x="10012680" y="2322576"/>
            <a:ext cx="201168" cy="201168"/>
          </a:xfrm>
          <a:prstGeom prst="rect">
            <a:avLst/>
          </a:prstGeom>
        </p:spPr>
      </p:pic>
      <p:pic>
        <p:nvPicPr>
          <p:cNvPr id="35" name="Image 1" descr="C:\Seminar\generator\assets\logos\typescript-dark.png">    </p:cNvPr>
          <p:cNvPicPr>
            <a:picLocks noChangeAspect="1"/>
          </p:cNvPicPr>
          <p:nvPr/>
        </p:nvPicPr>
        <p:blipFill>
          <a:blip r:embed="rId2"/>
          <a:stretch>
            <a:fillRect/>
          </a:stretch>
        </p:blipFill>
        <p:spPr>
          <a:xfrm>
            <a:off x="10314432" y="2322576"/>
            <a:ext cx="201168" cy="201168"/>
          </a:xfrm>
          <a:prstGeom prst="rect">
            <a:avLst/>
          </a:prstGeom>
        </p:spPr>
      </p:pic>
      <p:pic>
        <p:nvPicPr>
          <p:cNvPr id="36" name="Image 2" descr="C:\Seminar\generator\assets\logos\tailwindcss-dark.png">    </p:cNvPr>
          <p:cNvPicPr>
            <a:picLocks noChangeAspect="1"/>
          </p:cNvPicPr>
          <p:nvPr/>
        </p:nvPicPr>
        <p:blipFill>
          <a:blip r:embed="rId3"/>
          <a:stretch>
            <a:fillRect/>
          </a:stretch>
        </p:blipFill>
        <p:spPr>
          <a:xfrm>
            <a:off x="10616184" y="2322576"/>
            <a:ext cx="201168" cy="201168"/>
          </a:xfrm>
          <a:prstGeom prst="rect">
            <a:avLst/>
          </a:prstGeom>
        </p:spPr>
      </p:pic>
      <p:pic>
        <p:nvPicPr>
          <p:cNvPr id="37" name="Image 3" descr="C:\Seminar\generator\assets\logos\supabase-dark.png">    </p:cNvPr>
          <p:cNvPicPr>
            <a:picLocks noChangeAspect="1"/>
          </p:cNvPicPr>
          <p:nvPr/>
        </p:nvPicPr>
        <p:blipFill>
          <a:blip r:embed="rId4"/>
          <a:stretch>
            <a:fillRect/>
          </a:stretch>
        </p:blipFill>
        <p:spPr>
          <a:xfrm>
            <a:off x="10917936" y="2322576"/>
            <a:ext cx="201168" cy="201168"/>
          </a:xfrm>
          <a:prstGeom prst="rect">
            <a:avLst/>
          </a:prstGeom>
        </p:spPr>
      </p:pic>
      <p:sp>
        <p:nvSpPr>
          <p:cNvPr id="38" name="Text 32"/>
          <p:cNvSpPr txBox="1"/>
          <p:nvPr/>
        </p:nvSpPr>
        <p:spPr>
          <a:xfrm>
            <a:off x="6675120" y="2798064"/>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B5AEC6"/>
                </a:solidFill>
                <a:latin typeface="Courier New" pitchFamily="34" charset="0"/>
                <a:ea typeface="Courier New" pitchFamily="34" charset="-122"/>
                <a:cs typeface="Courier New" pitchFamily="34" charset="-120"/>
              </a:rPr>
              <a:t>$ agent run --spec ./docs</a:t>
            </a:r>
            <a:endParaRPr lang="en-US" sz="850" dirty="0"/>
          </a:p>
        </p:txBody>
      </p:sp>
      <p:sp>
        <p:nvSpPr>
          <p:cNvPr id="39" name="Text 33"/>
          <p:cNvSpPr txBox="1"/>
          <p:nvPr/>
        </p:nvSpPr>
        <p:spPr>
          <a:xfrm>
            <a:off x="6675120" y="3022092"/>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6E6688"/>
                </a:solidFill>
                <a:latin typeface="Courier New" pitchFamily="34" charset="0"/>
                <a:ea typeface="Courier New" pitchFamily="34" charset="-122"/>
                <a:cs typeface="Courier New" pitchFamily="34" charset="-120"/>
              </a:rPr>
              <a:t>reading PRD.md SCOPE.md DESIGN.md TASK.md</a:t>
            </a:r>
            <a:endParaRPr lang="en-US" sz="850" dirty="0"/>
          </a:p>
        </p:txBody>
      </p:sp>
      <p:sp>
        <p:nvSpPr>
          <p:cNvPr id="40" name="Text 34"/>
          <p:cNvSpPr txBox="1"/>
          <p:nvPr/>
        </p:nvSpPr>
        <p:spPr>
          <a:xfrm>
            <a:off x="6675120" y="3470148"/>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C3BCD6"/>
                </a:solidFill>
                <a:latin typeface="Courier New" pitchFamily="34" charset="0"/>
                <a:ea typeface="Courier New" pitchFamily="34" charset="-122"/>
                <a:cs typeface="Courier New" pitchFamily="34" charset="-120"/>
              </a:rPr>
              <a:t>Phase 1  Project Setup</a:t>
            </a:r>
            <a:endParaRPr lang="en-US" sz="850" dirty="0"/>
          </a:p>
        </p:txBody>
      </p:sp>
      <p:sp>
        <p:nvSpPr>
          <p:cNvPr id="41" name="Text 35"/>
          <p:cNvSpPr txBox="1"/>
          <p:nvPr/>
        </p:nvSpPr>
        <p:spPr>
          <a:xfrm>
            <a:off x="6675120" y="3694176"/>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7FA98A"/>
                </a:solidFill>
                <a:latin typeface="Courier New" pitchFamily="34" charset="0"/>
                <a:ea typeface="Courier New" pitchFamily="34" charset="-122"/>
                <a:cs typeface="Courier New" pitchFamily="34" charset="-120"/>
              </a:rPr>
              <a:t>  [ok] Next.js + TypeScript</a:t>
            </a:r>
            <a:endParaRPr lang="en-US" sz="850" dirty="0"/>
          </a:p>
        </p:txBody>
      </p:sp>
      <p:sp>
        <p:nvSpPr>
          <p:cNvPr id="42" name="Text 36"/>
          <p:cNvSpPr txBox="1"/>
          <p:nvPr/>
        </p:nvSpPr>
        <p:spPr>
          <a:xfrm>
            <a:off x="6675120" y="3918204"/>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7FA98A"/>
                </a:solidFill>
                <a:latin typeface="Courier New" pitchFamily="34" charset="0"/>
                <a:ea typeface="Courier New" pitchFamily="34" charset="-122"/>
                <a:cs typeface="Courier New" pitchFamily="34" charset="-120"/>
              </a:rPr>
              <a:t>  [ok] Tailwind CSS</a:t>
            </a:r>
            <a:endParaRPr lang="en-US" sz="850" dirty="0"/>
          </a:p>
        </p:txBody>
      </p:sp>
      <p:sp>
        <p:nvSpPr>
          <p:cNvPr id="43" name="Text 37"/>
          <p:cNvSpPr txBox="1"/>
          <p:nvPr/>
        </p:nvSpPr>
        <p:spPr>
          <a:xfrm>
            <a:off x="6675120" y="4142232"/>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7FA98A"/>
                </a:solidFill>
                <a:latin typeface="Courier New" pitchFamily="34" charset="0"/>
                <a:ea typeface="Courier New" pitchFamily="34" charset="-122"/>
                <a:cs typeface="Courier New" pitchFamily="34" charset="-120"/>
              </a:rPr>
              <a:t>  [ok] Supabase client</a:t>
            </a:r>
            <a:endParaRPr lang="en-US" sz="850" dirty="0"/>
          </a:p>
        </p:txBody>
      </p:sp>
      <p:sp>
        <p:nvSpPr>
          <p:cNvPr id="44" name="Text 38"/>
          <p:cNvSpPr txBox="1"/>
          <p:nvPr/>
        </p:nvSpPr>
        <p:spPr>
          <a:xfrm>
            <a:off x="6675120" y="4590288"/>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C3BCD6"/>
                </a:solidFill>
                <a:latin typeface="Courier New" pitchFamily="34" charset="0"/>
                <a:ea typeface="Courier New" pitchFamily="34" charset="-122"/>
                <a:cs typeface="Courier New" pitchFamily="34" charset="-120"/>
              </a:rPr>
              <a:t>Phase 2  Authentication</a:t>
            </a:r>
            <a:endParaRPr lang="en-US" sz="850" dirty="0"/>
          </a:p>
        </p:txBody>
      </p:sp>
      <p:sp>
        <p:nvSpPr>
          <p:cNvPr id="45" name="Text 39"/>
          <p:cNvSpPr txBox="1"/>
          <p:nvPr/>
        </p:nvSpPr>
        <p:spPr>
          <a:xfrm>
            <a:off x="6675120" y="4814316"/>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7FA98A"/>
                </a:solidFill>
                <a:latin typeface="Courier New" pitchFamily="34" charset="0"/>
                <a:ea typeface="Courier New" pitchFamily="34" charset="-122"/>
                <a:cs typeface="Courier New" pitchFamily="34" charset="-120"/>
              </a:rPr>
              <a:t>  [ok] Register  ·  Login</a:t>
            </a:r>
            <a:endParaRPr lang="en-US" sz="850" dirty="0"/>
          </a:p>
        </p:txBody>
      </p:sp>
      <p:sp>
        <p:nvSpPr>
          <p:cNvPr id="46" name="Text 40"/>
          <p:cNvSpPr txBox="1"/>
          <p:nvPr/>
        </p:nvSpPr>
        <p:spPr>
          <a:xfrm>
            <a:off x="6675120" y="5038344"/>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B5AEC6"/>
                </a:solidFill>
                <a:latin typeface="Courier New" pitchFamily="34" charset="0"/>
                <a:ea typeface="Courier New" pitchFamily="34" charset="-122"/>
                <a:cs typeface="Courier New" pitchFamily="34" charset="-120"/>
              </a:rPr>
              <a:t>  [..] Logout</a:t>
            </a:r>
            <a:endParaRPr lang="en-US" sz="850" dirty="0"/>
          </a:p>
        </p:txBody>
      </p:sp>
      <p:sp>
        <p:nvSpPr>
          <p:cNvPr id="47" name="Text 41"/>
          <p:cNvSpPr txBox="1"/>
          <p:nvPr/>
        </p:nvSpPr>
        <p:spPr>
          <a:xfrm>
            <a:off x="6675120" y="5486400"/>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C3BCD6"/>
                </a:solidFill>
                <a:latin typeface="Courier New" pitchFamily="34" charset="0"/>
                <a:ea typeface="Courier New" pitchFamily="34" charset="-122"/>
                <a:cs typeface="Courier New" pitchFamily="34" charset="-120"/>
              </a:rPr>
              <a:t>Phase 3  Booking System</a:t>
            </a:r>
            <a:endParaRPr lang="en-US" sz="850" dirty="0"/>
          </a:p>
        </p:txBody>
      </p:sp>
      <p:sp>
        <p:nvSpPr>
          <p:cNvPr id="48" name="Text 42"/>
          <p:cNvSpPr txBox="1"/>
          <p:nvPr/>
        </p:nvSpPr>
        <p:spPr>
          <a:xfrm>
            <a:off x="6675120" y="5710428"/>
            <a:ext cx="4480560" cy="201168"/>
          </a:xfrm>
          <a:prstGeom prst="rect">
            <a:avLst/>
          </a:prstGeom>
          <a:noFill/>
          <a:ln/>
        </p:spPr>
        <p:txBody>
          <a:bodyPr wrap="square" lIns="0" tIns="0" rIns="0" bIns="0" rtlCol="0" anchor="ctr"/>
          <a:lstStyle/>
          <a:p>
            <a:pPr algn="l" indent="0" marL="0">
              <a:lnSpc>
                <a:spcPct val="122000"/>
              </a:lnSpc>
              <a:buNone/>
            </a:pPr>
            <a:r>
              <a:rPr lang="en-US" sz="850" dirty="0">
                <a:solidFill>
                  <a:srgbClr val="B5AEC6"/>
                </a:solidFill>
                <a:latin typeface="Courier New" pitchFamily="34" charset="0"/>
                <a:ea typeface="Courier New" pitchFamily="34" charset="-122"/>
                <a:cs typeface="Courier New" pitchFamily="34" charset="-120"/>
              </a:rPr>
              <a:t>  [..] Create Booking</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06  ·  HUMAN REVIEW</a:t>
            </a:r>
            <a:endParaRPr lang="en-US" sz="850" dirty="0"/>
          </a:p>
        </p:txBody>
      </p:sp>
      <p:sp>
        <p:nvSpPr>
          <p:cNvPr id="4" name="Text 2"/>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5" name="Text 3"/>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20</a:t>
            </a:r>
            <a:endParaRPr lang="en-US" sz="800" dirty="0"/>
          </a:p>
        </p:txBody>
      </p:sp>
      <p:sp>
        <p:nvSpPr>
          <p:cNvPr id="6" name="Text 4"/>
          <p:cNvSpPr txBox="1"/>
          <p:nvPr/>
        </p:nvSpPr>
        <p:spPr>
          <a:xfrm>
            <a:off x="822960" y="932688"/>
            <a:ext cx="512064" cy="420624"/>
          </a:xfrm>
          <a:prstGeom prst="rect">
            <a:avLst/>
          </a:prstGeom>
          <a:noFill/>
          <a:ln/>
        </p:spPr>
        <p:txBody>
          <a:bodyPr wrap="square" lIns="0" tIns="0" rIns="0" bIns="0" rtlCol="0" anchor="t"/>
          <a:lstStyle/>
          <a:p>
            <a:pPr algn="l" indent="0" marL="0">
              <a:lnSpc>
                <a:spcPct val="100000"/>
              </a:lnSpc>
              <a:buNone/>
            </a:pPr>
            <a:r>
              <a:rPr lang="en-US" sz="3000" b="1" dirty="0">
                <a:solidFill>
                  <a:srgbClr val="B5AEC6"/>
                </a:solidFill>
                <a:latin typeface="Calibri" pitchFamily="34" charset="0"/>
                <a:ea typeface="Calibri" pitchFamily="34" charset="-122"/>
                <a:cs typeface="Calibri" pitchFamily="34" charset="-120"/>
              </a:rPr>
              <a:t>06</a:t>
            </a:r>
            <a:endParaRPr lang="en-US" sz="3000" dirty="0"/>
          </a:p>
        </p:txBody>
      </p:sp>
      <p:sp>
        <p:nvSpPr>
          <p:cNvPr id="7" name="Shape 5"/>
          <p:cNvSpPr/>
          <p:nvPr/>
        </p:nvSpPr>
        <p:spPr>
          <a:xfrm>
            <a:off x="1389888" y="987552"/>
            <a:ext cx="0" cy="329184"/>
          </a:xfrm>
          <a:prstGeom prst="line">
            <a:avLst/>
          </a:prstGeom>
          <a:noFill/>
          <a:ln w="12700">
            <a:solidFill>
              <a:srgbClr val="DDD7CF"/>
            </a:solidFill>
            <a:prstDash val="solid"/>
          </a:ln>
        </p:spPr>
      </p:sp>
      <p:sp>
        <p:nvSpPr>
          <p:cNvPr id="8" name="Text 6"/>
          <p:cNvSpPr txBox="1"/>
          <p:nvPr/>
        </p:nvSpPr>
        <p:spPr>
          <a:xfrm>
            <a:off x="1572768" y="950976"/>
            <a:ext cx="3840480" cy="384048"/>
          </a:xfrm>
          <a:prstGeom prst="rect">
            <a:avLst/>
          </a:prstGeom>
          <a:noFill/>
          <a:ln/>
        </p:spPr>
        <p:txBody>
          <a:bodyPr wrap="square" lIns="0" tIns="0" rIns="0" bIns="0" rtlCol="0" anchor="ctr"/>
          <a:lstStyle/>
          <a:p>
            <a:pPr algn="l" indent="0" marL="0">
              <a:lnSpc>
                <a:spcPct val="122000"/>
              </a:lnSpc>
              <a:buNone/>
            </a:pPr>
            <a:r>
              <a:rPr lang="en-US" sz="900" b="1" spc="170" kern="0" dirty="0">
                <a:solidFill>
                  <a:srgbClr val="5F5F5F"/>
                </a:solidFill>
                <a:latin typeface="Calibri" pitchFamily="34" charset="0"/>
                <a:ea typeface="Calibri" pitchFamily="34" charset="-122"/>
                <a:cs typeface="Calibri" pitchFamily="34" charset="-120"/>
              </a:rPr>
              <a:t>HUMAN REVIEW</a:t>
            </a:r>
            <a:endParaRPr lang="en-US" sz="900" dirty="0"/>
          </a:p>
        </p:txBody>
      </p:sp>
      <p:sp>
        <p:nvSpPr>
          <p:cNvPr id="9" name="Text 7"/>
          <p:cNvSpPr txBox="1"/>
          <p:nvPr/>
        </p:nvSpPr>
        <p:spPr>
          <a:xfrm>
            <a:off x="822960" y="1536192"/>
            <a:ext cx="7680960" cy="457200"/>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Human Review Checklist</a:t>
            </a:r>
            <a:endParaRPr lang="en-US" sz="3400" dirty="0"/>
          </a:p>
        </p:txBody>
      </p:sp>
      <p:sp>
        <p:nvSpPr>
          <p:cNvPr id="10" name="Text 8"/>
          <p:cNvSpPr txBox="1"/>
          <p:nvPr/>
        </p:nvSpPr>
        <p:spPr>
          <a:xfrm>
            <a:off x="822960" y="2084832"/>
            <a:ext cx="8412480" cy="256032"/>
          </a:xfrm>
          <a:prstGeom prst="rect">
            <a:avLst/>
          </a:prstGeom>
          <a:noFill/>
          <a:ln/>
        </p:spPr>
        <p:txBody>
          <a:bodyPr wrap="square" lIns="0" tIns="0" rIns="0" bIns="0" rtlCol="0" anchor="ctr"/>
          <a:lstStyle/>
          <a:p>
            <a:pPr algn="l" indent="0" marL="0">
              <a:lnSpc>
                <a:spcPct val="122000"/>
              </a:lnSpc>
              <a:buNone/>
            </a:pPr>
            <a:r>
              <a:rPr lang="en-US" sz="1200" dirty="0">
                <a:solidFill>
                  <a:srgbClr val="5F5F5F"/>
                </a:solidFill>
                <a:latin typeface="Calibri" pitchFamily="34" charset="0"/>
                <a:ea typeface="Calibri" pitchFamily="34" charset="-122"/>
                <a:cs typeface="Calibri" pitchFamily="34" charset="-120"/>
              </a:rPr>
              <a:t>AI menghasilkan kode yang jalan. Yang menentukan kode itu layak dipakai atau tidak, tetap Anda.</a:t>
            </a:r>
            <a:endParaRPr lang="en-US" sz="1200" dirty="0"/>
          </a:p>
        </p:txBody>
      </p:sp>
      <p:sp>
        <p:nvSpPr>
          <p:cNvPr id="11" name="Shape 9"/>
          <p:cNvSpPr/>
          <p:nvPr/>
        </p:nvSpPr>
        <p:spPr>
          <a:xfrm>
            <a:off x="822960" y="2395728"/>
            <a:ext cx="2430704" cy="3401568"/>
          </a:xfrm>
          <a:prstGeom prst="roundRect">
            <a:avLst>
              <a:gd name="adj" fmla="val 4514"/>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12" name="Shape 10"/>
          <p:cNvSpPr/>
          <p:nvPr/>
        </p:nvSpPr>
        <p:spPr>
          <a:xfrm>
            <a:off x="1078992" y="2651760"/>
            <a:ext cx="384048" cy="384048"/>
          </a:xfrm>
          <a:prstGeom prst="ellipse">
            <a:avLst/>
          </a:prstGeom>
          <a:ln w="15875">
            <a:solidFill>
              <a:srgbClr val="847E96"/>
            </a:solidFill>
            <a:prstDash val="solid"/>
          </a:ln>
        </p:spPr>
      </p:sp>
      <p:sp>
        <p:nvSpPr>
          <p:cNvPr id="13" name="Shape 11"/>
          <p:cNvSpPr/>
          <p:nvPr/>
        </p:nvSpPr>
        <p:spPr>
          <a:xfrm>
            <a:off x="1221090" y="2793858"/>
            <a:ext cx="99852" cy="99852"/>
          </a:xfrm>
          <a:prstGeom prst="ellipse">
            <a:avLst/>
          </a:prstGeom>
          <a:solidFill>
            <a:srgbClr val="847E96"/>
          </a:solidFill>
          <a:ln/>
        </p:spPr>
      </p:sp>
      <p:sp>
        <p:nvSpPr>
          <p:cNvPr id="14" name="Text 12"/>
          <p:cNvSpPr txBox="1"/>
          <p:nvPr/>
        </p:nvSpPr>
        <p:spPr>
          <a:xfrm>
            <a:off x="1078992" y="3163824"/>
            <a:ext cx="1918640" cy="475488"/>
          </a:xfrm>
          <a:prstGeom prst="rect">
            <a:avLst/>
          </a:prstGeom>
          <a:noFill/>
          <a:ln/>
        </p:spPr>
        <p:txBody>
          <a:bodyPr wrap="square" lIns="0" tIns="0" rIns="0" bIns="0" rtlCol="0" anchor="t"/>
          <a:lstStyle/>
          <a:p>
            <a:pPr algn="l" indent="0" marL="0">
              <a:lnSpc>
                <a:spcPct val="120000"/>
              </a:lnSpc>
              <a:buNone/>
            </a:pPr>
            <a:r>
              <a:rPr lang="en-US" sz="1500" b="1" dirty="0">
                <a:solidFill>
                  <a:srgbClr val="1A1A1A"/>
                </a:solidFill>
                <a:latin typeface="Calibri" pitchFamily="34" charset="0"/>
                <a:ea typeface="Calibri" pitchFamily="34" charset="-122"/>
                <a:cs typeface="Calibri" pitchFamily="34" charset="-120"/>
              </a:rPr>
              <a:t>Product</a:t>
            </a:r>
            <a:endParaRPr lang="en-US" sz="1500" dirty="0"/>
          </a:p>
          <a:p>
            <a:pPr algn="l" indent="0" marL="0">
              <a:lnSpc>
                <a:spcPct val="120000"/>
              </a:lnSpc>
              <a:buNone/>
            </a:pPr>
            <a:r>
              <a:rPr lang="en-US" sz="1500" b="1" dirty="0">
                <a:solidFill>
                  <a:srgbClr val="1A1A1A"/>
                </a:solidFill>
                <a:latin typeface="Calibri" pitchFamily="34" charset="0"/>
                <a:ea typeface="Calibri" pitchFamily="34" charset="-122"/>
                <a:cs typeface="Calibri" pitchFamily="34" charset="-120"/>
              </a:rPr>
              <a:t>Review</a:t>
            </a:r>
            <a:endParaRPr lang="en-US" sz="1500" dirty="0"/>
          </a:p>
        </p:txBody>
      </p:sp>
      <p:sp>
        <p:nvSpPr>
          <p:cNvPr id="15" name="Text 13"/>
          <p:cNvSpPr txBox="1"/>
          <p:nvPr/>
        </p:nvSpPr>
        <p:spPr>
          <a:xfrm>
            <a:off x="1078992" y="3694176"/>
            <a:ext cx="1918640" cy="384048"/>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Calibri" pitchFamily="34" charset="0"/>
                <a:ea typeface="Calibri" pitchFamily="34" charset="-122"/>
                <a:cs typeface="Calibri" pitchFamily="34" charset="-120"/>
              </a:rPr>
              <a:t>Apakah yang jadi memang yang diminta?</a:t>
            </a:r>
            <a:endParaRPr lang="en-US" sz="950" dirty="0"/>
          </a:p>
        </p:txBody>
      </p:sp>
      <p:sp>
        <p:nvSpPr>
          <p:cNvPr id="16" name="Shape 14"/>
          <p:cNvSpPr/>
          <p:nvPr/>
        </p:nvSpPr>
        <p:spPr>
          <a:xfrm>
            <a:off x="1078992" y="4169664"/>
            <a:ext cx="1918640" cy="0"/>
          </a:xfrm>
          <a:prstGeom prst="line">
            <a:avLst/>
          </a:prstGeom>
          <a:noFill/>
          <a:ln w="12700">
            <a:solidFill>
              <a:srgbClr val="DDD7CF"/>
            </a:solidFill>
            <a:prstDash val="solid"/>
          </a:ln>
        </p:spPr>
      </p:sp>
      <p:sp>
        <p:nvSpPr>
          <p:cNvPr id="17" name="Shape 15"/>
          <p:cNvSpPr/>
          <p:nvPr/>
        </p:nvSpPr>
        <p:spPr>
          <a:xfrm>
            <a:off x="1078992" y="4347972"/>
            <a:ext cx="100584" cy="100584"/>
          </a:xfrm>
          <a:prstGeom prst="rect">
            <a:avLst/>
          </a:prstGeom>
          <a:ln w="12700">
            <a:solidFill>
              <a:srgbClr val="B5AEC6"/>
            </a:solidFill>
            <a:prstDash val="solid"/>
          </a:ln>
        </p:spPr>
      </p:sp>
      <p:sp>
        <p:nvSpPr>
          <p:cNvPr id="18" name="Text 16"/>
          <p:cNvSpPr txBox="1"/>
          <p:nvPr/>
        </p:nvSpPr>
        <p:spPr>
          <a:xfrm>
            <a:off x="1316736" y="4297680"/>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Sesuai PRD?</a:t>
            </a:r>
            <a:endParaRPr lang="en-US" sz="950" dirty="0"/>
          </a:p>
        </p:txBody>
      </p:sp>
      <p:sp>
        <p:nvSpPr>
          <p:cNvPr id="19" name="Shape 17"/>
          <p:cNvSpPr/>
          <p:nvPr/>
        </p:nvSpPr>
        <p:spPr>
          <a:xfrm>
            <a:off x="1078992" y="4695444"/>
            <a:ext cx="100584" cy="100584"/>
          </a:xfrm>
          <a:prstGeom prst="rect">
            <a:avLst/>
          </a:prstGeom>
          <a:ln w="12700">
            <a:solidFill>
              <a:srgbClr val="B5AEC6"/>
            </a:solidFill>
            <a:prstDash val="solid"/>
          </a:ln>
        </p:spPr>
      </p:sp>
      <p:sp>
        <p:nvSpPr>
          <p:cNvPr id="20" name="Text 18"/>
          <p:cNvSpPr txBox="1"/>
          <p:nvPr/>
        </p:nvSpPr>
        <p:spPr>
          <a:xfrm>
            <a:off x="1316736" y="4645152"/>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Sesuai Scope?</a:t>
            </a:r>
            <a:endParaRPr lang="en-US" sz="950" dirty="0"/>
          </a:p>
        </p:txBody>
      </p:sp>
      <p:sp>
        <p:nvSpPr>
          <p:cNvPr id="21" name="Shape 19"/>
          <p:cNvSpPr/>
          <p:nvPr/>
        </p:nvSpPr>
        <p:spPr>
          <a:xfrm>
            <a:off x="1078992" y="5042916"/>
            <a:ext cx="100584" cy="100584"/>
          </a:xfrm>
          <a:prstGeom prst="rect">
            <a:avLst/>
          </a:prstGeom>
          <a:ln w="12700">
            <a:solidFill>
              <a:srgbClr val="B5AEC6"/>
            </a:solidFill>
            <a:prstDash val="solid"/>
          </a:ln>
        </p:spPr>
      </p:sp>
      <p:sp>
        <p:nvSpPr>
          <p:cNvPr id="22" name="Text 20"/>
          <p:cNvSpPr txBox="1"/>
          <p:nvPr/>
        </p:nvSpPr>
        <p:spPr>
          <a:xfrm>
            <a:off x="1316736" y="4992624"/>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Ada fitur yang tidak diminta?</a:t>
            </a:r>
            <a:endParaRPr lang="en-US" sz="950" dirty="0"/>
          </a:p>
        </p:txBody>
      </p:sp>
      <p:sp>
        <p:nvSpPr>
          <p:cNvPr id="23" name="Shape 21"/>
          <p:cNvSpPr/>
          <p:nvPr/>
        </p:nvSpPr>
        <p:spPr>
          <a:xfrm>
            <a:off x="1078992" y="5390388"/>
            <a:ext cx="100584" cy="100584"/>
          </a:xfrm>
          <a:prstGeom prst="rect">
            <a:avLst/>
          </a:prstGeom>
          <a:ln w="12700">
            <a:solidFill>
              <a:srgbClr val="B5AEC6"/>
            </a:solidFill>
            <a:prstDash val="solid"/>
          </a:ln>
        </p:spPr>
      </p:sp>
      <p:sp>
        <p:nvSpPr>
          <p:cNvPr id="24" name="Text 22"/>
          <p:cNvSpPr txBox="1"/>
          <p:nvPr/>
        </p:nvSpPr>
        <p:spPr>
          <a:xfrm>
            <a:off x="1316736" y="5340096"/>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User flow sesuai Design?</a:t>
            </a:r>
            <a:endParaRPr lang="en-US" sz="950" dirty="0"/>
          </a:p>
        </p:txBody>
      </p:sp>
      <p:sp>
        <p:nvSpPr>
          <p:cNvPr id="25" name="Shape 23"/>
          <p:cNvSpPr/>
          <p:nvPr/>
        </p:nvSpPr>
        <p:spPr>
          <a:xfrm>
            <a:off x="3527984" y="2395728"/>
            <a:ext cx="2430704" cy="3401568"/>
          </a:xfrm>
          <a:prstGeom prst="roundRect">
            <a:avLst>
              <a:gd name="adj" fmla="val 4514"/>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26" name="Shape 24"/>
          <p:cNvSpPr/>
          <p:nvPr/>
        </p:nvSpPr>
        <p:spPr>
          <a:xfrm>
            <a:off x="3784016" y="2651760"/>
            <a:ext cx="384048" cy="384048"/>
          </a:xfrm>
          <a:prstGeom prst="ellipse">
            <a:avLst/>
          </a:prstGeom>
          <a:ln w="15875">
            <a:solidFill>
              <a:srgbClr val="847E96"/>
            </a:solidFill>
            <a:prstDash val="solid"/>
          </a:ln>
        </p:spPr>
      </p:sp>
      <p:sp>
        <p:nvSpPr>
          <p:cNvPr id="27" name="Shape 25"/>
          <p:cNvSpPr/>
          <p:nvPr/>
        </p:nvSpPr>
        <p:spPr>
          <a:xfrm>
            <a:off x="3926114" y="2793858"/>
            <a:ext cx="99852" cy="99852"/>
          </a:xfrm>
          <a:prstGeom prst="rect">
            <a:avLst/>
          </a:prstGeom>
          <a:solidFill>
            <a:srgbClr val="847E96"/>
          </a:solidFill>
          <a:ln/>
        </p:spPr>
      </p:sp>
      <p:sp>
        <p:nvSpPr>
          <p:cNvPr id="28" name="Text 26"/>
          <p:cNvSpPr txBox="1"/>
          <p:nvPr/>
        </p:nvSpPr>
        <p:spPr>
          <a:xfrm>
            <a:off x="3784016" y="3163824"/>
            <a:ext cx="1918640" cy="475488"/>
          </a:xfrm>
          <a:prstGeom prst="rect">
            <a:avLst/>
          </a:prstGeom>
          <a:noFill/>
          <a:ln/>
        </p:spPr>
        <p:txBody>
          <a:bodyPr wrap="square" lIns="0" tIns="0" rIns="0" bIns="0" rtlCol="0" anchor="t"/>
          <a:lstStyle/>
          <a:p>
            <a:pPr algn="l" indent="0" marL="0">
              <a:lnSpc>
                <a:spcPct val="120000"/>
              </a:lnSpc>
              <a:buNone/>
            </a:pPr>
            <a:r>
              <a:rPr lang="en-US" sz="1500" b="1" dirty="0">
                <a:solidFill>
                  <a:srgbClr val="1A1A1A"/>
                </a:solidFill>
                <a:latin typeface="Calibri" pitchFamily="34" charset="0"/>
                <a:ea typeface="Calibri" pitchFamily="34" charset="-122"/>
                <a:cs typeface="Calibri" pitchFamily="34" charset="-120"/>
              </a:rPr>
              <a:t>Technical</a:t>
            </a:r>
            <a:endParaRPr lang="en-US" sz="1500" dirty="0"/>
          </a:p>
          <a:p>
            <a:pPr algn="l" indent="0" marL="0">
              <a:lnSpc>
                <a:spcPct val="120000"/>
              </a:lnSpc>
              <a:buNone/>
            </a:pPr>
            <a:r>
              <a:rPr lang="en-US" sz="1500" b="1" dirty="0">
                <a:solidFill>
                  <a:srgbClr val="1A1A1A"/>
                </a:solidFill>
                <a:latin typeface="Calibri" pitchFamily="34" charset="0"/>
                <a:ea typeface="Calibri" pitchFamily="34" charset="-122"/>
                <a:cs typeface="Calibri" pitchFamily="34" charset="-120"/>
              </a:rPr>
              <a:t>Review</a:t>
            </a:r>
            <a:endParaRPr lang="en-US" sz="1500" dirty="0"/>
          </a:p>
        </p:txBody>
      </p:sp>
      <p:sp>
        <p:nvSpPr>
          <p:cNvPr id="29" name="Text 27"/>
          <p:cNvSpPr txBox="1"/>
          <p:nvPr/>
        </p:nvSpPr>
        <p:spPr>
          <a:xfrm>
            <a:off x="3784016" y="3694176"/>
            <a:ext cx="1918640" cy="384048"/>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Calibri" pitchFamily="34" charset="0"/>
                <a:ea typeface="Calibri" pitchFamily="34" charset="-122"/>
                <a:cs typeface="Calibri" pitchFamily="34" charset="-120"/>
              </a:rPr>
              <a:t>Apakah kodenya bisa dirawat bulan depan?</a:t>
            </a:r>
            <a:endParaRPr lang="en-US" sz="950" dirty="0"/>
          </a:p>
        </p:txBody>
      </p:sp>
      <p:sp>
        <p:nvSpPr>
          <p:cNvPr id="30" name="Shape 28"/>
          <p:cNvSpPr/>
          <p:nvPr/>
        </p:nvSpPr>
        <p:spPr>
          <a:xfrm>
            <a:off x="3784016" y="4169664"/>
            <a:ext cx="1918640" cy="0"/>
          </a:xfrm>
          <a:prstGeom prst="line">
            <a:avLst/>
          </a:prstGeom>
          <a:noFill/>
          <a:ln w="12700">
            <a:solidFill>
              <a:srgbClr val="DDD7CF"/>
            </a:solidFill>
            <a:prstDash val="solid"/>
          </a:ln>
        </p:spPr>
      </p:sp>
      <p:sp>
        <p:nvSpPr>
          <p:cNvPr id="31" name="Shape 29"/>
          <p:cNvSpPr/>
          <p:nvPr/>
        </p:nvSpPr>
        <p:spPr>
          <a:xfrm>
            <a:off x="3784016" y="4347972"/>
            <a:ext cx="100584" cy="100584"/>
          </a:xfrm>
          <a:prstGeom prst="rect">
            <a:avLst/>
          </a:prstGeom>
          <a:ln w="12700">
            <a:solidFill>
              <a:srgbClr val="B5AEC6"/>
            </a:solidFill>
            <a:prstDash val="solid"/>
          </a:ln>
        </p:spPr>
      </p:sp>
      <p:sp>
        <p:nvSpPr>
          <p:cNvPr id="32" name="Text 30"/>
          <p:cNvSpPr txBox="1"/>
          <p:nvPr/>
        </p:nvSpPr>
        <p:spPr>
          <a:xfrm>
            <a:off x="4021760" y="4297680"/>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Struktur folder rapi?</a:t>
            </a:r>
            <a:endParaRPr lang="en-US" sz="950" dirty="0"/>
          </a:p>
        </p:txBody>
      </p:sp>
      <p:sp>
        <p:nvSpPr>
          <p:cNvPr id="33" name="Shape 31"/>
          <p:cNvSpPr/>
          <p:nvPr/>
        </p:nvSpPr>
        <p:spPr>
          <a:xfrm>
            <a:off x="3784016" y="4695444"/>
            <a:ext cx="100584" cy="100584"/>
          </a:xfrm>
          <a:prstGeom prst="rect">
            <a:avLst/>
          </a:prstGeom>
          <a:ln w="12700">
            <a:solidFill>
              <a:srgbClr val="B5AEC6"/>
            </a:solidFill>
            <a:prstDash val="solid"/>
          </a:ln>
        </p:spPr>
      </p:sp>
      <p:sp>
        <p:nvSpPr>
          <p:cNvPr id="34" name="Text 32"/>
          <p:cNvSpPr txBox="1"/>
          <p:nvPr/>
        </p:nvSpPr>
        <p:spPr>
          <a:xfrm>
            <a:off x="4021760" y="4645152"/>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Penamaan konsisten?</a:t>
            </a:r>
            <a:endParaRPr lang="en-US" sz="950" dirty="0"/>
          </a:p>
        </p:txBody>
      </p:sp>
      <p:sp>
        <p:nvSpPr>
          <p:cNvPr id="35" name="Shape 33"/>
          <p:cNvSpPr/>
          <p:nvPr/>
        </p:nvSpPr>
        <p:spPr>
          <a:xfrm>
            <a:off x="3784016" y="5042916"/>
            <a:ext cx="100584" cy="100584"/>
          </a:xfrm>
          <a:prstGeom prst="rect">
            <a:avLst/>
          </a:prstGeom>
          <a:ln w="12700">
            <a:solidFill>
              <a:srgbClr val="B5AEC6"/>
            </a:solidFill>
            <a:prstDash val="solid"/>
          </a:ln>
        </p:spPr>
      </p:sp>
      <p:sp>
        <p:nvSpPr>
          <p:cNvPr id="36" name="Text 34"/>
          <p:cNvSpPr txBox="1"/>
          <p:nvPr/>
        </p:nvSpPr>
        <p:spPr>
          <a:xfrm>
            <a:off x="4021760" y="4992624"/>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Tidak over-engineering?</a:t>
            </a:r>
            <a:endParaRPr lang="en-US" sz="950" dirty="0"/>
          </a:p>
        </p:txBody>
      </p:sp>
      <p:sp>
        <p:nvSpPr>
          <p:cNvPr id="37" name="Shape 35"/>
          <p:cNvSpPr/>
          <p:nvPr/>
        </p:nvSpPr>
        <p:spPr>
          <a:xfrm>
            <a:off x="3784016" y="5390388"/>
            <a:ext cx="100584" cy="100584"/>
          </a:xfrm>
          <a:prstGeom prst="rect">
            <a:avLst/>
          </a:prstGeom>
          <a:ln w="12700">
            <a:solidFill>
              <a:srgbClr val="B5AEC6"/>
            </a:solidFill>
            <a:prstDash val="solid"/>
          </a:ln>
        </p:spPr>
      </p:sp>
      <p:sp>
        <p:nvSpPr>
          <p:cNvPr id="38" name="Text 36"/>
          <p:cNvSpPr txBox="1"/>
          <p:nvPr/>
        </p:nvSpPr>
        <p:spPr>
          <a:xfrm>
            <a:off x="4021760" y="5340096"/>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Komponen dipakai ulang?</a:t>
            </a:r>
            <a:endParaRPr lang="en-US" sz="950" dirty="0"/>
          </a:p>
        </p:txBody>
      </p:sp>
      <p:sp>
        <p:nvSpPr>
          <p:cNvPr id="39" name="Shape 37"/>
          <p:cNvSpPr/>
          <p:nvPr/>
        </p:nvSpPr>
        <p:spPr>
          <a:xfrm>
            <a:off x="6233008" y="2395728"/>
            <a:ext cx="2430704" cy="3401568"/>
          </a:xfrm>
          <a:prstGeom prst="roundRect">
            <a:avLst>
              <a:gd name="adj" fmla="val 4514"/>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40" name="Shape 38"/>
          <p:cNvSpPr/>
          <p:nvPr/>
        </p:nvSpPr>
        <p:spPr>
          <a:xfrm>
            <a:off x="6489040" y="2651760"/>
            <a:ext cx="384048" cy="384048"/>
          </a:xfrm>
          <a:prstGeom prst="ellipse">
            <a:avLst/>
          </a:prstGeom>
          <a:ln w="15875">
            <a:solidFill>
              <a:srgbClr val="847E96"/>
            </a:solidFill>
            <a:prstDash val="solid"/>
          </a:ln>
        </p:spPr>
      </p:sp>
      <p:sp>
        <p:nvSpPr>
          <p:cNvPr id="41" name="Shape 39"/>
          <p:cNvSpPr/>
          <p:nvPr/>
        </p:nvSpPr>
        <p:spPr>
          <a:xfrm>
            <a:off x="6631137" y="2793858"/>
            <a:ext cx="99852" cy="99852"/>
          </a:xfrm>
          <a:prstGeom prst="ellipse">
            <a:avLst/>
          </a:prstGeom>
          <a:ln w="15875">
            <a:solidFill>
              <a:srgbClr val="847E96"/>
            </a:solidFill>
            <a:prstDash val="solid"/>
          </a:ln>
        </p:spPr>
      </p:sp>
      <p:sp>
        <p:nvSpPr>
          <p:cNvPr id="42" name="Text 40"/>
          <p:cNvSpPr txBox="1"/>
          <p:nvPr/>
        </p:nvSpPr>
        <p:spPr>
          <a:xfrm>
            <a:off x="6489040" y="3163824"/>
            <a:ext cx="1918640" cy="475488"/>
          </a:xfrm>
          <a:prstGeom prst="rect">
            <a:avLst/>
          </a:prstGeom>
          <a:noFill/>
          <a:ln/>
        </p:spPr>
        <p:txBody>
          <a:bodyPr wrap="square" lIns="0" tIns="0" rIns="0" bIns="0" rtlCol="0" anchor="t"/>
          <a:lstStyle/>
          <a:p>
            <a:pPr algn="l" indent="0" marL="0">
              <a:lnSpc>
                <a:spcPct val="120000"/>
              </a:lnSpc>
              <a:buNone/>
            </a:pPr>
            <a:r>
              <a:rPr lang="en-US" sz="1500" b="1" dirty="0">
                <a:solidFill>
                  <a:srgbClr val="1A1A1A"/>
                </a:solidFill>
                <a:latin typeface="Calibri" pitchFamily="34" charset="0"/>
                <a:ea typeface="Calibri" pitchFamily="34" charset="-122"/>
                <a:cs typeface="Calibri" pitchFamily="34" charset="-120"/>
              </a:rPr>
              <a:t>Security</a:t>
            </a:r>
            <a:endParaRPr lang="en-US" sz="1500" dirty="0"/>
          </a:p>
          <a:p>
            <a:pPr algn="l" indent="0" marL="0">
              <a:lnSpc>
                <a:spcPct val="120000"/>
              </a:lnSpc>
              <a:buNone/>
            </a:pPr>
            <a:r>
              <a:rPr lang="en-US" sz="1500" b="1" dirty="0">
                <a:solidFill>
                  <a:srgbClr val="1A1A1A"/>
                </a:solidFill>
                <a:latin typeface="Calibri" pitchFamily="34" charset="0"/>
                <a:ea typeface="Calibri" pitchFamily="34" charset="-122"/>
                <a:cs typeface="Calibri" pitchFamily="34" charset="-120"/>
              </a:rPr>
              <a:t>Review</a:t>
            </a:r>
            <a:endParaRPr lang="en-US" sz="1500" dirty="0"/>
          </a:p>
        </p:txBody>
      </p:sp>
      <p:sp>
        <p:nvSpPr>
          <p:cNvPr id="43" name="Text 41"/>
          <p:cNvSpPr txBox="1"/>
          <p:nvPr/>
        </p:nvSpPr>
        <p:spPr>
          <a:xfrm>
            <a:off x="6489040" y="3694176"/>
            <a:ext cx="1918640" cy="384048"/>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Calibri" pitchFamily="34" charset="0"/>
                <a:ea typeface="Calibri" pitchFamily="34" charset="-122"/>
                <a:cs typeface="Calibri" pitchFamily="34" charset="-120"/>
              </a:rPr>
              <a:t>Apakah aman dibuka ke internet?</a:t>
            </a:r>
            <a:endParaRPr lang="en-US" sz="950" dirty="0"/>
          </a:p>
        </p:txBody>
      </p:sp>
      <p:sp>
        <p:nvSpPr>
          <p:cNvPr id="44" name="Shape 42"/>
          <p:cNvSpPr/>
          <p:nvPr/>
        </p:nvSpPr>
        <p:spPr>
          <a:xfrm>
            <a:off x="6489040" y="4169664"/>
            <a:ext cx="1918640" cy="0"/>
          </a:xfrm>
          <a:prstGeom prst="line">
            <a:avLst/>
          </a:prstGeom>
          <a:noFill/>
          <a:ln w="12700">
            <a:solidFill>
              <a:srgbClr val="DDD7CF"/>
            </a:solidFill>
            <a:prstDash val="solid"/>
          </a:ln>
        </p:spPr>
      </p:sp>
      <p:sp>
        <p:nvSpPr>
          <p:cNvPr id="45" name="Shape 43"/>
          <p:cNvSpPr/>
          <p:nvPr/>
        </p:nvSpPr>
        <p:spPr>
          <a:xfrm>
            <a:off x="6489040" y="4347972"/>
            <a:ext cx="100584" cy="100584"/>
          </a:xfrm>
          <a:prstGeom prst="rect">
            <a:avLst/>
          </a:prstGeom>
          <a:ln w="12700">
            <a:solidFill>
              <a:srgbClr val="B5AEC6"/>
            </a:solidFill>
            <a:prstDash val="solid"/>
          </a:ln>
        </p:spPr>
      </p:sp>
      <p:sp>
        <p:nvSpPr>
          <p:cNvPr id="46" name="Text 44"/>
          <p:cNvSpPr txBox="1"/>
          <p:nvPr/>
        </p:nvSpPr>
        <p:spPr>
          <a:xfrm>
            <a:off x="6726784" y="4297680"/>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Tidak ada secret key di kode?</a:t>
            </a:r>
            <a:endParaRPr lang="en-US" sz="950" dirty="0"/>
          </a:p>
        </p:txBody>
      </p:sp>
      <p:sp>
        <p:nvSpPr>
          <p:cNvPr id="47" name="Shape 45"/>
          <p:cNvSpPr/>
          <p:nvPr/>
        </p:nvSpPr>
        <p:spPr>
          <a:xfrm>
            <a:off x="6489040" y="4695444"/>
            <a:ext cx="100584" cy="100584"/>
          </a:xfrm>
          <a:prstGeom prst="rect">
            <a:avLst/>
          </a:prstGeom>
          <a:ln w="12700">
            <a:solidFill>
              <a:srgbClr val="B5AEC6"/>
            </a:solidFill>
            <a:prstDash val="solid"/>
          </a:ln>
        </p:spPr>
      </p:sp>
      <p:sp>
        <p:nvSpPr>
          <p:cNvPr id="48" name="Text 46"/>
          <p:cNvSpPr txBox="1"/>
          <p:nvPr/>
        </p:nvSpPr>
        <p:spPr>
          <a:xfrm>
            <a:off x="6726784" y="4645152"/>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Input tervalidasi?</a:t>
            </a:r>
            <a:endParaRPr lang="en-US" sz="950" dirty="0"/>
          </a:p>
        </p:txBody>
      </p:sp>
      <p:sp>
        <p:nvSpPr>
          <p:cNvPr id="49" name="Shape 47"/>
          <p:cNvSpPr/>
          <p:nvPr/>
        </p:nvSpPr>
        <p:spPr>
          <a:xfrm>
            <a:off x="6489040" y="5042916"/>
            <a:ext cx="100584" cy="100584"/>
          </a:xfrm>
          <a:prstGeom prst="rect">
            <a:avLst/>
          </a:prstGeom>
          <a:ln w="12700">
            <a:solidFill>
              <a:srgbClr val="B5AEC6"/>
            </a:solidFill>
            <a:prstDash val="solid"/>
          </a:ln>
        </p:spPr>
      </p:sp>
      <p:sp>
        <p:nvSpPr>
          <p:cNvPr id="50" name="Text 48"/>
          <p:cNvSpPr txBox="1"/>
          <p:nvPr/>
        </p:nvSpPr>
        <p:spPr>
          <a:xfrm>
            <a:off x="6726784" y="4992624"/>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Akses admin terlindungi?</a:t>
            </a:r>
            <a:endParaRPr lang="en-US" sz="950" dirty="0"/>
          </a:p>
        </p:txBody>
      </p:sp>
      <p:sp>
        <p:nvSpPr>
          <p:cNvPr id="51" name="Shape 49"/>
          <p:cNvSpPr/>
          <p:nvPr/>
        </p:nvSpPr>
        <p:spPr>
          <a:xfrm>
            <a:off x="6489040" y="5390388"/>
            <a:ext cx="100584" cy="100584"/>
          </a:xfrm>
          <a:prstGeom prst="rect">
            <a:avLst/>
          </a:prstGeom>
          <a:ln w="12700">
            <a:solidFill>
              <a:srgbClr val="B5AEC6"/>
            </a:solidFill>
            <a:prstDash val="solid"/>
          </a:ln>
        </p:spPr>
      </p:sp>
      <p:sp>
        <p:nvSpPr>
          <p:cNvPr id="52" name="Text 50"/>
          <p:cNvSpPr txBox="1"/>
          <p:nvPr/>
        </p:nvSpPr>
        <p:spPr>
          <a:xfrm>
            <a:off x="6726784" y="5340096"/>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Data sensitif tidak bocor?</a:t>
            </a:r>
            <a:endParaRPr lang="en-US" sz="950" dirty="0"/>
          </a:p>
        </p:txBody>
      </p:sp>
      <p:sp>
        <p:nvSpPr>
          <p:cNvPr id="53" name="Shape 51"/>
          <p:cNvSpPr/>
          <p:nvPr/>
        </p:nvSpPr>
        <p:spPr>
          <a:xfrm>
            <a:off x="8938031" y="2395728"/>
            <a:ext cx="2430704" cy="3401568"/>
          </a:xfrm>
          <a:prstGeom prst="roundRect">
            <a:avLst>
              <a:gd name="adj" fmla="val 4514"/>
            </a:avLst>
          </a:prstGeom>
          <a:solidFill>
            <a:srgbClr val="FFFFFF"/>
          </a:solidFill>
          <a:ln w="12700">
            <a:solidFill>
              <a:srgbClr val="DDD7CF"/>
            </a:solidFill>
            <a:prstDash val="solid"/>
          </a:ln>
          <a:effectLst>
            <a:outerShdw sx="100000" sy="100000" kx="0" ky="0" algn="bl" rotWithShape="0" blurRad="165100" dist="38100" dir="5400000">
              <a:srgbClr val="9E9686">
                <a:alpha val="15000"/>
              </a:srgbClr>
            </a:outerShdw>
          </a:effectLst>
        </p:spPr>
      </p:sp>
      <p:sp>
        <p:nvSpPr>
          <p:cNvPr id="54" name="Shape 52"/>
          <p:cNvSpPr/>
          <p:nvPr/>
        </p:nvSpPr>
        <p:spPr>
          <a:xfrm>
            <a:off x="9194063" y="2651760"/>
            <a:ext cx="384048" cy="384048"/>
          </a:xfrm>
          <a:prstGeom prst="ellipse">
            <a:avLst/>
          </a:prstGeom>
          <a:ln w="15875">
            <a:solidFill>
              <a:srgbClr val="847E96"/>
            </a:solidFill>
            <a:prstDash val="solid"/>
          </a:ln>
        </p:spPr>
      </p:sp>
      <p:sp>
        <p:nvSpPr>
          <p:cNvPr id="55" name="Shape 53"/>
          <p:cNvSpPr/>
          <p:nvPr/>
        </p:nvSpPr>
        <p:spPr>
          <a:xfrm>
            <a:off x="9336161" y="2798850"/>
            <a:ext cx="99852" cy="89867"/>
          </a:xfrm>
          <a:prstGeom prst="triangle">
            <a:avLst/>
          </a:prstGeom>
          <a:solidFill>
            <a:srgbClr val="847E96"/>
          </a:solidFill>
          <a:ln/>
        </p:spPr>
      </p:sp>
      <p:sp>
        <p:nvSpPr>
          <p:cNvPr id="56" name="Text 54"/>
          <p:cNvSpPr txBox="1"/>
          <p:nvPr/>
        </p:nvSpPr>
        <p:spPr>
          <a:xfrm>
            <a:off x="9194063" y="3163824"/>
            <a:ext cx="1918640" cy="475488"/>
          </a:xfrm>
          <a:prstGeom prst="rect">
            <a:avLst/>
          </a:prstGeom>
          <a:noFill/>
          <a:ln/>
        </p:spPr>
        <p:txBody>
          <a:bodyPr wrap="square" lIns="0" tIns="0" rIns="0" bIns="0" rtlCol="0" anchor="t"/>
          <a:lstStyle/>
          <a:p>
            <a:pPr algn="l" indent="0" marL="0">
              <a:lnSpc>
                <a:spcPct val="120000"/>
              </a:lnSpc>
              <a:buNone/>
            </a:pPr>
            <a:r>
              <a:rPr lang="en-US" sz="1500" b="1" dirty="0">
                <a:solidFill>
                  <a:srgbClr val="1A1A1A"/>
                </a:solidFill>
                <a:latin typeface="Calibri" pitchFamily="34" charset="0"/>
                <a:ea typeface="Calibri" pitchFamily="34" charset="-122"/>
                <a:cs typeface="Calibri" pitchFamily="34" charset="-120"/>
              </a:rPr>
              <a:t>Functionality</a:t>
            </a:r>
            <a:endParaRPr lang="en-US" sz="1500" dirty="0"/>
          </a:p>
          <a:p>
            <a:pPr algn="l" indent="0" marL="0">
              <a:lnSpc>
                <a:spcPct val="120000"/>
              </a:lnSpc>
              <a:buNone/>
            </a:pPr>
            <a:r>
              <a:rPr lang="en-US" sz="1500" b="1" dirty="0">
                <a:solidFill>
                  <a:srgbClr val="1A1A1A"/>
                </a:solidFill>
                <a:latin typeface="Calibri" pitchFamily="34" charset="0"/>
                <a:ea typeface="Calibri" pitchFamily="34" charset="-122"/>
                <a:cs typeface="Calibri" pitchFamily="34" charset="-120"/>
              </a:rPr>
              <a:t>Review</a:t>
            </a:r>
            <a:endParaRPr lang="en-US" sz="1500" dirty="0"/>
          </a:p>
        </p:txBody>
      </p:sp>
      <p:sp>
        <p:nvSpPr>
          <p:cNvPr id="57" name="Text 55"/>
          <p:cNvSpPr txBox="1"/>
          <p:nvPr/>
        </p:nvSpPr>
        <p:spPr>
          <a:xfrm>
            <a:off x="9194063" y="3694176"/>
            <a:ext cx="1918640" cy="384048"/>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Calibri" pitchFamily="34" charset="0"/>
                <a:ea typeface="Calibri" pitchFamily="34" charset="-122"/>
                <a:cs typeface="Calibri" pitchFamily="34" charset="-120"/>
              </a:rPr>
              <a:t>Apakah benar-benar berfungsi?</a:t>
            </a:r>
            <a:endParaRPr lang="en-US" sz="950" dirty="0"/>
          </a:p>
        </p:txBody>
      </p:sp>
      <p:sp>
        <p:nvSpPr>
          <p:cNvPr id="58" name="Shape 56"/>
          <p:cNvSpPr/>
          <p:nvPr/>
        </p:nvSpPr>
        <p:spPr>
          <a:xfrm>
            <a:off x="9194063" y="4169664"/>
            <a:ext cx="1918640" cy="0"/>
          </a:xfrm>
          <a:prstGeom prst="line">
            <a:avLst/>
          </a:prstGeom>
          <a:noFill/>
          <a:ln w="12700">
            <a:solidFill>
              <a:srgbClr val="DDD7CF"/>
            </a:solidFill>
            <a:prstDash val="solid"/>
          </a:ln>
        </p:spPr>
      </p:sp>
      <p:sp>
        <p:nvSpPr>
          <p:cNvPr id="59" name="Shape 57"/>
          <p:cNvSpPr/>
          <p:nvPr/>
        </p:nvSpPr>
        <p:spPr>
          <a:xfrm>
            <a:off x="9194063" y="4347972"/>
            <a:ext cx="100584" cy="100584"/>
          </a:xfrm>
          <a:prstGeom prst="rect">
            <a:avLst/>
          </a:prstGeom>
          <a:ln w="12700">
            <a:solidFill>
              <a:srgbClr val="B5AEC6"/>
            </a:solidFill>
            <a:prstDash val="solid"/>
          </a:ln>
        </p:spPr>
      </p:sp>
      <p:sp>
        <p:nvSpPr>
          <p:cNvPr id="60" name="Text 58"/>
          <p:cNvSpPr txBox="1"/>
          <p:nvPr/>
        </p:nvSpPr>
        <p:spPr>
          <a:xfrm>
            <a:off x="9431807" y="4297680"/>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Login berjalan?</a:t>
            </a:r>
            <a:endParaRPr lang="en-US" sz="950" dirty="0"/>
          </a:p>
        </p:txBody>
      </p:sp>
      <p:sp>
        <p:nvSpPr>
          <p:cNvPr id="61" name="Shape 59"/>
          <p:cNvSpPr/>
          <p:nvPr/>
        </p:nvSpPr>
        <p:spPr>
          <a:xfrm>
            <a:off x="9194063" y="4695444"/>
            <a:ext cx="100584" cy="100584"/>
          </a:xfrm>
          <a:prstGeom prst="rect">
            <a:avLst/>
          </a:prstGeom>
          <a:ln w="12700">
            <a:solidFill>
              <a:srgbClr val="B5AEC6"/>
            </a:solidFill>
            <a:prstDash val="solid"/>
          </a:ln>
        </p:spPr>
      </p:sp>
      <p:sp>
        <p:nvSpPr>
          <p:cNvPr id="62" name="Text 60"/>
          <p:cNvSpPr txBox="1"/>
          <p:nvPr/>
        </p:nvSpPr>
        <p:spPr>
          <a:xfrm>
            <a:off x="9431807" y="4645152"/>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Booking berjalan?</a:t>
            </a:r>
            <a:endParaRPr lang="en-US" sz="950" dirty="0"/>
          </a:p>
        </p:txBody>
      </p:sp>
      <p:sp>
        <p:nvSpPr>
          <p:cNvPr id="63" name="Shape 61"/>
          <p:cNvSpPr/>
          <p:nvPr/>
        </p:nvSpPr>
        <p:spPr>
          <a:xfrm>
            <a:off x="9194063" y="5042916"/>
            <a:ext cx="100584" cy="100584"/>
          </a:xfrm>
          <a:prstGeom prst="rect">
            <a:avLst/>
          </a:prstGeom>
          <a:ln w="12700">
            <a:solidFill>
              <a:srgbClr val="B5AEC6"/>
            </a:solidFill>
            <a:prstDash val="solid"/>
          </a:ln>
        </p:spPr>
      </p:sp>
      <p:sp>
        <p:nvSpPr>
          <p:cNvPr id="64" name="Text 62"/>
          <p:cNvSpPr txBox="1"/>
          <p:nvPr/>
        </p:nvSpPr>
        <p:spPr>
          <a:xfrm>
            <a:off x="9431807" y="4992624"/>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Dashboard berjalan?</a:t>
            </a:r>
            <a:endParaRPr lang="en-US" sz="950" dirty="0"/>
          </a:p>
        </p:txBody>
      </p:sp>
      <p:sp>
        <p:nvSpPr>
          <p:cNvPr id="65" name="Shape 63"/>
          <p:cNvSpPr/>
          <p:nvPr/>
        </p:nvSpPr>
        <p:spPr>
          <a:xfrm>
            <a:off x="9194063" y="5390388"/>
            <a:ext cx="100584" cy="100584"/>
          </a:xfrm>
          <a:prstGeom prst="rect">
            <a:avLst/>
          </a:prstGeom>
          <a:ln w="12700">
            <a:solidFill>
              <a:srgbClr val="B5AEC6"/>
            </a:solidFill>
            <a:prstDash val="solid"/>
          </a:ln>
        </p:spPr>
      </p:sp>
      <p:sp>
        <p:nvSpPr>
          <p:cNvPr id="66" name="Text 64"/>
          <p:cNvSpPr txBox="1"/>
          <p:nvPr/>
        </p:nvSpPr>
        <p:spPr>
          <a:xfrm>
            <a:off x="9431807" y="5340096"/>
            <a:ext cx="1680896" cy="274320"/>
          </a:xfrm>
          <a:prstGeom prst="rect">
            <a:avLst/>
          </a:prstGeom>
          <a:noFill/>
          <a:ln/>
        </p:spPr>
        <p:txBody>
          <a:bodyPr wrap="square" lIns="0" tIns="0" rIns="0" bIns="0" rtlCol="0" anchor="t"/>
          <a:lstStyle/>
          <a:p>
            <a:pPr algn="l" indent="0" marL="0">
              <a:lnSpc>
                <a:spcPct val="130000"/>
              </a:lnSpc>
              <a:buNone/>
            </a:pPr>
            <a:r>
              <a:rPr lang="en-US" sz="950" dirty="0">
                <a:solidFill>
                  <a:srgbClr val="1A1A1A"/>
                </a:solidFill>
                <a:latin typeface="Calibri" pitchFamily="34" charset="0"/>
                <a:ea typeface="Calibri" pitchFamily="34" charset="-122"/>
                <a:cs typeface="Calibri" pitchFamily="34" charset="-120"/>
              </a:rPr>
              <a:t>Error ditangani jelas?</a:t>
            </a:r>
            <a:endParaRPr lang="en-US" sz="950" dirty="0"/>
          </a:p>
        </p:txBody>
      </p:sp>
      <p:sp>
        <p:nvSpPr>
          <p:cNvPr id="67" name="Text 65"/>
          <p:cNvSpPr txBox="1"/>
          <p:nvPr/>
        </p:nvSpPr>
        <p:spPr>
          <a:xfrm>
            <a:off x="822960" y="5925312"/>
            <a:ext cx="10545775" cy="274320"/>
          </a:xfrm>
          <a:prstGeom prst="rect">
            <a:avLst/>
          </a:prstGeom>
          <a:noFill/>
          <a:ln/>
        </p:spPr>
        <p:txBody>
          <a:bodyPr wrap="square" lIns="0" tIns="0" rIns="0" bIns="0" rtlCol="0" anchor="ctr"/>
          <a:lstStyle/>
          <a:p>
            <a:pPr algn="ctr" indent="0" marL="0">
              <a:lnSpc>
                <a:spcPct val="122000"/>
              </a:lnSpc>
              <a:buNone/>
            </a:pPr>
            <a:r>
              <a:rPr lang="en-US" sz="1350" b="1" dirty="0">
                <a:solidFill>
                  <a:srgbClr val="635C77"/>
                </a:solidFill>
                <a:latin typeface="Calibri" pitchFamily="34" charset="0"/>
                <a:ea typeface="Calibri" pitchFamily="34" charset="-122"/>
                <a:cs typeface="Calibri" pitchFamily="34" charset="-120"/>
              </a:rPr>
              <a:t>Kalau tidak ada yang me-review, berarti pelanggan Anda yang jadi reviewer pertamanya.</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07  ·  DELIVERY</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Testing &amp; Deployment</a:t>
            </a:r>
            <a:endParaRPr lang="en-US" sz="3400" dirty="0"/>
          </a:p>
        </p:txBody>
      </p:sp>
      <p:sp>
        <p:nvSpPr>
          <p:cNvPr id="5" name="Text 3"/>
          <p:cNvSpPr txBox="1"/>
          <p:nvPr/>
        </p:nvSpPr>
        <p:spPr>
          <a:xfrm>
            <a:off x="822960" y="1536192"/>
            <a:ext cx="676656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Calibri" pitchFamily="34" charset="0"/>
                <a:ea typeface="Calibri" pitchFamily="34" charset="-122"/>
                <a:cs typeface="Calibri" pitchFamily="34" charset="-120"/>
              </a:rPr>
              <a:t>Uji jalur utamanya, lalu naikkan ke lingkungan yang bisa diakses orang lain.</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21</a:t>
            </a:r>
            <a:endParaRPr lang="en-US" sz="800" dirty="0"/>
          </a:p>
        </p:txBody>
      </p:sp>
      <p:sp>
        <p:nvSpPr>
          <p:cNvPr id="8" name="Text 6"/>
          <p:cNvSpPr txBox="1"/>
          <p:nvPr/>
        </p:nvSpPr>
        <p:spPr>
          <a:xfrm>
            <a:off x="822960" y="2395728"/>
            <a:ext cx="512064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847E96"/>
                </a:solidFill>
                <a:latin typeface="Calibri" pitchFamily="34" charset="0"/>
                <a:ea typeface="Calibri" pitchFamily="34" charset="-122"/>
                <a:cs typeface="Calibri" pitchFamily="34" charset="-120"/>
              </a:rPr>
              <a:t>HAPPY PATH</a:t>
            </a:r>
            <a:endParaRPr lang="en-US" sz="850" dirty="0"/>
          </a:p>
        </p:txBody>
      </p:sp>
      <p:sp>
        <p:nvSpPr>
          <p:cNvPr id="9" name="Shape 7"/>
          <p:cNvSpPr/>
          <p:nvPr/>
        </p:nvSpPr>
        <p:spPr>
          <a:xfrm>
            <a:off x="822960" y="2761488"/>
            <a:ext cx="5138928" cy="0"/>
          </a:xfrm>
          <a:prstGeom prst="line">
            <a:avLst/>
          </a:prstGeom>
          <a:noFill/>
          <a:ln w="12700">
            <a:solidFill>
              <a:srgbClr val="DDD7CF"/>
            </a:solidFill>
            <a:prstDash val="solid"/>
          </a:ln>
        </p:spPr>
      </p:sp>
      <p:sp>
        <p:nvSpPr>
          <p:cNvPr id="10" name="Shape 8"/>
          <p:cNvSpPr/>
          <p:nvPr/>
        </p:nvSpPr>
        <p:spPr>
          <a:xfrm>
            <a:off x="822960" y="2944368"/>
            <a:ext cx="128016" cy="128016"/>
          </a:xfrm>
          <a:prstGeom prst="rect">
            <a:avLst/>
          </a:prstGeom>
          <a:ln w="15875">
            <a:solidFill>
              <a:srgbClr val="B5AEC6"/>
            </a:solidFill>
            <a:prstDash val="solid"/>
          </a:ln>
        </p:spPr>
      </p:sp>
      <p:sp>
        <p:nvSpPr>
          <p:cNvPr id="11" name="Text 9"/>
          <p:cNvSpPr txBox="1"/>
          <p:nvPr/>
        </p:nvSpPr>
        <p:spPr>
          <a:xfrm>
            <a:off x="1152144" y="2907792"/>
            <a:ext cx="4809744"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Calibri" pitchFamily="34" charset="0"/>
                <a:ea typeface="Calibri" pitchFamily="34" charset="-122"/>
                <a:cs typeface="Calibri" pitchFamily="34" charset="-120"/>
              </a:rPr>
              <a:t>Login</a:t>
            </a:r>
            <a:endParaRPr lang="en-US" sz="1600" dirty="0"/>
          </a:p>
        </p:txBody>
      </p:sp>
      <p:sp>
        <p:nvSpPr>
          <p:cNvPr id="12" name="Text 10"/>
          <p:cNvSpPr txBox="1"/>
          <p:nvPr/>
        </p:nvSpPr>
        <p:spPr>
          <a:xfrm>
            <a:off x="1152144" y="3218688"/>
            <a:ext cx="4754880" cy="274320"/>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User terdaftar berhasil masuk dan diarahkan ke dashboard.</a:t>
            </a:r>
            <a:endParaRPr lang="en-US" sz="1050" dirty="0"/>
          </a:p>
        </p:txBody>
      </p:sp>
      <p:sp>
        <p:nvSpPr>
          <p:cNvPr id="13" name="Shape 11"/>
          <p:cNvSpPr/>
          <p:nvPr/>
        </p:nvSpPr>
        <p:spPr>
          <a:xfrm>
            <a:off x="822960" y="3511296"/>
            <a:ext cx="5138928" cy="0"/>
          </a:xfrm>
          <a:prstGeom prst="line">
            <a:avLst/>
          </a:prstGeom>
          <a:noFill/>
          <a:ln w="12700">
            <a:solidFill>
              <a:srgbClr val="DDD7CF"/>
            </a:solidFill>
            <a:prstDash val="solid"/>
          </a:ln>
        </p:spPr>
      </p:sp>
      <p:sp>
        <p:nvSpPr>
          <p:cNvPr id="14" name="Shape 12"/>
          <p:cNvSpPr/>
          <p:nvPr/>
        </p:nvSpPr>
        <p:spPr>
          <a:xfrm>
            <a:off x="822960" y="3694176"/>
            <a:ext cx="128016" cy="128016"/>
          </a:xfrm>
          <a:prstGeom prst="rect">
            <a:avLst/>
          </a:prstGeom>
          <a:ln w="15875">
            <a:solidFill>
              <a:srgbClr val="B5AEC6"/>
            </a:solidFill>
            <a:prstDash val="solid"/>
          </a:ln>
        </p:spPr>
      </p:sp>
      <p:sp>
        <p:nvSpPr>
          <p:cNvPr id="15" name="Text 13"/>
          <p:cNvSpPr txBox="1"/>
          <p:nvPr/>
        </p:nvSpPr>
        <p:spPr>
          <a:xfrm>
            <a:off x="1152144" y="3657600"/>
            <a:ext cx="4809744"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Calibri" pitchFamily="34" charset="0"/>
                <a:ea typeface="Calibri" pitchFamily="34" charset="-122"/>
                <a:cs typeface="Calibri" pitchFamily="34" charset="-120"/>
              </a:rPr>
              <a:t>Booking</a:t>
            </a:r>
            <a:endParaRPr lang="en-US" sz="1600" dirty="0"/>
          </a:p>
        </p:txBody>
      </p:sp>
      <p:sp>
        <p:nvSpPr>
          <p:cNvPr id="16" name="Text 14"/>
          <p:cNvSpPr txBox="1"/>
          <p:nvPr/>
        </p:nvSpPr>
        <p:spPr>
          <a:xfrm>
            <a:off x="1152144" y="3968496"/>
            <a:ext cx="4754880" cy="274320"/>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Booking tersimpan dan slot yang sama tidak bisa dipesan lagi.</a:t>
            </a:r>
            <a:endParaRPr lang="en-US" sz="1050" dirty="0"/>
          </a:p>
        </p:txBody>
      </p:sp>
      <p:sp>
        <p:nvSpPr>
          <p:cNvPr id="17" name="Shape 15"/>
          <p:cNvSpPr/>
          <p:nvPr/>
        </p:nvSpPr>
        <p:spPr>
          <a:xfrm>
            <a:off x="822960" y="4261104"/>
            <a:ext cx="5138928" cy="0"/>
          </a:xfrm>
          <a:prstGeom prst="line">
            <a:avLst/>
          </a:prstGeom>
          <a:noFill/>
          <a:ln w="12700">
            <a:solidFill>
              <a:srgbClr val="DDD7CF"/>
            </a:solidFill>
            <a:prstDash val="solid"/>
          </a:ln>
        </p:spPr>
      </p:sp>
      <p:sp>
        <p:nvSpPr>
          <p:cNvPr id="18" name="Shape 16"/>
          <p:cNvSpPr/>
          <p:nvPr/>
        </p:nvSpPr>
        <p:spPr>
          <a:xfrm>
            <a:off x="822960" y="4443984"/>
            <a:ext cx="128016" cy="128016"/>
          </a:xfrm>
          <a:prstGeom prst="rect">
            <a:avLst/>
          </a:prstGeom>
          <a:ln w="15875">
            <a:solidFill>
              <a:srgbClr val="B5AEC6"/>
            </a:solidFill>
            <a:prstDash val="solid"/>
          </a:ln>
        </p:spPr>
      </p:sp>
      <p:sp>
        <p:nvSpPr>
          <p:cNvPr id="19" name="Text 17"/>
          <p:cNvSpPr txBox="1"/>
          <p:nvPr/>
        </p:nvSpPr>
        <p:spPr>
          <a:xfrm>
            <a:off x="1152144" y="4407408"/>
            <a:ext cx="4809744"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Calibri" pitchFamily="34" charset="0"/>
                <a:ea typeface="Calibri" pitchFamily="34" charset="-122"/>
                <a:cs typeface="Calibri" pitchFamily="34" charset="-120"/>
              </a:rPr>
              <a:t>Approval</a:t>
            </a:r>
            <a:endParaRPr lang="en-US" sz="1600" dirty="0"/>
          </a:p>
        </p:txBody>
      </p:sp>
      <p:sp>
        <p:nvSpPr>
          <p:cNvPr id="20" name="Text 18"/>
          <p:cNvSpPr txBox="1"/>
          <p:nvPr/>
        </p:nvSpPr>
        <p:spPr>
          <a:xfrm>
            <a:off x="1152144" y="4718304"/>
            <a:ext cx="4754880" cy="274320"/>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Admin menyetujui booking dan statusnya berubah.</a:t>
            </a:r>
            <a:endParaRPr lang="en-US" sz="1050" dirty="0"/>
          </a:p>
        </p:txBody>
      </p:sp>
      <p:sp>
        <p:nvSpPr>
          <p:cNvPr id="21" name="Shape 19"/>
          <p:cNvSpPr/>
          <p:nvPr/>
        </p:nvSpPr>
        <p:spPr>
          <a:xfrm>
            <a:off x="822960" y="5010912"/>
            <a:ext cx="5138928" cy="0"/>
          </a:xfrm>
          <a:prstGeom prst="line">
            <a:avLst/>
          </a:prstGeom>
          <a:noFill/>
          <a:ln w="12700">
            <a:solidFill>
              <a:srgbClr val="DDD7CF"/>
            </a:solidFill>
            <a:prstDash val="solid"/>
          </a:ln>
        </p:spPr>
      </p:sp>
      <p:sp>
        <p:nvSpPr>
          <p:cNvPr id="22" name="Shape 20"/>
          <p:cNvSpPr/>
          <p:nvPr/>
        </p:nvSpPr>
        <p:spPr>
          <a:xfrm>
            <a:off x="822960" y="5193792"/>
            <a:ext cx="128016" cy="128016"/>
          </a:xfrm>
          <a:prstGeom prst="rect">
            <a:avLst/>
          </a:prstGeom>
          <a:ln w="15875">
            <a:solidFill>
              <a:srgbClr val="B5AEC6"/>
            </a:solidFill>
            <a:prstDash val="solid"/>
          </a:ln>
        </p:spPr>
      </p:sp>
      <p:sp>
        <p:nvSpPr>
          <p:cNvPr id="23" name="Text 21"/>
          <p:cNvSpPr txBox="1"/>
          <p:nvPr/>
        </p:nvSpPr>
        <p:spPr>
          <a:xfrm>
            <a:off x="1152144" y="5157216"/>
            <a:ext cx="4809744" cy="237744"/>
          </a:xfrm>
          <a:prstGeom prst="rect">
            <a:avLst/>
          </a:prstGeom>
          <a:noFill/>
          <a:ln/>
        </p:spPr>
        <p:txBody>
          <a:bodyPr wrap="square" lIns="0" tIns="0" rIns="0" bIns="0" rtlCol="0" anchor="ctr"/>
          <a:lstStyle/>
          <a:p>
            <a:pPr algn="l" indent="0" marL="0">
              <a:lnSpc>
                <a:spcPct val="122000"/>
              </a:lnSpc>
              <a:buNone/>
            </a:pPr>
            <a:r>
              <a:rPr lang="en-US" sz="1600" b="1" dirty="0">
                <a:solidFill>
                  <a:srgbClr val="1A1A1A"/>
                </a:solidFill>
                <a:latin typeface="Calibri" pitchFamily="34" charset="0"/>
                <a:ea typeface="Calibri" pitchFamily="34" charset="-122"/>
                <a:cs typeface="Calibri" pitchFamily="34" charset="-120"/>
              </a:rPr>
              <a:t>History</a:t>
            </a:r>
            <a:endParaRPr lang="en-US" sz="1600" dirty="0"/>
          </a:p>
        </p:txBody>
      </p:sp>
      <p:sp>
        <p:nvSpPr>
          <p:cNvPr id="24" name="Text 22"/>
          <p:cNvSpPr txBox="1"/>
          <p:nvPr/>
        </p:nvSpPr>
        <p:spPr>
          <a:xfrm>
            <a:off x="1152144" y="5468112"/>
            <a:ext cx="4754880" cy="274320"/>
          </a:xfrm>
          <a:prstGeom prst="rect">
            <a:avLst/>
          </a:prstGeom>
          <a:noFill/>
          <a:ln/>
        </p:spPr>
        <p:txBody>
          <a:bodyPr wrap="square" lIns="0" tIns="0" rIns="0" bIns="0" rtlCol="0" anchor="t"/>
          <a:lstStyle/>
          <a:p>
            <a:pPr algn="l" indent="0" marL="0">
              <a:lnSpc>
                <a:spcPct val="140000"/>
              </a:lnSpc>
              <a:buNone/>
            </a:pPr>
            <a:r>
              <a:rPr lang="en-US" sz="1050" dirty="0">
                <a:solidFill>
                  <a:srgbClr val="5F5F5F"/>
                </a:solidFill>
                <a:latin typeface="Calibri" pitchFamily="34" charset="0"/>
                <a:ea typeface="Calibri" pitchFamily="34" charset="-122"/>
                <a:cs typeface="Calibri" pitchFamily="34" charset="-120"/>
              </a:rPr>
              <a:t>Riwayat booking tampil lengkap dengan tanggal dan status.</a:t>
            </a:r>
            <a:endParaRPr lang="en-US" sz="1050" dirty="0"/>
          </a:p>
        </p:txBody>
      </p:sp>
      <p:sp>
        <p:nvSpPr>
          <p:cNvPr id="25" name="Text 23"/>
          <p:cNvSpPr txBox="1"/>
          <p:nvPr/>
        </p:nvSpPr>
        <p:spPr>
          <a:xfrm>
            <a:off x="822960" y="5815584"/>
            <a:ext cx="5138928" cy="274320"/>
          </a:xfrm>
          <a:prstGeom prst="rect">
            <a:avLst/>
          </a:prstGeom>
          <a:noFill/>
          <a:ln/>
        </p:spPr>
        <p:txBody>
          <a:bodyPr wrap="square" lIns="0" tIns="0" rIns="0" bIns="0" rtlCol="0" anchor="ctr"/>
          <a:lstStyle/>
          <a:p>
            <a:pPr algn="l" indent="0" marL="0">
              <a:lnSpc>
                <a:spcPct val="122000"/>
              </a:lnSpc>
              <a:buNone/>
            </a:pPr>
            <a:r>
              <a:rPr lang="en-US" sz="1050" i="1" dirty="0">
                <a:solidFill>
                  <a:srgbClr val="635C77"/>
                </a:solidFill>
                <a:latin typeface="Calibri" pitchFamily="34" charset="0"/>
                <a:ea typeface="Calibri" pitchFamily="34" charset="-122"/>
                <a:cs typeface="Calibri" pitchFamily="34" charset="-120"/>
              </a:rPr>
              <a:t>Kalau salah satu gagal, jangan deploy.</a:t>
            </a:r>
            <a:endParaRPr lang="en-US" sz="1050" dirty="0"/>
          </a:p>
        </p:txBody>
      </p:sp>
      <p:sp>
        <p:nvSpPr>
          <p:cNvPr id="26" name="Shape 24"/>
          <p:cNvSpPr/>
          <p:nvPr/>
        </p:nvSpPr>
        <p:spPr>
          <a:xfrm>
            <a:off x="6071616" y="2395728"/>
            <a:ext cx="0" cy="3657600"/>
          </a:xfrm>
          <a:prstGeom prst="line">
            <a:avLst/>
          </a:prstGeom>
          <a:noFill/>
          <a:ln w="12700">
            <a:solidFill>
              <a:srgbClr val="DDD7CF"/>
            </a:solidFill>
            <a:prstDash val="solid"/>
          </a:ln>
        </p:spPr>
      </p:sp>
      <p:sp>
        <p:nvSpPr>
          <p:cNvPr id="27" name="Text 25"/>
          <p:cNvSpPr txBox="1"/>
          <p:nvPr/>
        </p:nvSpPr>
        <p:spPr>
          <a:xfrm>
            <a:off x="6428232" y="2395728"/>
            <a:ext cx="4937760" cy="219456"/>
          </a:xfrm>
          <a:prstGeom prst="rect">
            <a:avLst/>
          </a:prstGeom>
          <a:noFill/>
          <a:ln/>
        </p:spPr>
        <p:txBody>
          <a:bodyPr wrap="square" lIns="0" tIns="0" rIns="0" bIns="0" rtlCol="0" anchor="ctr"/>
          <a:lstStyle/>
          <a:p>
            <a:pPr algn="l" indent="0" marL="0">
              <a:lnSpc>
                <a:spcPct val="122000"/>
              </a:lnSpc>
              <a:buNone/>
            </a:pPr>
            <a:r>
              <a:rPr lang="en-US" sz="850" b="1" spc="200" kern="0" dirty="0">
                <a:solidFill>
                  <a:srgbClr val="847E96"/>
                </a:solidFill>
                <a:latin typeface="Calibri" pitchFamily="34" charset="0"/>
                <a:ea typeface="Calibri" pitchFamily="34" charset="-122"/>
                <a:cs typeface="Calibri" pitchFamily="34" charset="-120"/>
              </a:rPr>
              <a:t>DEPLOYMENT STACK</a:t>
            </a:r>
            <a:endParaRPr lang="en-US" sz="850" dirty="0"/>
          </a:p>
        </p:txBody>
      </p:sp>
      <p:sp>
        <p:nvSpPr>
          <p:cNvPr id="28" name="Shape 26"/>
          <p:cNvSpPr/>
          <p:nvPr/>
        </p:nvSpPr>
        <p:spPr>
          <a:xfrm>
            <a:off x="6428232" y="2761488"/>
            <a:ext cx="4937760" cy="0"/>
          </a:xfrm>
          <a:prstGeom prst="line">
            <a:avLst/>
          </a:prstGeom>
          <a:noFill/>
          <a:ln w="12700">
            <a:solidFill>
              <a:srgbClr val="DDD7CF"/>
            </a:solidFill>
            <a:prstDash val="solid"/>
          </a:ln>
        </p:spPr>
      </p:sp>
      <p:pic>
        <p:nvPicPr>
          <p:cNvPr id="29" name="Image 0" descr="C:\Seminar\generator\assets\logos\vercel-light.png">    </p:cNvPr>
          <p:cNvPicPr>
            <a:picLocks noChangeAspect="1"/>
          </p:cNvPicPr>
          <p:nvPr/>
        </p:nvPicPr>
        <p:blipFill>
          <a:blip r:embed="rId1"/>
          <a:stretch>
            <a:fillRect/>
          </a:stretch>
        </p:blipFill>
        <p:spPr>
          <a:xfrm>
            <a:off x="6428232" y="2944368"/>
            <a:ext cx="274320" cy="274320"/>
          </a:xfrm>
          <a:prstGeom prst="rect">
            <a:avLst/>
          </a:prstGeom>
        </p:spPr>
      </p:pic>
      <p:sp>
        <p:nvSpPr>
          <p:cNvPr id="30" name="Text 27"/>
          <p:cNvSpPr txBox="1"/>
          <p:nvPr/>
        </p:nvSpPr>
        <p:spPr>
          <a:xfrm>
            <a:off x="6903720" y="2926080"/>
            <a:ext cx="1371600" cy="201168"/>
          </a:xfrm>
          <a:prstGeom prst="rect">
            <a:avLst/>
          </a:prstGeom>
          <a:noFill/>
          <a:ln/>
        </p:spPr>
        <p:txBody>
          <a:bodyPr wrap="square" lIns="0" tIns="0" rIns="0" bIns="0" rtlCol="0" anchor="ctr"/>
          <a:lstStyle/>
          <a:p>
            <a:pPr algn="l" indent="0" marL="0">
              <a:lnSpc>
                <a:spcPct val="122000"/>
              </a:lnSpc>
              <a:buNone/>
            </a:pPr>
            <a:r>
              <a:rPr lang="en-US" sz="800" b="1" spc="120" kern="0" dirty="0">
                <a:solidFill>
                  <a:srgbClr val="847E96"/>
                </a:solidFill>
                <a:latin typeface="Calibri" pitchFamily="34" charset="0"/>
                <a:ea typeface="Calibri" pitchFamily="34" charset="-122"/>
                <a:cs typeface="Calibri" pitchFamily="34" charset="-120"/>
              </a:rPr>
              <a:t>FRONTEND</a:t>
            </a:r>
            <a:endParaRPr lang="en-US" sz="800" dirty="0"/>
          </a:p>
        </p:txBody>
      </p:sp>
      <p:sp>
        <p:nvSpPr>
          <p:cNvPr id="31" name="Text 28"/>
          <p:cNvSpPr txBox="1"/>
          <p:nvPr/>
        </p:nvSpPr>
        <p:spPr>
          <a:xfrm>
            <a:off x="8321040" y="2926080"/>
            <a:ext cx="3044952" cy="201168"/>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Vercel</a:t>
            </a:r>
            <a:endParaRPr lang="en-US" sz="1450" dirty="0"/>
          </a:p>
        </p:txBody>
      </p:sp>
      <p:sp>
        <p:nvSpPr>
          <p:cNvPr id="32" name="Text 29"/>
          <p:cNvSpPr txBox="1"/>
          <p:nvPr/>
        </p:nvSpPr>
        <p:spPr>
          <a:xfrm>
            <a:off x="6903720" y="3182112"/>
            <a:ext cx="4462272" cy="274320"/>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Calibri" pitchFamily="34" charset="0"/>
                <a:ea typeface="Calibri" pitchFamily="34" charset="-122"/>
                <a:cs typeface="Calibri" pitchFamily="34" charset="-120"/>
              </a:rPr>
              <a:t>Deploy langsung dari repository, otomatis tiap push.</a:t>
            </a:r>
            <a:endParaRPr lang="en-US" sz="950" dirty="0"/>
          </a:p>
        </p:txBody>
      </p:sp>
      <p:sp>
        <p:nvSpPr>
          <p:cNvPr id="33" name="Shape 30"/>
          <p:cNvSpPr/>
          <p:nvPr/>
        </p:nvSpPr>
        <p:spPr>
          <a:xfrm>
            <a:off x="6428232" y="3602736"/>
            <a:ext cx="4937760" cy="0"/>
          </a:xfrm>
          <a:prstGeom prst="line">
            <a:avLst/>
          </a:prstGeom>
          <a:noFill/>
          <a:ln w="12700">
            <a:solidFill>
              <a:srgbClr val="DDD7CF"/>
            </a:solidFill>
            <a:prstDash val="solid"/>
          </a:ln>
        </p:spPr>
      </p:sp>
      <p:pic>
        <p:nvPicPr>
          <p:cNvPr id="34" name="Image 1" descr="C:\Seminar\generator\assets\logos\railway-light.png">    </p:cNvPr>
          <p:cNvPicPr>
            <a:picLocks noChangeAspect="1"/>
          </p:cNvPicPr>
          <p:nvPr/>
        </p:nvPicPr>
        <p:blipFill>
          <a:blip r:embed="rId2"/>
          <a:stretch>
            <a:fillRect/>
          </a:stretch>
        </p:blipFill>
        <p:spPr>
          <a:xfrm>
            <a:off x="6428232" y="3785616"/>
            <a:ext cx="274320" cy="274320"/>
          </a:xfrm>
          <a:prstGeom prst="rect">
            <a:avLst/>
          </a:prstGeom>
        </p:spPr>
      </p:pic>
      <p:sp>
        <p:nvSpPr>
          <p:cNvPr id="35" name="Text 31"/>
          <p:cNvSpPr txBox="1"/>
          <p:nvPr/>
        </p:nvSpPr>
        <p:spPr>
          <a:xfrm>
            <a:off x="6903720" y="3767328"/>
            <a:ext cx="1371600" cy="201168"/>
          </a:xfrm>
          <a:prstGeom prst="rect">
            <a:avLst/>
          </a:prstGeom>
          <a:noFill/>
          <a:ln/>
        </p:spPr>
        <p:txBody>
          <a:bodyPr wrap="square" lIns="0" tIns="0" rIns="0" bIns="0" rtlCol="0" anchor="ctr"/>
          <a:lstStyle/>
          <a:p>
            <a:pPr algn="l" indent="0" marL="0">
              <a:lnSpc>
                <a:spcPct val="122000"/>
              </a:lnSpc>
              <a:buNone/>
            </a:pPr>
            <a:r>
              <a:rPr lang="en-US" sz="800" b="1" spc="120" kern="0" dirty="0">
                <a:solidFill>
                  <a:srgbClr val="847E96"/>
                </a:solidFill>
                <a:latin typeface="Calibri" pitchFamily="34" charset="0"/>
                <a:ea typeface="Calibri" pitchFamily="34" charset="-122"/>
                <a:cs typeface="Calibri" pitchFamily="34" charset="-120"/>
              </a:rPr>
              <a:t>BACKEND</a:t>
            </a:r>
            <a:endParaRPr lang="en-US" sz="800" dirty="0"/>
          </a:p>
        </p:txBody>
      </p:sp>
      <p:sp>
        <p:nvSpPr>
          <p:cNvPr id="36" name="Text 32"/>
          <p:cNvSpPr txBox="1"/>
          <p:nvPr/>
        </p:nvSpPr>
        <p:spPr>
          <a:xfrm>
            <a:off x="8321040" y="3767328"/>
            <a:ext cx="3044952" cy="201168"/>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Railway</a:t>
            </a:r>
            <a:endParaRPr lang="en-US" sz="1450" dirty="0"/>
          </a:p>
        </p:txBody>
      </p:sp>
      <p:sp>
        <p:nvSpPr>
          <p:cNvPr id="37" name="Text 33"/>
          <p:cNvSpPr txBox="1"/>
          <p:nvPr/>
        </p:nvSpPr>
        <p:spPr>
          <a:xfrm>
            <a:off x="6903720" y="4023360"/>
            <a:ext cx="4462272" cy="274320"/>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Calibri" pitchFamily="34" charset="0"/>
                <a:ea typeface="Calibri" pitchFamily="34" charset="-122"/>
                <a:cs typeface="Calibri" pitchFamily="34" charset="-120"/>
              </a:rPr>
              <a:t>Menjalankan API dan proses berdurasi panjang.</a:t>
            </a:r>
            <a:endParaRPr lang="en-US" sz="950" dirty="0"/>
          </a:p>
        </p:txBody>
      </p:sp>
      <p:sp>
        <p:nvSpPr>
          <p:cNvPr id="38" name="Shape 34"/>
          <p:cNvSpPr/>
          <p:nvPr/>
        </p:nvSpPr>
        <p:spPr>
          <a:xfrm>
            <a:off x="6428232" y="4443984"/>
            <a:ext cx="4937760" cy="0"/>
          </a:xfrm>
          <a:prstGeom prst="line">
            <a:avLst/>
          </a:prstGeom>
          <a:noFill/>
          <a:ln w="12700">
            <a:solidFill>
              <a:srgbClr val="DDD7CF"/>
            </a:solidFill>
            <a:prstDash val="solid"/>
          </a:ln>
        </p:spPr>
      </p:sp>
      <p:pic>
        <p:nvPicPr>
          <p:cNvPr id="39" name="Image 2" descr="C:\Seminar\generator\assets\logos\supabase-light.png">    </p:cNvPr>
          <p:cNvPicPr>
            <a:picLocks noChangeAspect="1"/>
          </p:cNvPicPr>
          <p:nvPr/>
        </p:nvPicPr>
        <p:blipFill>
          <a:blip r:embed="rId3"/>
          <a:stretch>
            <a:fillRect/>
          </a:stretch>
        </p:blipFill>
        <p:spPr>
          <a:xfrm>
            <a:off x="6428232" y="4626864"/>
            <a:ext cx="274320" cy="274320"/>
          </a:xfrm>
          <a:prstGeom prst="rect">
            <a:avLst/>
          </a:prstGeom>
        </p:spPr>
      </p:pic>
      <p:sp>
        <p:nvSpPr>
          <p:cNvPr id="40" name="Text 35"/>
          <p:cNvSpPr txBox="1"/>
          <p:nvPr/>
        </p:nvSpPr>
        <p:spPr>
          <a:xfrm>
            <a:off x="6903720" y="4608576"/>
            <a:ext cx="1371600" cy="201168"/>
          </a:xfrm>
          <a:prstGeom prst="rect">
            <a:avLst/>
          </a:prstGeom>
          <a:noFill/>
          <a:ln/>
        </p:spPr>
        <p:txBody>
          <a:bodyPr wrap="square" lIns="0" tIns="0" rIns="0" bIns="0" rtlCol="0" anchor="ctr"/>
          <a:lstStyle/>
          <a:p>
            <a:pPr algn="l" indent="0" marL="0">
              <a:lnSpc>
                <a:spcPct val="122000"/>
              </a:lnSpc>
              <a:buNone/>
            </a:pPr>
            <a:r>
              <a:rPr lang="en-US" sz="800" b="1" spc="120" kern="0" dirty="0">
                <a:solidFill>
                  <a:srgbClr val="847E96"/>
                </a:solidFill>
                <a:latin typeface="Calibri" pitchFamily="34" charset="0"/>
                <a:ea typeface="Calibri" pitchFamily="34" charset="-122"/>
                <a:cs typeface="Calibri" pitchFamily="34" charset="-120"/>
              </a:rPr>
              <a:t>DATABASE</a:t>
            </a:r>
            <a:endParaRPr lang="en-US" sz="800" dirty="0"/>
          </a:p>
        </p:txBody>
      </p:sp>
      <p:sp>
        <p:nvSpPr>
          <p:cNvPr id="41" name="Text 36"/>
          <p:cNvSpPr txBox="1"/>
          <p:nvPr/>
        </p:nvSpPr>
        <p:spPr>
          <a:xfrm>
            <a:off x="8321040" y="4608576"/>
            <a:ext cx="3044952" cy="201168"/>
          </a:xfrm>
          <a:prstGeom prst="rect">
            <a:avLst/>
          </a:prstGeom>
          <a:noFill/>
          <a:ln/>
        </p:spPr>
        <p:txBody>
          <a:bodyPr wrap="square" lIns="0" tIns="0" rIns="0" bIns="0" rtlCol="0" anchor="ctr"/>
          <a:lstStyle/>
          <a:p>
            <a:pPr algn="l" indent="0" marL="0">
              <a:lnSpc>
                <a:spcPct val="122000"/>
              </a:lnSpc>
              <a:buNone/>
            </a:pPr>
            <a:r>
              <a:rPr lang="en-US" sz="1450" b="1" dirty="0">
                <a:solidFill>
                  <a:srgbClr val="1A1A1A"/>
                </a:solidFill>
                <a:latin typeface="Calibri" pitchFamily="34" charset="0"/>
                <a:ea typeface="Calibri" pitchFamily="34" charset="-122"/>
                <a:cs typeface="Calibri" pitchFamily="34" charset="-120"/>
              </a:rPr>
              <a:t>Supabase / Neon</a:t>
            </a:r>
            <a:endParaRPr lang="en-US" sz="1450" dirty="0"/>
          </a:p>
        </p:txBody>
      </p:sp>
      <p:sp>
        <p:nvSpPr>
          <p:cNvPr id="42" name="Text 37"/>
          <p:cNvSpPr txBox="1"/>
          <p:nvPr/>
        </p:nvSpPr>
        <p:spPr>
          <a:xfrm>
            <a:off x="6903720" y="4864608"/>
            <a:ext cx="4462272" cy="274320"/>
          </a:xfrm>
          <a:prstGeom prst="rect">
            <a:avLst/>
          </a:prstGeom>
          <a:noFill/>
          <a:ln/>
        </p:spPr>
        <p:txBody>
          <a:bodyPr wrap="square" lIns="0" tIns="0" rIns="0" bIns="0" rtlCol="0" anchor="t"/>
          <a:lstStyle/>
          <a:p>
            <a:pPr algn="l" indent="0" marL="0">
              <a:lnSpc>
                <a:spcPct val="140000"/>
              </a:lnSpc>
              <a:buNone/>
            </a:pPr>
            <a:r>
              <a:rPr lang="en-US" sz="950" dirty="0">
                <a:solidFill>
                  <a:srgbClr val="5F5F5F"/>
                </a:solidFill>
                <a:latin typeface="Calibri" pitchFamily="34" charset="0"/>
                <a:ea typeface="Calibri" pitchFamily="34" charset="-122"/>
                <a:cs typeface="Calibri" pitchFamily="34" charset="-120"/>
              </a:rPr>
              <a:t>Postgres terkelola dengan autentikasi bawaan.</a:t>
            </a:r>
            <a:endParaRPr lang="en-US" sz="950" dirty="0"/>
          </a:p>
        </p:txBody>
      </p:sp>
      <p:pic>
        <p:nvPicPr>
          <p:cNvPr id="43" name="Image 3" descr="C:\Seminar\generator\assets\logos\neon-light.png">    </p:cNvPr>
          <p:cNvPicPr>
            <a:picLocks noChangeAspect="1"/>
          </p:cNvPicPr>
          <p:nvPr/>
        </p:nvPicPr>
        <p:blipFill>
          <a:blip r:embed="rId4"/>
          <a:stretch>
            <a:fillRect/>
          </a:stretch>
        </p:blipFill>
        <p:spPr>
          <a:xfrm>
            <a:off x="6784848" y="4443984"/>
            <a:ext cx="219456" cy="219456"/>
          </a:xfrm>
          <a:prstGeom prst="rect">
            <a:avLst/>
          </a:prstGeom>
        </p:spPr>
      </p:pic>
      <p:sp>
        <p:nvSpPr>
          <p:cNvPr id="44" name="Shape 38"/>
          <p:cNvSpPr/>
          <p:nvPr/>
        </p:nvSpPr>
        <p:spPr>
          <a:xfrm>
            <a:off x="8897112" y="5358384"/>
            <a:ext cx="0" cy="155448"/>
          </a:xfrm>
          <a:prstGeom prst="line">
            <a:avLst/>
          </a:prstGeom>
          <a:noFill/>
          <a:ln w="15875">
            <a:solidFill>
              <a:srgbClr val="B5AEC6"/>
            </a:solidFill>
            <a:prstDash val="solid"/>
          </a:ln>
        </p:spPr>
      </p:sp>
      <p:sp>
        <p:nvSpPr>
          <p:cNvPr id="45" name="Shape 39"/>
          <p:cNvSpPr/>
          <p:nvPr/>
        </p:nvSpPr>
        <p:spPr>
          <a:xfrm rot="10800000">
            <a:off x="8846820" y="5504688"/>
            <a:ext cx="100584" cy="91440"/>
          </a:xfrm>
          <a:prstGeom prst="triangle">
            <a:avLst/>
          </a:prstGeom>
          <a:solidFill>
            <a:srgbClr val="B5AEC6"/>
          </a:solidFill>
          <a:ln/>
        </p:spPr>
      </p:sp>
      <p:sp>
        <p:nvSpPr>
          <p:cNvPr id="46" name="Shape 40"/>
          <p:cNvSpPr/>
          <p:nvPr/>
        </p:nvSpPr>
        <p:spPr>
          <a:xfrm>
            <a:off x="6428232" y="5669280"/>
            <a:ext cx="4937760" cy="457200"/>
          </a:xfrm>
          <a:prstGeom prst="roundRect">
            <a:avLst>
              <a:gd name="adj" fmla="val 20000"/>
            </a:avLst>
          </a:prstGeom>
          <a:solidFill>
            <a:srgbClr val="EFEBF3"/>
          </a:solidFill>
          <a:ln/>
        </p:spPr>
      </p:sp>
      <p:sp>
        <p:nvSpPr>
          <p:cNvPr id="47" name="Text 41"/>
          <p:cNvSpPr txBox="1"/>
          <p:nvPr/>
        </p:nvSpPr>
        <p:spPr>
          <a:xfrm>
            <a:off x="6428232" y="5669280"/>
            <a:ext cx="4937760" cy="457200"/>
          </a:xfrm>
          <a:prstGeom prst="rect">
            <a:avLst/>
          </a:prstGeom>
          <a:noFill/>
          <a:ln/>
        </p:spPr>
        <p:txBody>
          <a:bodyPr wrap="square" lIns="0" tIns="0" rIns="0" bIns="0" rtlCol="0" anchor="ctr"/>
          <a:lstStyle/>
          <a:p>
            <a:pPr algn="ctr" indent="0" marL="0">
              <a:lnSpc>
                <a:spcPct val="122000"/>
              </a:lnSpc>
              <a:buNone/>
            </a:pPr>
            <a:r>
              <a:rPr lang="en-US" sz="1050" b="1" spc="240" kern="0" dirty="0">
                <a:solidFill>
                  <a:srgbClr val="635C77"/>
                </a:solidFill>
                <a:latin typeface="Calibri" pitchFamily="34" charset="0"/>
                <a:ea typeface="Calibri" pitchFamily="34" charset="-122"/>
                <a:cs typeface="Calibri" pitchFamily="34" charset="-120"/>
              </a:rPr>
              <a:t>LIVE APPLICATION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1C2B"/>
        </a:solidFill>
      </p:bgPr>
    </p:bg>
    <p:spTree>
      <p:nvGrpSpPr>
        <p:cNvPr id="1" name=""/>
        <p:cNvGrpSpPr/>
        <p:nvPr/>
      </p:nvGrpSpPr>
      <p:grpSpPr>
        <a:xfrm>
          <a:off x="0" y="0"/>
          <a:ext cx="0" cy="0"/>
          <a:chOff x="0" y="0"/>
          <a:chExt cx="0" cy="0"/>
        </a:xfrm>
      </p:grpSpPr>
      <p:sp>
        <p:nvSpPr>
          <p:cNvPr id="2" name="Shape 0"/>
          <p:cNvSpPr/>
          <p:nvPr/>
        </p:nvSpPr>
        <p:spPr>
          <a:xfrm>
            <a:off x="822960" y="955548"/>
            <a:ext cx="68580" cy="68580"/>
          </a:xfrm>
          <a:prstGeom prst="ellipse">
            <a:avLst/>
          </a:prstGeom>
          <a:solidFill>
            <a:srgbClr val="B5AEC6"/>
          </a:solidFill>
          <a:ln/>
        </p:spPr>
      </p:sp>
      <p:sp>
        <p:nvSpPr>
          <p:cNvPr id="3" name="Text 1"/>
          <p:cNvSpPr txBox="1"/>
          <p:nvPr/>
        </p:nvSpPr>
        <p:spPr>
          <a:xfrm>
            <a:off x="978408" y="896112"/>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B5AEC6"/>
                </a:solidFill>
                <a:latin typeface="Calibri" pitchFamily="34" charset="0"/>
                <a:ea typeface="Calibri" pitchFamily="34" charset="-122"/>
                <a:cs typeface="Calibri" pitchFamily="34" charset="-120"/>
              </a:rPr>
              <a:t>SECTION 07  ·  CLOSING</a:t>
            </a:r>
            <a:endParaRPr lang="en-US" sz="850" dirty="0"/>
          </a:p>
        </p:txBody>
      </p:sp>
      <p:sp>
        <p:nvSpPr>
          <p:cNvPr id="4" name="Text 2"/>
          <p:cNvSpPr txBox="1"/>
          <p:nvPr/>
        </p:nvSpPr>
        <p:spPr>
          <a:xfrm>
            <a:off x="822960" y="2148840"/>
            <a:ext cx="10332720" cy="1188720"/>
          </a:xfrm>
          <a:prstGeom prst="rect">
            <a:avLst/>
          </a:prstGeom>
          <a:noFill/>
          <a:ln/>
        </p:spPr>
        <p:txBody>
          <a:bodyPr wrap="square" lIns="0" tIns="0" rIns="0" bIns="0" rtlCol="0" anchor="t"/>
          <a:lstStyle/>
          <a:p>
            <a:pPr algn="l" indent="0" marL="0">
              <a:lnSpc>
                <a:spcPct val="116000"/>
              </a:lnSpc>
              <a:buNone/>
            </a:pPr>
            <a:r>
              <a:rPr lang="en-US" sz="3800" b="1" dirty="0">
                <a:solidFill>
                  <a:srgbClr val="F8F4EF"/>
                </a:solidFill>
                <a:latin typeface="Calibri" pitchFamily="34" charset="0"/>
                <a:ea typeface="Calibri" pitchFamily="34" charset="-122"/>
                <a:cs typeface="Calibri" pitchFamily="34" charset="-120"/>
              </a:rPr>
              <a:t>AI tidak menggantikan</a:t>
            </a:r>
            <a:endParaRPr lang="en-US" sz="3800" dirty="0"/>
          </a:p>
          <a:p>
            <a:pPr algn="l" indent="0" marL="0">
              <a:lnSpc>
                <a:spcPct val="116000"/>
              </a:lnSpc>
              <a:buNone/>
            </a:pPr>
            <a:r>
              <a:rPr lang="en-US" sz="3800" b="1" dirty="0">
                <a:solidFill>
                  <a:srgbClr val="F8F4EF"/>
                </a:solidFill>
                <a:latin typeface="Calibri" pitchFamily="34" charset="0"/>
                <a:ea typeface="Calibri" pitchFamily="34" charset="-122"/>
                <a:cs typeface="Calibri" pitchFamily="34" charset="-120"/>
              </a:rPr>
              <a:t>Software Engineer.</a:t>
            </a:r>
            <a:endParaRPr lang="en-US" sz="3800" dirty="0"/>
          </a:p>
        </p:txBody>
      </p:sp>
      <p:sp>
        <p:nvSpPr>
          <p:cNvPr id="5" name="Text 3"/>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5B5470"/>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6" name="Text 4"/>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5B5470"/>
                </a:solidFill>
                <a:latin typeface="Calibri" pitchFamily="34" charset="0"/>
                <a:ea typeface="Calibri" pitchFamily="34" charset="-122"/>
                <a:cs typeface="Calibri" pitchFamily="34" charset="-120"/>
              </a:rPr>
              <a:t>22</a:t>
            </a:r>
            <a:endParaRPr lang="en-US" sz="800" dirty="0"/>
          </a:p>
        </p:txBody>
      </p:sp>
      <p:sp>
        <p:nvSpPr>
          <p:cNvPr id="7" name="Text 5"/>
          <p:cNvSpPr txBox="1"/>
          <p:nvPr/>
        </p:nvSpPr>
        <p:spPr>
          <a:xfrm>
            <a:off x="822960" y="3703320"/>
            <a:ext cx="10332720" cy="1188720"/>
          </a:xfrm>
          <a:prstGeom prst="rect">
            <a:avLst/>
          </a:prstGeom>
          <a:noFill/>
          <a:ln/>
        </p:spPr>
        <p:txBody>
          <a:bodyPr wrap="square" lIns="0" tIns="0" rIns="0" bIns="0" rtlCol="0" anchor="t"/>
          <a:lstStyle/>
          <a:p>
            <a:pPr algn="l" indent="0" marL="0">
              <a:lnSpc>
                <a:spcPct val="116000"/>
              </a:lnSpc>
              <a:buNone/>
            </a:pPr>
            <a:r>
              <a:rPr lang="en-US" sz="3800" b="1" dirty="0">
                <a:solidFill>
                  <a:srgbClr val="B5AEC6"/>
                </a:solidFill>
                <a:latin typeface="Calibri" pitchFamily="34" charset="0"/>
                <a:ea typeface="Calibri" pitchFamily="34" charset="-122"/>
                <a:cs typeface="Calibri" pitchFamily="34" charset="-120"/>
              </a:rPr>
              <a:t>AI mempercepat Software Engineer</a:t>
            </a:r>
            <a:endParaRPr lang="en-US" sz="3800" dirty="0"/>
          </a:p>
          <a:p>
            <a:pPr algn="l" indent="0" marL="0">
              <a:lnSpc>
                <a:spcPct val="116000"/>
              </a:lnSpc>
              <a:buNone/>
            </a:pPr>
            <a:r>
              <a:rPr lang="en-US" sz="3800" b="1" dirty="0">
                <a:solidFill>
                  <a:srgbClr val="B5AEC6"/>
                </a:solidFill>
                <a:latin typeface="Calibri" pitchFamily="34" charset="0"/>
                <a:ea typeface="Calibri" pitchFamily="34" charset="-122"/>
                <a:cs typeface="Calibri" pitchFamily="34" charset="-120"/>
              </a:rPr>
              <a:t>yang punya workflow yang benar.</a:t>
            </a:r>
            <a:endParaRPr lang="en-US" sz="3800" dirty="0"/>
          </a:p>
        </p:txBody>
      </p:sp>
      <p:sp>
        <p:nvSpPr>
          <p:cNvPr id="8" name="Shape 6"/>
          <p:cNvSpPr/>
          <p:nvPr/>
        </p:nvSpPr>
        <p:spPr>
          <a:xfrm>
            <a:off x="822960" y="5230368"/>
            <a:ext cx="2743200" cy="0"/>
          </a:xfrm>
          <a:prstGeom prst="line">
            <a:avLst/>
          </a:prstGeom>
          <a:noFill/>
          <a:ln w="19050">
            <a:solidFill>
              <a:srgbClr val="5C5280"/>
            </a:solidFill>
            <a:prstDash val="solid"/>
          </a:ln>
        </p:spPr>
      </p:sp>
      <p:sp>
        <p:nvSpPr>
          <p:cNvPr id="9" name="Text 7"/>
          <p:cNvSpPr txBox="1"/>
          <p:nvPr/>
        </p:nvSpPr>
        <p:spPr>
          <a:xfrm>
            <a:off x="822960" y="5431536"/>
            <a:ext cx="7315200" cy="274320"/>
          </a:xfrm>
          <a:prstGeom prst="rect">
            <a:avLst/>
          </a:prstGeom>
          <a:noFill/>
          <a:ln/>
        </p:spPr>
        <p:txBody>
          <a:bodyPr wrap="square" lIns="0" tIns="0" rIns="0" bIns="0" rtlCol="0" anchor="ctr"/>
          <a:lstStyle/>
          <a:p>
            <a:pPr algn="l" indent="0" marL="0">
              <a:lnSpc>
                <a:spcPct val="122000"/>
              </a:lnSpc>
              <a:buNone/>
            </a:pPr>
            <a:r>
              <a:rPr lang="en-US" sz="950" b="1" spc="190" kern="0" dirty="0">
                <a:solidFill>
                  <a:srgbClr val="8C84A8"/>
                </a:solidFill>
                <a:latin typeface="Calibri" pitchFamily="34" charset="0"/>
                <a:ea typeface="Calibri" pitchFamily="34" charset="-122"/>
                <a:cs typeface="Calibri" pitchFamily="34" charset="-120"/>
              </a:rPr>
              <a:t>Inti seminar hari ini</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822960" y="608076"/>
            <a:ext cx="68580" cy="68580"/>
          </a:xfrm>
          <a:prstGeom prst="ellipse">
            <a:avLst/>
          </a:prstGeom>
          <a:solidFill>
            <a:srgbClr val="847E96"/>
          </a:solidFill>
          <a:ln/>
        </p:spPr>
      </p:sp>
      <p:sp>
        <p:nvSpPr>
          <p:cNvPr id="3" name="Text 1"/>
          <p:cNvSpPr txBox="1"/>
          <p:nvPr/>
        </p:nvSpPr>
        <p:spPr>
          <a:xfrm>
            <a:off x="978408" y="548640"/>
            <a:ext cx="7315200" cy="201168"/>
          </a:xfrm>
          <a:prstGeom prst="rect">
            <a:avLst/>
          </a:prstGeom>
          <a:noFill/>
          <a:ln/>
        </p:spPr>
        <p:txBody>
          <a:bodyPr wrap="square" lIns="0" tIns="0" rIns="0" bIns="0" rtlCol="0" anchor="ctr"/>
          <a:lstStyle/>
          <a:p>
            <a:pPr algn="l" indent="0" marL="0">
              <a:lnSpc>
                <a:spcPct val="122000"/>
              </a:lnSpc>
              <a:buNone/>
            </a:pPr>
            <a:r>
              <a:rPr lang="en-US" sz="850" b="1" spc="190" kern="0" dirty="0">
                <a:solidFill>
                  <a:srgbClr val="847E96"/>
                </a:solidFill>
                <a:latin typeface="Calibri" pitchFamily="34" charset="0"/>
                <a:ea typeface="Calibri" pitchFamily="34" charset="-122"/>
                <a:cs typeface="Calibri" pitchFamily="34" charset="-120"/>
              </a:rPr>
              <a:t>SECTION 07  ·  CLOSING</a:t>
            </a:r>
            <a:endParaRPr lang="en-US" sz="850" dirty="0"/>
          </a:p>
        </p:txBody>
      </p:sp>
      <p:sp>
        <p:nvSpPr>
          <p:cNvPr id="4" name="Text 2"/>
          <p:cNvSpPr txBox="1"/>
          <p:nvPr/>
        </p:nvSpPr>
        <p:spPr>
          <a:xfrm>
            <a:off x="822960" y="868680"/>
            <a:ext cx="8778240" cy="603504"/>
          </a:xfrm>
          <a:prstGeom prst="rect">
            <a:avLst/>
          </a:prstGeom>
          <a:noFill/>
          <a:ln/>
        </p:spPr>
        <p:txBody>
          <a:bodyPr wrap="square" lIns="0" tIns="0" rIns="0" bIns="0" rtlCol="0" anchor="t"/>
          <a:lstStyle/>
          <a:p>
            <a:pPr algn="l" indent="0" marL="0">
              <a:lnSpc>
                <a:spcPct val="110000"/>
              </a:lnSpc>
              <a:buNone/>
            </a:pPr>
            <a:r>
              <a:rPr lang="en-US" sz="3400" b="1" dirty="0">
                <a:solidFill>
                  <a:srgbClr val="1A1A1A"/>
                </a:solidFill>
                <a:latin typeface="Calibri" pitchFamily="34" charset="0"/>
                <a:ea typeface="Calibri" pitchFamily="34" charset="-122"/>
                <a:cs typeface="Calibri" pitchFamily="34" charset="-120"/>
              </a:rPr>
              <a:t>Key Takeaways</a:t>
            </a:r>
            <a:endParaRPr lang="en-US" sz="3400" dirty="0"/>
          </a:p>
        </p:txBody>
      </p:sp>
      <p:sp>
        <p:nvSpPr>
          <p:cNvPr id="5" name="Text 3"/>
          <p:cNvSpPr txBox="1"/>
          <p:nvPr/>
        </p:nvSpPr>
        <p:spPr>
          <a:xfrm>
            <a:off x="822960" y="1536192"/>
            <a:ext cx="7680960" cy="566928"/>
          </a:xfrm>
          <a:prstGeom prst="rect">
            <a:avLst/>
          </a:prstGeom>
          <a:noFill/>
          <a:ln/>
        </p:spPr>
        <p:txBody>
          <a:bodyPr wrap="square" lIns="0" tIns="0" rIns="0" bIns="0" rtlCol="0" anchor="t"/>
          <a:lstStyle/>
          <a:p>
            <a:pPr algn="l" indent="0" marL="0">
              <a:lnSpc>
                <a:spcPct val="142000"/>
              </a:lnSpc>
              <a:buNone/>
            </a:pPr>
            <a:r>
              <a:rPr lang="en-US" sz="1650" dirty="0">
                <a:solidFill>
                  <a:srgbClr val="5F5F5F"/>
                </a:solidFill>
                <a:latin typeface="Calibri" pitchFamily="34" charset="0"/>
                <a:ea typeface="Calibri" pitchFamily="34" charset="-122"/>
                <a:cs typeface="Calibri" pitchFamily="34" charset="-120"/>
              </a:rPr>
              <a:t>Lima hal yang saya harap tetap Anda ingat minggu depan, saat seminar ini sudah terlupakan.</a:t>
            </a:r>
            <a:endParaRPr lang="en-US" sz="1650" dirty="0"/>
          </a:p>
        </p:txBody>
      </p:sp>
      <p:sp>
        <p:nvSpPr>
          <p:cNvPr id="6" name="Text 4"/>
          <p:cNvSpPr txBox="1"/>
          <p:nvPr/>
        </p:nvSpPr>
        <p:spPr>
          <a:xfrm>
            <a:off x="822960" y="6382512"/>
            <a:ext cx="6400800" cy="182880"/>
          </a:xfrm>
          <a:prstGeom prst="rect">
            <a:avLst/>
          </a:prstGeom>
          <a:noFill/>
          <a:ln/>
        </p:spPr>
        <p:txBody>
          <a:bodyPr wrap="square" lIns="0" tIns="0" rIns="0" bIns="0" rtlCol="0" anchor="ctr"/>
          <a:lstStyle/>
          <a:p>
            <a:pPr algn="l" indent="0" marL="0">
              <a:lnSpc>
                <a:spcPct val="122000"/>
              </a:lnSpc>
              <a:buNone/>
            </a:pPr>
            <a:r>
              <a:rPr lang="en-US" sz="780" spc="120" kern="0" dirty="0">
                <a:solidFill>
                  <a:srgbClr val="9E958A"/>
                </a:solidFill>
                <a:latin typeface="Calibri" pitchFamily="34" charset="0"/>
                <a:ea typeface="Calibri" pitchFamily="34" charset="-122"/>
                <a:cs typeface="Calibri" pitchFamily="34" charset="-120"/>
              </a:rPr>
              <a:t>VIBECODING  ·  FROM BUSINESS PROBLEM TO PRODUCTION APP</a:t>
            </a:r>
            <a:endParaRPr lang="en-US" sz="780" dirty="0"/>
          </a:p>
        </p:txBody>
      </p:sp>
      <p:sp>
        <p:nvSpPr>
          <p:cNvPr id="7" name="Text 5"/>
          <p:cNvSpPr txBox="1"/>
          <p:nvPr/>
        </p:nvSpPr>
        <p:spPr>
          <a:xfrm>
            <a:off x="10454335" y="6382512"/>
            <a:ext cx="914400" cy="182880"/>
          </a:xfrm>
          <a:prstGeom prst="rect">
            <a:avLst/>
          </a:prstGeom>
          <a:noFill/>
          <a:ln/>
        </p:spPr>
        <p:txBody>
          <a:bodyPr wrap="square" lIns="0" tIns="0" rIns="0" bIns="0" rtlCol="0" anchor="ctr"/>
          <a:lstStyle/>
          <a:p>
            <a:pPr algn="r" indent="0" marL="0">
              <a:lnSpc>
                <a:spcPct val="122000"/>
              </a:lnSpc>
              <a:buNone/>
            </a:pPr>
            <a:r>
              <a:rPr lang="en-US" sz="800" b="1" spc="100" kern="0" dirty="0">
                <a:solidFill>
                  <a:srgbClr val="9E958A"/>
                </a:solidFill>
                <a:latin typeface="Calibri" pitchFamily="34" charset="0"/>
                <a:ea typeface="Calibri" pitchFamily="34" charset="-122"/>
                <a:cs typeface="Calibri" pitchFamily="34" charset="-120"/>
              </a:rPr>
              <a:t>23</a:t>
            </a:r>
            <a:endParaRPr lang="en-US" sz="800" dirty="0"/>
          </a:p>
        </p:txBody>
      </p:sp>
      <p:sp>
        <p:nvSpPr>
          <p:cNvPr id="8" name="Shape 6"/>
          <p:cNvSpPr/>
          <p:nvPr/>
        </p:nvSpPr>
        <p:spPr>
          <a:xfrm>
            <a:off x="822960" y="2395728"/>
            <a:ext cx="10545775" cy="0"/>
          </a:xfrm>
          <a:prstGeom prst="line">
            <a:avLst/>
          </a:prstGeom>
          <a:noFill/>
          <a:ln w="12700">
            <a:solidFill>
              <a:srgbClr val="DDD7CF"/>
            </a:solidFill>
            <a:prstDash val="solid"/>
          </a:ln>
        </p:spPr>
      </p:sp>
      <p:sp>
        <p:nvSpPr>
          <p:cNvPr id="9" name="Text 7"/>
          <p:cNvSpPr txBox="1"/>
          <p:nvPr/>
        </p:nvSpPr>
        <p:spPr>
          <a:xfrm>
            <a:off x="822960" y="2560320"/>
            <a:ext cx="640080" cy="310896"/>
          </a:xfrm>
          <a:prstGeom prst="rect">
            <a:avLst/>
          </a:prstGeom>
          <a:noFill/>
          <a:ln/>
        </p:spPr>
        <p:txBody>
          <a:bodyPr wrap="square" lIns="0" tIns="0" rIns="0" bIns="0" rtlCol="0" anchor="ctr"/>
          <a:lstStyle/>
          <a:p>
            <a:pPr algn="l" indent="0" marL="0">
              <a:lnSpc>
                <a:spcPct val="122000"/>
              </a:lnSpc>
              <a:buNone/>
            </a:pPr>
            <a:r>
              <a:rPr lang="en-US" sz="1650" b="1" dirty="0">
                <a:solidFill>
                  <a:srgbClr val="B5AEC6"/>
                </a:solidFill>
                <a:latin typeface="Calibri" pitchFamily="34" charset="0"/>
                <a:ea typeface="Calibri" pitchFamily="34" charset="-122"/>
                <a:cs typeface="Calibri" pitchFamily="34" charset="-120"/>
              </a:rPr>
              <a:t>01</a:t>
            </a:r>
            <a:endParaRPr lang="en-US" sz="1650" dirty="0"/>
          </a:p>
        </p:txBody>
      </p:sp>
      <p:sp>
        <p:nvSpPr>
          <p:cNvPr id="10" name="Text 8"/>
          <p:cNvSpPr txBox="1"/>
          <p:nvPr/>
        </p:nvSpPr>
        <p:spPr>
          <a:xfrm>
            <a:off x="1691640" y="2560320"/>
            <a:ext cx="4023360" cy="310896"/>
          </a:xfrm>
          <a:prstGeom prst="rect">
            <a:avLst/>
          </a:prstGeom>
          <a:noFill/>
          <a:ln/>
        </p:spPr>
        <p:txBody>
          <a:bodyPr wrap="square" lIns="0" tIns="0" rIns="0" bIns="0" rtlCol="0" anchor="ctr"/>
          <a:lstStyle/>
          <a:p>
            <a:pPr algn="l" indent="0" marL="0">
              <a:lnSpc>
                <a:spcPct val="122000"/>
              </a:lnSpc>
              <a:buNone/>
            </a:pPr>
            <a:r>
              <a:rPr lang="en-US" sz="2100" b="1" dirty="0">
                <a:solidFill>
                  <a:srgbClr val="1A1A1A"/>
                </a:solidFill>
                <a:latin typeface="Calibri" pitchFamily="34" charset="0"/>
                <a:ea typeface="Calibri" pitchFamily="34" charset="-122"/>
                <a:cs typeface="Calibri" pitchFamily="34" charset="-120"/>
              </a:rPr>
              <a:t>Mulai dari masalah</a:t>
            </a:r>
            <a:endParaRPr lang="en-US" sz="2100" dirty="0"/>
          </a:p>
        </p:txBody>
      </p:sp>
      <p:sp>
        <p:nvSpPr>
          <p:cNvPr id="11" name="Text 9"/>
          <p:cNvSpPr txBox="1"/>
          <p:nvPr/>
        </p:nvSpPr>
        <p:spPr>
          <a:xfrm>
            <a:off x="6035040" y="2560320"/>
            <a:ext cx="5333695" cy="310896"/>
          </a:xfrm>
          <a:prstGeom prst="rect">
            <a:avLst/>
          </a:prstGeom>
          <a:noFill/>
          <a:ln/>
        </p:spPr>
        <p:txBody>
          <a:bodyPr wrap="square" lIns="0" tIns="0" rIns="0" bIns="0" rtlCol="0" anchor="ctr"/>
          <a:lstStyle/>
          <a:p>
            <a:pPr algn="l" indent="0" marL="0">
              <a:lnSpc>
                <a:spcPct val="122000"/>
              </a:lnSpc>
              <a:buNone/>
            </a:pPr>
            <a:r>
              <a:rPr lang="en-US" sz="1350" dirty="0">
                <a:solidFill>
                  <a:srgbClr val="5F5F5F"/>
                </a:solidFill>
                <a:latin typeface="Calibri" pitchFamily="34" charset="0"/>
                <a:ea typeface="Calibri" pitchFamily="34" charset="-122"/>
                <a:cs typeface="Calibri" pitchFamily="34" charset="-120"/>
              </a:rPr>
              <a:t>Bukan dari ide, dan bukan dari tools.</a:t>
            </a:r>
            <a:endParaRPr lang="en-US" sz="1350" dirty="0"/>
          </a:p>
        </p:txBody>
      </p:sp>
      <p:sp>
        <p:nvSpPr>
          <p:cNvPr id="12" name="Shape 10"/>
          <p:cNvSpPr/>
          <p:nvPr/>
        </p:nvSpPr>
        <p:spPr>
          <a:xfrm>
            <a:off x="822960" y="3054096"/>
            <a:ext cx="10545775" cy="0"/>
          </a:xfrm>
          <a:prstGeom prst="line">
            <a:avLst/>
          </a:prstGeom>
          <a:noFill/>
          <a:ln w="12700">
            <a:solidFill>
              <a:srgbClr val="DDD7CF"/>
            </a:solidFill>
            <a:prstDash val="solid"/>
          </a:ln>
        </p:spPr>
      </p:sp>
      <p:sp>
        <p:nvSpPr>
          <p:cNvPr id="13" name="Text 11"/>
          <p:cNvSpPr txBox="1"/>
          <p:nvPr/>
        </p:nvSpPr>
        <p:spPr>
          <a:xfrm>
            <a:off x="822960" y="3218688"/>
            <a:ext cx="640080" cy="310896"/>
          </a:xfrm>
          <a:prstGeom prst="rect">
            <a:avLst/>
          </a:prstGeom>
          <a:noFill/>
          <a:ln/>
        </p:spPr>
        <p:txBody>
          <a:bodyPr wrap="square" lIns="0" tIns="0" rIns="0" bIns="0" rtlCol="0" anchor="ctr"/>
          <a:lstStyle/>
          <a:p>
            <a:pPr algn="l" indent="0" marL="0">
              <a:lnSpc>
                <a:spcPct val="122000"/>
              </a:lnSpc>
              <a:buNone/>
            </a:pPr>
            <a:r>
              <a:rPr lang="en-US" sz="1650" b="1" dirty="0">
                <a:solidFill>
                  <a:srgbClr val="B5AEC6"/>
                </a:solidFill>
                <a:latin typeface="Calibri" pitchFamily="34" charset="0"/>
                <a:ea typeface="Calibri" pitchFamily="34" charset="-122"/>
                <a:cs typeface="Calibri" pitchFamily="34" charset="-120"/>
              </a:rPr>
              <a:t>02</a:t>
            </a:r>
            <a:endParaRPr lang="en-US" sz="1650" dirty="0"/>
          </a:p>
        </p:txBody>
      </p:sp>
      <p:sp>
        <p:nvSpPr>
          <p:cNvPr id="14" name="Text 12"/>
          <p:cNvSpPr txBox="1"/>
          <p:nvPr/>
        </p:nvSpPr>
        <p:spPr>
          <a:xfrm>
            <a:off x="1691640" y="3218688"/>
            <a:ext cx="4023360" cy="310896"/>
          </a:xfrm>
          <a:prstGeom prst="rect">
            <a:avLst/>
          </a:prstGeom>
          <a:noFill/>
          <a:ln/>
        </p:spPr>
        <p:txBody>
          <a:bodyPr wrap="square" lIns="0" tIns="0" rIns="0" bIns="0" rtlCol="0" anchor="ctr"/>
          <a:lstStyle/>
          <a:p>
            <a:pPr algn="l" indent="0" marL="0">
              <a:lnSpc>
                <a:spcPct val="122000"/>
              </a:lnSpc>
              <a:buNone/>
            </a:pPr>
            <a:r>
              <a:rPr lang="en-US" sz="2100" b="1" dirty="0">
                <a:solidFill>
                  <a:srgbClr val="1A1A1A"/>
                </a:solidFill>
                <a:latin typeface="Calibri" pitchFamily="34" charset="0"/>
                <a:ea typeface="Calibri" pitchFamily="34" charset="-122"/>
                <a:cs typeface="Calibri" pitchFamily="34" charset="-120"/>
              </a:rPr>
              <a:t>Dokumen dulu</a:t>
            </a:r>
            <a:endParaRPr lang="en-US" sz="2100" dirty="0"/>
          </a:p>
        </p:txBody>
      </p:sp>
      <p:sp>
        <p:nvSpPr>
          <p:cNvPr id="15" name="Text 13"/>
          <p:cNvSpPr txBox="1"/>
          <p:nvPr/>
        </p:nvSpPr>
        <p:spPr>
          <a:xfrm>
            <a:off x="6035040" y="3218688"/>
            <a:ext cx="5333695" cy="310896"/>
          </a:xfrm>
          <a:prstGeom prst="rect">
            <a:avLst/>
          </a:prstGeom>
          <a:noFill/>
          <a:ln/>
        </p:spPr>
        <p:txBody>
          <a:bodyPr wrap="square" lIns="0" tIns="0" rIns="0" bIns="0" rtlCol="0" anchor="ctr"/>
          <a:lstStyle/>
          <a:p>
            <a:pPr algn="l" indent="0" marL="0">
              <a:lnSpc>
                <a:spcPct val="122000"/>
              </a:lnSpc>
              <a:buNone/>
            </a:pPr>
            <a:r>
              <a:rPr lang="en-US" sz="1350" dirty="0">
                <a:solidFill>
                  <a:srgbClr val="5F5F5F"/>
                </a:solidFill>
                <a:latin typeface="Calibri" pitchFamily="34" charset="0"/>
                <a:ea typeface="Calibri" pitchFamily="34" charset="-122"/>
                <a:cs typeface="Calibri" pitchFamily="34" charset="-120"/>
              </a:rPr>
              <a:t>Kode adalah konsekuensi, bukan titik awal.</a:t>
            </a:r>
            <a:endParaRPr lang="en-US" sz="1350" dirty="0"/>
          </a:p>
        </p:txBody>
      </p:sp>
      <p:sp>
        <p:nvSpPr>
          <p:cNvPr id="16" name="Shape 14"/>
          <p:cNvSpPr/>
          <p:nvPr/>
        </p:nvSpPr>
        <p:spPr>
          <a:xfrm>
            <a:off x="822960" y="3712464"/>
            <a:ext cx="10545775" cy="0"/>
          </a:xfrm>
          <a:prstGeom prst="line">
            <a:avLst/>
          </a:prstGeom>
          <a:noFill/>
          <a:ln w="12700">
            <a:solidFill>
              <a:srgbClr val="DDD7CF"/>
            </a:solidFill>
            <a:prstDash val="solid"/>
          </a:ln>
        </p:spPr>
      </p:sp>
      <p:sp>
        <p:nvSpPr>
          <p:cNvPr id="17" name="Text 15"/>
          <p:cNvSpPr txBox="1"/>
          <p:nvPr/>
        </p:nvSpPr>
        <p:spPr>
          <a:xfrm>
            <a:off x="822960" y="3877056"/>
            <a:ext cx="640080" cy="310896"/>
          </a:xfrm>
          <a:prstGeom prst="rect">
            <a:avLst/>
          </a:prstGeom>
          <a:noFill/>
          <a:ln/>
        </p:spPr>
        <p:txBody>
          <a:bodyPr wrap="square" lIns="0" tIns="0" rIns="0" bIns="0" rtlCol="0" anchor="ctr"/>
          <a:lstStyle/>
          <a:p>
            <a:pPr algn="l" indent="0" marL="0">
              <a:lnSpc>
                <a:spcPct val="122000"/>
              </a:lnSpc>
              <a:buNone/>
            </a:pPr>
            <a:r>
              <a:rPr lang="en-US" sz="1650" b="1" dirty="0">
                <a:solidFill>
                  <a:srgbClr val="B5AEC6"/>
                </a:solidFill>
                <a:latin typeface="Calibri" pitchFamily="34" charset="0"/>
                <a:ea typeface="Calibri" pitchFamily="34" charset="-122"/>
                <a:cs typeface="Calibri" pitchFamily="34" charset="-120"/>
              </a:rPr>
              <a:t>03</a:t>
            </a:r>
            <a:endParaRPr lang="en-US" sz="1650" dirty="0"/>
          </a:p>
        </p:txBody>
      </p:sp>
      <p:sp>
        <p:nvSpPr>
          <p:cNvPr id="18" name="Text 16"/>
          <p:cNvSpPr txBox="1"/>
          <p:nvPr/>
        </p:nvSpPr>
        <p:spPr>
          <a:xfrm>
            <a:off x="1691640" y="3877056"/>
            <a:ext cx="4023360" cy="310896"/>
          </a:xfrm>
          <a:prstGeom prst="rect">
            <a:avLst/>
          </a:prstGeom>
          <a:noFill/>
          <a:ln/>
        </p:spPr>
        <p:txBody>
          <a:bodyPr wrap="square" lIns="0" tIns="0" rIns="0" bIns="0" rtlCol="0" anchor="ctr"/>
          <a:lstStyle/>
          <a:p>
            <a:pPr algn="l" indent="0" marL="0">
              <a:lnSpc>
                <a:spcPct val="122000"/>
              </a:lnSpc>
              <a:buNone/>
            </a:pPr>
            <a:r>
              <a:rPr lang="en-US" sz="2100" b="1" dirty="0">
                <a:solidFill>
                  <a:srgbClr val="1A1A1A"/>
                </a:solidFill>
                <a:latin typeface="Calibri" pitchFamily="34" charset="0"/>
                <a:ea typeface="Calibri" pitchFamily="34" charset="-122"/>
                <a:cs typeface="Calibri" pitchFamily="34" charset="-120"/>
              </a:rPr>
              <a:t>Scope adalah rem</a:t>
            </a:r>
            <a:endParaRPr lang="en-US" sz="2100" dirty="0"/>
          </a:p>
        </p:txBody>
      </p:sp>
      <p:sp>
        <p:nvSpPr>
          <p:cNvPr id="19" name="Text 17"/>
          <p:cNvSpPr txBox="1"/>
          <p:nvPr/>
        </p:nvSpPr>
        <p:spPr>
          <a:xfrm>
            <a:off x="6035040" y="3877056"/>
            <a:ext cx="5333695" cy="310896"/>
          </a:xfrm>
          <a:prstGeom prst="rect">
            <a:avLst/>
          </a:prstGeom>
          <a:noFill/>
          <a:ln/>
        </p:spPr>
        <p:txBody>
          <a:bodyPr wrap="square" lIns="0" tIns="0" rIns="0" bIns="0" rtlCol="0" anchor="ctr"/>
          <a:lstStyle/>
          <a:p>
            <a:pPr algn="l" indent="0" marL="0">
              <a:lnSpc>
                <a:spcPct val="122000"/>
              </a:lnSpc>
              <a:buNone/>
            </a:pPr>
            <a:r>
              <a:rPr lang="en-US" sz="1350" dirty="0">
                <a:solidFill>
                  <a:srgbClr val="5F5F5F"/>
                </a:solidFill>
                <a:latin typeface="Calibri" pitchFamily="34" charset="0"/>
                <a:ea typeface="Calibri" pitchFamily="34" charset="-122"/>
                <a:cs typeface="Calibri" pitchFamily="34" charset="-120"/>
              </a:rPr>
              <a:t>Yang tidak tertulis, tidak dikerjakan.</a:t>
            </a:r>
            <a:endParaRPr lang="en-US" sz="1350" dirty="0"/>
          </a:p>
        </p:txBody>
      </p:sp>
      <p:sp>
        <p:nvSpPr>
          <p:cNvPr id="20" name="Shape 18"/>
          <p:cNvSpPr/>
          <p:nvPr/>
        </p:nvSpPr>
        <p:spPr>
          <a:xfrm>
            <a:off x="822960" y="4370832"/>
            <a:ext cx="10545775" cy="0"/>
          </a:xfrm>
          <a:prstGeom prst="line">
            <a:avLst/>
          </a:prstGeom>
          <a:noFill/>
          <a:ln w="12700">
            <a:solidFill>
              <a:srgbClr val="DDD7CF"/>
            </a:solidFill>
            <a:prstDash val="solid"/>
          </a:ln>
        </p:spPr>
      </p:sp>
      <p:sp>
        <p:nvSpPr>
          <p:cNvPr id="21" name="Text 19"/>
          <p:cNvSpPr txBox="1"/>
          <p:nvPr/>
        </p:nvSpPr>
        <p:spPr>
          <a:xfrm>
            <a:off x="822960" y="4535424"/>
            <a:ext cx="640080" cy="310896"/>
          </a:xfrm>
          <a:prstGeom prst="rect">
            <a:avLst/>
          </a:prstGeom>
          <a:noFill/>
          <a:ln/>
        </p:spPr>
        <p:txBody>
          <a:bodyPr wrap="square" lIns="0" tIns="0" rIns="0" bIns="0" rtlCol="0" anchor="ctr"/>
          <a:lstStyle/>
          <a:p>
            <a:pPr algn="l" indent="0" marL="0">
              <a:lnSpc>
                <a:spcPct val="122000"/>
              </a:lnSpc>
              <a:buNone/>
            </a:pPr>
            <a:r>
              <a:rPr lang="en-US" sz="1650" b="1" dirty="0">
                <a:solidFill>
                  <a:srgbClr val="B5AEC6"/>
                </a:solidFill>
                <a:latin typeface="Calibri" pitchFamily="34" charset="0"/>
                <a:ea typeface="Calibri" pitchFamily="34" charset="-122"/>
                <a:cs typeface="Calibri" pitchFamily="34" charset="-120"/>
              </a:rPr>
              <a:t>04</a:t>
            </a:r>
            <a:endParaRPr lang="en-US" sz="1650" dirty="0"/>
          </a:p>
        </p:txBody>
      </p:sp>
      <p:sp>
        <p:nvSpPr>
          <p:cNvPr id="22" name="Text 20"/>
          <p:cNvSpPr txBox="1"/>
          <p:nvPr/>
        </p:nvSpPr>
        <p:spPr>
          <a:xfrm>
            <a:off x="1691640" y="4535424"/>
            <a:ext cx="4023360" cy="310896"/>
          </a:xfrm>
          <a:prstGeom prst="rect">
            <a:avLst/>
          </a:prstGeom>
          <a:noFill/>
          <a:ln/>
        </p:spPr>
        <p:txBody>
          <a:bodyPr wrap="square" lIns="0" tIns="0" rIns="0" bIns="0" rtlCol="0" anchor="ctr"/>
          <a:lstStyle/>
          <a:p>
            <a:pPr algn="l" indent="0" marL="0">
              <a:lnSpc>
                <a:spcPct val="122000"/>
              </a:lnSpc>
              <a:buNone/>
            </a:pPr>
            <a:r>
              <a:rPr lang="en-US" sz="2100" b="1" dirty="0">
                <a:solidFill>
                  <a:srgbClr val="1A1A1A"/>
                </a:solidFill>
                <a:latin typeface="Calibri" pitchFamily="34" charset="0"/>
                <a:ea typeface="Calibri" pitchFamily="34" charset="-122"/>
                <a:cs typeface="Calibri" pitchFamily="34" charset="-120"/>
              </a:rPr>
              <a:t>AI mengeksekusi</a:t>
            </a:r>
            <a:endParaRPr lang="en-US" sz="2100" dirty="0"/>
          </a:p>
        </p:txBody>
      </p:sp>
      <p:sp>
        <p:nvSpPr>
          <p:cNvPr id="23" name="Text 21"/>
          <p:cNvSpPr txBox="1"/>
          <p:nvPr/>
        </p:nvSpPr>
        <p:spPr>
          <a:xfrm>
            <a:off x="6035040" y="4535424"/>
            <a:ext cx="5333695" cy="310896"/>
          </a:xfrm>
          <a:prstGeom prst="rect">
            <a:avLst/>
          </a:prstGeom>
          <a:noFill/>
          <a:ln/>
        </p:spPr>
        <p:txBody>
          <a:bodyPr wrap="square" lIns="0" tIns="0" rIns="0" bIns="0" rtlCol="0" anchor="ctr"/>
          <a:lstStyle/>
          <a:p>
            <a:pPr algn="l" indent="0" marL="0">
              <a:lnSpc>
                <a:spcPct val="122000"/>
              </a:lnSpc>
              <a:buNone/>
            </a:pPr>
            <a:r>
              <a:rPr lang="en-US" sz="1350" dirty="0">
                <a:solidFill>
                  <a:srgbClr val="5F5F5F"/>
                </a:solidFill>
                <a:latin typeface="Calibri" pitchFamily="34" charset="0"/>
                <a:ea typeface="Calibri" pitchFamily="34" charset="-122"/>
                <a:cs typeface="Calibri" pitchFamily="34" charset="-120"/>
              </a:rPr>
              <a:t>Manusia yang tetap memutuskan.</a:t>
            </a:r>
            <a:endParaRPr lang="en-US" sz="1350" dirty="0"/>
          </a:p>
        </p:txBody>
      </p:sp>
      <p:sp>
        <p:nvSpPr>
          <p:cNvPr id="24" name="Shape 22"/>
          <p:cNvSpPr/>
          <p:nvPr/>
        </p:nvSpPr>
        <p:spPr>
          <a:xfrm>
            <a:off x="822960" y="5029200"/>
            <a:ext cx="10545775" cy="0"/>
          </a:xfrm>
          <a:prstGeom prst="line">
            <a:avLst/>
          </a:prstGeom>
          <a:noFill/>
          <a:ln w="12700">
            <a:solidFill>
              <a:srgbClr val="DDD7CF"/>
            </a:solidFill>
            <a:prstDash val="solid"/>
          </a:ln>
        </p:spPr>
      </p:sp>
      <p:sp>
        <p:nvSpPr>
          <p:cNvPr id="25" name="Text 23"/>
          <p:cNvSpPr txBox="1"/>
          <p:nvPr/>
        </p:nvSpPr>
        <p:spPr>
          <a:xfrm>
            <a:off x="822960" y="5193792"/>
            <a:ext cx="640080" cy="310896"/>
          </a:xfrm>
          <a:prstGeom prst="rect">
            <a:avLst/>
          </a:prstGeom>
          <a:noFill/>
          <a:ln/>
        </p:spPr>
        <p:txBody>
          <a:bodyPr wrap="square" lIns="0" tIns="0" rIns="0" bIns="0" rtlCol="0" anchor="ctr"/>
          <a:lstStyle/>
          <a:p>
            <a:pPr algn="l" indent="0" marL="0">
              <a:lnSpc>
                <a:spcPct val="122000"/>
              </a:lnSpc>
              <a:buNone/>
            </a:pPr>
            <a:r>
              <a:rPr lang="en-US" sz="1650" b="1" dirty="0">
                <a:solidFill>
                  <a:srgbClr val="B5AEC6"/>
                </a:solidFill>
                <a:latin typeface="Calibri" pitchFamily="34" charset="0"/>
                <a:ea typeface="Calibri" pitchFamily="34" charset="-122"/>
                <a:cs typeface="Calibri" pitchFamily="34" charset="-120"/>
              </a:rPr>
              <a:t>05</a:t>
            </a:r>
            <a:endParaRPr lang="en-US" sz="1650" dirty="0"/>
          </a:p>
        </p:txBody>
      </p:sp>
      <p:sp>
        <p:nvSpPr>
          <p:cNvPr id="26" name="Text 24"/>
          <p:cNvSpPr txBox="1"/>
          <p:nvPr/>
        </p:nvSpPr>
        <p:spPr>
          <a:xfrm>
            <a:off x="1691640" y="5193792"/>
            <a:ext cx="4023360" cy="310896"/>
          </a:xfrm>
          <a:prstGeom prst="rect">
            <a:avLst/>
          </a:prstGeom>
          <a:noFill/>
          <a:ln/>
        </p:spPr>
        <p:txBody>
          <a:bodyPr wrap="square" lIns="0" tIns="0" rIns="0" bIns="0" rtlCol="0" anchor="ctr"/>
          <a:lstStyle/>
          <a:p>
            <a:pPr algn="l" indent="0" marL="0">
              <a:lnSpc>
                <a:spcPct val="122000"/>
              </a:lnSpc>
              <a:buNone/>
            </a:pPr>
            <a:r>
              <a:rPr lang="en-US" sz="2100" b="1" dirty="0">
                <a:solidFill>
                  <a:srgbClr val="1A1A1A"/>
                </a:solidFill>
                <a:latin typeface="Calibri" pitchFamily="34" charset="0"/>
                <a:ea typeface="Calibri" pitchFamily="34" charset="-122"/>
                <a:cs typeface="Calibri" pitchFamily="34" charset="-120"/>
              </a:rPr>
              <a:t>Review itu pekerjaan</a:t>
            </a:r>
            <a:endParaRPr lang="en-US" sz="2100" dirty="0"/>
          </a:p>
        </p:txBody>
      </p:sp>
      <p:sp>
        <p:nvSpPr>
          <p:cNvPr id="27" name="Text 25"/>
          <p:cNvSpPr txBox="1"/>
          <p:nvPr/>
        </p:nvSpPr>
        <p:spPr>
          <a:xfrm>
            <a:off x="6035040" y="5193792"/>
            <a:ext cx="5333695" cy="310896"/>
          </a:xfrm>
          <a:prstGeom prst="rect">
            <a:avLst/>
          </a:prstGeom>
          <a:noFill/>
          <a:ln/>
        </p:spPr>
        <p:txBody>
          <a:bodyPr wrap="square" lIns="0" tIns="0" rIns="0" bIns="0" rtlCol="0" anchor="ctr"/>
          <a:lstStyle/>
          <a:p>
            <a:pPr algn="l" indent="0" marL="0">
              <a:lnSpc>
                <a:spcPct val="122000"/>
              </a:lnSpc>
              <a:buNone/>
            </a:pPr>
            <a:r>
              <a:rPr lang="en-US" sz="1350" dirty="0">
                <a:solidFill>
                  <a:srgbClr val="5F5F5F"/>
                </a:solidFill>
                <a:latin typeface="Calibri" pitchFamily="34" charset="0"/>
                <a:ea typeface="Calibri" pitchFamily="34" charset="-122"/>
                <a:cs typeface="Calibri" pitchFamily="34" charset="-120"/>
              </a:rPr>
              <a:t>Bukan formalitas di akhir sprint.</a:t>
            </a:r>
            <a:endParaRPr lang="en-US" sz="1350" dirty="0"/>
          </a:p>
        </p:txBody>
      </p:sp>
      <p:sp>
        <p:nvSpPr>
          <p:cNvPr id="28" name="Shape 26"/>
          <p:cNvSpPr/>
          <p:nvPr/>
        </p:nvSpPr>
        <p:spPr>
          <a:xfrm>
            <a:off x="822960" y="5687568"/>
            <a:ext cx="10545775" cy="0"/>
          </a:xfrm>
          <a:prstGeom prst="line">
            <a:avLst/>
          </a:prstGeom>
          <a:noFill/>
          <a:ln w="12700">
            <a:solidFill>
              <a:srgbClr val="DDD7CF"/>
            </a:solidFill>
            <a:prstDash val="solid"/>
          </a:ln>
        </p:spPr>
      </p:sp>
      <p:sp>
        <p:nvSpPr>
          <p:cNvPr id="29" name="Shape 27"/>
          <p:cNvSpPr/>
          <p:nvPr/>
        </p:nvSpPr>
        <p:spPr>
          <a:xfrm>
            <a:off x="822960" y="5870448"/>
            <a:ext cx="1371600" cy="365760"/>
          </a:xfrm>
          <a:prstGeom prst="roundRect">
            <a:avLst>
              <a:gd name="adj" fmla="val 50000"/>
            </a:avLst>
          </a:prstGeom>
          <a:solidFill>
            <a:srgbClr val="EFEBF3"/>
          </a:solidFill>
          <a:ln w="12700">
            <a:solidFill>
              <a:srgbClr val="B5AEC6"/>
            </a:solidFill>
            <a:prstDash val="solid"/>
          </a:ln>
        </p:spPr>
      </p:sp>
      <p:sp>
        <p:nvSpPr>
          <p:cNvPr id="30" name="Text 28"/>
          <p:cNvSpPr txBox="1"/>
          <p:nvPr/>
        </p:nvSpPr>
        <p:spPr>
          <a:xfrm>
            <a:off x="914400" y="5870448"/>
            <a:ext cx="1188720" cy="365760"/>
          </a:xfrm>
          <a:prstGeom prst="rect">
            <a:avLst/>
          </a:prstGeom>
          <a:noFill/>
          <a:ln/>
        </p:spPr>
        <p:txBody>
          <a:bodyPr wrap="square" lIns="0" tIns="0" rIns="0" bIns="0" rtlCol="0" anchor="ctr"/>
          <a:lstStyle/>
          <a:p>
            <a:pPr algn="ctr" indent="0" marL="0">
              <a:lnSpc>
                <a:spcPct val="122000"/>
              </a:lnSpc>
              <a:buNone/>
            </a:pPr>
            <a:r>
              <a:rPr lang="en-US" sz="950" b="1" spc="160" kern="0" dirty="0">
                <a:solidFill>
                  <a:srgbClr val="635C77"/>
                </a:solidFill>
                <a:latin typeface="Calibri" pitchFamily="34" charset="0"/>
                <a:ea typeface="Calibri" pitchFamily="34" charset="-122"/>
                <a:cs typeface="Calibri" pitchFamily="34" charset="-120"/>
              </a:rPr>
              <a:t>Q &amp; A</a:t>
            </a:r>
            <a:endParaRPr lang="en-US" sz="950" dirty="0"/>
          </a:p>
        </p:txBody>
      </p:sp>
      <p:sp>
        <p:nvSpPr>
          <p:cNvPr id="31" name="Text 29"/>
          <p:cNvSpPr txBox="1"/>
          <p:nvPr/>
        </p:nvSpPr>
        <p:spPr>
          <a:xfrm>
            <a:off x="2395728" y="5870448"/>
            <a:ext cx="5577840" cy="365760"/>
          </a:xfrm>
          <a:prstGeom prst="rect">
            <a:avLst/>
          </a:prstGeom>
          <a:noFill/>
          <a:ln/>
        </p:spPr>
        <p:txBody>
          <a:bodyPr wrap="square" lIns="0" tIns="0" rIns="0" bIns="0" rtlCol="0" anchor="ctr"/>
          <a:lstStyle/>
          <a:p>
            <a:pPr algn="l" indent="0" marL="0">
              <a:lnSpc>
                <a:spcPct val="122000"/>
              </a:lnSpc>
              <a:buNone/>
            </a:pPr>
            <a:r>
              <a:rPr lang="en-US" sz="1050" dirty="0">
                <a:solidFill>
                  <a:srgbClr val="5F5F5F"/>
                </a:solidFill>
                <a:latin typeface="Calibri" pitchFamily="34" charset="0"/>
                <a:ea typeface="Calibri" pitchFamily="34" charset="-122"/>
                <a:cs typeface="Calibri" pitchFamily="34" charset="-120"/>
              </a:rPr>
              <a:t>AI Builder vs Agent, masa depan developer, atau cara mulai belajar.</a:t>
            </a:r>
            <a:endParaRPr lang="en-US" sz="1050" dirty="0"/>
          </a:p>
        </p:txBody>
      </p:sp>
      <p:sp>
        <p:nvSpPr>
          <p:cNvPr id="32" name="Text 30"/>
          <p:cNvSpPr txBox="1"/>
          <p:nvPr/>
        </p:nvSpPr>
        <p:spPr>
          <a:xfrm>
            <a:off x="8321040" y="5870448"/>
            <a:ext cx="3044952" cy="365760"/>
          </a:xfrm>
          <a:prstGeom prst="rect">
            <a:avLst/>
          </a:prstGeom>
          <a:noFill/>
          <a:ln/>
        </p:spPr>
        <p:txBody>
          <a:bodyPr wrap="square" lIns="0" tIns="0" rIns="0" bIns="0" rtlCol="0" anchor="ctr"/>
          <a:lstStyle/>
          <a:p>
            <a:pPr algn="r" indent="0" marL="0">
              <a:lnSpc>
                <a:spcPct val="122000"/>
              </a:lnSpc>
              <a:buNone/>
            </a:pPr>
            <a:r>
              <a:rPr lang="en-US" sz="1650" b="1" dirty="0">
                <a:solidFill>
                  <a:srgbClr val="635C77"/>
                </a:solidFill>
                <a:latin typeface="Calibri" pitchFamily="34" charset="0"/>
                <a:ea typeface="Calibri" pitchFamily="34" charset="-122"/>
                <a:cs typeface="Calibri" pitchFamily="34" charset="-120"/>
              </a:rPr>
              <a:t>Terima kasih.</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Vibecoding — From Business Problem to Production App</dc:title>
  <dc:subject>PptxGenJS Presentation</dc:subject>
  <dc:creator>HIMTI UMT — Seminar Vibecoding</dc:creator>
  <cp:lastModifiedBy>HIMTI UMT — Seminar Vibecoding</cp:lastModifiedBy>
  <cp:revision>1</cp:revision>
  <dcterms:created xsi:type="dcterms:W3CDTF">2026-09-08T08:53:14Z</dcterms:created>
  <dcterms:modified xsi:type="dcterms:W3CDTF">2026-09-08T08:53:14Z</dcterms:modified>
</cp:coreProperties>
</file>