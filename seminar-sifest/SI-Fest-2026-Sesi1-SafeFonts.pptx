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an" id="{0571f7f1-355e-e5c2-cf96-ba47260f300c}">
          <p14:sldIdLst>
            <p14:sldId id="256"/>
            <p14:sldId id="257"/>
            <p14:sldId id="258"/>
            <p14:sldId id="259"/>
            <p14:sldId id="260"/>
          </p14:sldIdLst>
        </p14:section>
        <p14:section name="Dasar Web" id="{2928fd55-ab1c-9943-d034-341611a06807}">
          <p14:sldIdLst>
            <p14:sldId id="261"/>
            <p14:sldId id="262"/>
            <p14:sldId id="263"/>
            <p14:sldId id="264"/>
            <p14:sldId id="265"/>
          </p14:sldIdLst>
        </p14:section>
        <p14:section name="HTML" id="{fe14ff93-dd3d-a96e-400f-10dfa85a6edf}">
          <p14:sldIdLst>
            <p14:sldId id="266"/>
            <p14:sldId id="267"/>
            <p14:sldId id="268"/>
            <p14:sldId id="269"/>
            <p14:sldId id="270"/>
            <p14:sldId id="271"/>
            <p14:sldId id="272"/>
          </p14:sldIdLst>
        </p14:section>
        <p14:section name="CSS" id="{4e00d365-c874-11fe-c954-247ba4469dd8}">
          <p14:sldIdLst>
            <p14:sldId id="273"/>
            <p14:sldId id="274"/>
            <p14:sldId id="275"/>
            <p14:sldId id="276"/>
            <p14:sldId id="277"/>
            <p14:sldId id="278"/>
            <p14:sldId id="279"/>
            <p14:sldId id="280"/>
            <p14:sldId id="281"/>
          </p14:sldIdLst>
        </p14:section>
        <p14:section name="Proyek &amp; Publish" id="{9cc65975-67dc-82ef-afb6-00b55d6f3f35}">
          <p14:sldIdLst>
            <p14:sldId id="282"/>
            <p14:sldId id="283"/>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3 menit (07.30 – 07.33)
NASKAH:
Selamat pagi, adik-adik! Selamat datang di SI Fest 2026. Hari ini kita punya satu misi: pulang membawa website buatan sendiri. Bukan website orang lain, bukan template, tapi hasil ketikan kalian. Tidak perlu pengalaman sama sekali.
AKSI:
Sambut peserta, cek semua PC menyala dan VS Code terbuka. Tampilkan slide ini saat peserta masuk dan duduk.
JEBAKAN UMUM:
Peserta datang bertahap. Jangan mulai materi inti sebelum mayoritas duduk. Pastikan layar proyektor terbaca dari baris belakang.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3 menit
NASKAH:
Perkenalkan, saya [nama]. Saya [role] di [organisasi]. [Ceritakan 1–2 kalimat: kapan pertama kali ngoding dan apa yang bikin kamu terus belajar]. Hari ini saya temani kalian dari nol sampai website kalian tayang online.
AKSI:
Isi placeholder nama, role, foto, dan cerita singkat sebelum hari-H. Jangan lebih dari 3 menit.
JEBAKAN UMUM:
Cerita yang terlalu teknis membuat siswa merasa jauh. Ceritakan versi paling manusiawi, termasuk kesalahan pertamamu.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3 menit
NASKAH:
Ini yang akan kalian buat: sebuah halaman personal profile, berisi nama, cerita singkat, skill, project, dan kontak. Ini portofolio pertama kalian. Dan di akhir sesi, halaman ini punya alamat sendiri di internet.
AKSI:
Tunjukkan hasil jadi di browser sebagai demo singkat (starter-kit/ ada di laptop pemateri). Biarkan peserta melihat targetnya.
JEBAKAN UMUM:
Peserta mungkin mengira harus sehebat contoh. Tegaskan: contoh ini hasil akhir, kita bangun pelan-pelan, selangkah demi selangkah.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3 menit
NASKAH:
Kita punya hampir empat jam. Pembagiannya: pertama dasar web, lalu HTML untuk kerangka, istirahat, lalu CSS untuk tampilan, dan terakhir kita rampungkan proyeknya dan tayangkan online. Lebih dari separuh waktu kita habis untuk mengetik, bukan mendengarkan.
AKSI:
Tunjuk tiap kolom sambil menyebut jam. Sebutkan juga jam istirahat.
JEBAKAN UMUM:
Siswa sering tidak sadar sesi ini panjang. Sebut dari awal bahwa akan ada istirahat supaya energi terjaga.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8 menit
NASKAH:
Pertanyaan pertama: siapa yang pernah klik kanan lalu Inspect? Pertanyaan kedua: siapa yang pernah bikin website? Pertanyaan ketiga, ini yang paling penting: siapa yang takut salah kode hari ini? Tenang. Salah itu normal. Developer profesional juga salah tiap hari. Bedanya, mereka tahu cara membaca pesan error dan memperbaikinya, dan itu yang kita latih hari ini.
AKSI:
Hitung kasar tangan yang naik untuk tiap pertanyaan, catat. Sapa 2–3 siswa secara acak untuk bercerita. Gunakan hasil untuk menyesuaikan kecepatan.
JEBAKAN UMUM:
Jika hampir semua siswa belum pernah ngoding, perlambat tempo di bagian HTML. Jangan membuat siswa yang diam merasa tertinggal.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1 menit
NASKAH:
Bagian pertama: dasar web. Kita bahas singkat, tidak sampai 30 menit, lalu langsung praktik.
AKSI:
Transisi cepat ke slide berikutnya.
JEBAKAN UMUM:
Jangan berlama-lama di slide pembatas.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NASKAH:
Waktu kalian membuka sebuah website, apa yang terjadi? Browser kalian mengirim permintaan lewat internet ke sebuah server, yaitu komputer yang menyimpan website itu. Server menjawab dengan mengirim file HTML dan CSS. Browser lalu menyusun file-file itu jadi halaman yang kalian lihat. Hari ini kita tidak butuh server sungguhan; ada alat bernama Live Server yang menirukannya di komputer kalian.
AKSI:
Tunjuk panah satu per satu: "minta", lalu "jawab". Buka satu website di browser dan tekan F12 → tab Network sebentar kalau waktu cukup (opsional).
JEBAKAN UMUM:
Jangan masuk ke istilah DNS, HTTP, atau IP. Cukup request dan response. Siswa SMA tidak perlu lebih dari itu sekarang.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NASKAH:
Setiap website dibuat dari tiga bahan. HTML adalah kerangkanya, seperti tulang. CSS adalah penampilannya, seperti pakaian. JavaScript adalah gerakannya, seperti otot. Hari ini kita fokus ke dua yang pertama: kerangka dan penampilan. JavaScript nanti, di rumah, setelah kalian nyaman dengan dua ini.
AKSI:
Tunjuk kartu satu per satu. Tanya: "kalau website tanpa CSS, kira-kira kayak apa?" Biarkan 2–3 siswa menebak. Jawabannya akan terlihat di slide 19.
JEBAKAN UMUM:
Siswa sering bertanya "kapan belajar JavaScript?". Jawab: itu langkah berikutnya, dan slide terakhir memuat peta belajarnya.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NASKAH:
Tiga alat saja. VS Code untuk menulis kode. Live Server supaya begitu kita simpan file, browser langsung menampilkan hasilnya. Dan DevTools, tombol F12, untuk mengintip kode website mana pun, termasuk website yang kalian kagumi. Folder portofolio kita nanti akan berisi index.html, style.css, dan satu folder img untuk gambar.
AKSI:
Demonstrasikan: tekan F12 di website sekolah atau Google, tunjukkan tab Elements. Jelaskan bahwa kode itu bisa dibaca siapa saja.
JEBAKAN UMUM:
Ekstensi Live Server harus sudah terpasang di PC Lab (cek sehari sebelum acara). Jika tombol "Go Live" tidak muncul di pojok kanan bawah VS Code, buka folder via File → Open Folder dulu.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11 menit
NASKAH:
Checkpoint pertama: siapkan proyek. Ikuti enam langkah ini. Kalau selesai dan browser menampilkan "Hello SI Fest!", angkat tangan. Kakak-kakak panitia akan keliling membantu.
AKSI:
Live-coding bersama dari langkah 1 sampai 6, layar pemateri diproyeksikan. Setelah itu biarkan siswa mencoba sendiri 5 menit. Panitia keliling.
Tips Emmet: ketik "!" lalu tekan Tab untuk membuat kerangka HTML otomatis.
JEBAKAN UMUM:
1) Folder dibuat tapi tidak dibuka lewat Open Folder, sehingga Live Server tidak muncul. 2) File tersimpan sebagai index.html.txt (ekstensi tersembunyi di Windows). 3) Lupa menyimpan (Ctrl+S), browser tampak kosong. 4) Emmet tidak jalan: pastikan bahasa file HTML (pojok kanan bawah VS Code).
SOLUSI KODE:
index.html:
&lt;!DOCTYPE html&gt;
&lt;html lang="en"&gt;
&lt;head&gt;
  &lt;meta charset="UTF-8"&gt;
  &lt;meta name="viewport" content="width=device-width, initial-scale=1.0"&gt;
  &lt;title&gt;Document&lt;/title&gt;
&lt;/head&gt;
&lt;body&gt;
  &lt;h1&gt;Hello SI Fest!&lt;/h1&gt;
&lt;/body&gt;
&lt;/html&gt;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1 menit
NASKAH:
Sekarang kita masuk ke HTML. Satu jam ke depan, kita susun kerangka halaman profil kalian.
AKSI:
Transisi cepat.
JEBAKAN UMUM:
Pastikan semua peserta sudah melewati Checkpoint 0 sebelum lanjut. Bantu yang tertinggal saat transisi.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5 menit
NASKAH:
Ini adalah satu elemen HTML. Ada tag pembuka, yaitu p dalam kurung sudut. Di dalamnya ada atribut, informasi tambahan, di sini class sama dengan intro. Lalu isi, yaitu tulisan Halo yang akan tampil. Terakhir tag penutup, sama seperti pembuka tapi ada garis miring. Kalau kalian paham slide ini, kalian paham 80 persen HTML.
AKSI:
Ketik elemen ini langsung di VS Code dan tunjukkan hasilnya di browser. Minta siswa mengetik &lt;p&gt;Namaku ...&lt;/p&gt; dengan nama mereka sendiri.
JEBAKAN UMUM:
Kesalahan paling umum: lupa tag penutup atau lupa garis miring. Tunjukkan apa yang terjadi kalau &lt;/p&gt; dihapus: teks setelahnya ikut berantakan.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NASKAH:
Setiap halaman HTML punya kerangka yang sama. Head berisi informasi di balik layar, termasuk title yang muncul di tab browser. Body berisi semua yang tampil di layar. Kita tidak perlu menghafal ini, karena VS Code bisa membuatkannya lewat tanda seru dan Tab. Tapi kita perlu tahu fungsinya.
AKSI:
Ganti isi title, simpan, dan tunjukkan tab browser berubah. Minta siswa mengganti title dengan nama mereka.
JEBAKAN UMUM:
Siswa menaruh teks di dalam head dan bingung kenapa tidak tampil. Ulangi: yang tampil hanya yang di dalam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5 menit
NASKAH:
Teks di HTML punya tingkatan. H1 sampai H6 adalah judul, dari yang terbesar. Pakai satu H1 saja per halaman, biasanya nama atau judul utama. P untuk paragraf. Strong untuk kata penting, dan em untuk penekanan. Perhatikan: kita memilih tag berdasarkan MAKNA, bukan berdasarkan tampilan. Soal tampilan, itu urusan CSS nanti.
AKSI:
Siswa mengetik sendiri 4 baris kode ini dengan nama mereka. Berikan 3 menit.
JEBAKAN UMUM:
Siswa memilih h1 karena ingin teks besar. Luruskan: ukuran bisa diatur CSS nanti, tag dipilih menurut fungsi.
SOLUSI KODE:
&lt;h1&gt;Alya Putri&lt;/h1&gt;
&lt;h2&gt;Tentang Saya&lt;/h2&gt;
&lt;p&gt;Aku &lt;strong&gt;suka&lt;/strong&gt; web.&lt;/p&gt;
&lt;p&gt;Aku &lt;em&gt;ingin&lt;/em&gt; belajar.&lt;/p&gt;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7 menit
NASKAH:
Dua tag yang bikin website terasa hidup: a untuk link dan img untuk gambar. Atribut href berisi alamat tujuan. Untuk gambar, src menunjuk lokasi file, relatif terhadap index.html. Atribut alt wajib: ia dibaca oleh pembaca layar untuk teman-teman tunanetra dan muncul jika gambar gagal dimuat. Tambahan modern: loading lazy supaya gambar baru dimuat saat discroll.
AKSI:
Letakkan satu foto di folder img, ketik tag img bersama-sama. Minta siswa memakai foto sendiri atau foto bebas dari folder yang sudah disiapkan panitia.
JEBAKAN UMUM:
Penyebab gambar rusak nomor satu: path atau nama file tidak persis sama (huruf besar/kecil, ekstensi .jpg vs .jpeg). Siapkan satu foto contoh di setiap PC agar tidak ada yang menunggu.
SOLUSI KODE:
&lt;a href="https://github.com"&gt;Lihat GitHub&lt;/a&gt;
&lt;img src="img/foto.jpg" alt="Foto Alya" loading="lazy"&gt;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NASKAH:
Dua hal terakhir di bagian HTML. Pertama, daftar: ul untuk daftar bertitik, li untuk tiap isinya. Kedua, tag semantik: header, nav, main, section, footer. Secara tampilan mereka sama dengan div, tapi namanya bermakna. Mesin pencari seperti Google dan pembaca layar jadi paham mana bagian atas, mana menu, mana isi utama.
AKSI:
Tunjuk wireframe di kanan: "halaman profil kita nanti punya bentuk seperti ini". Siswa mengetik daftar skill mereka.
JEBAKAN UMUM:
Siswa membungkus semuanya dengan div karena sudah terbiasa dari tutorial lain. Ajak mereka memilih nama tag yang paling cocok.
SOLUSI KODE:
&lt;ul&gt;
  &lt;li&gt;HTML&lt;/li&gt;
  &lt;li&gt;CSS&lt;/li&gt;
&lt;/ul&gt;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30 menit (08.50 – 09.20)
NASKAH:
Checkpoint besar pertama. Bangun kerangka halaman profil kalian pakai tujuh bagian di checklist. Jangan khawatir tampilannya polos seperti halaman tahun 1995. Itu benar, dan di bagian CSS nanti kita dandani. Centang tiap bagian kalau sudah selesai.
AKSI:
Berikan 25 menit mengetik mandiri, panitia keliling. Di menit ke-25 tampilkan solusi di layar. Siswa yang selesai awal dibantu menambah project ketiga. Setelah selesai: istirahat 15 menit (09.20 – 09.35).
JEBAKAN UMUM:
1) Tag tidak ditutup, sehingga bagian setelahnya ikut menyatu. Cek lewat indentasi VS Code. 2) Semua pakai div. 3) Menaruh gambar sebelum folder img dibuat. 4) Link nav tidak berfungsi: href harus diawali # dan id section harus sama (href="#skill" dengan id="skill").
SOLUSI KODE:
Lihat starter-kit/index.html untuk versi lengkap. Kerangka body:
&lt;header&gt;
  &lt;h1&gt;Alya Putri&lt;/h1&gt;
  &lt;p&gt;Siswa SMA · Calon Web Developer&lt;/p&gt;
  &lt;nav&gt;
    &lt;a href="#tentang"&gt;Tentang&lt;/a&gt; &lt;a href="#skill"&gt;Skill&lt;/a&gt;
    &lt;a href="#project"&gt;Project&lt;/a&gt; &lt;a href="#kontak"&gt;Kontak&lt;/a&gt;
  &lt;/nav&gt;
&lt;/header&gt;
&lt;main&gt;
  &lt;section id="tentang"&gt; ... &lt;/section&gt;
  &lt;section id="skill"&gt; ... &lt;/section&gt;
  &lt;section id="project"&gt; ... &lt;/section&gt;
  &lt;section id="kontak"&gt; ... &lt;/section&gt;
&lt;/main&gt;
&lt;footer&gt; ... &lt;/footer&gt;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1 menit
NASKAH:
Selamat datang kembali! Kerangka sudah jadi. Sekarang kita buat halaman itu cantik.
AKSI:
Pastikan semua sudah duduk dan Live Server menyala. Buka proyek yang sama dengan sebelum istirahat.
JEBAKAN UMUM:
Beberapa PC mungkin mati/terkunci setelah istirahat. Cek dulu, jangan langsung lanjut.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3 menit
NASKAH:
Ini halaman yang sama, dengan HTML yang persis sama. Kiri tanpa CSS, kanan dengan CSS. Semua perbedaan ini, warna, font, susunan, datang dari satu file bernama style.css. Ingat pertanyaan saya tadi tentang website tanpa CSS? Inilah jawabannya.
AKSI:
Biarkan siswa memandang slide ini 10 detik. Minta komentar: "mana yang kalian lebih suka?"
JEBAKAN UMUM:
Tidak ada. Slide ini hanya motivasi.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5 menit
NASKAH:
CSS ditulis dengan pola yang sama selalu: selector, kurung kurawal, lalu pasangan property dan value. Selector menjawab SIAPA yang didandani. Property menjawab APA yang diubah. Value menjawab JADI APA. Agar CSS bekerja, kita hubungkan file style.css ke HTML lewat satu tag link di dalam head.
AKSI:
Siswa membuka style.css, mengetik aturan h1, menambahkan tag link di head index.html, simpan, dan lihat nama berubah warna dan ukuran.
JEBAKAN UMUM:
1) Lupa menambah tag link, CSS tidak berjalan. 2) Lupa titik koma di akhir baris. 3) Salah nama file (style.css vs styles.css). 4) Tanda { atau } tidak berpasangan.
SOLUSI KODE:
style.css:
h1 {
  color: navy;
  font-size: 40px;
}
index.html (di dalam &lt;head&gt;):
&lt;link rel="stylesheet" href="style.css"&gt;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5 menit
NASKAH:
Ada tiga cara memilih elemen. Pakai nama tag: semua paragraf. Pakai class dengan titik di depan: semua elemen yang punya class itu. Pakai id dengan tanda pagar: satu elemen unik. Aturan praktis untuk pemula: pakai class untuk hampir semua hal. Class fleksibel dan bisa dipakai berkali-kali.
AKSI:
Tambahkan class="kartu" ke satu article project dan beri style di CSS: .kartu { border: 1px solid #ccc; padding: 16px; }. Siswa mengikuti.
JEBAKAN UMUM:
Lupa titik di depan nama class (kartu { } bukan .kartu { }), akibatnya style tidak muncul. Typo nama class juga sering terjadi.
SOLUSI KODE:
.kartu {
  border: 1px solid #ccc;
  padding: 16px;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NASKAH:
Warna dan font adalah dua hal yang paling cepat mengubah kesan website. Kita pakai CSS variables: kita definisikan warna sekali di root, lalu pakai di mana-mana dengan var. Kalau mau ganti tema, cukup ubah satu baris. Untuk font, kita ambil dari Google Fonts, gratis.
AKSI:
Buka fonts.google.com, pilih Poppins (atau Plus Jakarta Sans), salin tag link ke head. Siswa memilih warna favorit mereka dan menaruhnya di --biru.
JEBAKAN UMUM:
1) Lupa menyalin tag link font ke head. 2) Nama font salah ketik. 3) Ada tanda -- yang hilang di nama variabel. 4) Internet tidak ada, font tidak termuat: tetap tampil dengan font cadangan sans-serif, jelaskan fungsinya.
SOLUSI KODE:
:root {
  --biru: #1F4FD8;
}
h1 {
  color: var(--biru);
  font-family: 'Poppins', sans-serif;
}
index.html (&lt;head&gt;):
&lt;link href="https://fonts.googleapis.com/css2?family=Poppins:wght@400;700&amp;display=swap" rel="stylesheet"&gt;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5 menit
NASKAH:
Kunci memahami layout: setiap elemen di web adalah kotak. Dari dalam ke luar: content, lalu padding yang memberi ruang napas, lalu border, lalu margin, jarak ke elemen lain. Bayangkan bingkai foto. Satu baris wajib: box-sizing border-box, supaya ukuran kotak tidak membengkak ketika kita tambah padding.
AKSI:
Di browser, buka DevTools (F12), arahkan ke satu elemen dan tunjukkan diagram box model berwarna di panel Computed/Styles. Siswa menambah padding dan margin ke .kartu.
JEBAKAN UMUM:
Siswa bingung beda padding dan margin. Pegang pedoman: padding di DALAM kotak, margin di LUAR kotak.
SOLUSI KODE:
* {
  box-sizing: border-box;
}
.kartu {
  padding: 24px;
  margin: 16px;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7 menit
NASKAH:
Flexbox adalah cara modern menyusun elemen. Tanpa flex, link menu saya tumpuk ke bawah. Dengan display flex, mereka berjajar rapi dalam satu baris, gap mengatur jarak, justify-content mengatur posisi. Ini dipakai di hampir semua website. Grid saudaranya, dipakai kalau butuh baris dan kolom sekaligus, misalnya kartu project dua kolom.
AKSI:
Terapkan flex ke nav dan ke daftar skill. Ubah nilai justify-content (center, space-between) dan biarkan siswa melihat bedanya.
JEBAKAN UMUM:
1) Menulis display: flex di elemen yang salah (harus di induk, bukan anak). 2) Link nav masih berderet ke bawah karena selector nav salah ketik.
SOLUSI KODE:
nav {
  display: flex;
  gap: 16px;
  justify-content: center;
}
.skills {
  display: flex;
  flex-wrap: wrap;
  gap: 12px;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5 menit
NASKAH:
Lebih dari separuh pengunjung website membuka dari HP. Jadi halaman kita harus enak dilihat di semua ukuran. Tiga kunci: meta viewport di head, yang sudah dibuatkan Emmet tadi. Clamp untuk ukuran font yang menyesuaikan layar. Dan media query: aturan yang baru aktif di layar lebar. Kita tulis mobile dulu, lalu tambahkan aturan untuk layar yang lebih besar.
AKSI:
Buka DevTools mode device (Ctrl+Shift+M), geser lebar layar, tunjukkan font mengecil/membesar dan kartu project berubah dari 1 ke 2 kolom di 768px.
JEBAKAN UMUM:
1) Tag meta viewport hilang (halaman kecil sekali di HP). 2) Menulis @media tanpa kurung kurawal penutup. 3) .projects belum display: grid, sehingga grid-template-columns tidak berpengaruh (di starter-kit sudah ada).
SOLUSI KODE:
h1 {
  font-size: clamp(28px, 6vw, 48px);
}
.projects {
  display: grid;
  gap: 16px;
}
@media (min-width: 768px) {
  .projects {
    grid-template-columns: 1fr 1fr;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23 menit (10.12 – 10.35)
NASKAH:
Checkpoint kedua. Dandani profil kalian: tema warna lewat variables, font dari Google Fonts, navbar pakai flexbox, kartu project dengan padding dan border, dan pastikan tampil rapi di layar HP. Yang cepat, kerjakan bonus: efek hover dan dark mode. Pakai gaya kalian sendiri. Boleh beda dari contoh.
AKSI:
Mulai dengan 3 menit live-coding warna tema, lalu mandiri. Panitia keliling, perhatikan siswa yang diam, mereka biasanya stuck. Di menit ke-20 tampilkan solusi starter-kit/style.css.
JEBAKAN UMUM:
1) Style tidak muncul: cek link CSS dan nama class. 2) Flexbox tidak berefek: display: flex di induk. 3) Teks hilang: warna teks sama dengan warna latar. 4) Siswa menyalin dari internet tanpa memahami, minta mereka menjelaskan satu baris.
SOLUSI KODE:
Lihat starter-kit/style.css (versi lengkap, 100% sesuai slide 20–25). Potongan bonus:
.card:hover {
  transform: translateY(-4px);
}
.card {
  transition: transform 0.2s;
}
@media (prefers-color-scheme: dark) {
  :root {
    --bg: #0E1B3D;
    --text: #F4F6FB;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4 menit
NASKAH:
Sebelum sprint akhir, saya bocorkan lima kesalahan yang hampir pasti kalian temui. Lupa menutup tag. Nama file gambar tidak persis. Typo nama class. Link CSS hilang. Dan kurung kurawal tidak ditutup. Kalau halamanmu aneh, jangan panik: tekan F12, lihat pesannya, dan baca pelan-pelan. Pesan error itu sahabatmu.
AKSI:
Tampilkan satu error sungguhan dengan sengaja: hapus &lt;/p&gt;, tunjukkan efeknya, perbaiki bersama.
JEBAKAN UMUM:
Siswa langsung bertanya ke panitia tanpa mencoba sendiri. Ajarkan urutan: lihat pesan → cek lima daftar ini → baru bertanya.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4 menit
NASKAH:
AI itu alat belajar yang hebat kalau dipakai benar. Pakai untuk menjelaskan kode yang tidak kalian paham, untuk mencari tahu kenapa ada error, dan untuk mencari ide. Jangan pakai untuk menulis seluruh halaman, karena kalian jadi tidak belajar apa-apa. Aturan emasnya: kamu yang mengetik dulu. Coba sendiri, baru tanya.
AKSI:
Boleh demonstrasikan satu prompt singkat di layar (pakai AI apa saja yang tersedia). Jangan lebih dari 2 menit.
JEBAKAN UMUM:
Siswa yang sudah akrab dengan AI akan meminta "buatkan website profil lengkap". Arahkan: hasilnya mungkin bagus, tapi mereka tidak akan bisa memperbaikinya sendiri. Tujuan hari ini kemampuan, bukan hasil.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20 menit (10.40 – 11.00)
NASKAH:
Sprint terakhir, 20 menit. Rampungkan profilmu. Pakai rubrik di kanan sebagai pegangan: struktur lengkap, tampilan konsisten, rapi di HP, dan ada fotomu. Setelah ini kita tayangkan online, jadi pastikan halamanmu sudah layak dilihat orang.
AKSI:
Jalankan timer 20 menit di layar (stopwatch HP atau timer proyektor). Panitia keliling dengan fokus ke siswa yang tertinggal. Beri peringatan di sisa 10 dan 5 menit. Pilih 3–4 sukarelawan untuk showcase sambil berkeliling.
JEBAKAN UMUM:
Siswa terjebak memoles hal kecil. Ingatkan: selesai lebih baik daripada sempurna. Siswa lain kehabisan ide: kembalikan ke rubrik.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7 menit (11.00 – 11.07)
NASKAH:
Sekarang momen yang ditunggu. Buka netlify.com/drop, seret folder portfolio kalian ke halaman itu, dan dalam beberapa detik kalian mendapat link. Link itu bisa dibuka siapa saja di dunia. Supaya link tidak kedaluwarsa, klaim situsnya dengan membuat akun gratis. Kalau internet bermasalah, tidak apa-apa, tayangkan di rumah.
AKSI:
Demo di layar pemateri dulu, lalu siswa mengikuti. Siapkan opsi cadangan: GitHub Pages (butuh akun GitHub, lebih lama, cocok untuk dikerjakan di rumah).
[VERIFIKASI SEBELUM HARI-H] Per pengecekan terakhir, situs Netlify Drop yang tidak diklaim bersifat sementara (kemungkinan dihapus dalam waktu singkat). Uji alurnya satu hari sebelum acara dan pastikan internet Lab ICT bisa mengakses netlify.com.
JEBAKAN UMUM:
1) Folder yang diseret harus berisi index.html di level paling atas, bukan subfolder lagi. 2) Beberapa PC lab membatasi situs tertentu, uji lebih dulu. 3) Siswa belum punya email aktif untuk klaim: siapkan akun cadangan atau sarankan mendaftar di rumah.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(11.07 – 11.13)
NASKAH:
Siapa yang mau menunjukkan karyanya? Ceritakan satu hal: bagian yang paling kamu suka, kesalahan paling lucu hari ini, atau satu hal baru yang kamu pelajari. Beri tepuk tangan untuk setiap penampil.
AKSI:
Sambungkan laptop/PC sukarelawan ke proyektor, atau panitia membuka link karya mereka. 2 menit per orang. Utamakan siswa yang malu-malu tetapi sudah selesai, beri dorongan.
JEBAKAN UMUM:
Siswa yang paling bagus tidak selalu mau tampil. Pilih berdasarkan keberanian, bukan kerapian. Tujuan sesi adalah rasa percaya 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2 menit
NASKAH:
Hari ini kalian sudah menyelesaikan langkah pertama. Langkah berikutnya: JavaScript supaya halaman bisa bereaksi, lalu Git dan GitHub untuk menyimpan kode, lalu framework. Belajar gratis di MDN, freeCodeCamp, dan web.dev/learn. Dan kakak-kakak mahasiswa di Sesi 2 hari ini membahas Laravel, salah satu framework itu.
AKSI:
Tampilkan slide, bacakan peta belajar, jangan menjelaskan detail.
JEBAKAN UMUM:
Siswa sering bertanya "harus beli kursus?". Jawab: tidak perlu, tiga sumber ini gratis dan cukup untuk bertahun-tahun.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2 menit + Q&amp;A
NASKAH:
Terima kasih, adik-adik. Hari ini kalian membuktikan satu hal: kalian bisa membuat website sendiri. Simpan linknya, bagikan ke teman dan keluarga. Dan jangan berhenti di sini. Ada pertanyaan?
AKSI:
Buka sesi tanya jawab sampai waktu habis (11.20). Ajak foto bersama. Ingatkan jadwal Sesi 2 (13.00) bagi yang ikut sebagai pendamping. Pastikan tidak ada barang tertinggal di Lab ICT.
JEBAKAN UMUM:
Pertanyaan yang sering muncul: "kuliah apa yang cocok untuk jadi web developer?", "perlu jago matematika?". Siapkan jawaban jujur dan menyemangati.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6F7FA8"/>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6F7FA8"/>
                </a:solidFill>
                <a:latin typeface="Calibri" pitchFamily="34" charset="0"/>
                <a:ea typeface="Calibri" pitchFamily="34" charset="-122"/>
                <a:cs typeface="Calibri" pitchFamily="34" charset="-120"/>
              </a:rPr>
              <a:t>01</a:t>
            </a:r>
            <a:endParaRPr lang="en-US" sz="1000" dirty="0"/>
          </a:p>
        </p:txBody>
      </p:sp>
      <p:sp>
        <p:nvSpPr>
          <p:cNvPr id="4" name="Shape 2"/>
          <p:cNvSpPr/>
          <p:nvPr/>
        </p:nvSpPr>
        <p:spPr>
          <a:xfrm>
            <a:off x="731520" y="502920"/>
            <a:ext cx="1645920" cy="566928"/>
          </a:xfrm>
          <a:prstGeom prst="roundRect">
            <a:avLst>
              <a:gd name="adj" fmla="val 16129"/>
            </a:avLst>
          </a:prstGeom>
          <a:ln w="15875">
            <a:solidFill>
              <a:srgbClr val="2A3C6E"/>
            </a:solidFill>
            <a:prstDash val="dash"/>
          </a:ln>
        </p:spPr>
      </p:sp>
      <p:sp>
        <p:nvSpPr>
          <p:cNvPr id="5" name="Text 3"/>
          <p:cNvSpPr txBox="1"/>
          <p:nvPr/>
        </p:nvSpPr>
        <p:spPr>
          <a:xfrm>
            <a:off x="731520" y="502920"/>
            <a:ext cx="1645920" cy="566928"/>
          </a:xfrm>
          <a:prstGeom prst="rect">
            <a:avLst/>
          </a:prstGeom>
          <a:noFill/>
          <a:ln/>
        </p:spPr>
        <p:txBody>
          <a:bodyPr wrap="square" lIns="0" tIns="0" rIns="0" bIns="0" rtlCol="0" anchor="ctr"/>
          <a:lstStyle/>
          <a:p>
            <a:pPr algn="ctr" indent="0" marL="0">
              <a:lnSpc>
                <a:spcPct val="115000"/>
              </a:lnSpc>
              <a:buNone/>
            </a:pPr>
            <a:r>
              <a:rPr lang="en-US" sz="1100" b="1" spc="150" kern="0" dirty="0">
                <a:solidFill>
                  <a:srgbClr val="A9B6D6"/>
                </a:solidFill>
                <a:latin typeface="Calibri" pitchFamily="34" charset="0"/>
                <a:ea typeface="Calibri" pitchFamily="34" charset="-122"/>
                <a:cs typeface="Calibri" pitchFamily="34" charset="-120"/>
              </a:rPr>
              <a:t>LOGO HIMASI</a:t>
            </a:r>
            <a:endParaRPr lang="en-US" sz="1100" dirty="0"/>
          </a:p>
        </p:txBody>
      </p:sp>
      <p:sp>
        <p:nvSpPr>
          <p:cNvPr id="6" name="Shape 4"/>
          <p:cNvSpPr/>
          <p:nvPr/>
        </p:nvSpPr>
        <p:spPr>
          <a:xfrm>
            <a:off x="2514600" y="502920"/>
            <a:ext cx="1645920" cy="566928"/>
          </a:xfrm>
          <a:prstGeom prst="roundRect">
            <a:avLst>
              <a:gd name="adj" fmla="val 16129"/>
            </a:avLst>
          </a:prstGeom>
          <a:ln w="15875">
            <a:solidFill>
              <a:srgbClr val="2A3C6E"/>
            </a:solidFill>
            <a:prstDash val="dash"/>
          </a:ln>
        </p:spPr>
      </p:sp>
      <p:sp>
        <p:nvSpPr>
          <p:cNvPr id="7" name="Text 5"/>
          <p:cNvSpPr txBox="1"/>
          <p:nvPr/>
        </p:nvSpPr>
        <p:spPr>
          <a:xfrm>
            <a:off x="2514600" y="502920"/>
            <a:ext cx="1645920" cy="566928"/>
          </a:xfrm>
          <a:prstGeom prst="rect">
            <a:avLst/>
          </a:prstGeom>
          <a:noFill/>
          <a:ln/>
        </p:spPr>
        <p:txBody>
          <a:bodyPr wrap="square" lIns="0" tIns="0" rIns="0" bIns="0" rtlCol="0" anchor="ctr"/>
          <a:lstStyle/>
          <a:p>
            <a:pPr algn="ctr" indent="0" marL="0">
              <a:lnSpc>
                <a:spcPct val="115000"/>
              </a:lnSpc>
              <a:buNone/>
            </a:pPr>
            <a:r>
              <a:rPr lang="en-US" sz="1100" b="1" spc="150" kern="0" dirty="0">
                <a:solidFill>
                  <a:srgbClr val="A9B6D6"/>
                </a:solidFill>
                <a:latin typeface="Calibri" pitchFamily="34" charset="0"/>
                <a:ea typeface="Calibri" pitchFamily="34" charset="-122"/>
                <a:cs typeface="Calibri" pitchFamily="34" charset="-120"/>
              </a:rPr>
              <a:t>LOGO BLU</a:t>
            </a:r>
            <a:endParaRPr lang="en-US" sz="1100" dirty="0"/>
          </a:p>
        </p:txBody>
      </p:sp>
      <p:sp>
        <p:nvSpPr>
          <p:cNvPr id="8" name="Shape 6"/>
          <p:cNvSpPr/>
          <p:nvPr/>
        </p:nvSpPr>
        <p:spPr>
          <a:xfrm>
            <a:off x="731520" y="1783080"/>
            <a:ext cx="3383280" cy="365760"/>
          </a:xfrm>
          <a:prstGeom prst="roundRect">
            <a:avLst>
              <a:gd name="adj" fmla="val 50000"/>
            </a:avLst>
          </a:prstGeom>
          <a:solidFill>
            <a:srgbClr val="FFC83D"/>
          </a:solidFill>
          <a:ln/>
        </p:spPr>
      </p:sp>
      <p:sp>
        <p:nvSpPr>
          <p:cNvPr id="9" name="Text 7"/>
          <p:cNvSpPr txBox="1"/>
          <p:nvPr/>
        </p:nvSpPr>
        <p:spPr>
          <a:xfrm>
            <a:off x="731520" y="1783080"/>
            <a:ext cx="3383280" cy="365760"/>
          </a:xfrm>
          <a:prstGeom prst="rect">
            <a:avLst/>
          </a:prstGeom>
          <a:noFill/>
          <a:ln/>
        </p:spPr>
        <p:txBody>
          <a:bodyPr wrap="square" lIns="0" tIns="0" rIns="0" bIns="0" rtlCol="0" anchor="ctr"/>
          <a:lstStyle/>
          <a:p>
            <a:pPr algn="ctr" indent="0" marL="0">
              <a:lnSpc>
                <a:spcPct val="115000"/>
              </a:lnSpc>
              <a:buNone/>
            </a:pPr>
            <a:r>
              <a:rPr lang="en-US" sz="1200" b="1" spc="120" kern="0" dirty="0">
                <a:solidFill>
                  <a:srgbClr val="0E1B3D"/>
                </a:solidFill>
                <a:latin typeface="Calibri" pitchFamily="34" charset="0"/>
                <a:ea typeface="Calibri" pitchFamily="34" charset="-122"/>
                <a:cs typeface="Calibri" pitchFamily="34" charset="-120"/>
              </a:rPr>
              <a:t>SI FEST 2026  ·  SESI 1  ·  SISWA</a:t>
            </a:r>
            <a:endParaRPr lang="en-US" sz="1200" dirty="0"/>
          </a:p>
        </p:txBody>
      </p:sp>
      <p:sp>
        <p:nvSpPr>
          <p:cNvPr id="10" name="Text 8"/>
          <p:cNvSpPr txBox="1"/>
          <p:nvPr/>
        </p:nvSpPr>
        <p:spPr>
          <a:xfrm>
            <a:off x="731520" y="2331720"/>
            <a:ext cx="6400800" cy="2194560"/>
          </a:xfrm>
          <a:prstGeom prst="rect">
            <a:avLst/>
          </a:prstGeom>
          <a:noFill/>
          <a:ln/>
        </p:spPr>
        <p:txBody>
          <a:bodyPr wrap="square" lIns="0" tIns="0" rIns="0" bIns="0" rtlCol="0" anchor="t"/>
          <a:lstStyle/>
          <a:p>
            <a:pPr algn="l" indent="0" marL="0">
              <a:lnSpc>
                <a:spcPct val="100000"/>
              </a:lnSpc>
              <a:buNone/>
            </a:pPr>
            <a:r>
              <a:rPr lang="en-US" sz="6600" b="1" dirty="0">
                <a:solidFill>
                  <a:srgbClr val="FFFFFF"/>
                </a:solidFill>
                <a:latin typeface="Calibri" pitchFamily="34" charset="0"/>
                <a:ea typeface="Calibri" pitchFamily="34" charset="-122"/>
                <a:cs typeface="Calibri" pitchFamily="34" charset="-120"/>
              </a:rPr>
              <a:t>Unlock Your</a:t>
            </a:r>
            <a:endParaRPr lang="en-US" sz="6600" dirty="0"/>
          </a:p>
          <a:p>
            <a:pPr algn="l" indent="0" marL="0">
              <a:lnSpc>
                <a:spcPct val="100000"/>
              </a:lnSpc>
              <a:buNone/>
            </a:pPr>
            <a:r>
              <a:rPr lang="en-US" sz="6600" b="1" dirty="0">
                <a:solidFill>
                  <a:srgbClr val="FFFFFF"/>
                </a:solidFill>
                <a:latin typeface="Calibri" pitchFamily="34" charset="0"/>
                <a:ea typeface="Calibri" pitchFamily="34" charset="-122"/>
                <a:cs typeface="Calibri" pitchFamily="34" charset="-120"/>
              </a:rPr>
              <a:t>Potential</a:t>
            </a:r>
            <a:endParaRPr lang="en-US" sz="6600" dirty="0"/>
          </a:p>
        </p:txBody>
      </p:sp>
      <p:sp>
        <p:nvSpPr>
          <p:cNvPr id="11" name="Text 9"/>
          <p:cNvSpPr txBox="1"/>
          <p:nvPr/>
        </p:nvSpPr>
        <p:spPr>
          <a:xfrm>
            <a:off x="731520" y="4526280"/>
            <a:ext cx="6400800" cy="548640"/>
          </a:xfrm>
          <a:prstGeom prst="rect">
            <a:avLst/>
          </a:prstGeom>
          <a:noFill/>
          <a:ln/>
        </p:spPr>
        <p:txBody>
          <a:bodyPr wrap="square" lIns="0" tIns="0" rIns="0" bIns="0" rtlCol="0" anchor="t"/>
          <a:lstStyle/>
          <a:p>
            <a:pPr algn="l" indent="0" marL="0">
              <a:lnSpc>
                <a:spcPct val="115000"/>
              </a:lnSpc>
              <a:buNone/>
            </a:pPr>
            <a:r>
              <a:rPr lang="en-US" sz="2800" b="1" dirty="0">
                <a:solidFill>
                  <a:srgbClr val="FFC83D"/>
                </a:solidFill>
                <a:latin typeface="Calibri" pitchFamily="34" charset="0"/>
                <a:ea typeface="Calibri" pitchFamily="34" charset="-122"/>
                <a:cs typeface="Calibri" pitchFamily="34" charset="-120"/>
              </a:rPr>
              <a:t>Through Web Technology</a:t>
            </a:r>
            <a:endParaRPr lang="en-US" sz="2800" dirty="0"/>
          </a:p>
        </p:txBody>
      </p:sp>
      <p:sp>
        <p:nvSpPr>
          <p:cNvPr id="12" name="Text 10"/>
          <p:cNvSpPr txBox="1"/>
          <p:nvPr/>
        </p:nvSpPr>
        <p:spPr>
          <a:xfrm>
            <a:off x="731520" y="5166360"/>
            <a:ext cx="5852160" cy="731520"/>
          </a:xfrm>
          <a:prstGeom prst="rect">
            <a:avLst/>
          </a:prstGeom>
          <a:noFill/>
          <a:ln/>
        </p:spPr>
        <p:txBody>
          <a:bodyPr wrap="square" lIns="0" tIns="0" rIns="0" bIns="0" rtlCol="0" anchor="t"/>
          <a:lstStyle/>
          <a:p>
            <a:pPr algn="l" indent="0" marL="0">
              <a:lnSpc>
                <a:spcPct val="130000"/>
              </a:lnSpc>
              <a:buNone/>
            </a:pPr>
            <a:r>
              <a:rPr lang="en-US" sz="1800" dirty="0">
                <a:solidFill>
                  <a:srgbClr val="A9B6D6"/>
                </a:solidFill>
                <a:latin typeface="Calibri" pitchFamily="34" charset="0"/>
                <a:ea typeface="Calibri" pitchFamily="34" charset="-122"/>
                <a:cs typeface="Calibri" pitchFamily="34" charset="-120"/>
              </a:rPr>
              <a:t>Workshop membuat website personal profile dari nol</a:t>
            </a:r>
            <a:endParaRPr lang="en-US" sz="1800" dirty="0"/>
          </a:p>
        </p:txBody>
      </p:sp>
      <p:sp>
        <p:nvSpPr>
          <p:cNvPr id="13" name="Text 11"/>
          <p:cNvSpPr txBox="1"/>
          <p:nvPr/>
        </p:nvSpPr>
        <p:spPr>
          <a:xfrm>
            <a:off x="731520" y="6053328"/>
            <a:ext cx="7315200" cy="274320"/>
          </a:xfrm>
          <a:prstGeom prst="rect">
            <a:avLst/>
          </a:prstGeom>
          <a:noFill/>
          <a:ln/>
        </p:spPr>
        <p:txBody>
          <a:bodyPr wrap="square" lIns="0" tIns="0" rIns="0" bIns="0" rtlCol="0" anchor="ctr"/>
          <a:lstStyle/>
          <a:p>
            <a:pPr algn="l" indent="0" marL="0">
              <a:lnSpc>
                <a:spcPct val="115000"/>
              </a:lnSpc>
              <a:buNone/>
            </a:pPr>
            <a:r>
              <a:rPr lang="en-US" sz="1400" dirty="0">
                <a:solidFill>
                  <a:srgbClr val="A9B6D6"/>
                </a:solidFill>
                <a:latin typeface="Calibri" pitchFamily="34" charset="0"/>
                <a:ea typeface="Calibri" pitchFamily="34" charset="-122"/>
                <a:cs typeface="Calibri" pitchFamily="34" charset="-120"/>
              </a:rPr>
              <a:t>[Nama Pemateri]  ·  [Role · Organisasi]  ·  Sabtu, 10 Oktober 2026</a:t>
            </a:r>
            <a:endParaRPr lang="en-US" sz="1400" dirty="0"/>
          </a:p>
        </p:txBody>
      </p:sp>
      <p:sp>
        <p:nvSpPr>
          <p:cNvPr id="14" name="Shape 12"/>
          <p:cNvSpPr/>
          <p:nvPr/>
        </p:nvSpPr>
        <p:spPr>
          <a:xfrm>
            <a:off x="7680960" y="1097280"/>
            <a:ext cx="5029200" cy="3474720"/>
          </a:xfrm>
          <a:prstGeom prst="roundRect">
            <a:avLst>
              <a:gd name="adj" fmla="val 4211"/>
            </a:avLst>
          </a:prstGeom>
          <a:solidFill>
            <a:srgbClr val="FFFFFF"/>
          </a:solidFill>
          <a:ln w="15875">
            <a:solidFill>
              <a:srgbClr val="2A3C6E"/>
            </a:solidFill>
            <a:prstDash val="solid"/>
          </a:ln>
          <a:effectLst>
            <a:outerShdw sx="100000" sy="100000" kx="0" ky="0" algn="bl" rotWithShape="0" blurRad="177800" dist="38100" dir="5400000">
              <a:srgbClr val="000000">
                <a:alpha val="40000"/>
              </a:srgbClr>
            </a:outerShdw>
          </a:effectLst>
        </p:spPr>
      </p:sp>
      <p:sp>
        <p:nvSpPr>
          <p:cNvPr id="15" name="Shape 13"/>
          <p:cNvSpPr/>
          <p:nvPr/>
        </p:nvSpPr>
        <p:spPr>
          <a:xfrm>
            <a:off x="7699248" y="1115568"/>
            <a:ext cx="4992624" cy="384048"/>
          </a:xfrm>
          <a:prstGeom prst="roundRect">
            <a:avLst>
              <a:gd name="adj" fmla="val 33333"/>
            </a:avLst>
          </a:prstGeom>
          <a:solidFill>
            <a:srgbClr val="EEF1F7"/>
          </a:solidFill>
          <a:ln/>
        </p:spPr>
      </p:sp>
      <p:sp>
        <p:nvSpPr>
          <p:cNvPr id="16" name="Shape 14"/>
          <p:cNvSpPr/>
          <p:nvPr/>
        </p:nvSpPr>
        <p:spPr>
          <a:xfrm>
            <a:off x="7699248" y="1298448"/>
            <a:ext cx="4992624" cy="201168"/>
          </a:xfrm>
          <a:prstGeom prst="rect">
            <a:avLst/>
          </a:prstGeom>
          <a:solidFill>
            <a:srgbClr val="EEF1F7"/>
          </a:solidFill>
          <a:ln/>
        </p:spPr>
      </p:sp>
      <p:sp>
        <p:nvSpPr>
          <p:cNvPr id="17" name="Shape 15"/>
          <p:cNvSpPr/>
          <p:nvPr/>
        </p:nvSpPr>
        <p:spPr>
          <a:xfrm>
            <a:off x="7863840" y="1234440"/>
            <a:ext cx="100584" cy="100584"/>
          </a:xfrm>
          <a:prstGeom prst="ellipse">
            <a:avLst/>
          </a:prstGeom>
          <a:solidFill>
            <a:srgbClr val="E63946"/>
          </a:solidFill>
          <a:ln/>
        </p:spPr>
      </p:sp>
      <p:sp>
        <p:nvSpPr>
          <p:cNvPr id="18" name="Shape 16"/>
          <p:cNvSpPr/>
          <p:nvPr/>
        </p:nvSpPr>
        <p:spPr>
          <a:xfrm>
            <a:off x="8037576" y="1234440"/>
            <a:ext cx="100584" cy="100584"/>
          </a:xfrm>
          <a:prstGeom prst="ellipse">
            <a:avLst/>
          </a:prstGeom>
          <a:solidFill>
            <a:srgbClr val="FFC83D"/>
          </a:solidFill>
          <a:ln/>
        </p:spPr>
      </p:sp>
      <p:sp>
        <p:nvSpPr>
          <p:cNvPr id="19" name="Shape 17"/>
          <p:cNvSpPr/>
          <p:nvPr/>
        </p:nvSpPr>
        <p:spPr>
          <a:xfrm>
            <a:off x="8211312" y="1234440"/>
            <a:ext cx="100584" cy="100584"/>
          </a:xfrm>
          <a:prstGeom prst="ellipse">
            <a:avLst/>
          </a:prstGeom>
          <a:solidFill>
            <a:srgbClr val="1E9E68"/>
          </a:solidFill>
          <a:ln/>
        </p:spPr>
      </p:sp>
      <p:sp>
        <p:nvSpPr>
          <p:cNvPr id="20" name="Shape 18"/>
          <p:cNvSpPr/>
          <p:nvPr/>
        </p:nvSpPr>
        <p:spPr>
          <a:xfrm>
            <a:off x="8549640" y="1179576"/>
            <a:ext cx="3931920" cy="237744"/>
          </a:xfrm>
          <a:prstGeom prst="roundRect">
            <a:avLst>
              <a:gd name="adj" fmla="val 50000"/>
            </a:avLst>
          </a:prstGeom>
          <a:solidFill>
            <a:srgbClr val="FFFFFF"/>
          </a:solidFill>
          <a:ln/>
        </p:spPr>
      </p:sp>
      <p:sp>
        <p:nvSpPr>
          <p:cNvPr id="21" name="Text 19"/>
          <p:cNvSpPr txBox="1"/>
          <p:nvPr/>
        </p:nvSpPr>
        <p:spPr>
          <a:xfrm>
            <a:off x="8686800" y="1179576"/>
            <a:ext cx="36576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Calibri" pitchFamily="34" charset="0"/>
                <a:ea typeface="Calibri" pitchFamily="34" charset="-122"/>
                <a:cs typeface="Calibri" pitchFamily="34" charset="-120"/>
              </a:rPr>
              <a:t>localhost:5500</a:t>
            </a:r>
            <a:endParaRPr lang="en-US" sz="1100" dirty="0"/>
          </a:p>
        </p:txBody>
      </p:sp>
      <p:sp>
        <p:nvSpPr>
          <p:cNvPr id="22" name="Text 20"/>
          <p:cNvSpPr txBox="1"/>
          <p:nvPr/>
        </p:nvSpPr>
        <p:spPr>
          <a:xfrm>
            <a:off x="8138160" y="1819656"/>
            <a:ext cx="3840480" cy="731520"/>
          </a:xfrm>
          <a:prstGeom prst="rect">
            <a:avLst/>
          </a:prstGeom>
          <a:noFill/>
          <a:ln/>
        </p:spPr>
        <p:txBody>
          <a:bodyPr wrap="none" lIns="0" tIns="0" rIns="0" bIns="0" rtlCol="0" anchor="ctr"/>
          <a:lstStyle/>
          <a:p>
            <a:pPr algn="l" indent="0" marL="0">
              <a:lnSpc>
                <a:spcPct val="115000"/>
              </a:lnSpc>
              <a:buNone/>
            </a:pPr>
            <a:r>
              <a:rPr lang="en-US" sz="4000" b="1" dirty="0">
                <a:solidFill>
                  <a:srgbClr val="000000"/>
                </a:solidFill>
                <a:latin typeface="Times New Roman" pitchFamily="34" charset="0"/>
                <a:ea typeface="Times New Roman" pitchFamily="34" charset="-122"/>
                <a:cs typeface="Times New Roman" pitchFamily="34" charset="-120"/>
              </a:rPr>
              <a:t>Halo, Dunia!</a:t>
            </a:r>
            <a:endParaRPr lang="en-US" sz="4000" dirty="0"/>
          </a:p>
        </p:txBody>
      </p:sp>
      <p:sp>
        <p:nvSpPr>
          <p:cNvPr id="23" name="Text 21"/>
          <p:cNvSpPr txBox="1"/>
          <p:nvPr/>
        </p:nvSpPr>
        <p:spPr>
          <a:xfrm>
            <a:off x="8138160" y="2551176"/>
            <a:ext cx="3840480" cy="365760"/>
          </a:xfrm>
          <a:prstGeom prst="rect">
            <a:avLst/>
          </a:prstGeom>
          <a:noFill/>
          <a:ln/>
        </p:spPr>
        <p:txBody>
          <a:bodyPr wrap="square" lIns="0" tIns="0" rIns="0" bIns="0" rtlCol="0" anchor="t"/>
          <a:lstStyle/>
          <a:p>
            <a:pPr algn="l" indent="0" marL="0">
              <a:lnSpc>
                <a:spcPct val="115000"/>
              </a:lnSpc>
              <a:buNone/>
            </a:pPr>
            <a:r>
              <a:rPr lang="en-US" sz="1800" dirty="0">
                <a:solidFill>
                  <a:srgbClr val="000000"/>
                </a:solidFill>
                <a:latin typeface="Times New Roman" pitchFamily="34" charset="0"/>
                <a:ea typeface="Times New Roman" pitchFamily="34" charset="-122"/>
                <a:cs typeface="Times New Roman" pitchFamily="34" charset="-120"/>
              </a:rPr>
              <a:t>Ini website pertamaku.</a:t>
            </a:r>
            <a:endParaRPr lang="en-US" sz="1800" dirty="0"/>
          </a:p>
        </p:txBody>
      </p:sp>
      <p:sp>
        <p:nvSpPr>
          <p:cNvPr id="24" name="Shape 22"/>
          <p:cNvSpPr/>
          <p:nvPr/>
        </p:nvSpPr>
        <p:spPr>
          <a:xfrm>
            <a:off x="6949440" y="3977640"/>
            <a:ext cx="4480560" cy="1063498"/>
          </a:xfrm>
          <a:prstGeom prst="roundRect">
            <a:avLst>
              <a:gd name="adj" fmla="val 12037"/>
            </a:avLst>
          </a:prstGeom>
          <a:solidFill>
            <a:srgbClr val="0B1530"/>
          </a:solidFill>
          <a:ln/>
          <a:effectLst>
            <a:outerShdw sx="100000" sy="100000" kx="0" ky="0" algn="bl" rotWithShape="0" blurRad="177800" dist="38100" dir="5400000">
              <a:srgbClr val="000000">
                <a:alpha val="40000"/>
              </a:srgbClr>
            </a:outerShdw>
          </a:effectLst>
        </p:spPr>
      </p:sp>
      <p:sp>
        <p:nvSpPr>
          <p:cNvPr id="25" name="Shape 23"/>
          <p:cNvSpPr/>
          <p:nvPr/>
        </p:nvSpPr>
        <p:spPr>
          <a:xfrm>
            <a:off x="7150608" y="4133088"/>
            <a:ext cx="109728" cy="109728"/>
          </a:xfrm>
          <a:prstGeom prst="ellipse">
            <a:avLst/>
          </a:prstGeom>
          <a:solidFill>
            <a:srgbClr val="E63946"/>
          </a:solidFill>
          <a:ln/>
        </p:spPr>
      </p:sp>
      <p:sp>
        <p:nvSpPr>
          <p:cNvPr id="26" name="Shape 24"/>
          <p:cNvSpPr/>
          <p:nvPr/>
        </p:nvSpPr>
        <p:spPr>
          <a:xfrm>
            <a:off x="7333488" y="4133088"/>
            <a:ext cx="109728" cy="109728"/>
          </a:xfrm>
          <a:prstGeom prst="ellipse">
            <a:avLst/>
          </a:prstGeom>
          <a:solidFill>
            <a:srgbClr val="FFC83D"/>
          </a:solidFill>
          <a:ln/>
        </p:spPr>
      </p:sp>
      <p:sp>
        <p:nvSpPr>
          <p:cNvPr id="27" name="Shape 25"/>
          <p:cNvSpPr/>
          <p:nvPr/>
        </p:nvSpPr>
        <p:spPr>
          <a:xfrm>
            <a:off x="7516368" y="4133088"/>
            <a:ext cx="109728" cy="109728"/>
          </a:xfrm>
          <a:prstGeom prst="ellipse">
            <a:avLst/>
          </a:prstGeom>
          <a:solidFill>
            <a:srgbClr val="1E9E68"/>
          </a:solidFill>
          <a:ln/>
        </p:spPr>
      </p:sp>
      <p:sp>
        <p:nvSpPr>
          <p:cNvPr id="28" name="Text 26"/>
          <p:cNvSpPr txBox="1"/>
          <p:nvPr/>
        </p:nvSpPr>
        <p:spPr>
          <a:xfrm>
            <a:off x="7863840" y="4050792"/>
            <a:ext cx="329184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Consolas" pitchFamily="34" charset="0"/>
                <a:ea typeface="Consolas" pitchFamily="34" charset="-122"/>
                <a:cs typeface="Consolas" pitchFamily="34" charset="-120"/>
              </a:rPr>
              <a:t>index.html</a:t>
            </a:r>
            <a:endParaRPr lang="en-US" sz="1200" dirty="0"/>
          </a:p>
        </p:txBody>
      </p:sp>
      <p:sp>
        <p:nvSpPr>
          <p:cNvPr id="29" name="Text 27"/>
          <p:cNvSpPr txBox="1"/>
          <p:nvPr/>
        </p:nvSpPr>
        <p:spPr>
          <a:xfrm>
            <a:off x="7223760" y="4507992"/>
            <a:ext cx="3749040" cy="405130"/>
          </a:xfrm>
          <a:prstGeom prst="rect">
            <a:avLst/>
          </a:prstGeom>
          <a:noFill/>
          <a:ln/>
        </p:spPr>
        <p:txBody>
          <a:bodyPr wrap="none" lIns="0" tIns="0" rIns="0" bIns="0" rtlCol="0" anchor="ctr"/>
          <a:lstStyle/>
          <a:p>
            <a:pPr algn="l" indent="0" marL="0">
              <a:lnSpc>
                <a:spcPct val="115000"/>
              </a:lnSpc>
              <a:buNone/>
            </a:pPr>
            <a:r>
              <a:rPr lang="en-US" sz="22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200" dirty="0">
                <a:solidFill>
                  <a:srgbClr val="8DB4FF"/>
                </a:solidFill>
                <a:latin typeface="Consolas" pitchFamily="34" charset="0"/>
                <a:ea typeface="Consolas" pitchFamily="34" charset="-122"/>
                <a:cs typeface="Consolas" pitchFamily="34" charset="-120"/>
              </a:rPr>
              <a:t>h1</a:t>
            </a:r>
            <a:pPr algn="l" indent="0" marL="0">
              <a:lnSpc>
                <a:spcPct val="115000"/>
              </a:lnSpc>
              <a:buNone/>
            </a:pPr>
            <a:r>
              <a:rPr lang="en-US" sz="22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200" dirty="0">
                <a:solidFill>
                  <a:srgbClr val="F4F6FB"/>
                </a:solidFill>
                <a:latin typeface="Consolas" pitchFamily="34" charset="0"/>
                <a:ea typeface="Consolas" pitchFamily="34" charset="-122"/>
                <a:cs typeface="Consolas" pitchFamily="34" charset="-120"/>
              </a:rPr>
              <a:t>Halo, Dunia!</a:t>
            </a:r>
            <a:pPr algn="l" indent="0" marL="0">
              <a:lnSpc>
                <a:spcPct val="115000"/>
              </a:lnSpc>
              <a:buNone/>
            </a:pPr>
            <a:r>
              <a:rPr lang="en-US" sz="22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2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200" dirty="0">
                <a:solidFill>
                  <a:srgbClr val="8DB4FF"/>
                </a:solidFill>
                <a:latin typeface="Consolas" pitchFamily="34" charset="0"/>
                <a:ea typeface="Consolas" pitchFamily="34" charset="-122"/>
                <a:cs typeface="Consolas" pitchFamily="34" charset="-120"/>
              </a:rPr>
              <a:t>h1</a:t>
            </a:r>
            <a:pPr algn="l" indent="0" marL="0">
              <a:lnSpc>
                <a:spcPct val="115000"/>
              </a:lnSpc>
              <a:buNone/>
            </a:pPr>
            <a:r>
              <a:rPr lang="en-US" sz="2200" dirty="0">
                <a:solidFill>
                  <a:srgbClr val="C9D3EE"/>
                </a:solidFill>
                <a:latin typeface="Consolas" pitchFamily="34" charset="0"/>
                <a:ea typeface="Consolas" pitchFamily="34" charset="-122"/>
                <a:cs typeface="Consolas" pitchFamily="34" charset="-120"/>
              </a:rPr>
              <a:t>&gt;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02</a:t>
            </a:r>
            <a:endParaRPr lang="en-US" sz="1000" dirty="0"/>
          </a:p>
        </p:txBody>
      </p:sp>
      <p:sp>
        <p:nvSpPr>
          <p:cNvPr id="4" name="Shape 2"/>
          <p:cNvSpPr/>
          <p:nvPr/>
        </p:nvSpPr>
        <p:spPr>
          <a:xfrm>
            <a:off x="731520" y="777240"/>
            <a:ext cx="3383280" cy="4754880"/>
          </a:xfrm>
          <a:prstGeom prst="roundRect">
            <a:avLst>
              <a:gd name="adj" fmla="val 5405"/>
            </a:avLst>
          </a:prstGeom>
          <a:solidFill>
            <a:srgbClr val="EEF3FF"/>
          </a:solidFill>
          <a:ln w="19050">
            <a:solidFill>
              <a:srgbClr val="1F4FD8"/>
            </a:solidFill>
            <a:prstDash val="dash"/>
          </a:ln>
        </p:spPr>
      </p:sp>
      <p:sp>
        <p:nvSpPr>
          <p:cNvPr id="5" name="Text 3"/>
          <p:cNvSpPr txBox="1"/>
          <p:nvPr/>
        </p:nvSpPr>
        <p:spPr>
          <a:xfrm>
            <a:off x="731520" y="777240"/>
            <a:ext cx="3383280" cy="4754880"/>
          </a:xfrm>
          <a:prstGeom prst="rect">
            <a:avLst/>
          </a:prstGeom>
          <a:noFill/>
          <a:ln/>
        </p:spPr>
        <p:txBody>
          <a:bodyPr wrap="square" lIns="0" tIns="0" rIns="0" bIns="0" rtlCol="0" anchor="ctr"/>
          <a:lstStyle/>
          <a:p>
            <a:pPr algn="ctr" indent="0" marL="0">
              <a:lnSpc>
                <a:spcPct val="150000"/>
              </a:lnSpc>
              <a:buNone/>
            </a:pPr>
            <a:r>
              <a:rPr lang="en-US" sz="1400" b="1" spc="150" kern="0" dirty="0">
                <a:solidFill>
                  <a:srgbClr val="1F4FD8"/>
                </a:solidFill>
                <a:latin typeface="Calibri" pitchFamily="34" charset="0"/>
                <a:ea typeface="Calibri" pitchFamily="34" charset="-122"/>
                <a:cs typeface="Calibri" pitchFamily="34" charset="-120"/>
              </a:rPr>
              <a:t>FOTO PEMATERI</a:t>
            </a:r>
            <a:endParaRPr lang="en-US" sz="1400" dirty="0"/>
          </a:p>
          <a:p>
            <a:pPr algn="ctr" indent="0" marL="0">
              <a:lnSpc>
                <a:spcPct val="150000"/>
              </a:lnSpc>
              <a:buNone/>
            </a:pPr>
            <a:r>
              <a:rPr lang="en-US" sz="1400" b="1" spc="150" kern="0" dirty="0">
                <a:solidFill>
                  <a:srgbClr val="1F4FD8"/>
                </a:solidFill>
                <a:latin typeface="Calibri" pitchFamily="34" charset="0"/>
                <a:ea typeface="Calibri" pitchFamily="34" charset="-122"/>
                <a:cs typeface="Calibri" pitchFamily="34" charset="-120"/>
              </a:rPr>
              <a:t>rasio 3:4</a:t>
            </a:r>
            <a:endParaRPr lang="en-US" sz="1400" dirty="0"/>
          </a:p>
        </p:txBody>
      </p:sp>
      <p:sp>
        <p:nvSpPr>
          <p:cNvPr id="6" name="Text 4"/>
          <p:cNvSpPr txBox="1"/>
          <p:nvPr/>
        </p:nvSpPr>
        <p:spPr>
          <a:xfrm>
            <a:off x="4754880" y="822960"/>
            <a:ext cx="5486400" cy="274320"/>
          </a:xfrm>
          <a:prstGeom prst="rect">
            <a:avLst/>
          </a:prstGeom>
          <a:noFill/>
          <a:ln/>
        </p:spPr>
        <p:txBody>
          <a:bodyPr wrap="square" lIns="0" tIns="0" rIns="0" bIns="0" rtlCol="0" anchor="t"/>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PERKENALAN</a:t>
            </a:r>
            <a:endParaRPr lang="en-US" sz="1200" dirty="0"/>
          </a:p>
        </p:txBody>
      </p:sp>
      <p:sp>
        <p:nvSpPr>
          <p:cNvPr id="7" name="Text 5"/>
          <p:cNvSpPr txBox="1"/>
          <p:nvPr/>
        </p:nvSpPr>
        <p:spPr>
          <a:xfrm>
            <a:off x="4754880" y="1188720"/>
            <a:ext cx="6675120" cy="1737360"/>
          </a:xfrm>
          <a:prstGeom prst="rect">
            <a:avLst/>
          </a:prstGeom>
          <a:noFill/>
          <a:ln/>
        </p:spPr>
        <p:txBody>
          <a:bodyPr wrap="square" lIns="0" tIns="0" rIns="0" bIns="0" rtlCol="0" anchor="t"/>
          <a:lstStyle/>
          <a:p>
            <a:pPr algn="l" indent="0" marL="0">
              <a:lnSpc>
                <a:spcPct val="105000"/>
              </a:lnSpc>
              <a:buNone/>
            </a:pPr>
            <a:r>
              <a:rPr lang="en-US" sz="4800" b="1" dirty="0">
                <a:solidFill>
                  <a:srgbClr val="0E1B3D"/>
                </a:solidFill>
                <a:latin typeface="Calibri" pitchFamily="34" charset="0"/>
                <a:ea typeface="Calibri" pitchFamily="34" charset="-122"/>
                <a:cs typeface="Calibri" pitchFamily="34" charset="-120"/>
              </a:rPr>
              <a:t>Halo, saya</a:t>
            </a:r>
            <a:endParaRPr lang="en-US" sz="4800" dirty="0"/>
          </a:p>
          <a:p>
            <a:pPr algn="l" indent="0" marL="0">
              <a:lnSpc>
                <a:spcPct val="105000"/>
              </a:lnSpc>
              <a:buNone/>
            </a:pPr>
            <a:r>
              <a:rPr lang="en-US" sz="4800" b="1" dirty="0">
                <a:solidFill>
                  <a:srgbClr val="1F4FD8"/>
                </a:solidFill>
                <a:latin typeface="Calibri" pitchFamily="34" charset="0"/>
                <a:ea typeface="Calibri" pitchFamily="34" charset="-122"/>
                <a:cs typeface="Calibri" pitchFamily="34" charset="-120"/>
              </a:rPr>
              <a:t>[Nama Pemateri]</a:t>
            </a:r>
            <a:endParaRPr lang="en-US" sz="4800" dirty="0"/>
          </a:p>
        </p:txBody>
      </p:sp>
      <p:sp>
        <p:nvSpPr>
          <p:cNvPr id="8" name="Text 6"/>
          <p:cNvSpPr txBox="1"/>
          <p:nvPr/>
        </p:nvSpPr>
        <p:spPr>
          <a:xfrm>
            <a:off x="4754880" y="2926080"/>
            <a:ext cx="6675120" cy="365760"/>
          </a:xfrm>
          <a:prstGeom prst="rect">
            <a:avLst/>
          </a:prstGeom>
          <a:noFill/>
          <a:ln/>
        </p:spPr>
        <p:txBody>
          <a:bodyPr wrap="square" lIns="0" tIns="0" rIns="0" bIns="0" rtlCol="0" anchor="t"/>
          <a:lstStyle/>
          <a:p>
            <a:pPr algn="l" indent="0" marL="0">
              <a:lnSpc>
                <a:spcPct val="115000"/>
              </a:lnSpc>
              <a:buNone/>
            </a:pPr>
            <a:r>
              <a:rPr lang="en-US" sz="2000" dirty="0">
                <a:solidFill>
                  <a:srgbClr val="5B6478"/>
                </a:solidFill>
                <a:latin typeface="Calibri" pitchFamily="34" charset="0"/>
                <a:ea typeface="Calibri" pitchFamily="34" charset="-122"/>
                <a:cs typeface="Calibri" pitchFamily="34" charset="-120"/>
              </a:rPr>
              <a:t>[Role]  ·  [Organisasi]</a:t>
            </a:r>
            <a:endParaRPr lang="en-US" sz="2000" dirty="0"/>
          </a:p>
        </p:txBody>
      </p:sp>
      <p:sp>
        <p:nvSpPr>
          <p:cNvPr id="9" name="Shape 7"/>
          <p:cNvSpPr/>
          <p:nvPr/>
        </p:nvSpPr>
        <p:spPr>
          <a:xfrm>
            <a:off x="4754880" y="3657600"/>
            <a:ext cx="6675120" cy="0"/>
          </a:xfrm>
          <a:prstGeom prst="line">
            <a:avLst/>
          </a:prstGeom>
          <a:noFill/>
          <a:ln w="12700">
            <a:solidFill>
              <a:srgbClr val="E3DFD6"/>
            </a:solidFill>
            <a:prstDash val="solid"/>
          </a:ln>
        </p:spPr>
      </p:sp>
      <p:sp>
        <p:nvSpPr>
          <p:cNvPr id="10" name="Text 8"/>
          <p:cNvSpPr txBox="1"/>
          <p:nvPr/>
        </p:nvSpPr>
        <p:spPr>
          <a:xfrm>
            <a:off x="4754880" y="3785616"/>
            <a:ext cx="3657600" cy="201168"/>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1F4FD8"/>
                </a:solidFill>
                <a:latin typeface="Calibri" pitchFamily="34" charset="0"/>
                <a:ea typeface="Calibri" pitchFamily="34" charset="-122"/>
                <a:cs typeface="Calibri" pitchFamily="34" charset="-120"/>
              </a:rPr>
              <a:t>CERITA SINGKAT</a:t>
            </a:r>
            <a:endParaRPr lang="en-US" sz="1100" dirty="0"/>
          </a:p>
        </p:txBody>
      </p:sp>
      <p:sp>
        <p:nvSpPr>
          <p:cNvPr id="11" name="Text 9"/>
          <p:cNvSpPr txBox="1"/>
          <p:nvPr/>
        </p:nvSpPr>
        <p:spPr>
          <a:xfrm>
            <a:off x="4754880" y="4023360"/>
            <a:ext cx="6675120" cy="365760"/>
          </a:xfrm>
          <a:prstGeom prst="rect">
            <a:avLst/>
          </a:prstGeom>
          <a:noFill/>
          <a:ln/>
        </p:spPr>
        <p:txBody>
          <a:bodyPr wrap="square" lIns="0" tIns="0" rIns="0" bIns="0" rtlCol="0" anchor="t"/>
          <a:lstStyle/>
          <a:p>
            <a:pPr algn="l" indent="0" marL="0">
              <a:lnSpc>
                <a:spcPct val="115000"/>
              </a:lnSpc>
              <a:buNone/>
            </a:pPr>
            <a:r>
              <a:rPr lang="en-US" sz="2000" dirty="0">
                <a:solidFill>
                  <a:srgbClr val="0E1B3D"/>
                </a:solidFill>
                <a:latin typeface="Calibri" pitchFamily="34" charset="0"/>
                <a:ea typeface="Calibri" pitchFamily="34" charset="-122"/>
                <a:cs typeface="Calibri" pitchFamily="34" charset="-120"/>
              </a:rPr>
              <a:t>[Kapan dan kenapa mulai ngoding]</a:t>
            </a:r>
            <a:endParaRPr lang="en-US" sz="2000" dirty="0"/>
          </a:p>
        </p:txBody>
      </p:sp>
      <p:sp>
        <p:nvSpPr>
          <p:cNvPr id="12" name="Shape 10"/>
          <p:cNvSpPr/>
          <p:nvPr/>
        </p:nvSpPr>
        <p:spPr>
          <a:xfrm>
            <a:off x="4754880" y="4526280"/>
            <a:ext cx="6675120" cy="0"/>
          </a:xfrm>
          <a:prstGeom prst="line">
            <a:avLst/>
          </a:prstGeom>
          <a:noFill/>
          <a:ln w="12700">
            <a:solidFill>
              <a:srgbClr val="E3DFD6"/>
            </a:solidFill>
            <a:prstDash val="solid"/>
          </a:ln>
        </p:spPr>
      </p:sp>
      <p:sp>
        <p:nvSpPr>
          <p:cNvPr id="13" name="Text 11"/>
          <p:cNvSpPr txBox="1"/>
          <p:nvPr/>
        </p:nvSpPr>
        <p:spPr>
          <a:xfrm>
            <a:off x="4754880" y="4654296"/>
            <a:ext cx="3657600" cy="201168"/>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1F4FD8"/>
                </a:solidFill>
                <a:latin typeface="Calibri" pitchFamily="34" charset="0"/>
                <a:ea typeface="Calibri" pitchFamily="34" charset="-122"/>
                <a:cs typeface="Calibri" pitchFamily="34" charset="-120"/>
              </a:rPr>
              <a:t>HARI INI</a:t>
            </a:r>
            <a:endParaRPr lang="en-US" sz="1100" dirty="0"/>
          </a:p>
        </p:txBody>
      </p:sp>
      <p:sp>
        <p:nvSpPr>
          <p:cNvPr id="14" name="Text 12"/>
          <p:cNvSpPr txBox="1"/>
          <p:nvPr/>
        </p:nvSpPr>
        <p:spPr>
          <a:xfrm>
            <a:off x="4754880" y="4892040"/>
            <a:ext cx="6675120" cy="365760"/>
          </a:xfrm>
          <a:prstGeom prst="rect">
            <a:avLst/>
          </a:prstGeom>
          <a:noFill/>
          <a:ln/>
        </p:spPr>
        <p:txBody>
          <a:bodyPr wrap="square" lIns="0" tIns="0" rIns="0" bIns="0" rtlCol="0" anchor="t"/>
          <a:lstStyle/>
          <a:p>
            <a:pPr algn="l" indent="0" marL="0">
              <a:lnSpc>
                <a:spcPct val="115000"/>
              </a:lnSpc>
              <a:buNone/>
            </a:pPr>
            <a:r>
              <a:rPr lang="en-US" sz="2000" dirty="0">
                <a:solidFill>
                  <a:srgbClr val="0E1B3D"/>
                </a:solidFill>
                <a:latin typeface="Calibri" pitchFamily="34" charset="0"/>
                <a:ea typeface="Calibri" pitchFamily="34" charset="-122"/>
                <a:cs typeface="Calibri" pitchFamily="34" charset="-120"/>
              </a:rPr>
              <a:t>Kita membuat website sendiri dari nol</a:t>
            </a:r>
            <a:endParaRPr lang="en-US" sz="2000" dirty="0"/>
          </a:p>
        </p:txBody>
      </p:sp>
      <p:sp>
        <p:nvSpPr>
          <p:cNvPr id="15" name="Shape 13"/>
          <p:cNvSpPr/>
          <p:nvPr/>
        </p:nvSpPr>
        <p:spPr>
          <a:xfrm>
            <a:off x="4754880" y="5394960"/>
            <a:ext cx="6675120" cy="0"/>
          </a:xfrm>
          <a:prstGeom prst="line">
            <a:avLst/>
          </a:prstGeom>
          <a:noFill/>
          <a:ln w="12700">
            <a:solidFill>
              <a:srgbClr val="E3DFD6"/>
            </a:solidFill>
            <a:prstDash val="solid"/>
          </a:ln>
        </p:spPr>
      </p:sp>
      <p:sp>
        <p:nvSpPr>
          <p:cNvPr id="16" name="Text 14"/>
          <p:cNvSpPr txBox="1"/>
          <p:nvPr/>
        </p:nvSpPr>
        <p:spPr>
          <a:xfrm>
            <a:off x="4754880" y="5522976"/>
            <a:ext cx="3657600" cy="201168"/>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1F4FD8"/>
                </a:solidFill>
                <a:latin typeface="Calibri" pitchFamily="34" charset="0"/>
                <a:ea typeface="Calibri" pitchFamily="34" charset="-122"/>
                <a:cs typeface="Calibri" pitchFamily="34" charset="-120"/>
              </a:rPr>
              <a:t>PESAN SAYA</a:t>
            </a:r>
            <a:endParaRPr lang="en-US" sz="1100" dirty="0"/>
          </a:p>
        </p:txBody>
      </p:sp>
      <p:sp>
        <p:nvSpPr>
          <p:cNvPr id="17" name="Text 15"/>
          <p:cNvSpPr txBox="1"/>
          <p:nvPr/>
        </p:nvSpPr>
        <p:spPr>
          <a:xfrm>
            <a:off x="4754880" y="5760720"/>
            <a:ext cx="6675120" cy="365760"/>
          </a:xfrm>
          <a:prstGeom prst="rect">
            <a:avLst/>
          </a:prstGeom>
          <a:noFill/>
          <a:ln/>
        </p:spPr>
        <p:txBody>
          <a:bodyPr wrap="square" lIns="0" tIns="0" rIns="0" bIns="0" rtlCol="0" anchor="t"/>
          <a:lstStyle/>
          <a:p>
            <a:pPr algn="l" indent="0" marL="0">
              <a:lnSpc>
                <a:spcPct val="115000"/>
              </a:lnSpc>
              <a:buNone/>
            </a:pPr>
            <a:r>
              <a:rPr lang="en-US" sz="2000" dirty="0">
                <a:solidFill>
                  <a:srgbClr val="0E1B3D"/>
                </a:solidFill>
                <a:latin typeface="Calibri" pitchFamily="34" charset="0"/>
                <a:ea typeface="Calibri" pitchFamily="34" charset="-122"/>
                <a:cs typeface="Calibri" pitchFamily="34" charset="-120"/>
              </a:rPr>
              <a:t>Tidak ada yang lahir langsung bisa coding</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03</a:t>
            </a:r>
            <a:endParaRPr lang="en-US" sz="1000" dirty="0"/>
          </a:p>
        </p:txBody>
      </p:sp>
      <p:sp>
        <p:nvSpPr>
          <p:cNvPr id="4" name="Text 2"/>
          <p:cNvSpPr txBox="1"/>
          <p:nvPr/>
        </p:nvSpPr>
        <p:spPr>
          <a:xfrm>
            <a:off x="731520" y="1143000"/>
            <a:ext cx="6035040" cy="3474720"/>
          </a:xfrm>
          <a:prstGeom prst="rect">
            <a:avLst/>
          </a:prstGeom>
          <a:noFill/>
          <a:ln/>
        </p:spPr>
        <p:txBody>
          <a:bodyPr wrap="square" lIns="0" tIns="0" rIns="0" bIns="0" rtlCol="0" anchor="t"/>
          <a:lstStyle/>
          <a:p>
            <a:pPr algn="l" indent="0" marL="0">
              <a:lnSpc>
                <a:spcPct val="104000"/>
              </a:lnSpc>
              <a:buNone/>
            </a:pPr>
            <a:r>
              <a:rPr lang="en-US" sz="5800" b="1" dirty="0">
                <a:solidFill>
                  <a:srgbClr val="0E1B3D"/>
                </a:solidFill>
                <a:latin typeface="Calibri" pitchFamily="34" charset="0"/>
                <a:ea typeface="Calibri" pitchFamily="34" charset="-122"/>
                <a:cs typeface="Calibri" pitchFamily="34" charset="-120"/>
              </a:rPr>
              <a:t>Jam 11.20,</a:t>
            </a:r>
            <a:endParaRPr lang="en-US" sz="5800" dirty="0"/>
          </a:p>
          <a:p>
            <a:pPr algn="l" indent="0" marL="0">
              <a:lnSpc>
                <a:spcPct val="104000"/>
              </a:lnSpc>
              <a:buNone/>
            </a:pPr>
            <a:r>
              <a:rPr lang="en-US" sz="5800" b="1" dirty="0">
                <a:solidFill>
                  <a:srgbClr val="0E1B3D"/>
                </a:solidFill>
                <a:latin typeface="Calibri" pitchFamily="34" charset="0"/>
                <a:ea typeface="Calibri" pitchFamily="34" charset="-122"/>
                <a:cs typeface="Calibri" pitchFamily="34" charset="-120"/>
              </a:rPr>
              <a:t>kamu punya</a:t>
            </a:r>
            <a:endParaRPr lang="en-US" sz="5800" dirty="0"/>
          </a:p>
          <a:p>
            <a:pPr algn="l" indent="0" marL="0">
              <a:lnSpc>
                <a:spcPct val="104000"/>
              </a:lnSpc>
              <a:buNone/>
            </a:pPr>
            <a:r>
              <a:rPr lang="en-US" sz="5800" b="1" dirty="0">
                <a:solidFill>
                  <a:srgbClr val="1F4FD8"/>
                </a:solidFill>
                <a:latin typeface="Calibri" pitchFamily="34" charset="0"/>
                <a:ea typeface="Calibri" pitchFamily="34" charset="-122"/>
                <a:cs typeface="Calibri" pitchFamily="34" charset="-120"/>
              </a:rPr>
              <a:t>website sendiri.</a:t>
            </a:r>
            <a:endParaRPr lang="en-US" sz="5800" dirty="0"/>
          </a:p>
        </p:txBody>
      </p:sp>
      <p:sp>
        <p:nvSpPr>
          <p:cNvPr id="5" name="Text 3"/>
          <p:cNvSpPr txBox="1"/>
          <p:nvPr/>
        </p:nvSpPr>
        <p:spPr>
          <a:xfrm>
            <a:off x="731520" y="4754880"/>
            <a:ext cx="5669280" cy="1097280"/>
          </a:xfrm>
          <a:prstGeom prst="rect">
            <a:avLst/>
          </a:prstGeom>
          <a:noFill/>
          <a:ln/>
        </p:spPr>
        <p:txBody>
          <a:bodyPr wrap="square" lIns="0" tIns="0" rIns="0" bIns="0" rtlCol="0" anchor="t"/>
          <a:lstStyle/>
          <a:p>
            <a:pPr algn="l" indent="0" marL="0">
              <a:lnSpc>
                <a:spcPct val="140000"/>
              </a:lnSpc>
              <a:buNone/>
            </a:pPr>
            <a:r>
              <a:rPr lang="en-US" sz="1900" dirty="0">
                <a:solidFill>
                  <a:srgbClr val="5B6478"/>
                </a:solidFill>
                <a:latin typeface="Calibri" pitchFamily="34" charset="0"/>
                <a:ea typeface="Calibri" pitchFamily="34" charset="-122"/>
                <a:cs typeface="Calibri" pitchFamily="34" charset="-120"/>
              </a:rPr>
              <a:t>Lengkap dengan link yang bisa kamu kirim ke teman, keluarga, bahkan guru.</a:t>
            </a:r>
            <a:endParaRPr lang="en-US" sz="1900" dirty="0"/>
          </a:p>
        </p:txBody>
      </p:sp>
      <p:sp>
        <p:nvSpPr>
          <p:cNvPr id="6" name="Shape 4"/>
          <p:cNvSpPr/>
          <p:nvPr/>
        </p:nvSpPr>
        <p:spPr>
          <a:xfrm>
            <a:off x="6949440" y="914400"/>
            <a:ext cx="4572000" cy="4343400"/>
          </a:xfrm>
          <a:prstGeom prst="roundRect">
            <a:avLst>
              <a:gd name="adj" fmla="val 3368"/>
            </a:avLst>
          </a:prstGeom>
          <a:solidFill>
            <a:srgbClr val="FFFFFF"/>
          </a:solidFill>
          <a:ln w="15875">
            <a:solidFill>
              <a:srgbClr val="D5DAE6"/>
            </a:solidFill>
            <a:prstDash val="solid"/>
          </a:ln>
          <a:effectLst>
            <a:outerShdw sx="100000" sy="100000" kx="0" ky="0" algn="bl" rotWithShape="0" blurRad="177800" dist="38100" dir="5400000">
              <a:srgbClr val="7A8299">
                <a:alpha val="18000"/>
              </a:srgbClr>
            </a:outerShdw>
          </a:effectLst>
        </p:spPr>
      </p:sp>
      <p:sp>
        <p:nvSpPr>
          <p:cNvPr id="7" name="Shape 5"/>
          <p:cNvSpPr/>
          <p:nvPr/>
        </p:nvSpPr>
        <p:spPr>
          <a:xfrm>
            <a:off x="6967728" y="932688"/>
            <a:ext cx="4535424" cy="384048"/>
          </a:xfrm>
          <a:prstGeom prst="roundRect">
            <a:avLst>
              <a:gd name="adj" fmla="val 33333"/>
            </a:avLst>
          </a:prstGeom>
          <a:solidFill>
            <a:srgbClr val="EEF1F7"/>
          </a:solidFill>
          <a:ln/>
        </p:spPr>
      </p:sp>
      <p:sp>
        <p:nvSpPr>
          <p:cNvPr id="8" name="Shape 6"/>
          <p:cNvSpPr/>
          <p:nvPr/>
        </p:nvSpPr>
        <p:spPr>
          <a:xfrm>
            <a:off x="6967728" y="1115568"/>
            <a:ext cx="4535424" cy="201168"/>
          </a:xfrm>
          <a:prstGeom prst="rect">
            <a:avLst/>
          </a:prstGeom>
          <a:solidFill>
            <a:srgbClr val="EEF1F7"/>
          </a:solidFill>
          <a:ln/>
        </p:spPr>
      </p:sp>
      <p:sp>
        <p:nvSpPr>
          <p:cNvPr id="9" name="Shape 7"/>
          <p:cNvSpPr/>
          <p:nvPr/>
        </p:nvSpPr>
        <p:spPr>
          <a:xfrm>
            <a:off x="7132320" y="1051560"/>
            <a:ext cx="100584" cy="100584"/>
          </a:xfrm>
          <a:prstGeom prst="ellipse">
            <a:avLst/>
          </a:prstGeom>
          <a:solidFill>
            <a:srgbClr val="E63946"/>
          </a:solidFill>
          <a:ln/>
        </p:spPr>
      </p:sp>
      <p:sp>
        <p:nvSpPr>
          <p:cNvPr id="10" name="Shape 8"/>
          <p:cNvSpPr/>
          <p:nvPr/>
        </p:nvSpPr>
        <p:spPr>
          <a:xfrm>
            <a:off x="7306056" y="1051560"/>
            <a:ext cx="100584" cy="100584"/>
          </a:xfrm>
          <a:prstGeom prst="ellipse">
            <a:avLst/>
          </a:prstGeom>
          <a:solidFill>
            <a:srgbClr val="FFC83D"/>
          </a:solidFill>
          <a:ln/>
        </p:spPr>
      </p:sp>
      <p:sp>
        <p:nvSpPr>
          <p:cNvPr id="11" name="Shape 9"/>
          <p:cNvSpPr/>
          <p:nvPr/>
        </p:nvSpPr>
        <p:spPr>
          <a:xfrm>
            <a:off x="7479792" y="1051560"/>
            <a:ext cx="100584" cy="100584"/>
          </a:xfrm>
          <a:prstGeom prst="ellipse">
            <a:avLst/>
          </a:prstGeom>
          <a:solidFill>
            <a:srgbClr val="1E9E68"/>
          </a:solidFill>
          <a:ln/>
        </p:spPr>
      </p:sp>
      <p:sp>
        <p:nvSpPr>
          <p:cNvPr id="12" name="Shape 10"/>
          <p:cNvSpPr/>
          <p:nvPr/>
        </p:nvSpPr>
        <p:spPr>
          <a:xfrm>
            <a:off x="7818120" y="996696"/>
            <a:ext cx="3474720" cy="237744"/>
          </a:xfrm>
          <a:prstGeom prst="roundRect">
            <a:avLst>
              <a:gd name="adj" fmla="val 50000"/>
            </a:avLst>
          </a:prstGeom>
          <a:solidFill>
            <a:srgbClr val="FFFFFF"/>
          </a:solidFill>
          <a:ln/>
        </p:spPr>
      </p:sp>
      <p:sp>
        <p:nvSpPr>
          <p:cNvPr id="13" name="Text 11"/>
          <p:cNvSpPr txBox="1"/>
          <p:nvPr/>
        </p:nvSpPr>
        <p:spPr>
          <a:xfrm>
            <a:off x="7955280" y="996696"/>
            <a:ext cx="32004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Calibri" pitchFamily="34" charset="0"/>
                <a:ea typeface="Calibri" pitchFamily="34" charset="-122"/>
                <a:cs typeface="Calibri" pitchFamily="34" charset="-120"/>
              </a:rPr>
              <a:t>alya-putri.netlify.app</a:t>
            </a:r>
            <a:endParaRPr lang="en-US" sz="1100" dirty="0"/>
          </a:p>
        </p:txBody>
      </p:sp>
      <p:sp>
        <p:nvSpPr>
          <p:cNvPr id="14" name="Shape 12"/>
          <p:cNvSpPr/>
          <p:nvPr/>
        </p:nvSpPr>
        <p:spPr>
          <a:xfrm>
            <a:off x="6967728" y="1316736"/>
            <a:ext cx="4535424" cy="3904488"/>
          </a:xfrm>
          <a:prstGeom prst="rect">
            <a:avLst/>
          </a:prstGeom>
          <a:solidFill>
            <a:srgbClr val="FAF8F4"/>
          </a:solidFill>
          <a:ln/>
        </p:spPr>
      </p:sp>
      <p:sp>
        <p:nvSpPr>
          <p:cNvPr id="15" name="Shape 13"/>
          <p:cNvSpPr/>
          <p:nvPr/>
        </p:nvSpPr>
        <p:spPr>
          <a:xfrm>
            <a:off x="6967728" y="1316736"/>
            <a:ext cx="4535424" cy="1314450"/>
          </a:xfrm>
          <a:prstGeom prst="rect">
            <a:avLst/>
          </a:prstGeom>
          <a:solidFill>
            <a:srgbClr val="0E1B3D"/>
          </a:solidFill>
          <a:ln/>
        </p:spPr>
      </p:sp>
      <p:sp>
        <p:nvSpPr>
          <p:cNvPr id="16" name="Text 14"/>
          <p:cNvSpPr txBox="1"/>
          <p:nvPr/>
        </p:nvSpPr>
        <p:spPr>
          <a:xfrm>
            <a:off x="7283196" y="1527048"/>
            <a:ext cx="3904488" cy="473202"/>
          </a:xfrm>
          <a:prstGeom prst="rect">
            <a:avLst/>
          </a:prstGeom>
          <a:noFill/>
          <a:ln/>
        </p:spPr>
        <p:txBody>
          <a:bodyPr wrap="square" lIns="0" tIns="0" rIns="0" bIns="0" rtlCol="0" anchor="t"/>
          <a:lstStyle/>
          <a:p>
            <a:pPr algn="l" indent="0" marL="0">
              <a:lnSpc>
                <a:spcPct val="115000"/>
              </a:lnSpc>
              <a:buNone/>
            </a:pPr>
            <a:r>
              <a:rPr lang="en-US" sz="2760" b="1" dirty="0">
                <a:solidFill>
                  <a:srgbClr val="FFFFFF"/>
                </a:solidFill>
                <a:latin typeface="Calibri" pitchFamily="34" charset="0"/>
                <a:ea typeface="Calibri" pitchFamily="34" charset="-122"/>
                <a:cs typeface="Calibri" pitchFamily="34" charset="-120"/>
              </a:rPr>
              <a:t>Alya Putri</a:t>
            </a:r>
            <a:endParaRPr lang="en-US" sz="2760" dirty="0"/>
          </a:p>
        </p:txBody>
      </p:sp>
      <p:sp>
        <p:nvSpPr>
          <p:cNvPr id="17" name="Text 15"/>
          <p:cNvSpPr txBox="1"/>
          <p:nvPr/>
        </p:nvSpPr>
        <p:spPr>
          <a:xfrm>
            <a:off x="7283196" y="1968703"/>
            <a:ext cx="3904488" cy="262890"/>
          </a:xfrm>
          <a:prstGeom prst="rect">
            <a:avLst/>
          </a:prstGeom>
          <a:noFill/>
          <a:ln/>
        </p:spPr>
        <p:txBody>
          <a:bodyPr wrap="square" lIns="0" tIns="0" rIns="0" bIns="0" rtlCol="0" anchor="t"/>
          <a:lstStyle/>
          <a:p>
            <a:pPr algn="l" indent="0" marL="0">
              <a:lnSpc>
                <a:spcPct val="115000"/>
              </a:lnSpc>
              <a:buNone/>
            </a:pPr>
            <a:r>
              <a:rPr lang="en-US" sz="1380" dirty="0">
                <a:solidFill>
                  <a:srgbClr val="FFC83D"/>
                </a:solidFill>
                <a:latin typeface="Calibri" pitchFamily="34" charset="0"/>
                <a:ea typeface="Calibri" pitchFamily="34" charset="-122"/>
                <a:cs typeface="Calibri" pitchFamily="34" charset="-120"/>
              </a:rPr>
              <a:t>Siswa SMA · Calon Web Developer</a:t>
            </a:r>
            <a:endParaRPr lang="en-US" sz="1380" dirty="0"/>
          </a:p>
        </p:txBody>
      </p:sp>
      <p:sp>
        <p:nvSpPr>
          <p:cNvPr id="18" name="Shape 16"/>
          <p:cNvSpPr/>
          <p:nvPr/>
        </p:nvSpPr>
        <p:spPr>
          <a:xfrm>
            <a:off x="7283196" y="2294687"/>
            <a:ext cx="893826" cy="252374"/>
          </a:xfrm>
          <a:prstGeom prst="roundRect">
            <a:avLst>
              <a:gd name="adj" fmla="val 50000"/>
            </a:avLst>
          </a:prstGeom>
          <a:solidFill>
            <a:srgbClr val="17285A"/>
          </a:solidFill>
          <a:ln/>
        </p:spPr>
      </p:sp>
      <p:sp>
        <p:nvSpPr>
          <p:cNvPr id="19" name="Text 17"/>
          <p:cNvSpPr txBox="1"/>
          <p:nvPr/>
        </p:nvSpPr>
        <p:spPr>
          <a:xfrm>
            <a:off x="7283196" y="2294687"/>
            <a:ext cx="893826" cy="252374"/>
          </a:xfrm>
          <a:prstGeom prst="rect">
            <a:avLst/>
          </a:prstGeom>
          <a:noFill/>
          <a:ln/>
        </p:spPr>
        <p:txBody>
          <a:bodyPr wrap="square" lIns="0" tIns="0" rIns="0" bIns="0" rtlCol="0" anchor="ctr"/>
          <a:lstStyle/>
          <a:p>
            <a:pPr algn="ctr" indent="0" marL="0">
              <a:lnSpc>
                <a:spcPct val="115000"/>
              </a:lnSpc>
              <a:buNone/>
            </a:pPr>
            <a:r>
              <a:rPr lang="en-US" sz="1150" b="1" dirty="0">
                <a:solidFill>
                  <a:srgbClr val="F4F6FB"/>
                </a:solidFill>
                <a:latin typeface="Calibri" pitchFamily="34" charset="0"/>
                <a:ea typeface="Calibri" pitchFamily="34" charset="-122"/>
                <a:cs typeface="Calibri" pitchFamily="34" charset="-120"/>
              </a:rPr>
              <a:t>Tentang</a:t>
            </a:r>
            <a:endParaRPr lang="en-US" sz="1150" dirty="0"/>
          </a:p>
        </p:txBody>
      </p:sp>
      <p:sp>
        <p:nvSpPr>
          <p:cNvPr id="20" name="Shape 18"/>
          <p:cNvSpPr/>
          <p:nvPr/>
        </p:nvSpPr>
        <p:spPr>
          <a:xfrm>
            <a:off x="8282178" y="2294687"/>
            <a:ext cx="893826" cy="252374"/>
          </a:xfrm>
          <a:prstGeom prst="roundRect">
            <a:avLst>
              <a:gd name="adj" fmla="val 50000"/>
            </a:avLst>
          </a:prstGeom>
          <a:solidFill>
            <a:srgbClr val="17285A"/>
          </a:solidFill>
          <a:ln/>
        </p:spPr>
      </p:sp>
      <p:sp>
        <p:nvSpPr>
          <p:cNvPr id="21" name="Text 19"/>
          <p:cNvSpPr txBox="1"/>
          <p:nvPr/>
        </p:nvSpPr>
        <p:spPr>
          <a:xfrm>
            <a:off x="8282178" y="2294687"/>
            <a:ext cx="893826" cy="252374"/>
          </a:xfrm>
          <a:prstGeom prst="rect">
            <a:avLst/>
          </a:prstGeom>
          <a:noFill/>
          <a:ln/>
        </p:spPr>
        <p:txBody>
          <a:bodyPr wrap="square" lIns="0" tIns="0" rIns="0" bIns="0" rtlCol="0" anchor="ctr"/>
          <a:lstStyle/>
          <a:p>
            <a:pPr algn="ctr" indent="0" marL="0">
              <a:lnSpc>
                <a:spcPct val="115000"/>
              </a:lnSpc>
              <a:buNone/>
            </a:pPr>
            <a:r>
              <a:rPr lang="en-US" sz="1150" b="1" dirty="0">
                <a:solidFill>
                  <a:srgbClr val="F4F6FB"/>
                </a:solidFill>
                <a:latin typeface="Calibri" pitchFamily="34" charset="0"/>
                <a:ea typeface="Calibri" pitchFamily="34" charset="-122"/>
                <a:cs typeface="Calibri" pitchFamily="34" charset="-120"/>
              </a:rPr>
              <a:t>Skill</a:t>
            </a:r>
            <a:endParaRPr lang="en-US" sz="1150" dirty="0"/>
          </a:p>
        </p:txBody>
      </p:sp>
      <p:sp>
        <p:nvSpPr>
          <p:cNvPr id="22" name="Shape 20"/>
          <p:cNvSpPr/>
          <p:nvPr/>
        </p:nvSpPr>
        <p:spPr>
          <a:xfrm>
            <a:off x="9281160" y="2294687"/>
            <a:ext cx="893826" cy="252374"/>
          </a:xfrm>
          <a:prstGeom prst="roundRect">
            <a:avLst>
              <a:gd name="adj" fmla="val 50000"/>
            </a:avLst>
          </a:prstGeom>
          <a:solidFill>
            <a:srgbClr val="17285A"/>
          </a:solidFill>
          <a:ln/>
        </p:spPr>
      </p:sp>
      <p:sp>
        <p:nvSpPr>
          <p:cNvPr id="23" name="Text 21"/>
          <p:cNvSpPr txBox="1"/>
          <p:nvPr/>
        </p:nvSpPr>
        <p:spPr>
          <a:xfrm>
            <a:off x="9281160" y="2294687"/>
            <a:ext cx="893826" cy="252374"/>
          </a:xfrm>
          <a:prstGeom prst="rect">
            <a:avLst/>
          </a:prstGeom>
          <a:noFill/>
          <a:ln/>
        </p:spPr>
        <p:txBody>
          <a:bodyPr wrap="square" lIns="0" tIns="0" rIns="0" bIns="0" rtlCol="0" anchor="ctr"/>
          <a:lstStyle/>
          <a:p>
            <a:pPr algn="ctr" indent="0" marL="0">
              <a:lnSpc>
                <a:spcPct val="115000"/>
              </a:lnSpc>
              <a:buNone/>
            </a:pPr>
            <a:r>
              <a:rPr lang="en-US" sz="1150" b="1" dirty="0">
                <a:solidFill>
                  <a:srgbClr val="F4F6FB"/>
                </a:solidFill>
                <a:latin typeface="Calibri" pitchFamily="34" charset="0"/>
                <a:ea typeface="Calibri" pitchFamily="34" charset="-122"/>
                <a:cs typeface="Calibri" pitchFamily="34" charset="-120"/>
              </a:rPr>
              <a:t>Project</a:t>
            </a:r>
            <a:endParaRPr lang="en-US" sz="1150" dirty="0"/>
          </a:p>
        </p:txBody>
      </p:sp>
      <p:sp>
        <p:nvSpPr>
          <p:cNvPr id="24" name="Shape 22"/>
          <p:cNvSpPr/>
          <p:nvPr/>
        </p:nvSpPr>
        <p:spPr>
          <a:xfrm>
            <a:off x="10280142" y="2294687"/>
            <a:ext cx="893826" cy="252374"/>
          </a:xfrm>
          <a:prstGeom prst="roundRect">
            <a:avLst>
              <a:gd name="adj" fmla="val 50000"/>
            </a:avLst>
          </a:prstGeom>
          <a:solidFill>
            <a:srgbClr val="17285A"/>
          </a:solidFill>
          <a:ln/>
        </p:spPr>
      </p:sp>
      <p:sp>
        <p:nvSpPr>
          <p:cNvPr id="25" name="Text 23"/>
          <p:cNvSpPr txBox="1"/>
          <p:nvPr/>
        </p:nvSpPr>
        <p:spPr>
          <a:xfrm>
            <a:off x="10280142" y="2294687"/>
            <a:ext cx="893826" cy="252374"/>
          </a:xfrm>
          <a:prstGeom prst="rect">
            <a:avLst/>
          </a:prstGeom>
          <a:noFill/>
          <a:ln/>
        </p:spPr>
        <p:txBody>
          <a:bodyPr wrap="square" lIns="0" tIns="0" rIns="0" bIns="0" rtlCol="0" anchor="ctr"/>
          <a:lstStyle/>
          <a:p>
            <a:pPr algn="ctr" indent="0" marL="0">
              <a:lnSpc>
                <a:spcPct val="115000"/>
              </a:lnSpc>
              <a:buNone/>
            </a:pPr>
            <a:r>
              <a:rPr lang="en-US" sz="1150" b="1" dirty="0">
                <a:solidFill>
                  <a:srgbClr val="F4F6FB"/>
                </a:solidFill>
                <a:latin typeface="Calibri" pitchFamily="34" charset="0"/>
                <a:ea typeface="Calibri" pitchFamily="34" charset="-122"/>
                <a:cs typeface="Calibri" pitchFamily="34" charset="-120"/>
              </a:rPr>
              <a:t>Kontak</a:t>
            </a:r>
            <a:endParaRPr lang="en-US" sz="1150" dirty="0"/>
          </a:p>
        </p:txBody>
      </p:sp>
      <p:sp>
        <p:nvSpPr>
          <p:cNvPr id="26" name="Shape 24"/>
          <p:cNvSpPr/>
          <p:nvPr/>
        </p:nvSpPr>
        <p:spPr>
          <a:xfrm>
            <a:off x="7283196" y="2946654"/>
            <a:ext cx="1794510" cy="1156716"/>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27" name="Text 25"/>
          <p:cNvSpPr txBox="1"/>
          <p:nvPr/>
        </p:nvSpPr>
        <p:spPr>
          <a:xfrm>
            <a:off x="7440930" y="3093872"/>
            <a:ext cx="1479042" cy="262890"/>
          </a:xfrm>
          <a:prstGeom prst="rect">
            <a:avLst/>
          </a:prstGeom>
          <a:noFill/>
          <a:ln/>
        </p:spPr>
        <p:txBody>
          <a:bodyPr wrap="square" lIns="0" tIns="0" rIns="0" bIns="0" rtlCol="0" anchor="t"/>
          <a:lstStyle/>
          <a:p>
            <a:pPr algn="l" indent="0" marL="0">
              <a:lnSpc>
                <a:spcPct val="115000"/>
              </a:lnSpc>
              <a:buNone/>
            </a:pPr>
            <a:r>
              <a:rPr lang="en-US" sz="1380" b="1" dirty="0">
                <a:solidFill>
                  <a:srgbClr val="0E1B3D"/>
                </a:solidFill>
                <a:latin typeface="Calibri" pitchFamily="34" charset="0"/>
                <a:ea typeface="Calibri" pitchFamily="34" charset="-122"/>
                <a:cs typeface="Calibri" pitchFamily="34" charset="-120"/>
              </a:rPr>
              <a:t>Profil Pribadi</a:t>
            </a:r>
            <a:endParaRPr lang="en-US" sz="1380" dirty="0"/>
          </a:p>
        </p:txBody>
      </p:sp>
      <p:sp>
        <p:nvSpPr>
          <p:cNvPr id="28" name="Shape 26"/>
          <p:cNvSpPr/>
          <p:nvPr/>
        </p:nvSpPr>
        <p:spPr>
          <a:xfrm>
            <a:off x="7440930" y="3472434"/>
            <a:ext cx="1479042" cy="73609"/>
          </a:xfrm>
          <a:prstGeom prst="rect">
            <a:avLst/>
          </a:prstGeom>
          <a:solidFill>
            <a:srgbClr val="E3DFD6"/>
          </a:solidFill>
          <a:ln/>
        </p:spPr>
      </p:sp>
      <p:sp>
        <p:nvSpPr>
          <p:cNvPr id="29" name="Shape 27"/>
          <p:cNvSpPr/>
          <p:nvPr/>
        </p:nvSpPr>
        <p:spPr>
          <a:xfrm>
            <a:off x="7440930" y="3661715"/>
            <a:ext cx="961377" cy="73609"/>
          </a:xfrm>
          <a:prstGeom prst="rect">
            <a:avLst/>
          </a:prstGeom>
          <a:solidFill>
            <a:srgbClr val="E3DFD6"/>
          </a:solidFill>
          <a:ln/>
        </p:spPr>
      </p:sp>
      <p:sp>
        <p:nvSpPr>
          <p:cNvPr id="30" name="Shape 28"/>
          <p:cNvSpPr/>
          <p:nvPr/>
        </p:nvSpPr>
        <p:spPr>
          <a:xfrm>
            <a:off x="9393174" y="2946654"/>
            <a:ext cx="1794510" cy="1156716"/>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31" name="Text 29"/>
          <p:cNvSpPr txBox="1"/>
          <p:nvPr/>
        </p:nvSpPr>
        <p:spPr>
          <a:xfrm>
            <a:off x="9550908" y="3093872"/>
            <a:ext cx="1479042" cy="262890"/>
          </a:xfrm>
          <a:prstGeom prst="rect">
            <a:avLst/>
          </a:prstGeom>
          <a:noFill/>
          <a:ln/>
        </p:spPr>
        <p:txBody>
          <a:bodyPr wrap="square" lIns="0" tIns="0" rIns="0" bIns="0" rtlCol="0" anchor="t"/>
          <a:lstStyle/>
          <a:p>
            <a:pPr algn="l" indent="0" marL="0">
              <a:lnSpc>
                <a:spcPct val="115000"/>
              </a:lnSpc>
              <a:buNone/>
            </a:pPr>
            <a:r>
              <a:rPr lang="en-US" sz="1380" b="1" dirty="0">
                <a:solidFill>
                  <a:srgbClr val="0E1B3D"/>
                </a:solidFill>
                <a:latin typeface="Calibri" pitchFamily="34" charset="0"/>
                <a:ea typeface="Calibri" pitchFamily="34" charset="-122"/>
                <a:cs typeface="Calibri" pitchFamily="34" charset="-120"/>
              </a:rPr>
              <a:t>Cuaca Hari Ini</a:t>
            </a:r>
            <a:endParaRPr lang="en-US" sz="1380" dirty="0"/>
          </a:p>
        </p:txBody>
      </p:sp>
      <p:sp>
        <p:nvSpPr>
          <p:cNvPr id="32" name="Shape 30"/>
          <p:cNvSpPr/>
          <p:nvPr/>
        </p:nvSpPr>
        <p:spPr>
          <a:xfrm>
            <a:off x="9550908" y="3472434"/>
            <a:ext cx="1479042" cy="73609"/>
          </a:xfrm>
          <a:prstGeom prst="rect">
            <a:avLst/>
          </a:prstGeom>
          <a:solidFill>
            <a:srgbClr val="E3DFD6"/>
          </a:solidFill>
          <a:ln/>
        </p:spPr>
      </p:sp>
      <p:sp>
        <p:nvSpPr>
          <p:cNvPr id="33" name="Shape 31"/>
          <p:cNvSpPr/>
          <p:nvPr/>
        </p:nvSpPr>
        <p:spPr>
          <a:xfrm>
            <a:off x="9550908" y="3661715"/>
            <a:ext cx="961377" cy="73609"/>
          </a:xfrm>
          <a:prstGeom prst="rect">
            <a:avLst/>
          </a:prstGeom>
          <a:solidFill>
            <a:srgbClr val="E3DFD6"/>
          </a:solidFill>
          <a:ln/>
        </p:spPr>
      </p:sp>
      <p:sp>
        <p:nvSpPr>
          <p:cNvPr id="34" name="Shape 32"/>
          <p:cNvSpPr/>
          <p:nvPr/>
        </p:nvSpPr>
        <p:spPr>
          <a:xfrm>
            <a:off x="7283196" y="4418838"/>
            <a:ext cx="788670" cy="273406"/>
          </a:xfrm>
          <a:prstGeom prst="roundRect">
            <a:avLst>
              <a:gd name="adj" fmla="val 50000"/>
            </a:avLst>
          </a:prstGeom>
          <a:solidFill>
            <a:srgbClr val="DCE6FF"/>
          </a:solidFill>
          <a:ln/>
        </p:spPr>
      </p:sp>
      <p:sp>
        <p:nvSpPr>
          <p:cNvPr id="35" name="Text 33"/>
          <p:cNvSpPr txBox="1"/>
          <p:nvPr/>
        </p:nvSpPr>
        <p:spPr>
          <a:xfrm>
            <a:off x="7283196" y="4418838"/>
            <a:ext cx="788670" cy="273406"/>
          </a:xfrm>
          <a:prstGeom prst="rect">
            <a:avLst/>
          </a:prstGeom>
          <a:noFill/>
          <a:ln/>
        </p:spPr>
        <p:txBody>
          <a:bodyPr wrap="square" lIns="0" tIns="0" rIns="0" bIns="0" rtlCol="0" anchor="ctr"/>
          <a:lstStyle/>
          <a:p>
            <a:pPr algn="ctr" indent="0" marL="0">
              <a:lnSpc>
                <a:spcPct val="115000"/>
              </a:lnSpc>
              <a:buNone/>
            </a:pPr>
            <a:r>
              <a:rPr lang="en-US" sz="1150" b="1" dirty="0">
                <a:solidFill>
                  <a:srgbClr val="1F4FD8"/>
                </a:solidFill>
                <a:latin typeface="Calibri" pitchFamily="34" charset="0"/>
                <a:ea typeface="Calibri" pitchFamily="34" charset="-122"/>
                <a:cs typeface="Calibri" pitchFamily="34" charset="-120"/>
              </a:rPr>
              <a:t>HTML</a:t>
            </a:r>
            <a:endParaRPr lang="en-US" sz="1150" dirty="0"/>
          </a:p>
        </p:txBody>
      </p:sp>
      <p:sp>
        <p:nvSpPr>
          <p:cNvPr id="36" name="Shape 34"/>
          <p:cNvSpPr/>
          <p:nvPr/>
        </p:nvSpPr>
        <p:spPr>
          <a:xfrm>
            <a:off x="8177022" y="4418838"/>
            <a:ext cx="788670" cy="273406"/>
          </a:xfrm>
          <a:prstGeom prst="roundRect">
            <a:avLst>
              <a:gd name="adj" fmla="val 50000"/>
            </a:avLst>
          </a:prstGeom>
          <a:solidFill>
            <a:srgbClr val="DCE6FF"/>
          </a:solidFill>
          <a:ln/>
        </p:spPr>
      </p:sp>
      <p:sp>
        <p:nvSpPr>
          <p:cNvPr id="37" name="Text 35"/>
          <p:cNvSpPr txBox="1"/>
          <p:nvPr/>
        </p:nvSpPr>
        <p:spPr>
          <a:xfrm>
            <a:off x="8177022" y="4418838"/>
            <a:ext cx="788670" cy="273406"/>
          </a:xfrm>
          <a:prstGeom prst="rect">
            <a:avLst/>
          </a:prstGeom>
          <a:noFill/>
          <a:ln/>
        </p:spPr>
        <p:txBody>
          <a:bodyPr wrap="square" lIns="0" tIns="0" rIns="0" bIns="0" rtlCol="0" anchor="ctr"/>
          <a:lstStyle/>
          <a:p>
            <a:pPr algn="ctr" indent="0" marL="0">
              <a:lnSpc>
                <a:spcPct val="115000"/>
              </a:lnSpc>
              <a:buNone/>
            </a:pPr>
            <a:r>
              <a:rPr lang="en-US" sz="1150" b="1" dirty="0">
                <a:solidFill>
                  <a:srgbClr val="1F4FD8"/>
                </a:solidFill>
                <a:latin typeface="Calibri" pitchFamily="34" charset="0"/>
                <a:ea typeface="Calibri" pitchFamily="34" charset="-122"/>
                <a:cs typeface="Calibri" pitchFamily="34" charset="-120"/>
              </a:rPr>
              <a:t>CSS</a:t>
            </a:r>
            <a:endParaRPr lang="en-US" sz="1150" dirty="0"/>
          </a:p>
        </p:txBody>
      </p:sp>
      <p:sp>
        <p:nvSpPr>
          <p:cNvPr id="38" name="Shape 36"/>
          <p:cNvSpPr/>
          <p:nvPr/>
        </p:nvSpPr>
        <p:spPr>
          <a:xfrm>
            <a:off x="9070848" y="4418838"/>
            <a:ext cx="788670" cy="273406"/>
          </a:xfrm>
          <a:prstGeom prst="roundRect">
            <a:avLst>
              <a:gd name="adj" fmla="val 50000"/>
            </a:avLst>
          </a:prstGeom>
          <a:solidFill>
            <a:srgbClr val="DCE6FF"/>
          </a:solidFill>
          <a:ln/>
        </p:spPr>
      </p:sp>
      <p:sp>
        <p:nvSpPr>
          <p:cNvPr id="39" name="Text 37"/>
          <p:cNvSpPr txBox="1"/>
          <p:nvPr/>
        </p:nvSpPr>
        <p:spPr>
          <a:xfrm>
            <a:off x="9070848" y="4418838"/>
            <a:ext cx="788670" cy="273406"/>
          </a:xfrm>
          <a:prstGeom prst="rect">
            <a:avLst/>
          </a:prstGeom>
          <a:noFill/>
          <a:ln/>
        </p:spPr>
        <p:txBody>
          <a:bodyPr wrap="square" lIns="0" tIns="0" rIns="0" bIns="0" rtlCol="0" anchor="ctr"/>
          <a:lstStyle/>
          <a:p>
            <a:pPr algn="ctr" indent="0" marL="0">
              <a:lnSpc>
                <a:spcPct val="115000"/>
              </a:lnSpc>
              <a:buNone/>
            </a:pPr>
            <a:r>
              <a:rPr lang="en-US" sz="1150" b="1" dirty="0">
                <a:solidFill>
                  <a:srgbClr val="1F4FD8"/>
                </a:solidFill>
                <a:latin typeface="Calibri" pitchFamily="34" charset="0"/>
                <a:ea typeface="Calibri" pitchFamily="34" charset="-122"/>
                <a:cs typeface="Calibri" pitchFamily="34" charset="-120"/>
              </a:rPr>
              <a:t>Git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04</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PETA PERJALANAN</a:t>
            </a:r>
            <a:endParaRPr lang="en-US" sz="1200" dirty="0"/>
          </a:p>
        </p:txBody>
      </p:sp>
      <p:sp>
        <p:nvSpPr>
          <p:cNvPr id="5" name="Text 3"/>
          <p:cNvSpPr txBox="1"/>
          <p:nvPr/>
        </p:nvSpPr>
        <p:spPr>
          <a:xfrm>
            <a:off x="731520" y="804672"/>
            <a:ext cx="10698480" cy="100584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Empat langkah menuju website pertamamu</a:t>
            </a:r>
            <a:endParaRPr lang="en-US" sz="3800" dirty="0"/>
          </a:p>
        </p:txBody>
      </p:sp>
      <p:sp>
        <p:nvSpPr>
          <p:cNvPr id="6" name="Text 4"/>
          <p:cNvSpPr txBox="1"/>
          <p:nvPr/>
        </p:nvSpPr>
        <p:spPr>
          <a:xfrm>
            <a:off x="731520" y="2240280"/>
            <a:ext cx="2377440" cy="868680"/>
          </a:xfrm>
          <a:prstGeom prst="rect">
            <a:avLst/>
          </a:prstGeom>
          <a:noFill/>
          <a:ln/>
        </p:spPr>
        <p:txBody>
          <a:bodyPr wrap="none" lIns="0" tIns="0" rIns="0" bIns="0" rtlCol="0" anchor="t"/>
          <a:lstStyle/>
          <a:p>
            <a:pPr algn="l" indent="0" marL="0">
              <a:lnSpc>
                <a:spcPct val="115000"/>
              </a:lnSpc>
              <a:buNone/>
            </a:pPr>
            <a:r>
              <a:rPr lang="en-US" sz="6000" b="1" dirty="0">
                <a:solidFill>
                  <a:srgbClr val="1F4FD8"/>
                </a:solidFill>
                <a:latin typeface="Calibri" pitchFamily="34" charset="0"/>
                <a:ea typeface="Calibri" pitchFamily="34" charset="-122"/>
                <a:cs typeface="Calibri" pitchFamily="34" charset="-120"/>
              </a:rPr>
              <a:t>01</a:t>
            </a:r>
            <a:endParaRPr lang="en-US" sz="6000" dirty="0"/>
          </a:p>
        </p:txBody>
      </p:sp>
      <p:sp>
        <p:nvSpPr>
          <p:cNvPr id="7" name="Shape 5"/>
          <p:cNvSpPr/>
          <p:nvPr/>
        </p:nvSpPr>
        <p:spPr>
          <a:xfrm>
            <a:off x="731520" y="3246120"/>
            <a:ext cx="2377440" cy="0"/>
          </a:xfrm>
          <a:prstGeom prst="line">
            <a:avLst/>
          </a:prstGeom>
          <a:noFill/>
          <a:ln w="19050">
            <a:solidFill>
              <a:srgbClr val="0E1B3D"/>
            </a:solidFill>
            <a:prstDash val="solid"/>
          </a:ln>
        </p:spPr>
      </p:sp>
      <p:sp>
        <p:nvSpPr>
          <p:cNvPr id="8" name="Text 6"/>
          <p:cNvSpPr txBox="1"/>
          <p:nvPr/>
        </p:nvSpPr>
        <p:spPr>
          <a:xfrm>
            <a:off x="731520" y="3429000"/>
            <a:ext cx="2468880" cy="640080"/>
          </a:xfrm>
          <a:prstGeom prst="rect">
            <a:avLst/>
          </a:prstGeom>
          <a:noFill/>
          <a:ln/>
        </p:spPr>
        <p:txBody>
          <a:bodyPr wrap="square" lIns="0" tIns="0" rIns="0" bIns="0" rtlCol="0" anchor="t"/>
          <a:lstStyle/>
          <a:p>
            <a:pPr algn="l" indent="0" marL="0">
              <a:lnSpc>
                <a:spcPct val="110000"/>
              </a:lnSpc>
              <a:buNone/>
            </a:pPr>
            <a:r>
              <a:rPr lang="en-US" sz="2200" b="1" dirty="0">
                <a:solidFill>
                  <a:srgbClr val="0E1B3D"/>
                </a:solidFill>
                <a:latin typeface="Calibri" pitchFamily="34" charset="0"/>
                <a:ea typeface="Calibri" pitchFamily="34" charset="-122"/>
                <a:cs typeface="Calibri" pitchFamily="34" charset="-120"/>
              </a:rPr>
              <a:t>Dasar Web</a:t>
            </a:r>
            <a:endParaRPr lang="en-US" sz="2200" dirty="0"/>
          </a:p>
        </p:txBody>
      </p:sp>
      <p:sp>
        <p:nvSpPr>
          <p:cNvPr id="9" name="Text 7"/>
          <p:cNvSpPr txBox="1"/>
          <p:nvPr/>
        </p:nvSpPr>
        <p:spPr>
          <a:xfrm>
            <a:off x="731520" y="4114800"/>
            <a:ext cx="2377440" cy="100584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Calibri" pitchFamily="34" charset="0"/>
                <a:ea typeface="Calibri" pitchFamily="34" charset="-122"/>
                <a:cs typeface="Calibri" pitchFamily="34" charset="-120"/>
              </a:rPr>
              <a:t>Cara kerja website dan alat yang dipakai</a:t>
            </a:r>
            <a:endParaRPr lang="en-US" sz="1600" dirty="0"/>
          </a:p>
        </p:txBody>
      </p:sp>
      <p:sp>
        <p:nvSpPr>
          <p:cNvPr id="10" name="Shape 8"/>
          <p:cNvSpPr/>
          <p:nvPr/>
        </p:nvSpPr>
        <p:spPr>
          <a:xfrm>
            <a:off x="731520" y="5257800"/>
            <a:ext cx="1737360" cy="347472"/>
          </a:xfrm>
          <a:prstGeom prst="roundRect">
            <a:avLst>
              <a:gd name="adj" fmla="val 50000"/>
            </a:avLst>
          </a:prstGeom>
          <a:ln w="15875">
            <a:solidFill>
              <a:srgbClr val="E3DFD6"/>
            </a:solidFill>
            <a:prstDash val="solid"/>
          </a:ln>
        </p:spPr>
      </p:sp>
      <p:sp>
        <p:nvSpPr>
          <p:cNvPr id="11" name="Text 9"/>
          <p:cNvSpPr txBox="1"/>
          <p:nvPr/>
        </p:nvSpPr>
        <p:spPr>
          <a:xfrm>
            <a:off x="731520" y="525780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5B6478"/>
                </a:solidFill>
                <a:latin typeface="Calibri" pitchFamily="34" charset="0"/>
                <a:ea typeface="Calibri" pitchFamily="34" charset="-122"/>
                <a:cs typeface="Calibri" pitchFamily="34" charset="-120"/>
              </a:rPr>
              <a:t>07.50 – 08.20</a:t>
            </a:r>
            <a:endParaRPr lang="en-US" sz="1200" dirty="0"/>
          </a:p>
        </p:txBody>
      </p:sp>
      <p:sp>
        <p:nvSpPr>
          <p:cNvPr id="12" name="Text 10"/>
          <p:cNvSpPr txBox="1"/>
          <p:nvPr/>
        </p:nvSpPr>
        <p:spPr>
          <a:xfrm>
            <a:off x="3410712" y="2240280"/>
            <a:ext cx="2377440" cy="868680"/>
          </a:xfrm>
          <a:prstGeom prst="rect">
            <a:avLst/>
          </a:prstGeom>
          <a:noFill/>
          <a:ln/>
        </p:spPr>
        <p:txBody>
          <a:bodyPr wrap="none" lIns="0" tIns="0" rIns="0" bIns="0" rtlCol="0" anchor="t"/>
          <a:lstStyle/>
          <a:p>
            <a:pPr algn="l" indent="0" marL="0">
              <a:lnSpc>
                <a:spcPct val="115000"/>
              </a:lnSpc>
              <a:buNone/>
            </a:pPr>
            <a:r>
              <a:rPr lang="en-US" sz="6000" b="1" dirty="0">
                <a:solidFill>
                  <a:srgbClr val="1F4FD8"/>
                </a:solidFill>
                <a:latin typeface="Calibri" pitchFamily="34" charset="0"/>
                <a:ea typeface="Calibri" pitchFamily="34" charset="-122"/>
                <a:cs typeface="Calibri" pitchFamily="34" charset="-120"/>
              </a:rPr>
              <a:t>02</a:t>
            </a:r>
            <a:endParaRPr lang="en-US" sz="6000" dirty="0"/>
          </a:p>
        </p:txBody>
      </p:sp>
      <p:sp>
        <p:nvSpPr>
          <p:cNvPr id="13" name="Shape 11"/>
          <p:cNvSpPr/>
          <p:nvPr/>
        </p:nvSpPr>
        <p:spPr>
          <a:xfrm>
            <a:off x="3410712" y="3246120"/>
            <a:ext cx="2377440" cy="0"/>
          </a:xfrm>
          <a:prstGeom prst="line">
            <a:avLst/>
          </a:prstGeom>
          <a:noFill/>
          <a:ln w="19050">
            <a:solidFill>
              <a:srgbClr val="0E1B3D"/>
            </a:solidFill>
            <a:prstDash val="solid"/>
          </a:ln>
        </p:spPr>
      </p:sp>
      <p:sp>
        <p:nvSpPr>
          <p:cNvPr id="14" name="Text 12"/>
          <p:cNvSpPr txBox="1"/>
          <p:nvPr/>
        </p:nvSpPr>
        <p:spPr>
          <a:xfrm>
            <a:off x="3410712" y="3429000"/>
            <a:ext cx="2468880" cy="640080"/>
          </a:xfrm>
          <a:prstGeom prst="rect">
            <a:avLst/>
          </a:prstGeom>
          <a:noFill/>
          <a:ln/>
        </p:spPr>
        <p:txBody>
          <a:bodyPr wrap="square" lIns="0" tIns="0" rIns="0" bIns="0" rtlCol="0" anchor="t"/>
          <a:lstStyle/>
          <a:p>
            <a:pPr algn="l" indent="0" marL="0">
              <a:lnSpc>
                <a:spcPct val="110000"/>
              </a:lnSpc>
              <a:buNone/>
            </a:pPr>
            <a:r>
              <a:rPr lang="en-US" sz="2200" b="1" dirty="0">
                <a:solidFill>
                  <a:srgbClr val="0E1B3D"/>
                </a:solidFill>
                <a:latin typeface="Calibri" pitchFamily="34" charset="0"/>
                <a:ea typeface="Calibri" pitchFamily="34" charset="-122"/>
                <a:cs typeface="Calibri" pitchFamily="34" charset="-120"/>
              </a:rPr>
              <a:t>HTML</a:t>
            </a:r>
            <a:endParaRPr lang="en-US" sz="2200" dirty="0"/>
          </a:p>
        </p:txBody>
      </p:sp>
      <p:sp>
        <p:nvSpPr>
          <p:cNvPr id="15" name="Text 13"/>
          <p:cNvSpPr txBox="1"/>
          <p:nvPr/>
        </p:nvSpPr>
        <p:spPr>
          <a:xfrm>
            <a:off x="3410712" y="4114800"/>
            <a:ext cx="2377440" cy="100584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Calibri" pitchFamily="34" charset="0"/>
                <a:ea typeface="Calibri" pitchFamily="34" charset="-122"/>
                <a:cs typeface="Calibri" pitchFamily="34" charset="-120"/>
              </a:rPr>
              <a:t>Kerangka halaman: teks, gambar, link, struktur</a:t>
            </a:r>
            <a:endParaRPr lang="en-US" sz="1600" dirty="0"/>
          </a:p>
        </p:txBody>
      </p:sp>
      <p:sp>
        <p:nvSpPr>
          <p:cNvPr id="16" name="Shape 14"/>
          <p:cNvSpPr/>
          <p:nvPr/>
        </p:nvSpPr>
        <p:spPr>
          <a:xfrm>
            <a:off x="3410712" y="5257800"/>
            <a:ext cx="1737360" cy="347472"/>
          </a:xfrm>
          <a:prstGeom prst="roundRect">
            <a:avLst>
              <a:gd name="adj" fmla="val 50000"/>
            </a:avLst>
          </a:prstGeom>
          <a:ln w="15875">
            <a:solidFill>
              <a:srgbClr val="E3DFD6"/>
            </a:solidFill>
            <a:prstDash val="solid"/>
          </a:ln>
        </p:spPr>
      </p:sp>
      <p:sp>
        <p:nvSpPr>
          <p:cNvPr id="17" name="Text 15"/>
          <p:cNvSpPr txBox="1"/>
          <p:nvPr/>
        </p:nvSpPr>
        <p:spPr>
          <a:xfrm>
            <a:off x="3410712" y="525780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5B6478"/>
                </a:solidFill>
                <a:latin typeface="Calibri" pitchFamily="34" charset="0"/>
                <a:ea typeface="Calibri" pitchFamily="34" charset="-122"/>
                <a:cs typeface="Calibri" pitchFamily="34" charset="-120"/>
              </a:rPr>
              <a:t>08.20 – 09.20</a:t>
            </a:r>
            <a:endParaRPr lang="en-US" sz="1200" dirty="0"/>
          </a:p>
        </p:txBody>
      </p:sp>
      <p:sp>
        <p:nvSpPr>
          <p:cNvPr id="18" name="Text 16"/>
          <p:cNvSpPr txBox="1"/>
          <p:nvPr/>
        </p:nvSpPr>
        <p:spPr>
          <a:xfrm>
            <a:off x="6089904" y="2240280"/>
            <a:ext cx="2377440" cy="868680"/>
          </a:xfrm>
          <a:prstGeom prst="rect">
            <a:avLst/>
          </a:prstGeom>
          <a:noFill/>
          <a:ln/>
        </p:spPr>
        <p:txBody>
          <a:bodyPr wrap="none" lIns="0" tIns="0" rIns="0" bIns="0" rtlCol="0" anchor="t"/>
          <a:lstStyle/>
          <a:p>
            <a:pPr algn="l" indent="0" marL="0">
              <a:lnSpc>
                <a:spcPct val="115000"/>
              </a:lnSpc>
              <a:buNone/>
            </a:pPr>
            <a:r>
              <a:rPr lang="en-US" sz="6000" b="1" dirty="0">
                <a:solidFill>
                  <a:srgbClr val="1F4FD8"/>
                </a:solidFill>
                <a:latin typeface="Calibri" pitchFamily="34" charset="0"/>
                <a:ea typeface="Calibri" pitchFamily="34" charset="-122"/>
                <a:cs typeface="Calibri" pitchFamily="34" charset="-120"/>
              </a:rPr>
              <a:t>03</a:t>
            </a:r>
            <a:endParaRPr lang="en-US" sz="6000" dirty="0"/>
          </a:p>
        </p:txBody>
      </p:sp>
      <p:sp>
        <p:nvSpPr>
          <p:cNvPr id="19" name="Shape 17"/>
          <p:cNvSpPr/>
          <p:nvPr/>
        </p:nvSpPr>
        <p:spPr>
          <a:xfrm>
            <a:off x="6089904" y="3246120"/>
            <a:ext cx="2377440" cy="0"/>
          </a:xfrm>
          <a:prstGeom prst="line">
            <a:avLst/>
          </a:prstGeom>
          <a:noFill/>
          <a:ln w="19050">
            <a:solidFill>
              <a:srgbClr val="0E1B3D"/>
            </a:solidFill>
            <a:prstDash val="solid"/>
          </a:ln>
        </p:spPr>
      </p:sp>
      <p:sp>
        <p:nvSpPr>
          <p:cNvPr id="20" name="Text 18"/>
          <p:cNvSpPr txBox="1"/>
          <p:nvPr/>
        </p:nvSpPr>
        <p:spPr>
          <a:xfrm>
            <a:off x="6089904" y="3429000"/>
            <a:ext cx="2468880" cy="640080"/>
          </a:xfrm>
          <a:prstGeom prst="rect">
            <a:avLst/>
          </a:prstGeom>
          <a:noFill/>
          <a:ln/>
        </p:spPr>
        <p:txBody>
          <a:bodyPr wrap="square" lIns="0" tIns="0" rIns="0" bIns="0" rtlCol="0" anchor="t"/>
          <a:lstStyle/>
          <a:p>
            <a:pPr algn="l" indent="0" marL="0">
              <a:lnSpc>
                <a:spcPct val="110000"/>
              </a:lnSpc>
              <a:buNone/>
            </a:pPr>
            <a:r>
              <a:rPr lang="en-US" sz="2200" b="1" dirty="0">
                <a:solidFill>
                  <a:srgbClr val="0E1B3D"/>
                </a:solidFill>
                <a:latin typeface="Calibri" pitchFamily="34" charset="0"/>
                <a:ea typeface="Calibri" pitchFamily="34" charset="-122"/>
                <a:cs typeface="Calibri" pitchFamily="34" charset="-120"/>
              </a:rPr>
              <a:t>CSS</a:t>
            </a:r>
            <a:endParaRPr lang="en-US" sz="2200" dirty="0"/>
          </a:p>
        </p:txBody>
      </p:sp>
      <p:sp>
        <p:nvSpPr>
          <p:cNvPr id="21" name="Text 19"/>
          <p:cNvSpPr txBox="1"/>
          <p:nvPr/>
        </p:nvSpPr>
        <p:spPr>
          <a:xfrm>
            <a:off x="6089904" y="4114800"/>
            <a:ext cx="2377440" cy="100584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Calibri" pitchFamily="34" charset="0"/>
                <a:ea typeface="Calibri" pitchFamily="34" charset="-122"/>
                <a:cs typeface="Calibri" pitchFamily="34" charset="-120"/>
              </a:rPr>
              <a:t>Warna, font, layout, dan rapi di layar HP</a:t>
            </a:r>
            <a:endParaRPr lang="en-US" sz="1600" dirty="0"/>
          </a:p>
        </p:txBody>
      </p:sp>
      <p:sp>
        <p:nvSpPr>
          <p:cNvPr id="22" name="Shape 20"/>
          <p:cNvSpPr/>
          <p:nvPr/>
        </p:nvSpPr>
        <p:spPr>
          <a:xfrm>
            <a:off x="6089904" y="5257800"/>
            <a:ext cx="1737360" cy="347472"/>
          </a:xfrm>
          <a:prstGeom prst="roundRect">
            <a:avLst>
              <a:gd name="adj" fmla="val 50000"/>
            </a:avLst>
          </a:prstGeom>
          <a:ln w="15875">
            <a:solidFill>
              <a:srgbClr val="E3DFD6"/>
            </a:solidFill>
            <a:prstDash val="solid"/>
          </a:ln>
        </p:spPr>
      </p:sp>
      <p:sp>
        <p:nvSpPr>
          <p:cNvPr id="23" name="Text 21"/>
          <p:cNvSpPr txBox="1"/>
          <p:nvPr/>
        </p:nvSpPr>
        <p:spPr>
          <a:xfrm>
            <a:off x="6089904" y="525780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5B6478"/>
                </a:solidFill>
                <a:latin typeface="Calibri" pitchFamily="34" charset="0"/>
                <a:ea typeface="Calibri" pitchFamily="34" charset="-122"/>
                <a:cs typeface="Calibri" pitchFamily="34" charset="-120"/>
              </a:rPr>
              <a:t>09.35 – 10.35</a:t>
            </a:r>
            <a:endParaRPr lang="en-US" sz="1200" dirty="0"/>
          </a:p>
        </p:txBody>
      </p:sp>
      <p:sp>
        <p:nvSpPr>
          <p:cNvPr id="24" name="Text 22"/>
          <p:cNvSpPr txBox="1"/>
          <p:nvPr/>
        </p:nvSpPr>
        <p:spPr>
          <a:xfrm>
            <a:off x="8769096" y="2240280"/>
            <a:ext cx="2377440" cy="868680"/>
          </a:xfrm>
          <a:prstGeom prst="rect">
            <a:avLst/>
          </a:prstGeom>
          <a:noFill/>
          <a:ln/>
        </p:spPr>
        <p:txBody>
          <a:bodyPr wrap="none" lIns="0" tIns="0" rIns="0" bIns="0" rtlCol="0" anchor="t"/>
          <a:lstStyle/>
          <a:p>
            <a:pPr algn="l" indent="0" marL="0">
              <a:lnSpc>
                <a:spcPct val="115000"/>
              </a:lnSpc>
              <a:buNone/>
            </a:pPr>
            <a:r>
              <a:rPr lang="en-US" sz="6000" b="1" dirty="0">
                <a:solidFill>
                  <a:srgbClr val="FFC83D"/>
                </a:solidFill>
                <a:latin typeface="Calibri" pitchFamily="34" charset="0"/>
                <a:ea typeface="Calibri" pitchFamily="34" charset="-122"/>
                <a:cs typeface="Calibri" pitchFamily="34" charset="-120"/>
              </a:rPr>
              <a:t>04</a:t>
            </a:r>
            <a:endParaRPr lang="en-US" sz="6000" dirty="0"/>
          </a:p>
        </p:txBody>
      </p:sp>
      <p:sp>
        <p:nvSpPr>
          <p:cNvPr id="25" name="Shape 23"/>
          <p:cNvSpPr/>
          <p:nvPr/>
        </p:nvSpPr>
        <p:spPr>
          <a:xfrm>
            <a:off x="8769096" y="3246120"/>
            <a:ext cx="2377440" cy="0"/>
          </a:xfrm>
          <a:prstGeom prst="line">
            <a:avLst/>
          </a:prstGeom>
          <a:noFill/>
          <a:ln w="19050">
            <a:solidFill>
              <a:srgbClr val="0E1B3D"/>
            </a:solidFill>
            <a:prstDash val="solid"/>
          </a:ln>
        </p:spPr>
      </p:sp>
      <p:sp>
        <p:nvSpPr>
          <p:cNvPr id="26" name="Text 24"/>
          <p:cNvSpPr txBox="1"/>
          <p:nvPr/>
        </p:nvSpPr>
        <p:spPr>
          <a:xfrm>
            <a:off x="8769096" y="3429000"/>
            <a:ext cx="2468880" cy="640080"/>
          </a:xfrm>
          <a:prstGeom prst="rect">
            <a:avLst/>
          </a:prstGeom>
          <a:noFill/>
          <a:ln/>
        </p:spPr>
        <p:txBody>
          <a:bodyPr wrap="square" lIns="0" tIns="0" rIns="0" bIns="0" rtlCol="0" anchor="t"/>
          <a:lstStyle/>
          <a:p>
            <a:pPr algn="l" indent="0" marL="0">
              <a:lnSpc>
                <a:spcPct val="110000"/>
              </a:lnSpc>
              <a:buNone/>
            </a:pPr>
            <a:r>
              <a:rPr lang="en-US" sz="2200" b="1" dirty="0">
                <a:solidFill>
                  <a:srgbClr val="0E1B3D"/>
                </a:solidFill>
                <a:latin typeface="Calibri" pitchFamily="34" charset="0"/>
                <a:ea typeface="Calibri" pitchFamily="34" charset="-122"/>
                <a:cs typeface="Calibri" pitchFamily="34" charset="-120"/>
              </a:rPr>
              <a:t>Proyek &amp; Publish</a:t>
            </a:r>
            <a:endParaRPr lang="en-US" sz="2200" dirty="0"/>
          </a:p>
        </p:txBody>
      </p:sp>
      <p:sp>
        <p:nvSpPr>
          <p:cNvPr id="27" name="Text 25"/>
          <p:cNvSpPr txBox="1"/>
          <p:nvPr/>
        </p:nvSpPr>
        <p:spPr>
          <a:xfrm>
            <a:off x="8769096" y="4114800"/>
            <a:ext cx="2377440" cy="100584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Calibri" pitchFamily="34" charset="0"/>
                <a:ea typeface="Calibri" pitchFamily="34" charset="-122"/>
                <a:cs typeface="Calibri" pitchFamily="34" charset="-120"/>
              </a:rPr>
              <a:t>Rampungkan profil, tayangkan online, pamerkan</a:t>
            </a:r>
            <a:endParaRPr lang="en-US" sz="1600" dirty="0"/>
          </a:p>
        </p:txBody>
      </p:sp>
      <p:sp>
        <p:nvSpPr>
          <p:cNvPr id="28" name="Shape 26"/>
          <p:cNvSpPr/>
          <p:nvPr/>
        </p:nvSpPr>
        <p:spPr>
          <a:xfrm>
            <a:off x="8769096" y="5257800"/>
            <a:ext cx="1737360" cy="347472"/>
          </a:xfrm>
          <a:prstGeom prst="roundRect">
            <a:avLst>
              <a:gd name="adj" fmla="val 50000"/>
            </a:avLst>
          </a:prstGeom>
          <a:ln w="15875">
            <a:solidFill>
              <a:srgbClr val="E3DFD6"/>
            </a:solidFill>
            <a:prstDash val="solid"/>
          </a:ln>
        </p:spPr>
      </p:sp>
      <p:sp>
        <p:nvSpPr>
          <p:cNvPr id="29" name="Text 27"/>
          <p:cNvSpPr txBox="1"/>
          <p:nvPr/>
        </p:nvSpPr>
        <p:spPr>
          <a:xfrm>
            <a:off x="8769096" y="525780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5B6478"/>
                </a:solidFill>
                <a:latin typeface="Calibri" pitchFamily="34" charset="0"/>
                <a:ea typeface="Calibri" pitchFamily="34" charset="-122"/>
                <a:cs typeface="Calibri" pitchFamily="34" charset="-120"/>
              </a:rPr>
              <a:t>10.35 – 11.20</a:t>
            </a:r>
            <a:endParaRPr lang="en-US" sz="1200" dirty="0"/>
          </a:p>
        </p:txBody>
      </p:sp>
      <p:sp>
        <p:nvSpPr>
          <p:cNvPr id="30" name="Text 28"/>
          <p:cNvSpPr txBox="1"/>
          <p:nvPr/>
        </p:nvSpPr>
        <p:spPr>
          <a:xfrm>
            <a:off x="731520" y="5852160"/>
            <a:ext cx="10515600" cy="320040"/>
          </a:xfrm>
          <a:prstGeom prst="rect">
            <a:avLst/>
          </a:prstGeom>
          <a:noFill/>
          <a:ln/>
        </p:spPr>
        <p:txBody>
          <a:bodyPr wrap="square" lIns="0" tIns="0" rIns="0" bIns="0" rtlCol="0" anchor="ctr"/>
          <a:lstStyle/>
          <a:p>
            <a:pPr algn="l" indent="0" marL="0">
              <a:lnSpc>
                <a:spcPct val="115000"/>
              </a:lnSpc>
              <a:buNone/>
            </a:pPr>
            <a:r>
              <a:rPr lang="en-US" sz="1400" dirty="0">
                <a:solidFill>
                  <a:srgbClr val="5B6478"/>
                </a:solidFill>
                <a:latin typeface="Calibri" pitchFamily="34" charset="0"/>
                <a:ea typeface="Calibri" pitchFamily="34" charset="-122"/>
                <a:cs typeface="Calibri" pitchFamily="34" charset="-120"/>
              </a:rPr>
              <a:t>Istirahat 15 menit setelah bagian HTML (09.20 – 09.35).</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6F7FA8"/>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6F7FA8"/>
                </a:solidFill>
                <a:latin typeface="Calibri" pitchFamily="34" charset="0"/>
                <a:ea typeface="Calibri" pitchFamily="34" charset="-122"/>
                <a:cs typeface="Calibri" pitchFamily="34" charset="-120"/>
              </a:rPr>
              <a:t>05</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FFC83D"/>
                </a:solidFill>
                <a:latin typeface="Calibri" pitchFamily="34" charset="0"/>
                <a:ea typeface="Calibri" pitchFamily="34" charset="-122"/>
                <a:cs typeface="Calibri" pitchFamily="34" charset="-120"/>
              </a:rPr>
              <a:t>PEMANASAN</a:t>
            </a:r>
            <a:endParaRPr lang="en-US" sz="1200" dirty="0"/>
          </a:p>
        </p:txBody>
      </p:sp>
      <p:sp>
        <p:nvSpPr>
          <p:cNvPr id="5" name="Text 3"/>
          <p:cNvSpPr txBox="1"/>
          <p:nvPr/>
        </p:nvSpPr>
        <p:spPr>
          <a:xfrm>
            <a:off x="731520" y="804672"/>
            <a:ext cx="10698480" cy="1005840"/>
          </a:xfrm>
          <a:prstGeom prst="rect">
            <a:avLst/>
          </a:prstGeom>
          <a:noFill/>
          <a:ln/>
        </p:spPr>
        <p:txBody>
          <a:bodyPr wrap="square" lIns="0" tIns="0" rIns="0" bIns="0" rtlCol="0" anchor="t"/>
          <a:lstStyle/>
          <a:p>
            <a:pPr algn="l" indent="0" marL="0">
              <a:lnSpc>
                <a:spcPct val="108000"/>
              </a:lnSpc>
              <a:buNone/>
            </a:pPr>
            <a:r>
              <a:rPr lang="en-US" sz="3800" b="1" dirty="0">
                <a:solidFill>
                  <a:srgbClr val="F4F6FB"/>
                </a:solidFill>
                <a:latin typeface="Calibri" pitchFamily="34" charset="0"/>
                <a:ea typeface="Calibri" pitchFamily="34" charset="-122"/>
                <a:cs typeface="Calibri" pitchFamily="34" charset="-120"/>
              </a:rPr>
              <a:t>Tiga pertanyaan, angkat tangan</a:t>
            </a:r>
            <a:endParaRPr lang="en-US" sz="3800" dirty="0"/>
          </a:p>
        </p:txBody>
      </p:sp>
      <p:sp>
        <p:nvSpPr>
          <p:cNvPr id="6" name="Text 4"/>
          <p:cNvSpPr txBox="1"/>
          <p:nvPr/>
        </p:nvSpPr>
        <p:spPr>
          <a:xfrm>
            <a:off x="731520" y="2103120"/>
            <a:ext cx="914400" cy="822960"/>
          </a:xfrm>
          <a:prstGeom prst="rect">
            <a:avLst/>
          </a:prstGeom>
          <a:noFill/>
          <a:ln/>
        </p:spPr>
        <p:txBody>
          <a:bodyPr wrap="none" lIns="0" tIns="0" rIns="0" bIns="0" rtlCol="0" anchor="ctr"/>
          <a:lstStyle/>
          <a:p>
            <a:pPr algn="l" indent="0" marL="0">
              <a:lnSpc>
                <a:spcPct val="115000"/>
              </a:lnSpc>
              <a:buNone/>
            </a:pPr>
            <a:r>
              <a:rPr lang="en-US" sz="4400" b="1" dirty="0">
                <a:solidFill>
                  <a:srgbClr val="FFC83D"/>
                </a:solidFill>
                <a:latin typeface="Calibri" pitchFamily="34" charset="0"/>
                <a:ea typeface="Calibri" pitchFamily="34" charset="-122"/>
                <a:cs typeface="Calibri" pitchFamily="34" charset="-120"/>
              </a:rPr>
              <a:t>1</a:t>
            </a:r>
            <a:endParaRPr lang="en-US" sz="4400" dirty="0"/>
          </a:p>
        </p:txBody>
      </p:sp>
      <p:sp>
        <p:nvSpPr>
          <p:cNvPr id="7" name="Text 5"/>
          <p:cNvSpPr txBox="1"/>
          <p:nvPr/>
        </p:nvSpPr>
        <p:spPr>
          <a:xfrm>
            <a:off x="1737360" y="2103120"/>
            <a:ext cx="9692640" cy="822960"/>
          </a:xfrm>
          <a:prstGeom prst="rect">
            <a:avLst/>
          </a:prstGeom>
          <a:noFill/>
          <a:ln/>
        </p:spPr>
        <p:txBody>
          <a:bodyPr wrap="square" lIns="0" tIns="0" rIns="0" bIns="0" rtlCol="0" anchor="ctr"/>
          <a:lstStyle/>
          <a:p>
            <a:pPr algn="l" indent="0" marL="0">
              <a:lnSpc>
                <a:spcPct val="115000"/>
              </a:lnSpc>
              <a:buNone/>
            </a:pPr>
            <a:r>
              <a:rPr lang="en-US" sz="2600" b="1" dirty="0">
                <a:solidFill>
                  <a:srgbClr val="FFFFFF"/>
                </a:solidFill>
                <a:latin typeface="Calibri" pitchFamily="34" charset="0"/>
                <a:ea typeface="Calibri" pitchFamily="34" charset="-122"/>
                <a:cs typeface="Calibri" pitchFamily="34" charset="-120"/>
              </a:rPr>
              <a:t>Siapa yang pernah klik kanan lalu pilih Inspect di sebuah website?</a:t>
            </a:r>
            <a:endParaRPr lang="en-US" sz="2600" dirty="0"/>
          </a:p>
        </p:txBody>
      </p:sp>
      <p:sp>
        <p:nvSpPr>
          <p:cNvPr id="8" name="Shape 6"/>
          <p:cNvSpPr/>
          <p:nvPr/>
        </p:nvSpPr>
        <p:spPr>
          <a:xfrm>
            <a:off x="731520" y="3063240"/>
            <a:ext cx="10698480" cy="0"/>
          </a:xfrm>
          <a:prstGeom prst="line">
            <a:avLst/>
          </a:prstGeom>
          <a:noFill/>
          <a:ln w="12700">
            <a:solidFill>
              <a:srgbClr val="2A3C6E"/>
            </a:solidFill>
            <a:prstDash val="solid"/>
          </a:ln>
        </p:spPr>
      </p:sp>
      <p:sp>
        <p:nvSpPr>
          <p:cNvPr id="9" name="Text 7"/>
          <p:cNvSpPr txBox="1"/>
          <p:nvPr/>
        </p:nvSpPr>
        <p:spPr>
          <a:xfrm>
            <a:off x="731520" y="3200400"/>
            <a:ext cx="914400" cy="822960"/>
          </a:xfrm>
          <a:prstGeom prst="rect">
            <a:avLst/>
          </a:prstGeom>
          <a:noFill/>
          <a:ln/>
        </p:spPr>
        <p:txBody>
          <a:bodyPr wrap="none" lIns="0" tIns="0" rIns="0" bIns="0" rtlCol="0" anchor="ctr"/>
          <a:lstStyle/>
          <a:p>
            <a:pPr algn="l" indent="0" marL="0">
              <a:lnSpc>
                <a:spcPct val="115000"/>
              </a:lnSpc>
              <a:buNone/>
            </a:pPr>
            <a:r>
              <a:rPr lang="en-US" sz="4400" b="1" dirty="0">
                <a:solidFill>
                  <a:srgbClr val="FFC83D"/>
                </a:solidFill>
                <a:latin typeface="Calibri" pitchFamily="34" charset="0"/>
                <a:ea typeface="Calibri" pitchFamily="34" charset="-122"/>
                <a:cs typeface="Calibri" pitchFamily="34" charset="-120"/>
              </a:rPr>
              <a:t>2</a:t>
            </a:r>
            <a:endParaRPr lang="en-US" sz="4400" dirty="0"/>
          </a:p>
        </p:txBody>
      </p:sp>
      <p:sp>
        <p:nvSpPr>
          <p:cNvPr id="10" name="Text 8"/>
          <p:cNvSpPr txBox="1"/>
          <p:nvPr/>
        </p:nvSpPr>
        <p:spPr>
          <a:xfrm>
            <a:off x="1737360" y="3200400"/>
            <a:ext cx="9692640" cy="822960"/>
          </a:xfrm>
          <a:prstGeom prst="rect">
            <a:avLst/>
          </a:prstGeom>
          <a:noFill/>
          <a:ln/>
        </p:spPr>
        <p:txBody>
          <a:bodyPr wrap="square" lIns="0" tIns="0" rIns="0" bIns="0" rtlCol="0" anchor="ctr"/>
          <a:lstStyle/>
          <a:p>
            <a:pPr algn="l" indent="0" marL="0">
              <a:lnSpc>
                <a:spcPct val="115000"/>
              </a:lnSpc>
              <a:buNone/>
            </a:pPr>
            <a:r>
              <a:rPr lang="en-US" sz="2600" b="1" dirty="0">
                <a:solidFill>
                  <a:srgbClr val="FFFFFF"/>
                </a:solidFill>
                <a:latin typeface="Calibri" pitchFamily="34" charset="0"/>
                <a:ea typeface="Calibri" pitchFamily="34" charset="-122"/>
                <a:cs typeface="Calibri" pitchFamily="34" charset="-120"/>
              </a:rPr>
              <a:t>Siapa yang pernah membuat website sendiri?</a:t>
            </a:r>
            <a:endParaRPr lang="en-US" sz="2600" dirty="0"/>
          </a:p>
        </p:txBody>
      </p:sp>
      <p:sp>
        <p:nvSpPr>
          <p:cNvPr id="11" name="Shape 9"/>
          <p:cNvSpPr/>
          <p:nvPr/>
        </p:nvSpPr>
        <p:spPr>
          <a:xfrm>
            <a:off x="731520" y="4160520"/>
            <a:ext cx="10698480" cy="0"/>
          </a:xfrm>
          <a:prstGeom prst="line">
            <a:avLst/>
          </a:prstGeom>
          <a:noFill/>
          <a:ln w="12700">
            <a:solidFill>
              <a:srgbClr val="2A3C6E"/>
            </a:solidFill>
            <a:prstDash val="solid"/>
          </a:ln>
        </p:spPr>
      </p:sp>
      <p:sp>
        <p:nvSpPr>
          <p:cNvPr id="12" name="Text 10"/>
          <p:cNvSpPr txBox="1"/>
          <p:nvPr/>
        </p:nvSpPr>
        <p:spPr>
          <a:xfrm>
            <a:off x="731520" y="4297680"/>
            <a:ext cx="914400" cy="822960"/>
          </a:xfrm>
          <a:prstGeom prst="rect">
            <a:avLst/>
          </a:prstGeom>
          <a:noFill/>
          <a:ln/>
        </p:spPr>
        <p:txBody>
          <a:bodyPr wrap="none" lIns="0" tIns="0" rIns="0" bIns="0" rtlCol="0" anchor="ctr"/>
          <a:lstStyle/>
          <a:p>
            <a:pPr algn="l" indent="0" marL="0">
              <a:lnSpc>
                <a:spcPct val="115000"/>
              </a:lnSpc>
              <a:buNone/>
            </a:pPr>
            <a:r>
              <a:rPr lang="en-US" sz="4400" b="1" dirty="0">
                <a:solidFill>
                  <a:srgbClr val="FFC83D"/>
                </a:solidFill>
                <a:latin typeface="Calibri" pitchFamily="34" charset="0"/>
                <a:ea typeface="Calibri" pitchFamily="34" charset="-122"/>
                <a:cs typeface="Calibri" pitchFamily="34" charset="-120"/>
              </a:rPr>
              <a:t>3</a:t>
            </a:r>
            <a:endParaRPr lang="en-US" sz="4400" dirty="0"/>
          </a:p>
        </p:txBody>
      </p:sp>
      <p:sp>
        <p:nvSpPr>
          <p:cNvPr id="13" name="Text 11"/>
          <p:cNvSpPr txBox="1"/>
          <p:nvPr/>
        </p:nvSpPr>
        <p:spPr>
          <a:xfrm>
            <a:off x="1737360" y="4297680"/>
            <a:ext cx="9692640" cy="822960"/>
          </a:xfrm>
          <a:prstGeom prst="rect">
            <a:avLst/>
          </a:prstGeom>
          <a:noFill/>
          <a:ln/>
        </p:spPr>
        <p:txBody>
          <a:bodyPr wrap="square" lIns="0" tIns="0" rIns="0" bIns="0" rtlCol="0" anchor="ctr"/>
          <a:lstStyle/>
          <a:p>
            <a:pPr algn="l" indent="0" marL="0">
              <a:lnSpc>
                <a:spcPct val="115000"/>
              </a:lnSpc>
              <a:buNone/>
            </a:pPr>
            <a:r>
              <a:rPr lang="en-US" sz="2600" b="1" dirty="0">
                <a:solidFill>
                  <a:srgbClr val="FFFFFF"/>
                </a:solidFill>
                <a:latin typeface="Calibri" pitchFamily="34" charset="0"/>
                <a:ea typeface="Calibri" pitchFamily="34" charset="-122"/>
                <a:cs typeface="Calibri" pitchFamily="34" charset="-120"/>
              </a:rPr>
              <a:t>Siapa yang takut salah kode hari ini?</a:t>
            </a:r>
            <a:endParaRPr lang="en-US" sz="2600" dirty="0"/>
          </a:p>
        </p:txBody>
      </p:sp>
      <p:sp>
        <p:nvSpPr>
          <p:cNvPr id="14" name="Shape 12"/>
          <p:cNvSpPr/>
          <p:nvPr/>
        </p:nvSpPr>
        <p:spPr>
          <a:xfrm>
            <a:off x="731520" y="5257800"/>
            <a:ext cx="10698480" cy="0"/>
          </a:xfrm>
          <a:prstGeom prst="line">
            <a:avLst/>
          </a:prstGeom>
          <a:noFill/>
          <a:ln w="12700">
            <a:solidFill>
              <a:srgbClr val="2A3C6E"/>
            </a:solidFill>
            <a:prstDash val="solid"/>
          </a:ln>
        </p:spPr>
      </p:sp>
      <p:sp>
        <p:nvSpPr>
          <p:cNvPr id="15" name="Text 13"/>
          <p:cNvSpPr txBox="1"/>
          <p:nvPr/>
        </p:nvSpPr>
        <p:spPr>
          <a:xfrm>
            <a:off x="731520" y="5440680"/>
            <a:ext cx="10698480" cy="640080"/>
          </a:xfrm>
          <a:prstGeom prst="rect">
            <a:avLst/>
          </a:prstGeom>
          <a:noFill/>
          <a:ln/>
        </p:spPr>
        <p:txBody>
          <a:bodyPr wrap="square" lIns="0" tIns="0" rIns="0" bIns="0" rtlCol="0" anchor="ctr"/>
          <a:lstStyle/>
          <a:p>
            <a:pPr algn="l" indent="0" marL="0">
              <a:lnSpc>
                <a:spcPct val="115000"/>
              </a:lnSpc>
              <a:buNone/>
            </a:pPr>
            <a:r>
              <a:rPr lang="en-US" sz="2200" b="1" dirty="0">
                <a:solidFill>
                  <a:srgbClr val="FFC83D"/>
                </a:solidFill>
                <a:latin typeface="Calibri" pitchFamily="34" charset="0"/>
                <a:ea typeface="Calibri" pitchFamily="34" charset="-122"/>
                <a:cs typeface="Calibri" pitchFamily="34" charset="-120"/>
              </a:rPr>
              <a:t>Jawabannya: salah itu normal. Developer profesional juga salah tiap hari.</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4FD8"/>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06</a:t>
            </a:r>
            <a:endParaRPr lang="en-US" sz="1000" dirty="0"/>
          </a:p>
        </p:txBody>
      </p:sp>
      <p:sp>
        <p:nvSpPr>
          <p:cNvPr id="4" name="Text 2"/>
          <p:cNvSpPr txBox="1"/>
          <p:nvPr/>
        </p:nvSpPr>
        <p:spPr>
          <a:xfrm>
            <a:off x="4754880" y="182880"/>
            <a:ext cx="7315200" cy="6035040"/>
          </a:xfrm>
          <a:prstGeom prst="rect">
            <a:avLst/>
          </a:prstGeom>
          <a:noFill/>
          <a:ln/>
        </p:spPr>
        <p:txBody>
          <a:bodyPr wrap="none" lIns="0" tIns="0" rIns="0" bIns="0" rtlCol="0" anchor="ctr"/>
          <a:lstStyle/>
          <a:p>
            <a:pPr algn="r" indent="0" marL="0">
              <a:lnSpc>
                <a:spcPct val="115000"/>
              </a:lnSpc>
              <a:buNone/>
            </a:pPr>
            <a:r>
              <a:rPr lang="en-US" sz="30000" b="1" dirty="0">
                <a:solidFill>
                  <a:srgbClr val="3B6AEA"/>
                </a:solidFill>
                <a:latin typeface="Calibri" pitchFamily="34" charset="0"/>
                <a:ea typeface="Calibri" pitchFamily="34" charset="-122"/>
                <a:cs typeface="Calibri" pitchFamily="34" charset="-120"/>
              </a:rPr>
              <a:t>01</a:t>
            </a:r>
            <a:endParaRPr lang="en-US" sz="30000" dirty="0"/>
          </a:p>
        </p:txBody>
      </p:sp>
      <p:sp>
        <p:nvSpPr>
          <p:cNvPr id="5" name="Text 3"/>
          <p:cNvSpPr txBox="1"/>
          <p:nvPr/>
        </p:nvSpPr>
        <p:spPr>
          <a:xfrm>
            <a:off x="731520" y="2148840"/>
            <a:ext cx="7315200" cy="274320"/>
          </a:xfrm>
          <a:prstGeom prst="rect">
            <a:avLst/>
          </a:prstGeom>
          <a:noFill/>
          <a:ln/>
        </p:spPr>
        <p:txBody>
          <a:bodyPr wrap="square" lIns="0" tIns="0" rIns="0" bIns="0" rtlCol="0" anchor="t"/>
          <a:lstStyle/>
          <a:p>
            <a:pPr algn="l" indent="0" marL="0">
              <a:lnSpc>
                <a:spcPct val="115000"/>
              </a:lnSpc>
              <a:buNone/>
            </a:pPr>
            <a:r>
              <a:rPr lang="en-US" sz="1400" b="1" spc="300" kern="0" dirty="0">
                <a:solidFill>
                  <a:srgbClr val="FFC83D"/>
                </a:solidFill>
                <a:latin typeface="Calibri" pitchFamily="34" charset="0"/>
                <a:ea typeface="Calibri" pitchFamily="34" charset="-122"/>
                <a:cs typeface="Calibri" pitchFamily="34" charset="-120"/>
              </a:rPr>
              <a:t>BAGIAN 01</a:t>
            </a:r>
            <a:endParaRPr lang="en-US" sz="1400" dirty="0"/>
          </a:p>
        </p:txBody>
      </p:sp>
      <p:sp>
        <p:nvSpPr>
          <p:cNvPr id="6" name="Text 4"/>
          <p:cNvSpPr txBox="1"/>
          <p:nvPr/>
        </p:nvSpPr>
        <p:spPr>
          <a:xfrm>
            <a:off x="731520" y="2560320"/>
            <a:ext cx="8778240" cy="1371600"/>
          </a:xfrm>
          <a:prstGeom prst="rect">
            <a:avLst/>
          </a:prstGeom>
          <a:noFill/>
          <a:ln/>
        </p:spPr>
        <p:txBody>
          <a:bodyPr wrap="square" lIns="0" tIns="0" rIns="0" bIns="0" rtlCol="0" anchor="t"/>
          <a:lstStyle/>
          <a:p>
            <a:pPr algn="l" indent="0" marL="0">
              <a:lnSpc>
                <a:spcPct val="102000"/>
              </a:lnSpc>
              <a:buNone/>
            </a:pPr>
            <a:r>
              <a:rPr lang="en-US" sz="6600" b="1" dirty="0">
                <a:solidFill>
                  <a:srgbClr val="FFFFFF"/>
                </a:solidFill>
                <a:latin typeface="Calibri" pitchFamily="34" charset="0"/>
                <a:ea typeface="Calibri" pitchFamily="34" charset="-122"/>
                <a:cs typeface="Calibri" pitchFamily="34" charset="-120"/>
              </a:rPr>
              <a:t>Dasar Web</a:t>
            </a:r>
            <a:endParaRPr lang="en-US" sz="6600" dirty="0"/>
          </a:p>
        </p:txBody>
      </p:sp>
      <p:sp>
        <p:nvSpPr>
          <p:cNvPr id="7" name="Text 5"/>
          <p:cNvSpPr txBox="1"/>
          <p:nvPr/>
        </p:nvSpPr>
        <p:spPr>
          <a:xfrm>
            <a:off x="731520" y="4160520"/>
            <a:ext cx="6583680" cy="822960"/>
          </a:xfrm>
          <a:prstGeom prst="rect">
            <a:avLst/>
          </a:prstGeom>
          <a:noFill/>
          <a:ln/>
        </p:spPr>
        <p:txBody>
          <a:bodyPr wrap="square" lIns="0" tIns="0" rIns="0" bIns="0" rtlCol="0" anchor="t"/>
          <a:lstStyle/>
          <a:p>
            <a:pPr algn="l" indent="0" marL="0">
              <a:lnSpc>
                <a:spcPct val="130000"/>
              </a:lnSpc>
              <a:buNone/>
            </a:pPr>
            <a:r>
              <a:rPr lang="en-US" sz="2200" dirty="0">
                <a:solidFill>
                  <a:srgbClr val="DCE6FF"/>
                </a:solidFill>
                <a:latin typeface="Calibri" pitchFamily="34" charset="0"/>
                <a:ea typeface="Calibri" pitchFamily="34" charset="-122"/>
                <a:cs typeface="Calibri" pitchFamily="34" charset="-120"/>
              </a:rPr>
              <a:t>Sebelum menulis kode, pahami dulu apa yang sedang kamu bangun</a:t>
            </a:r>
            <a:endParaRPr lang="en-US" sz="2200" dirty="0"/>
          </a:p>
        </p:txBody>
      </p:sp>
      <p:sp>
        <p:nvSpPr>
          <p:cNvPr id="8" name="Shape 6"/>
          <p:cNvSpPr/>
          <p:nvPr/>
        </p:nvSpPr>
        <p:spPr>
          <a:xfrm>
            <a:off x="731520" y="5349240"/>
            <a:ext cx="1737360" cy="347472"/>
          </a:xfrm>
          <a:prstGeom prst="roundRect">
            <a:avLst>
              <a:gd name="adj" fmla="val 50000"/>
            </a:avLst>
          </a:prstGeom>
          <a:ln w="15875">
            <a:solidFill>
              <a:srgbClr val="2A3C6E"/>
            </a:solidFill>
            <a:prstDash val="solid"/>
          </a:ln>
        </p:spPr>
      </p:sp>
      <p:sp>
        <p:nvSpPr>
          <p:cNvPr id="9" name="Text 7"/>
          <p:cNvSpPr txBox="1"/>
          <p:nvPr/>
        </p:nvSpPr>
        <p:spPr>
          <a:xfrm>
            <a:off x="731520" y="534924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A9B6D6"/>
                </a:solidFill>
                <a:latin typeface="Calibri" pitchFamily="34" charset="0"/>
                <a:ea typeface="Calibri" pitchFamily="34" charset="-122"/>
                <a:cs typeface="Calibri" pitchFamily="34" charset="-120"/>
              </a:rPr>
              <a:t>07.50 – 08.20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07</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01 · DASAR WEB</a:t>
            </a:r>
            <a:endParaRPr lang="en-US" sz="1200" dirty="0"/>
          </a:p>
        </p:txBody>
      </p:sp>
      <p:sp>
        <p:nvSpPr>
          <p:cNvPr id="5" name="Text 3"/>
          <p:cNvSpPr txBox="1"/>
          <p:nvPr/>
        </p:nvSpPr>
        <p:spPr>
          <a:xfrm>
            <a:off x="731520" y="804672"/>
            <a:ext cx="10698480" cy="100584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Browser meminta, server menjawab</a:t>
            </a:r>
            <a:endParaRPr lang="en-US" sz="3800" dirty="0"/>
          </a:p>
        </p:txBody>
      </p:sp>
      <p:sp>
        <p:nvSpPr>
          <p:cNvPr id="6" name="Shape 4"/>
          <p:cNvSpPr/>
          <p:nvPr/>
        </p:nvSpPr>
        <p:spPr>
          <a:xfrm>
            <a:off x="731520" y="2103120"/>
            <a:ext cx="2743200" cy="2148840"/>
          </a:xfrm>
          <a:prstGeom prst="roundRect">
            <a:avLst>
              <a:gd name="adj" fmla="val 851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7" name="Shape 5"/>
          <p:cNvSpPr/>
          <p:nvPr/>
        </p:nvSpPr>
        <p:spPr>
          <a:xfrm>
            <a:off x="1600200" y="2377440"/>
            <a:ext cx="1005840" cy="731520"/>
          </a:xfrm>
          <a:prstGeom prst="roundRect">
            <a:avLst>
              <a:gd name="adj" fmla="val 12500"/>
            </a:avLst>
          </a:prstGeom>
          <a:ln w="25400">
            <a:solidFill>
              <a:srgbClr val="1F4FD8"/>
            </a:solidFill>
            <a:prstDash val="solid"/>
          </a:ln>
        </p:spPr>
      </p:sp>
      <p:sp>
        <p:nvSpPr>
          <p:cNvPr id="8" name="Shape 6"/>
          <p:cNvSpPr/>
          <p:nvPr/>
        </p:nvSpPr>
        <p:spPr>
          <a:xfrm>
            <a:off x="1600200" y="2606040"/>
            <a:ext cx="1005840" cy="0"/>
          </a:xfrm>
          <a:prstGeom prst="line">
            <a:avLst/>
          </a:prstGeom>
          <a:noFill/>
          <a:ln w="25400">
            <a:solidFill>
              <a:srgbClr val="1F4FD8"/>
            </a:solidFill>
            <a:prstDash val="solid"/>
          </a:ln>
        </p:spPr>
      </p:sp>
      <p:sp>
        <p:nvSpPr>
          <p:cNvPr id="9" name="Shape 7"/>
          <p:cNvSpPr/>
          <p:nvPr/>
        </p:nvSpPr>
        <p:spPr>
          <a:xfrm>
            <a:off x="1709928" y="2468880"/>
            <a:ext cx="73152" cy="73152"/>
          </a:xfrm>
          <a:prstGeom prst="ellipse">
            <a:avLst/>
          </a:prstGeom>
          <a:solidFill>
            <a:srgbClr val="1F4FD8"/>
          </a:solidFill>
          <a:ln/>
        </p:spPr>
      </p:sp>
      <p:sp>
        <p:nvSpPr>
          <p:cNvPr id="10" name="Text 8"/>
          <p:cNvSpPr txBox="1"/>
          <p:nvPr/>
        </p:nvSpPr>
        <p:spPr>
          <a:xfrm>
            <a:off x="731520" y="3337560"/>
            <a:ext cx="274320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0E1B3D"/>
                </a:solidFill>
                <a:latin typeface="Calibri" pitchFamily="34" charset="0"/>
                <a:ea typeface="Calibri" pitchFamily="34" charset="-122"/>
                <a:cs typeface="Calibri" pitchFamily="34" charset="-120"/>
              </a:rPr>
              <a:t>Browser-mu</a:t>
            </a:r>
            <a:endParaRPr lang="en-US" sz="2200" dirty="0"/>
          </a:p>
        </p:txBody>
      </p:sp>
      <p:sp>
        <p:nvSpPr>
          <p:cNvPr id="11" name="Text 9"/>
          <p:cNvSpPr txBox="1"/>
          <p:nvPr/>
        </p:nvSpPr>
        <p:spPr>
          <a:xfrm>
            <a:off x="868680" y="3730752"/>
            <a:ext cx="2468880" cy="365760"/>
          </a:xfrm>
          <a:prstGeom prst="rect">
            <a:avLst/>
          </a:prstGeom>
          <a:noFill/>
          <a:ln/>
        </p:spPr>
        <p:txBody>
          <a:bodyPr wrap="square" lIns="0" tIns="0" rIns="0" bIns="0" rtlCol="0" anchor="t"/>
          <a:lstStyle/>
          <a:p>
            <a:pPr algn="ctr" indent="0" marL="0">
              <a:lnSpc>
                <a:spcPct val="115000"/>
              </a:lnSpc>
              <a:buNone/>
            </a:pPr>
            <a:r>
              <a:rPr lang="en-US" sz="1400" dirty="0">
                <a:solidFill>
                  <a:srgbClr val="5B6478"/>
                </a:solidFill>
                <a:latin typeface="Calibri" pitchFamily="34" charset="0"/>
                <a:ea typeface="Calibri" pitchFamily="34" charset="-122"/>
                <a:cs typeface="Calibri" pitchFamily="34" charset="-120"/>
              </a:rPr>
              <a:t>Chrome, Edge, Safari</a:t>
            </a:r>
            <a:endParaRPr lang="en-US" sz="1400" dirty="0"/>
          </a:p>
        </p:txBody>
      </p:sp>
      <p:sp>
        <p:nvSpPr>
          <p:cNvPr id="12" name="Shape 10"/>
          <p:cNvSpPr/>
          <p:nvPr/>
        </p:nvSpPr>
        <p:spPr>
          <a:xfrm>
            <a:off x="4727448" y="2103120"/>
            <a:ext cx="2743200" cy="2148840"/>
          </a:xfrm>
          <a:prstGeom prst="roundRect">
            <a:avLst>
              <a:gd name="adj" fmla="val 851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13" name="Shape 11"/>
          <p:cNvSpPr/>
          <p:nvPr/>
        </p:nvSpPr>
        <p:spPr>
          <a:xfrm>
            <a:off x="5687568" y="2331720"/>
            <a:ext cx="822960" cy="822960"/>
          </a:xfrm>
          <a:prstGeom prst="ellipse">
            <a:avLst/>
          </a:prstGeom>
          <a:ln w="25400">
            <a:solidFill>
              <a:srgbClr val="1F4FD8"/>
            </a:solidFill>
            <a:prstDash val="solid"/>
          </a:ln>
        </p:spPr>
      </p:sp>
      <p:sp>
        <p:nvSpPr>
          <p:cNvPr id="14" name="Shape 12"/>
          <p:cNvSpPr/>
          <p:nvPr/>
        </p:nvSpPr>
        <p:spPr>
          <a:xfrm>
            <a:off x="5916168" y="2331720"/>
            <a:ext cx="365760" cy="822960"/>
          </a:xfrm>
          <a:prstGeom prst="ellipse">
            <a:avLst/>
          </a:prstGeom>
          <a:ln w="25400">
            <a:solidFill>
              <a:srgbClr val="1F4FD8"/>
            </a:solidFill>
            <a:prstDash val="solid"/>
          </a:ln>
        </p:spPr>
      </p:sp>
      <p:sp>
        <p:nvSpPr>
          <p:cNvPr id="15" name="Shape 13"/>
          <p:cNvSpPr/>
          <p:nvPr/>
        </p:nvSpPr>
        <p:spPr>
          <a:xfrm>
            <a:off x="5687568" y="2743200"/>
            <a:ext cx="822960" cy="0"/>
          </a:xfrm>
          <a:prstGeom prst="line">
            <a:avLst/>
          </a:prstGeom>
          <a:noFill/>
          <a:ln w="25400">
            <a:solidFill>
              <a:srgbClr val="1F4FD8"/>
            </a:solidFill>
            <a:prstDash val="solid"/>
          </a:ln>
        </p:spPr>
      </p:sp>
      <p:sp>
        <p:nvSpPr>
          <p:cNvPr id="16" name="Text 14"/>
          <p:cNvSpPr txBox="1"/>
          <p:nvPr/>
        </p:nvSpPr>
        <p:spPr>
          <a:xfrm>
            <a:off x="4727448" y="3337560"/>
            <a:ext cx="274320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0E1B3D"/>
                </a:solidFill>
                <a:latin typeface="Calibri" pitchFamily="34" charset="0"/>
                <a:ea typeface="Calibri" pitchFamily="34" charset="-122"/>
                <a:cs typeface="Calibri" pitchFamily="34" charset="-120"/>
              </a:rPr>
              <a:t>Internet</a:t>
            </a:r>
            <a:endParaRPr lang="en-US" sz="2200" dirty="0"/>
          </a:p>
        </p:txBody>
      </p:sp>
      <p:sp>
        <p:nvSpPr>
          <p:cNvPr id="17" name="Text 15"/>
          <p:cNvSpPr txBox="1"/>
          <p:nvPr/>
        </p:nvSpPr>
        <p:spPr>
          <a:xfrm>
            <a:off x="4864608" y="3730752"/>
            <a:ext cx="2468880" cy="365760"/>
          </a:xfrm>
          <a:prstGeom prst="rect">
            <a:avLst/>
          </a:prstGeom>
          <a:noFill/>
          <a:ln/>
        </p:spPr>
        <p:txBody>
          <a:bodyPr wrap="square" lIns="0" tIns="0" rIns="0" bIns="0" rtlCol="0" anchor="t"/>
          <a:lstStyle/>
          <a:p>
            <a:pPr algn="ctr" indent="0" marL="0">
              <a:lnSpc>
                <a:spcPct val="115000"/>
              </a:lnSpc>
              <a:buNone/>
            </a:pPr>
            <a:r>
              <a:rPr lang="en-US" sz="1400" dirty="0">
                <a:solidFill>
                  <a:srgbClr val="5B6478"/>
                </a:solidFill>
                <a:latin typeface="Calibri" pitchFamily="34" charset="0"/>
                <a:ea typeface="Calibri" pitchFamily="34" charset="-122"/>
                <a:cs typeface="Calibri" pitchFamily="34" charset="-120"/>
              </a:rPr>
              <a:t>jalur penghubung</a:t>
            </a:r>
            <a:endParaRPr lang="en-US" sz="1400" dirty="0"/>
          </a:p>
        </p:txBody>
      </p:sp>
      <p:sp>
        <p:nvSpPr>
          <p:cNvPr id="18" name="Shape 16"/>
          <p:cNvSpPr/>
          <p:nvPr/>
        </p:nvSpPr>
        <p:spPr>
          <a:xfrm>
            <a:off x="8714232" y="2103120"/>
            <a:ext cx="2743200" cy="2148840"/>
          </a:xfrm>
          <a:prstGeom prst="roundRect">
            <a:avLst>
              <a:gd name="adj" fmla="val 851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19" name="Shape 17"/>
          <p:cNvSpPr/>
          <p:nvPr/>
        </p:nvSpPr>
        <p:spPr>
          <a:xfrm>
            <a:off x="9582912" y="2331720"/>
            <a:ext cx="1005840" cy="219456"/>
          </a:xfrm>
          <a:prstGeom prst="roundRect">
            <a:avLst>
              <a:gd name="adj" fmla="val 25000"/>
            </a:avLst>
          </a:prstGeom>
          <a:ln w="25400">
            <a:solidFill>
              <a:srgbClr val="1F4FD8"/>
            </a:solidFill>
            <a:prstDash val="solid"/>
          </a:ln>
        </p:spPr>
      </p:sp>
      <p:sp>
        <p:nvSpPr>
          <p:cNvPr id="20" name="Shape 18"/>
          <p:cNvSpPr/>
          <p:nvPr/>
        </p:nvSpPr>
        <p:spPr>
          <a:xfrm>
            <a:off x="10405872" y="2404872"/>
            <a:ext cx="73152" cy="73152"/>
          </a:xfrm>
          <a:prstGeom prst="ellipse">
            <a:avLst/>
          </a:prstGeom>
          <a:solidFill>
            <a:srgbClr val="1F4FD8"/>
          </a:solidFill>
          <a:ln/>
        </p:spPr>
      </p:sp>
      <p:sp>
        <p:nvSpPr>
          <p:cNvPr id="21" name="Shape 19"/>
          <p:cNvSpPr/>
          <p:nvPr/>
        </p:nvSpPr>
        <p:spPr>
          <a:xfrm>
            <a:off x="9582912" y="2606040"/>
            <a:ext cx="1005840" cy="219456"/>
          </a:xfrm>
          <a:prstGeom prst="roundRect">
            <a:avLst>
              <a:gd name="adj" fmla="val 25000"/>
            </a:avLst>
          </a:prstGeom>
          <a:ln w="25400">
            <a:solidFill>
              <a:srgbClr val="1F4FD8"/>
            </a:solidFill>
            <a:prstDash val="solid"/>
          </a:ln>
        </p:spPr>
      </p:sp>
      <p:sp>
        <p:nvSpPr>
          <p:cNvPr id="22" name="Shape 20"/>
          <p:cNvSpPr/>
          <p:nvPr/>
        </p:nvSpPr>
        <p:spPr>
          <a:xfrm>
            <a:off x="10405872" y="2679192"/>
            <a:ext cx="73152" cy="73152"/>
          </a:xfrm>
          <a:prstGeom prst="ellipse">
            <a:avLst/>
          </a:prstGeom>
          <a:solidFill>
            <a:srgbClr val="1F4FD8"/>
          </a:solidFill>
          <a:ln/>
        </p:spPr>
      </p:sp>
      <p:sp>
        <p:nvSpPr>
          <p:cNvPr id="23" name="Shape 21"/>
          <p:cNvSpPr/>
          <p:nvPr/>
        </p:nvSpPr>
        <p:spPr>
          <a:xfrm>
            <a:off x="9582912" y="2880360"/>
            <a:ext cx="1005840" cy="219456"/>
          </a:xfrm>
          <a:prstGeom prst="roundRect">
            <a:avLst>
              <a:gd name="adj" fmla="val 25000"/>
            </a:avLst>
          </a:prstGeom>
          <a:ln w="25400">
            <a:solidFill>
              <a:srgbClr val="1F4FD8"/>
            </a:solidFill>
            <a:prstDash val="solid"/>
          </a:ln>
        </p:spPr>
      </p:sp>
      <p:sp>
        <p:nvSpPr>
          <p:cNvPr id="24" name="Shape 22"/>
          <p:cNvSpPr/>
          <p:nvPr/>
        </p:nvSpPr>
        <p:spPr>
          <a:xfrm>
            <a:off x="10405872" y="2953512"/>
            <a:ext cx="73152" cy="73152"/>
          </a:xfrm>
          <a:prstGeom prst="ellipse">
            <a:avLst/>
          </a:prstGeom>
          <a:solidFill>
            <a:srgbClr val="1F4FD8"/>
          </a:solidFill>
          <a:ln/>
        </p:spPr>
      </p:sp>
      <p:sp>
        <p:nvSpPr>
          <p:cNvPr id="25" name="Text 23"/>
          <p:cNvSpPr txBox="1"/>
          <p:nvPr/>
        </p:nvSpPr>
        <p:spPr>
          <a:xfrm>
            <a:off x="8714232" y="3337560"/>
            <a:ext cx="274320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0E1B3D"/>
                </a:solidFill>
                <a:latin typeface="Calibri" pitchFamily="34" charset="0"/>
                <a:ea typeface="Calibri" pitchFamily="34" charset="-122"/>
                <a:cs typeface="Calibri" pitchFamily="34" charset="-120"/>
              </a:rPr>
              <a:t>Server</a:t>
            </a:r>
            <a:endParaRPr lang="en-US" sz="2200" dirty="0"/>
          </a:p>
        </p:txBody>
      </p:sp>
      <p:sp>
        <p:nvSpPr>
          <p:cNvPr id="26" name="Text 24"/>
          <p:cNvSpPr txBox="1"/>
          <p:nvPr/>
        </p:nvSpPr>
        <p:spPr>
          <a:xfrm>
            <a:off x="8851392" y="3730752"/>
            <a:ext cx="2468880" cy="365760"/>
          </a:xfrm>
          <a:prstGeom prst="rect">
            <a:avLst/>
          </a:prstGeom>
          <a:noFill/>
          <a:ln/>
        </p:spPr>
        <p:txBody>
          <a:bodyPr wrap="square" lIns="0" tIns="0" rIns="0" bIns="0" rtlCol="0" anchor="t"/>
          <a:lstStyle/>
          <a:p>
            <a:pPr algn="ctr" indent="0" marL="0">
              <a:lnSpc>
                <a:spcPct val="115000"/>
              </a:lnSpc>
              <a:buNone/>
            </a:pPr>
            <a:r>
              <a:rPr lang="en-US" sz="1400" dirty="0">
                <a:solidFill>
                  <a:srgbClr val="5B6478"/>
                </a:solidFill>
                <a:latin typeface="Calibri" pitchFamily="34" charset="0"/>
                <a:ea typeface="Calibri" pitchFamily="34" charset="-122"/>
                <a:cs typeface="Calibri" pitchFamily="34" charset="-120"/>
              </a:rPr>
              <a:t>penyimpan website</a:t>
            </a:r>
            <a:endParaRPr lang="en-US" sz="1400" dirty="0"/>
          </a:p>
        </p:txBody>
      </p:sp>
      <p:sp>
        <p:nvSpPr>
          <p:cNvPr id="27" name="Text 25"/>
          <p:cNvSpPr txBox="1"/>
          <p:nvPr/>
        </p:nvSpPr>
        <p:spPr>
          <a:xfrm>
            <a:off x="3474720" y="2514600"/>
            <a:ext cx="1252728" cy="502920"/>
          </a:xfrm>
          <a:prstGeom prst="rect">
            <a:avLst/>
          </a:prstGeom>
          <a:noFill/>
          <a:ln/>
        </p:spPr>
        <p:txBody>
          <a:bodyPr wrap="none" lIns="0" tIns="0" rIns="0" bIns="0" rtlCol="0" anchor="ctr"/>
          <a:lstStyle/>
          <a:p>
            <a:pPr algn="ctr" indent="0" marL="0">
              <a:lnSpc>
                <a:spcPct val="115000"/>
              </a:lnSpc>
              <a:buNone/>
            </a:pPr>
            <a:r>
              <a:rPr lang="en-US" sz="4000" b="1" dirty="0">
                <a:solidFill>
                  <a:srgbClr val="1F4FD8"/>
                </a:solidFill>
                <a:latin typeface="Calibri" pitchFamily="34" charset="0"/>
                <a:ea typeface="Calibri" pitchFamily="34" charset="-122"/>
                <a:cs typeface="Calibri" pitchFamily="34" charset="-120"/>
              </a:rPr>
              <a:t>→</a:t>
            </a:r>
            <a:endParaRPr lang="en-US" sz="4000" dirty="0"/>
          </a:p>
        </p:txBody>
      </p:sp>
      <p:sp>
        <p:nvSpPr>
          <p:cNvPr id="28" name="Text 26"/>
          <p:cNvSpPr txBox="1"/>
          <p:nvPr/>
        </p:nvSpPr>
        <p:spPr>
          <a:xfrm>
            <a:off x="3474720" y="2971800"/>
            <a:ext cx="1252728" cy="228600"/>
          </a:xfrm>
          <a:prstGeom prst="rect">
            <a:avLst/>
          </a:prstGeom>
          <a:noFill/>
          <a:ln/>
        </p:spPr>
        <p:txBody>
          <a:bodyPr wrap="square" lIns="0" tIns="0" rIns="0" bIns="0" rtlCol="0" anchor="t"/>
          <a:lstStyle/>
          <a:p>
            <a:pPr algn="ctr" indent="0" marL="0">
              <a:lnSpc>
                <a:spcPct val="115000"/>
              </a:lnSpc>
              <a:buNone/>
            </a:pPr>
            <a:r>
              <a:rPr lang="en-US" sz="1300" dirty="0">
                <a:solidFill>
                  <a:srgbClr val="1F4FD8"/>
                </a:solidFill>
                <a:latin typeface="Calibri" pitchFamily="34" charset="0"/>
                <a:ea typeface="Calibri" pitchFamily="34" charset="-122"/>
                <a:cs typeface="Calibri" pitchFamily="34" charset="-120"/>
              </a:rPr>
              <a:t>request</a:t>
            </a:r>
            <a:endParaRPr lang="en-US" sz="1300" dirty="0"/>
          </a:p>
        </p:txBody>
      </p:sp>
      <p:sp>
        <p:nvSpPr>
          <p:cNvPr id="29" name="Text 27"/>
          <p:cNvSpPr txBox="1"/>
          <p:nvPr/>
        </p:nvSpPr>
        <p:spPr>
          <a:xfrm>
            <a:off x="3474720" y="3246120"/>
            <a:ext cx="1252728" cy="502920"/>
          </a:xfrm>
          <a:prstGeom prst="rect">
            <a:avLst/>
          </a:prstGeom>
          <a:noFill/>
          <a:ln/>
        </p:spPr>
        <p:txBody>
          <a:bodyPr wrap="none" lIns="0" tIns="0" rIns="0" bIns="0" rtlCol="0" anchor="ctr"/>
          <a:lstStyle/>
          <a:p>
            <a:pPr algn="ctr" indent="0" marL="0">
              <a:lnSpc>
                <a:spcPct val="115000"/>
              </a:lnSpc>
              <a:buNone/>
            </a:pPr>
            <a:r>
              <a:rPr lang="en-US" sz="4000" b="1" dirty="0">
                <a:solidFill>
                  <a:srgbClr val="E63946"/>
                </a:solidFill>
                <a:latin typeface="Calibri" pitchFamily="34" charset="0"/>
                <a:ea typeface="Calibri" pitchFamily="34" charset="-122"/>
                <a:cs typeface="Calibri" pitchFamily="34" charset="-120"/>
              </a:rPr>
              <a:t>←</a:t>
            </a:r>
            <a:endParaRPr lang="en-US" sz="4000" dirty="0"/>
          </a:p>
        </p:txBody>
      </p:sp>
      <p:sp>
        <p:nvSpPr>
          <p:cNvPr id="30" name="Text 28"/>
          <p:cNvSpPr txBox="1"/>
          <p:nvPr/>
        </p:nvSpPr>
        <p:spPr>
          <a:xfrm>
            <a:off x="3474720" y="3703320"/>
            <a:ext cx="1252728" cy="228600"/>
          </a:xfrm>
          <a:prstGeom prst="rect">
            <a:avLst/>
          </a:prstGeom>
          <a:noFill/>
          <a:ln/>
        </p:spPr>
        <p:txBody>
          <a:bodyPr wrap="square" lIns="0" tIns="0" rIns="0" bIns="0" rtlCol="0" anchor="t"/>
          <a:lstStyle/>
          <a:p>
            <a:pPr algn="ctr" indent="0" marL="0">
              <a:lnSpc>
                <a:spcPct val="115000"/>
              </a:lnSpc>
              <a:buNone/>
            </a:pPr>
            <a:r>
              <a:rPr lang="en-US" sz="1300" dirty="0">
                <a:solidFill>
                  <a:srgbClr val="E63946"/>
                </a:solidFill>
                <a:latin typeface="Calibri" pitchFamily="34" charset="0"/>
                <a:ea typeface="Calibri" pitchFamily="34" charset="-122"/>
                <a:cs typeface="Calibri" pitchFamily="34" charset="-120"/>
              </a:rPr>
              <a:t>response</a:t>
            </a:r>
            <a:endParaRPr lang="en-US" sz="1300" dirty="0"/>
          </a:p>
        </p:txBody>
      </p:sp>
      <p:sp>
        <p:nvSpPr>
          <p:cNvPr id="31" name="Text 29"/>
          <p:cNvSpPr txBox="1"/>
          <p:nvPr/>
        </p:nvSpPr>
        <p:spPr>
          <a:xfrm>
            <a:off x="7470648" y="2514600"/>
            <a:ext cx="1252728" cy="502920"/>
          </a:xfrm>
          <a:prstGeom prst="rect">
            <a:avLst/>
          </a:prstGeom>
          <a:noFill/>
          <a:ln/>
        </p:spPr>
        <p:txBody>
          <a:bodyPr wrap="none" lIns="0" tIns="0" rIns="0" bIns="0" rtlCol="0" anchor="ctr"/>
          <a:lstStyle/>
          <a:p>
            <a:pPr algn="ctr" indent="0" marL="0">
              <a:lnSpc>
                <a:spcPct val="115000"/>
              </a:lnSpc>
              <a:buNone/>
            </a:pPr>
            <a:r>
              <a:rPr lang="en-US" sz="4000" b="1" dirty="0">
                <a:solidFill>
                  <a:srgbClr val="1F4FD8"/>
                </a:solidFill>
                <a:latin typeface="Calibri" pitchFamily="34" charset="0"/>
                <a:ea typeface="Calibri" pitchFamily="34" charset="-122"/>
                <a:cs typeface="Calibri" pitchFamily="34" charset="-120"/>
              </a:rPr>
              <a:t>→</a:t>
            </a:r>
            <a:endParaRPr lang="en-US" sz="4000" dirty="0"/>
          </a:p>
        </p:txBody>
      </p:sp>
      <p:sp>
        <p:nvSpPr>
          <p:cNvPr id="32" name="Text 30"/>
          <p:cNvSpPr txBox="1"/>
          <p:nvPr/>
        </p:nvSpPr>
        <p:spPr>
          <a:xfrm>
            <a:off x="7470648" y="2971800"/>
            <a:ext cx="1252728" cy="228600"/>
          </a:xfrm>
          <a:prstGeom prst="rect">
            <a:avLst/>
          </a:prstGeom>
          <a:noFill/>
          <a:ln/>
        </p:spPr>
        <p:txBody>
          <a:bodyPr wrap="square" lIns="0" tIns="0" rIns="0" bIns="0" rtlCol="0" anchor="t"/>
          <a:lstStyle/>
          <a:p>
            <a:pPr algn="ctr" indent="0" marL="0">
              <a:lnSpc>
                <a:spcPct val="115000"/>
              </a:lnSpc>
              <a:buNone/>
            </a:pPr>
            <a:r>
              <a:rPr lang="en-US" sz="1300" dirty="0">
                <a:solidFill>
                  <a:srgbClr val="1F4FD8"/>
                </a:solidFill>
                <a:latin typeface="Calibri" pitchFamily="34" charset="0"/>
                <a:ea typeface="Calibri" pitchFamily="34" charset="-122"/>
                <a:cs typeface="Calibri" pitchFamily="34" charset="-120"/>
              </a:rPr>
              <a:t>request</a:t>
            </a:r>
            <a:endParaRPr lang="en-US" sz="1300" dirty="0"/>
          </a:p>
        </p:txBody>
      </p:sp>
      <p:sp>
        <p:nvSpPr>
          <p:cNvPr id="33" name="Text 31"/>
          <p:cNvSpPr txBox="1"/>
          <p:nvPr/>
        </p:nvSpPr>
        <p:spPr>
          <a:xfrm>
            <a:off x="7470648" y="3246120"/>
            <a:ext cx="1252728" cy="502920"/>
          </a:xfrm>
          <a:prstGeom prst="rect">
            <a:avLst/>
          </a:prstGeom>
          <a:noFill/>
          <a:ln/>
        </p:spPr>
        <p:txBody>
          <a:bodyPr wrap="none" lIns="0" tIns="0" rIns="0" bIns="0" rtlCol="0" anchor="ctr"/>
          <a:lstStyle/>
          <a:p>
            <a:pPr algn="ctr" indent="0" marL="0">
              <a:lnSpc>
                <a:spcPct val="115000"/>
              </a:lnSpc>
              <a:buNone/>
            </a:pPr>
            <a:r>
              <a:rPr lang="en-US" sz="4000" b="1" dirty="0">
                <a:solidFill>
                  <a:srgbClr val="E63946"/>
                </a:solidFill>
                <a:latin typeface="Calibri" pitchFamily="34" charset="0"/>
                <a:ea typeface="Calibri" pitchFamily="34" charset="-122"/>
                <a:cs typeface="Calibri" pitchFamily="34" charset="-120"/>
              </a:rPr>
              <a:t>←</a:t>
            </a:r>
            <a:endParaRPr lang="en-US" sz="4000" dirty="0"/>
          </a:p>
        </p:txBody>
      </p:sp>
      <p:sp>
        <p:nvSpPr>
          <p:cNvPr id="34" name="Text 32"/>
          <p:cNvSpPr txBox="1"/>
          <p:nvPr/>
        </p:nvSpPr>
        <p:spPr>
          <a:xfrm>
            <a:off x="7470648" y="3703320"/>
            <a:ext cx="1252728" cy="228600"/>
          </a:xfrm>
          <a:prstGeom prst="rect">
            <a:avLst/>
          </a:prstGeom>
          <a:noFill/>
          <a:ln/>
        </p:spPr>
        <p:txBody>
          <a:bodyPr wrap="square" lIns="0" tIns="0" rIns="0" bIns="0" rtlCol="0" anchor="t"/>
          <a:lstStyle/>
          <a:p>
            <a:pPr algn="ctr" indent="0" marL="0">
              <a:lnSpc>
                <a:spcPct val="115000"/>
              </a:lnSpc>
              <a:buNone/>
            </a:pPr>
            <a:r>
              <a:rPr lang="en-US" sz="1300" dirty="0">
                <a:solidFill>
                  <a:srgbClr val="E63946"/>
                </a:solidFill>
                <a:latin typeface="Calibri" pitchFamily="34" charset="0"/>
                <a:ea typeface="Calibri" pitchFamily="34" charset="-122"/>
                <a:cs typeface="Calibri" pitchFamily="34" charset="-120"/>
              </a:rPr>
              <a:t>response</a:t>
            </a:r>
            <a:endParaRPr lang="en-US" sz="1300" dirty="0"/>
          </a:p>
        </p:txBody>
      </p:sp>
      <p:sp>
        <p:nvSpPr>
          <p:cNvPr id="35" name="Shape 33"/>
          <p:cNvSpPr/>
          <p:nvPr/>
        </p:nvSpPr>
        <p:spPr>
          <a:xfrm>
            <a:off x="731520" y="4617720"/>
            <a:ext cx="384048" cy="384048"/>
          </a:xfrm>
          <a:prstGeom prst="ellipse">
            <a:avLst/>
          </a:prstGeom>
          <a:solidFill>
            <a:srgbClr val="1F4FD8"/>
          </a:solidFill>
          <a:ln/>
        </p:spPr>
      </p:sp>
      <p:sp>
        <p:nvSpPr>
          <p:cNvPr id="36" name="Text 34"/>
          <p:cNvSpPr txBox="1"/>
          <p:nvPr/>
        </p:nvSpPr>
        <p:spPr>
          <a:xfrm>
            <a:off x="731520" y="4617720"/>
            <a:ext cx="384048" cy="384048"/>
          </a:xfrm>
          <a:prstGeom prst="rect">
            <a:avLst/>
          </a:prstGeom>
          <a:noFill/>
          <a:ln/>
        </p:spPr>
        <p:txBody>
          <a:bodyPr wrap="square" lIns="0" tIns="0" rIns="0" bIns="0" rtlCol="0" anchor="ctr"/>
          <a:lstStyle/>
          <a:p>
            <a:pPr algn="ctr" indent="0" marL="0">
              <a:lnSpc>
                <a:spcPct val="115000"/>
              </a:lnSpc>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7" name="Text 35"/>
          <p:cNvSpPr txBox="1"/>
          <p:nvPr/>
        </p:nvSpPr>
        <p:spPr>
          <a:xfrm>
            <a:off x="1261872" y="4572000"/>
            <a:ext cx="4572000" cy="502920"/>
          </a:xfrm>
          <a:prstGeom prst="rect">
            <a:avLst/>
          </a:prstGeom>
          <a:noFill/>
          <a:ln/>
        </p:spPr>
        <p:txBody>
          <a:bodyPr wrap="square" lIns="0" tIns="0" rIns="0" bIns="0" rtlCol="0" anchor="ctr"/>
          <a:lstStyle/>
          <a:p>
            <a:pPr algn="l" indent="0" marL="0">
              <a:lnSpc>
                <a:spcPct val="125000"/>
              </a:lnSpc>
              <a:buNone/>
            </a:pPr>
            <a:r>
              <a:rPr lang="en-US" sz="1700" dirty="0">
                <a:solidFill>
                  <a:srgbClr val="0E1B3D"/>
                </a:solidFill>
                <a:latin typeface="Calibri" pitchFamily="34" charset="0"/>
                <a:ea typeface="Calibri" pitchFamily="34" charset="-122"/>
                <a:cs typeface="Calibri" pitchFamily="34" charset="-120"/>
              </a:rPr>
              <a:t>Browser MEMINTA halaman lewat alamat (URL).</a:t>
            </a:r>
            <a:endParaRPr lang="en-US" sz="1700" dirty="0"/>
          </a:p>
        </p:txBody>
      </p:sp>
      <p:sp>
        <p:nvSpPr>
          <p:cNvPr id="38" name="Shape 36"/>
          <p:cNvSpPr/>
          <p:nvPr/>
        </p:nvSpPr>
        <p:spPr>
          <a:xfrm>
            <a:off x="6309360" y="4617720"/>
            <a:ext cx="384048" cy="384048"/>
          </a:xfrm>
          <a:prstGeom prst="ellipse">
            <a:avLst/>
          </a:prstGeom>
          <a:solidFill>
            <a:srgbClr val="E63946"/>
          </a:solidFill>
          <a:ln/>
        </p:spPr>
      </p:sp>
      <p:sp>
        <p:nvSpPr>
          <p:cNvPr id="39" name="Text 37"/>
          <p:cNvSpPr txBox="1"/>
          <p:nvPr/>
        </p:nvSpPr>
        <p:spPr>
          <a:xfrm>
            <a:off x="6309360" y="4617720"/>
            <a:ext cx="384048" cy="384048"/>
          </a:xfrm>
          <a:prstGeom prst="rect">
            <a:avLst/>
          </a:prstGeom>
          <a:noFill/>
          <a:ln/>
        </p:spPr>
        <p:txBody>
          <a:bodyPr wrap="square" lIns="0" tIns="0" rIns="0" bIns="0" rtlCol="0" anchor="ctr"/>
          <a:lstStyle/>
          <a:p>
            <a:pPr algn="ctr" indent="0" marL="0">
              <a:lnSpc>
                <a:spcPct val="115000"/>
              </a:lnSpc>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0" name="Text 38"/>
          <p:cNvSpPr txBox="1"/>
          <p:nvPr/>
        </p:nvSpPr>
        <p:spPr>
          <a:xfrm>
            <a:off x="6839712" y="4572000"/>
            <a:ext cx="4572000" cy="502920"/>
          </a:xfrm>
          <a:prstGeom prst="rect">
            <a:avLst/>
          </a:prstGeom>
          <a:noFill/>
          <a:ln/>
        </p:spPr>
        <p:txBody>
          <a:bodyPr wrap="square" lIns="0" tIns="0" rIns="0" bIns="0" rtlCol="0" anchor="ctr"/>
          <a:lstStyle/>
          <a:p>
            <a:pPr algn="l" indent="0" marL="0">
              <a:lnSpc>
                <a:spcPct val="125000"/>
              </a:lnSpc>
              <a:buNone/>
            </a:pPr>
            <a:r>
              <a:rPr lang="en-US" sz="1700" dirty="0">
                <a:solidFill>
                  <a:srgbClr val="0E1B3D"/>
                </a:solidFill>
                <a:latin typeface="Calibri" pitchFamily="34" charset="0"/>
                <a:ea typeface="Calibri" pitchFamily="34" charset="-122"/>
                <a:cs typeface="Calibri" pitchFamily="34" charset="-120"/>
              </a:rPr>
              <a:t>Server MENJAWAB dengan file HTML dan CSS.</a:t>
            </a:r>
            <a:endParaRPr lang="en-US" sz="1700" dirty="0"/>
          </a:p>
        </p:txBody>
      </p:sp>
      <p:sp>
        <p:nvSpPr>
          <p:cNvPr id="41" name="Text 39"/>
          <p:cNvSpPr txBox="1"/>
          <p:nvPr/>
        </p:nvSpPr>
        <p:spPr>
          <a:xfrm>
            <a:off x="731520" y="5440680"/>
            <a:ext cx="10698480" cy="457200"/>
          </a:xfrm>
          <a:prstGeom prst="rect">
            <a:avLst/>
          </a:prstGeom>
          <a:noFill/>
          <a:ln/>
        </p:spPr>
        <p:txBody>
          <a:bodyPr wrap="square" lIns="0" tIns="0" rIns="0" bIns="0" rtlCol="0" anchor="t"/>
          <a:lstStyle/>
          <a:p>
            <a:pPr algn="l" indent="0" marL="0">
              <a:lnSpc>
                <a:spcPct val="115000"/>
              </a:lnSpc>
              <a:buNone/>
            </a:pPr>
            <a:r>
              <a:rPr lang="en-US" sz="2400" b="1" dirty="0">
                <a:solidFill>
                  <a:srgbClr val="0E1B3D"/>
                </a:solidFill>
                <a:latin typeface="Calibri" pitchFamily="34" charset="0"/>
                <a:ea typeface="Calibri" pitchFamily="34" charset="-122"/>
                <a:cs typeface="Calibri" pitchFamily="34" charset="-120"/>
              </a:rPr>
              <a:t>Website = kumpulan file yang dikirim server ke browser-mu.</a:t>
            </a:r>
            <a:endParaRPr lang="en-US" sz="2400" dirty="0"/>
          </a:p>
        </p:txBody>
      </p:sp>
      <p:sp>
        <p:nvSpPr>
          <p:cNvPr id="42" name="Text 40"/>
          <p:cNvSpPr txBox="1"/>
          <p:nvPr/>
        </p:nvSpPr>
        <p:spPr>
          <a:xfrm>
            <a:off x="731520" y="5943600"/>
            <a:ext cx="10698480" cy="320040"/>
          </a:xfrm>
          <a:prstGeom prst="rect">
            <a:avLst/>
          </a:prstGeom>
          <a:noFill/>
          <a:ln/>
        </p:spPr>
        <p:txBody>
          <a:bodyPr wrap="square" lIns="0" tIns="0" rIns="0" bIns="0" rtlCol="0" anchor="t"/>
          <a:lstStyle/>
          <a:p>
            <a:pPr algn="l" indent="0" marL="0">
              <a:lnSpc>
                <a:spcPct val="115000"/>
              </a:lnSpc>
              <a:buNone/>
            </a:pPr>
            <a:r>
              <a:rPr lang="en-US" sz="1500" dirty="0">
                <a:solidFill>
                  <a:srgbClr val="5B6478"/>
                </a:solidFill>
                <a:latin typeface="Calibri" pitchFamily="34" charset="0"/>
                <a:ea typeface="Calibri" pitchFamily="34" charset="-122"/>
                <a:cs typeface="Calibri" pitchFamily="34" charset="-120"/>
              </a:rPr>
              <a:t>Hari ini server-nya 'pura-pura' ada di komputermu sendiri. Itu tugas Live Server.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6F7FA8"/>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6F7FA8"/>
                </a:solidFill>
                <a:latin typeface="Calibri" pitchFamily="34" charset="0"/>
                <a:ea typeface="Calibri" pitchFamily="34" charset="-122"/>
                <a:cs typeface="Calibri" pitchFamily="34" charset="-120"/>
              </a:rPr>
              <a:t>08</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FFC83D"/>
                </a:solidFill>
                <a:latin typeface="Calibri" pitchFamily="34" charset="0"/>
                <a:ea typeface="Calibri" pitchFamily="34" charset="-122"/>
                <a:cs typeface="Calibri" pitchFamily="34" charset="-120"/>
              </a:rPr>
              <a:t>01 · DASAR WEB</a:t>
            </a:r>
            <a:endParaRPr lang="en-US" sz="1200" dirty="0"/>
          </a:p>
        </p:txBody>
      </p:sp>
      <p:sp>
        <p:nvSpPr>
          <p:cNvPr id="5" name="Text 3"/>
          <p:cNvSpPr txBox="1"/>
          <p:nvPr/>
        </p:nvSpPr>
        <p:spPr>
          <a:xfrm>
            <a:off x="731520" y="804672"/>
            <a:ext cx="10698480" cy="1005840"/>
          </a:xfrm>
          <a:prstGeom prst="rect">
            <a:avLst/>
          </a:prstGeom>
          <a:noFill/>
          <a:ln/>
        </p:spPr>
        <p:txBody>
          <a:bodyPr wrap="square" lIns="0" tIns="0" rIns="0" bIns="0" rtlCol="0" anchor="t"/>
          <a:lstStyle/>
          <a:p>
            <a:pPr algn="l" indent="0" marL="0">
              <a:lnSpc>
                <a:spcPct val="108000"/>
              </a:lnSpc>
              <a:buNone/>
            </a:pPr>
            <a:r>
              <a:rPr lang="en-US" sz="3800" b="1" dirty="0">
                <a:solidFill>
                  <a:srgbClr val="F4F6FB"/>
                </a:solidFill>
                <a:latin typeface="Calibri" pitchFamily="34" charset="0"/>
                <a:ea typeface="Calibri" pitchFamily="34" charset="-122"/>
                <a:cs typeface="Calibri" pitchFamily="34" charset="-120"/>
              </a:rPr>
              <a:t>Tiga bahan sebuah website</a:t>
            </a:r>
            <a:endParaRPr lang="en-US" sz="3800" dirty="0"/>
          </a:p>
        </p:txBody>
      </p:sp>
      <p:sp>
        <p:nvSpPr>
          <p:cNvPr id="6" name="Shape 4"/>
          <p:cNvSpPr/>
          <p:nvPr/>
        </p:nvSpPr>
        <p:spPr>
          <a:xfrm>
            <a:off x="731520" y="2011680"/>
            <a:ext cx="3429000" cy="4023360"/>
          </a:xfrm>
          <a:prstGeom prst="roundRect">
            <a:avLst>
              <a:gd name="adj" fmla="val 5333"/>
            </a:avLst>
          </a:prstGeom>
          <a:solidFill>
            <a:srgbClr val="17285A"/>
          </a:solidFill>
          <a:ln w="12700">
            <a:solidFill>
              <a:srgbClr val="2A3C6E"/>
            </a:solidFill>
            <a:prstDash val="solid"/>
          </a:ln>
        </p:spPr>
      </p:sp>
      <p:sp>
        <p:nvSpPr>
          <p:cNvPr id="7" name="Shape 5"/>
          <p:cNvSpPr/>
          <p:nvPr/>
        </p:nvSpPr>
        <p:spPr>
          <a:xfrm>
            <a:off x="1005840" y="2286000"/>
            <a:ext cx="1234440" cy="292608"/>
          </a:xfrm>
          <a:prstGeom prst="roundRect">
            <a:avLst>
              <a:gd name="adj" fmla="val 50000"/>
            </a:avLst>
          </a:prstGeom>
          <a:solidFill>
            <a:srgbClr val="FFC83D"/>
          </a:solidFill>
          <a:ln/>
        </p:spPr>
      </p:sp>
      <p:sp>
        <p:nvSpPr>
          <p:cNvPr id="8" name="Text 6"/>
          <p:cNvSpPr txBox="1"/>
          <p:nvPr/>
        </p:nvSpPr>
        <p:spPr>
          <a:xfrm>
            <a:off x="1005840" y="2286000"/>
            <a:ext cx="1234440" cy="292608"/>
          </a:xfrm>
          <a:prstGeom prst="rect">
            <a:avLst/>
          </a:prstGeom>
          <a:noFill/>
          <a:ln/>
        </p:spPr>
        <p:txBody>
          <a:bodyPr wrap="square" lIns="0" tIns="0" rIns="0" bIns="0" rtlCol="0" anchor="ctr"/>
          <a:lstStyle/>
          <a:p>
            <a:pPr algn="ctr" indent="0" marL="0">
              <a:lnSpc>
                <a:spcPct val="115000"/>
              </a:lnSpc>
              <a:buNone/>
            </a:pPr>
            <a:r>
              <a:rPr lang="en-US" sz="1100" b="1" spc="120" kern="0" dirty="0">
                <a:solidFill>
                  <a:srgbClr val="0E1B3D"/>
                </a:solidFill>
                <a:latin typeface="Calibri" pitchFamily="34" charset="0"/>
                <a:ea typeface="Calibri" pitchFamily="34" charset="-122"/>
                <a:cs typeface="Calibri" pitchFamily="34" charset="-120"/>
              </a:rPr>
              <a:t>HARI INI</a:t>
            </a:r>
            <a:endParaRPr lang="en-US" sz="1100" dirty="0"/>
          </a:p>
        </p:txBody>
      </p:sp>
      <p:sp>
        <p:nvSpPr>
          <p:cNvPr id="9" name="Text 7"/>
          <p:cNvSpPr txBox="1"/>
          <p:nvPr/>
        </p:nvSpPr>
        <p:spPr>
          <a:xfrm>
            <a:off x="1005840" y="2788920"/>
            <a:ext cx="2926080" cy="822960"/>
          </a:xfrm>
          <a:prstGeom prst="rect">
            <a:avLst/>
          </a:prstGeom>
          <a:noFill/>
          <a:ln/>
        </p:spPr>
        <p:txBody>
          <a:bodyPr wrap="none" lIns="0" tIns="0" rIns="0" bIns="0" rtlCol="0" anchor="ctr"/>
          <a:lstStyle/>
          <a:p>
            <a:pPr algn="l" indent="0" marL="0">
              <a:lnSpc>
                <a:spcPct val="115000"/>
              </a:lnSpc>
              <a:buNone/>
            </a:pPr>
            <a:r>
              <a:rPr lang="en-US" sz="5200" b="1" dirty="0">
                <a:solidFill>
                  <a:srgbClr val="8DB4FF"/>
                </a:solidFill>
                <a:latin typeface="Consolas" pitchFamily="34" charset="0"/>
                <a:ea typeface="Consolas" pitchFamily="34" charset="-122"/>
                <a:cs typeface="Consolas" pitchFamily="34" charset="-120"/>
              </a:rPr>
              <a:t>HTML</a:t>
            </a:r>
            <a:endParaRPr lang="en-US" sz="5200" dirty="0"/>
          </a:p>
        </p:txBody>
      </p:sp>
      <p:sp>
        <p:nvSpPr>
          <p:cNvPr id="10" name="Text 8"/>
          <p:cNvSpPr txBox="1"/>
          <p:nvPr/>
        </p:nvSpPr>
        <p:spPr>
          <a:xfrm>
            <a:off x="1005840" y="3657600"/>
            <a:ext cx="2926080" cy="457200"/>
          </a:xfrm>
          <a:prstGeom prst="rect">
            <a:avLst/>
          </a:prstGeom>
          <a:noFill/>
          <a:ln/>
        </p:spPr>
        <p:txBody>
          <a:bodyPr wrap="square" lIns="0" tIns="0" rIns="0" bIns="0" rtlCol="0" anchor="t"/>
          <a:lstStyle/>
          <a:p>
            <a:pPr algn="l" indent="0" marL="0">
              <a:lnSpc>
                <a:spcPct val="115000"/>
              </a:lnSpc>
              <a:buNone/>
            </a:pPr>
            <a:r>
              <a:rPr lang="en-US" sz="2600" b="1" dirty="0">
                <a:solidFill>
                  <a:srgbClr val="FFFFFF"/>
                </a:solidFill>
                <a:latin typeface="Calibri" pitchFamily="34" charset="0"/>
                <a:ea typeface="Calibri" pitchFamily="34" charset="-122"/>
                <a:cs typeface="Calibri" pitchFamily="34" charset="-120"/>
              </a:rPr>
              <a:t>Kerangka</a:t>
            </a:r>
            <a:endParaRPr lang="en-US" sz="2600" dirty="0"/>
          </a:p>
        </p:txBody>
      </p:sp>
      <p:sp>
        <p:nvSpPr>
          <p:cNvPr id="11" name="Text 9"/>
          <p:cNvSpPr txBox="1"/>
          <p:nvPr/>
        </p:nvSpPr>
        <p:spPr>
          <a:xfrm>
            <a:off x="1005840" y="4160520"/>
            <a:ext cx="2926080" cy="868680"/>
          </a:xfrm>
          <a:prstGeom prst="rect">
            <a:avLst/>
          </a:prstGeom>
          <a:noFill/>
          <a:ln/>
        </p:spPr>
        <p:txBody>
          <a:bodyPr wrap="square" lIns="0" tIns="0" rIns="0" bIns="0" rtlCol="0" anchor="t"/>
          <a:lstStyle/>
          <a:p>
            <a:pPr algn="l" indent="0" marL="0">
              <a:lnSpc>
                <a:spcPct val="135000"/>
              </a:lnSpc>
              <a:buNone/>
            </a:pPr>
            <a:r>
              <a:rPr lang="en-US" sz="1600" dirty="0">
                <a:solidFill>
                  <a:srgbClr val="A9B6D6"/>
                </a:solidFill>
                <a:latin typeface="Calibri" pitchFamily="34" charset="0"/>
                <a:ea typeface="Calibri" pitchFamily="34" charset="-122"/>
                <a:cs typeface="Calibri" pitchFamily="34" charset="-120"/>
              </a:rPr>
              <a:t>Seperti tulang: menentukan bentuk dan isi halaman.</a:t>
            </a:r>
            <a:endParaRPr lang="en-US" sz="1600" dirty="0"/>
          </a:p>
        </p:txBody>
      </p:sp>
      <p:sp>
        <p:nvSpPr>
          <p:cNvPr id="12" name="Shape 10"/>
          <p:cNvSpPr/>
          <p:nvPr/>
        </p:nvSpPr>
        <p:spPr>
          <a:xfrm>
            <a:off x="1005840" y="5212080"/>
            <a:ext cx="2880360" cy="548640"/>
          </a:xfrm>
          <a:prstGeom prst="roundRect">
            <a:avLst>
              <a:gd name="adj" fmla="val 16667"/>
            </a:avLst>
          </a:prstGeom>
          <a:solidFill>
            <a:srgbClr val="0B1530"/>
          </a:solidFill>
          <a:ln/>
        </p:spPr>
      </p:sp>
      <p:sp>
        <p:nvSpPr>
          <p:cNvPr id="13" name="Text 11"/>
          <p:cNvSpPr txBox="1"/>
          <p:nvPr/>
        </p:nvSpPr>
        <p:spPr>
          <a:xfrm>
            <a:off x="1143000" y="5212080"/>
            <a:ext cx="2651760" cy="548640"/>
          </a:xfrm>
          <a:prstGeom prst="rect">
            <a:avLst/>
          </a:prstGeom>
          <a:noFill/>
          <a:ln/>
        </p:spPr>
        <p:txBody>
          <a:bodyPr wrap="none" lIns="0" tIns="0" rIns="0" bIns="0" rtlCol="0" anchor="ctr"/>
          <a:lstStyle/>
          <a:p>
            <a:pPr algn="l" indent="0" marL="0">
              <a:lnSpc>
                <a:spcPct val="115000"/>
              </a:lnSpc>
              <a:buNone/>
            </a:pPr>
            <a:r>
              <a:rPr lang="en-US" sz="1700" dirty="0">
                <a:solidFill>
                  <a:srgbClr val="F4F6FB"/>
                </a:solidFill>
                <a:latin typeface="Consolas" pitchFamily="34" charset="0"/>
                <a:ea typeface="Consolas" pitchFamily="34" charset="-122"/>
                <a:cs typeface="Consolas" pitchFamily="34" charset="-120"/>
              </a:rPr>
              <a:t>&lt;h1&gt;Halo&lt;/h1&gt;</a:t>
            </a:r>
            <a:endParaRPr lang="en-US" sz="1700" dirty="0"/>
          </a:p>
        </p:txBody>
      </p:sp>
      <p:sp>
        <p:nvSpPr>
          <p:cNvPr id="14" name="Shape 12"/>
          <p:cNvSpPr/>
          <p:nvPr/>
        </p:nvSpPr>
        <p:spPr>
          <a:xfrm>
            <a:off x="4361688" y="2011680"/>
            <a:ext cx="3429000" cy="4023360"/>
          </a:xfrm>
          <a:prstGeom prst="roundRect">
            <a:avLst>
              <a:gd name="adj" fmla="val 5333"/>
            </a:avLst>
          </a:prstGeom>
          <a:solidFill>
            <a:srgbClr val="17285A"/>
          </a:solidFill>
          <a:ln w="12700">
            <a:solidFill>
              <a:srgbClr val="2A3C6E"/>
            </a:solidFill>
            <a:prstDash val="solid"/>
          </a:ln>
        </p:spPr>
      </p:sp>
      <p:sp>
        <p:nvSpPr>
          <p:cNvPr id="15" name="Shape 13"/>
          <p:cNvSpPr/>
          <p:nvPr/>
        </p:nvSpPr>
        <p:spPr>
          <a:xfrm>
            <a:off x="4636008" y="2286000"/>
            <a:ext cx="1234440" cy="292608"/>
          </a:xfrm>
          <a:prstGeom prst="roundRect">
            <a:avLst>
              <a:gd name="adj" fmla="val 50000"/>
            </a:avLst>
          </a:prstGeom>
          <a:solidFill>
            <a:srgbClr val="FFC83D"/>
          </a:solidFill>
          <a:ln/>
        </p:spPr>
      </p:sp>
      <p:sp>
        <p:nvSpPr>
          <p:cNvPr id="16" name="Text 14"/>
          <p:cNvSpPr txBox="1"/>
          <p:nvPr/>
        </p:nvSpPr>
        <p:spPr>
          <a:xfrm>
            <a:off x="4636008" y="2286000"/>
            <a:ext cx="1234440" cy="292608"/>
          </a:xfrm>
          <a:prstGeom prst="rect">
            <a:avLst/>
          </a:prstGeom>
          <a:noFill/>
          <a:ln/>
        </p:spPr>
        <p:txBody>
          <a:bodyPr wrap="square" lIns="0" tIns="0" rIns="0" bIns="0" rtlCol="0" anchor="ctr"/>
          <a:lstStyle/>
          <a:p>
            <a:pPr algn="ctr" indent="0" marL="0">
              <a:lnSpc>
                <a:spcPct val="115000"/>
              </a:lnSpc>
              <a:buNone/>
            </a:pPr>
            <a:r>
              <a:rPr lang="en-US" sz="1100" b="1" spc="120" kern="0" dirty="0">
                <a:solidFill>
                  <a:srgbClr val="0E1B3D"/>
                </a:solidFill>
                <a:latin typeface="Calibri" pitchFamily="34" charset="0"/>
                <a:ea typeface="Calibri" pitchFamily="34" charset="-122"/>
                <a:cs typeface="Calibri" pitchFamily="34" charset="-120"/>
              </a:rPr>
              <a:t>HARI INI</a:t>
            </a:r>
            <a:endParaRPr lang="en-US" sz="1100" dirty="0"/>
          </a:p>
        </p:txBody>
      </p:sp>
      <p:sp>
        <p:nvSpPr>
          <p:cNvPr id="17" name="Text 15"/>
          <p:cNvSpPr txBox="1"/>
          <p:nvPr/>
        </p:nvSpPr>
        <p:spPr>
          <a:xfrm>
            <a:off x="4636008" y="2788920"/>
            <a:ext cx="2926080" cy="822960"/>
          </a:xfrm>
          <a:prstGeom prst="rect">
            <a:avLst/>
          </a:prstGeom>
          <a:noFill/>
          <a:ln/>
        </p:spPr>
        <p:txBody>
          <a:bodyPr wrap="none" lIns="0" tIns="0" rIns="0" bIns="0" rtlCol="0" anchor="ctr"/>
          <a:lstStyle/>
          <a:p>
            <a:pPr algn="l" indent="0" marL="0">
              <a:lnSpc>
                <a:spcPct val="115000"/>
              </a:lnSpc>
              <a:buNone/>
            </a:pPr>
            <a:r>
              <a:rPr lang="en-US" sz="5200" b="1" dirty="0">
                <a:solidFill>
                  <a:srgbClr val="FFD36E"/>
                </a:solidFill>
                <a:latin typeface="Consolas" pitchFamily="34" charset="0"/>
                <a:ea typeface="Consolas" pitchFamily="34" charset="-122"/>
                <a:cs typeface="Consolas" pitchFamily="34" charset="-120"/>
              </a:rPr>
              <a:t>CSS</a:t>
            </a:r>
            <a:endParaRPr lang="en-US" sz="5200" dirty="0"/>
          </a:p>
        </p:txBody>
      </p:sp>
      <p:sp>
        <p:nvSpPr>
          <p:cNvPr id="18" name="Text 16"/>
          <p:cNvSpPr txBox="1"/>
          <p:nvPr/>
        </p:nvSpPr>
        <p:spPr>
          <a:xfrm>
            <a:off x="4636008" y="3657600"/>
            <a:ext cx="2926080" cy="457200"/>
          </a:xfrm>
          <a:prstGeom prst="rect">
            <a:avLst/>
          </a:prstGeom>
          <a:noFill/>
          <a:ln/>
        </p:spPr>
        <p:txBody>
          <a:bodyPr wrap="square" lIns="0" tIns="0" rIns="0" bIns="0" rtlCol="0" anchor="t"/>
          <a:lstStyle/>
          <a:p>
            <a:pPr algn="l" indent="0" marL="0">
              <a:lnSpc>
                <a:spcPct val="115000"/>
              </a:lnSpc>
              <a:buNone/>
            </a:pPr>
            <a:r>
              <a:rPr lang="en-US" sz="2600" b="1" dirty="0">
                <a:solidFill>
                  <a:srgbClr val="FFFFFF"/>
                </a:solidFill>
                <a:latin typeface="Calibri" pitchFamily="34" charset="0"/>
                <a:ea typeface="Calibri" pitchFamily="34" charset="-122"/>
                <a:cs typeface="Calibri" pitchFamily="34" charset="-120"/>
              </a:rPr>
              <a:t>Penampilan</a:t>
            </a:r>
            <a:endParaRPr lang="en-US" sz="2600" dirty="0"/>
          </a:p>
        </p:txBody>
      </p:sp>
      <p:sp>
        <p:nvSpPr>
          <p:cNvPr id="19" name="Text 17"/>
          <p:cNvSpPr txBox="1"/>
          <p:nvPr/>
        </p:nvSpPr>
        <p:spPr>
          <a:xfrm>
            <a:off x="4636008" y="4160520"/>
            <a:ext cx="2926080" cy="868680"/>
          </a:xfrm>
          <a:prstGeom prst="rect">
            <a:avLst/>
          </a:prstGeom>
          <a:noFill/>
          <a:ln/>
        </p:spPr>
        <p:txBody>
          <a:bodyPr wrap="square" lIns="0" tIns="0" rIns="0" bIns="0" rtlCol="0" anchor="t"/>
          <a:lstStyle/>
          <a:p>
            <a:pPr algn="l" indent="0" marL="0">
              <a:lnSpc>
                <a:spcPct val="135000"/>
              </a:lnSpc>
              <a:buNone/>
            </a:pPr>
            <a:r>
              <a:rPr lang="en-US" sz="1600" dirty="0">
                <a:solidFill>
                  <a:srgbClr val="A9B6D6"/>
                </a:solidFill>
                <a:latin typeface="Calibri" pitchFamily="34" charset="0"/>
                <a:ea typeface="Calibri" pitchFamily="34" charset="-122"/>
                <a:cs typeface="Calibri" pitchFamily="34" charset="-120"/>
              </a:rPr>
              <a:t>Seperti pakaian: warna, font, dan tata letak.</a:t>
            </a:r>
            <a:endParaRPr lang="en-US" sz="1600" dirty="0"/>
          </a:p>
        </p:txBody>
      </p:sp>
      <p:sp>
        <p:nvSpPr>
          <p:cNvPr id="20" name="Shape 18"/>
          <p:cNvSpPr/>
          <p:nvPr/>
        </p:nvSpPr>
        <p:spPr>
          <a:xfrm>
            <a:off x="4636008" y="5212080"/>
            <a:ext cx="2880360" cy="548640"/>
          </a:xfrm>
          <a:prstGeom prst="roundRect">
            <a:avLst>
              <a:gd name="adj" fmla="val 16667"/>
            </a:avLst>
          </a:prstGeom>
          <a:solidFill>
            <a:srgbClr val="0B1530"/>
          </a:solidFill>
          <a:ln/>
        </p:spPr>
      </p:sp>
      <p:sp>
        <p:nvSpPr>
          <p:cNvPr id="21" name="Text 19"/>
          <p:cNvSpPr txBox="1"/>
          <p:nvPr/>
        </p:nvSpPr>
        <p:spPr>
          <a:xfrm>
            <a:off x="4773168" y="5212080"/>
            <a:ext cx="2651760" cy="548640"/>
          </a:xfrm>
          <a:prstGeom prst="rect">
            <a:avLst/>
          </a:prstGeom>
          <a:noFill/>
          <a:ln/>
        </p:spPr>
        <p:txBody>
          <a:bodyPr wrap="none" lIns="0" tIns="0" rIns="0" bIns="0" rtlCol="0" anchor="ctr"/>
          <a:lstStyle/>
          <a:p>
            <a:pPr algn="l" indent="0" marL="0">
              <a:lnSpc>
                <a:spcPct val="115000"/>
              </a:lnSpc>
              <a:buNone/>
            </a:pPr>
            <a:r>
              <a:rPr lang="en-US" sz="1700" dirty="0">
                <a:solidFill>
                  <a:srgbClr val="F4F6FB"/>
                </a:solidFill>
                <a:latin typeface="Consolas" pitchFamily="34" charset="0"/>
                <a:ea typeface="Consolas" pitchFamily="34" charset="-122"/>
                <a:cs typeface="Consolas" pitchFamily="34" charset="-120"/>
              </a:rPr>
              <a:t>h1 { color: red; }</a:t>
            </a:r>
            <a:endParaRPr lang="en-US" sz="1700" dirty="0"/>
          </a:p>
        </p:txBody>
      </p:sp>
      <p:sp>
        <p:nvSpPr>
          <p:cNvPr id="22" name="Shape 20"/>
          <p:cNvSpPr/>
          <p:nvPr/>
        </p:nvSpPr>
        <p:spPr>
          <a:xfrm>
            <a:off x="7991856" y="2011680"/>
            <a:ext cx="3429000" cy="4023360"/>
          </a:xfrm>
          <a:prstGeom prst="roundRect">
            <a:avLst>
              <a:gd name="adj" fmla="val 5333"/>
            </a:avLst>
          </a:prstGeom>
          <a:solidFill>
            <a:srgbClr val="17285A"/>
          </a:solidFill>
          <a:ln w="12700">
            <a:solidFill>
              <a:srgbClr val="2A3C6E"/>
            </a:solidFill>
            <a:prstDash val="solid"/>
          </a:ln>
        </p:spPr>
      </p:sp>
      <p:sp>
        <p:nvSpPr>
          <p:cNvPr id="23" name="Shape 21"/>
          <p:cNvSpPr/>
          <p:nvPr/>
        </p:nvSpPr>
        <p:spPr>
          <a:xfrm>
            <a:off x="8266176" y="2286000"/>
            <a:ext cx="1920240" cy="292608"/>
          </a:xfrm>
          <a:prstGeom prst="roundRect">
            <a:avLst>
              <a:gd name="adj" fmla="val 50000"/>
            </a:avLst>
          </a:prstGeom>
          <a:solidFill>
            <a:srgbClr val="2A3C6E"/>
          </a:solidFill>
          <a:ln/>
        </p:spPr>
      </p:sp>
      <p:sp>
        <p:nvSpPr>
          <p:cNvPr id="24" name="Text 22"/>
          <p:cNvSpPr txBox="1"/>
          <p:nvPr/>
        </p:nvSpPr>
        <p:spPr>
          <a:xfrm>
            <a:off x="8266176" y="2286000"/>
            <a:ext cx="1920240" cy="292608"/>
          </a:xfrm>
          <a:prstGeom prst="rect">
            <a:avLst/>
          </a:prstGeom>
          <a:noFill/>
          <a:ln/>
        </p:spPr>
        <p:txBody>
          <a:bodyPr wrap="square" lIns="0" tIns="0" rIns="0" bIns="0" rtlCol="0" anchor="ctr"/>
          <a:lstStyle/>
          <a:p>
            <a:pPr algn="ctr" indent="0" marL="0">
              <a:lnSpc>
                <a:spcPct val="115000"/>
              </a:lnSpc>
              <a:buNone/>
            </a:pPr>
            <a:r>
              <a:rPr lang="en-US" sz="1100" b="1" spc="120" kern="0" dirty="0">
                <a:solidFill>
                  <a:srgbClr val="A9B6D6"/>
                </a:solidFill>
                <a:latin typeface="Calibri" pitchFamily="34" charset="0"/>
                <a:ea typeface="Calibri" pitchFamily="34" charset="-122"/>
                <a:cs typeface="Calibri" pitchFamily="34" charset="-120"/>
              </a:rPr>
              <a:t>NANTI, DI RUMAH</a:t>
            </a:r>
            <a:endParaRPr lang="en-US" sz="1100" dirty="0"/>
          </a:p>
        </p:txBody>
      </p:sp>
      <p:sp>
        <p:nvSpPr>
          <p:cNvPr id="25" name="Text 23"/>
          <p:cNvSpPr txBox="1"/>
          <p:nvPr/>
        </p:nvSpPr>
        <p:spPr>
          <a:xfrm>
            <a:off x="8266176" y="2788920"/>
            <a:ext cx="2926080" cy="822960"/>
          </a:xfrm>
          <a:prstGeom prst="rect">
            <a:avLst/>
          </a:prstGeom>
          <a:noFill/>
          <a:ln/>
        </p:spPr>
        <p:txBody>
          <a:bodyPr wrap="none" lIns="0" tIns="0" rIns="0" bIns="0" rtlCol="0" anchor="ctr"/>
          <a:lstStyle/>
          <a:p>
            <a:pPr algn="l" indent="0" marL="0">
              <a:lnSpc>
                <a:spcPct val="115000"/>
              </a:lnSpc>
              <a:buNone/>
            </a:pPr>
            <a:r>
              <a:rPr lang="en-US" sz="5200" b="1" dirty="0">
                <a:solidFill>
                  <a:srgbClr val="7886A8"/>
                </a:solidFill>
                <a:latin typeface="Consolas" pitchFamily="34" charset="0"/>
                <a:ea typeface="Consolas" pitchFamily="34" charset="-122"/>
                <a:cs typeface="Consolas" pitchFamily="34" charset="-120"/>
              </a:rPr>
              <a:t>JS</a:t>
            </a:r>
            <a:endParaRPr lang="en-US" sz="5200" dirty="0"/>
          </a:p>
        </p:txBody>
      </p:sp>
      <p:sp>
        <p:nvSpPr>
          <p:cNvPr id="26" name="Text 24"/>
          <p:cNvSpPr txBox="1"/>
          <p:nvPr/>
        </p:nvSpPr>
        <p:spPr>
          <a:xfrm>
            <a:off x="8266176" y="3657600"/>
            <a:ext cx="2926080" cy="457200"/>
          </a:xfrm>
          <a:prstGeom prst="rect">
            <a:avLst/>
          </a:prstGeom>
          <a:noFill/>
          <a:ln/>
        </p:spPr>
        <p:txBody>
          <a:bodyPr wrap="square" lIns="0" tIns="0" rIns="0" bIns="0" rtlCol="0" anchor="t"/>
          <a:lstStyle/>
          <a:p>
            <a:pPr algn="l" indent="0" marL="0">
              <a:lnSpc>
                <a:spcPct val="115000"/>
              </a:lnSpc>
              <a:buNone/>
            </a:pPr>
            <a:r>
              <a:rPr lang="en-US" sz="2600" b="1" dirty="0">
                <a:solidFill>
                  <a:srgbClr val="A9B6D6"/>
                </a:solidFill>
                <a:latin typeface="Calibri" pitchFamily="34" charset="0"/>
                <a:ea typeface="Calibri" pitchFamily="34" charset="-122"/>
                <a:cs typeface="Calibri" pitchFamily="34" charset="-120"/>
              </a:rPr>
              <a:t>Gerakan</a:t>
            </a:r>
            <a:endParaRPr lang="en-US" sz="2600" dirty="0"/>
          </a:p>
        </p:txBody>
      </p:sp>
      <p:sp>
        <p:nvSpPr>
          <p:cNvPr id="27" name="Text 25"/>
          <p:cNvSpPr txBox="1"/>
          <p:nvPr/>
        </p:nvSpPr>
        <p:spPr>
          <a:xfrm>
            <a:off x="8266176" y="4160520"/>
            <a:ext cx="2926080" cy="868680"/>
          </a:xfrm>
          <a:prstGeom prst="rect">
            <a:avLst/>
          </a:prstGeom>
          <a:noFill/>
          <a:ln/>
        </p:spPr>
        <p:txBody>
          <a:bodyPr wrap="square" lIns="0" tIns="0" rIns="0" bIns="0" rtlCol="0" anchor="t"/>
          <a:lstStyle/>
          <a:p>
            <a:pPr algn="l" indent="0" marL="0">
              <a:lnSpc>
                <a:spcPct val="135000"/>
              </a:lnSpc>
              <a:buNone/>
            </a:pPr>
            <a:r>
              <a:rPr lang="en-US" sz="1600" dirty="0">
                <a:solidFill>
                  <a:srgbClr val="A9B6D6"/>
                </a:solidFill>
                <a:latin typeface="Calibri" pitchFamily="34" charset="0"/>
                <a:ea typeface="Calibri" pitchFamily="34" charset="-122"/>
                <a:cs typeface="Calibri" pitchFamily="34" charset="-120"/>
              </a:rPr>
              <a:t>Seperti otot: bikin halaman bisa bereaksi.</a:t>
            </a:r>
            <a:endParaRPr lang="en-US" sz="1600" dirty="0"/>
          </a:p>
        </p:txBody>
      </p:sp>
      <p:sp>
        <p:nvSpPr>
          <p:cNvPr id="28" name="Shape 26"/>
          <p:cNvSpPr/>
          <p:nvPr/>
        </p:nvSpPr>
        <p:spPr>
          <a:xfrm>
            <a:off x="8266176" y="5212080"/>
            <a:ext cx="2880360" cy="548640"/>
          </a:xfrm>
          <a:prstGeom prst="roundRect">
            <a:avLst>
              <a:gd name="adj" fmla="val 16667"/>
            </a:avLst>
          </a:prstGeom>
          <a:solidFill>
            <a:srgbClr val="0B1530"/>
          </a:solidFill>
          <a:ln/>
        </p:spPr>
      </p:sp>
      <p:sp>
        <p:nvSpPr>
          <p:cNvPr id="29" name="Text 27"/>
          <p:cNvSpPr txBox="1"/>
          <p:nvPr/>
        </p:nvSpPr>
        <p:spPr>
          <a:xfrm>
            <a:off x="8403336" y="5212080"/>
            <a:ext cx="2651760" cy="548640"/>
          </a:xfrm>
          <a:prstGeom prst="rect">
            <a:avLst/>
          </a:prstGeom>
          <a:noFill/>
          <a:ln/>
        </p:spPr>
        <p:txBody>
          <a:bodyPr wrap="none" lIns="0" tIns="0" rIns="0" bIns="0" rtlCol="0" anchor="ctr"/>
          <a:lstStyle/>
          <a:p>
            <a:pPr algn="l" indent="0" marL="0">
              <a:lnSpc>
                <a:spcPct val="115000"/>
              </a:lnSpc>
              <a:buNone/>
            </a:pPr>
            <a:r>
              <a:rPr lang="en-US" sz="1700" dirty="0">
                <a:solidFill>
                  <a:srgbClr val="7886A8"/>
                </a:solidFill>
                <a:latin typeface="Consolas" pitchFamily="34" charset="0"/>
                <a:ea typeface="Consolas" pitchFamily="34" charset="-122"/>
                <a:cs typeface="Consolas" pitchFamily="34" charset="-120"/>
              </a:rPr>
              <a:t>alert("Halo!");</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09</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01 · DASAR WEB</a:t>
            </a:r>
            <a:endParaRPr lang="en-US" sz="1200" dirty="0"/>
          </a:p>
        </p:txBody>
      </p:sp>
      <p:sp>
        <p:nvSpPr>
          <p:cNvPr id="5" name="Text 3"/>
          <p:cNvSpPr txBox="1"/>
          <p:nvPr/>
        </p:nvSpPr>
        <p:spPr>
          <a:xfrm>
            <a:off x="731520" y="804672"/>
            <a:ext cx="10698480" cy="100584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Tiga alat yang kamu butuhkan</a:t>
            </a:r>
            <a:endParaRPr lang="en-US" sz="3800" dirty="0"/>
          </a:p>
        </p:txBody>
      </p:sp>
      <p:sp>
        <p:nvSpPr>
          <p:cNvPr id="6" name="Shape 4"/>
          <p:cNvSpPr/>
          <p:nvPr/>
        </p:nvSpPr>
        <p:spPr>
          <a:xfrm>
            <a:off x="731520" y="2103120"/>
            <a:ext cx="640080" cy="640080"/>
          </a:xfrm>
          <a:prstGeom prst="ellipse">
            <a:avLst/>
          </a:prstGeom>
          <a:solidFill>
            <a:srgbClr val="DCE6FF"/>
          </a:solidFill>
          <a:ln/>
        </p:spPr>
      </p:sp>
      <p:sp>
        <p:nvSpPr>
          <p:cNvPr id="7" name="Text 5"/>
          <p:cNvSpPr txBox="1"/>
          <p:nvPr/>
        </p:nvSpPr>
        <p:spPr>
          <a:xfrm>
            <a:off x="731520" y="2103120"/>
            <a:ext cx="640080" cy="640080"/>
          </a:xfrm>
          <a:prstGeom prst="rect">
            <a:avLst/>
          </a:prstGeom>
          <a:noFill/>
          <a:ln/>
        </p:spPr>
        <p:txBody>
          <a:bodyPr wrap="square" lIns="0" tIns="0" rIns="0" bIns="0" rtlCol="0" anchor="ctr"/>
          <a:lstStyle/>
          <a:p>
            <a:pPr algn="ctr" indent="0" marL="0">
              <a:lnSpc>
                <a:spcPct val="115000"/>
              </a:lnSpc>
              <a:buNone/>
            </a:pPr>
            <a:r>
              <a:rPr lang="en-US" sz="2400" b="1" dirty="0">
                <a:solidFill>
                  <a:srgbClr val="1F4FD8"/>
                </a:solidFill>
                <a:latin typeface="Calibri" pitchFamily="34" charset="0"/>
                <a:ea typeface="Calibri" pitchFamily="34" charset="-122"/>
                <a:cs typeface="Calibri" pitchFamily="34" charset="-120"/>
              </a:rPr>
              <a:t>1</a:t>
            </a:r>
            <a:endParaRPr lang="en-US" sz="2400" dirty="0"/>
          </a:p>
        </p:txBody>
      </p:sp>
      <p:sp>
        <p:nvSpPr>
          <p:cNvPr id="8" name="Text 6"/>
          <p:cNvSpPr txBox="1"/>
          <p:nvPr/>
        </p:nvSpPr>
        <p:spPr>
          <a:xfrm>
            <a:off x="1691640" y="2057400"/>
            <a:ext cx="5120640" cy="411480"/>
          </a:xfrm>
          <a:prstGeom prst="rect">
            <a:avLst/>
          </a:prstGeom>
          <a:noFill/>
          <a:ln/>
        </p:spPr>
        <p:txBody>
          <a:bodyPr wrap="square" lIns="0" tIns="0" rIns="0" bIns="0" rtlCol="0" anchor="t"/>
          <a:lstStyle/>
          <a:p>
            <a:pPr algn="l" indent="0" marL="0">
              <a:lnSpc>
                <a:spcPct val="115000"/>
              </a:lnSpc>
              <a:buNone/>
            </a:pPr>
            <a:r>
              <a:rPr lang="en-US" sz="2400" b="1" dirty="0">
                <a:solidFill>
                  <a:srgbClr val="0E1B3D"/>
                </a:solidFill>
                <a:latin typeface="Calibri" pitchFamily="34" charset="0"/>
                <a:ea typeface="Calibri" pitchFamily="34" charset="-122"/>
                <a:cs typeface="Calibri" pitchFamily="34" charset="-120"/>
              </a:rPr>
              <a:t>VS Code</a:t>
            </a:r>
            <a:endParaRPr lang="en-US" sz="2400" dirty="0"/>
          </a:p>
        </p:txBody>
      </p:sp>
      <p:sp>
        <p:nvSpPr>
          <p:cNvPr id="9" name="Text 7"/>
          <p:cNvSpPr txBox="1"/>
          <p:nvPr/>
        </p:nvSpPr>
        <p:spPr>
          <a:xfrm>
            <a:off x="1691640" y="2496312"/>
            <a:ext cx="5212080" cy="320040"/>
          </a:xfrm>
          <a:prstGeom prst="rect">
            <a:avLst/>
          </a:prstGeom>
          <a:noFill/>
          <a:ln/>
        </p:spPr>
        <p:txBody>
          <a:bodyPr wrap="square" lIns="0" tIns="0" rIns="0" bIns="0" rtlCol="0" anchor="t"/>
          <a:lstStyle/>
          <a:p>
            <a:pPr algn="l" indent="0" marL="0">
              <a:lnSpc>
                <a:spcPct val="115000"/>
              </a:lnSpc>
              <a:buNone/>
            </a:pPr>
            <a:r>
              <a:rPr lang="en-US" sz="1600" dirty="0">
                <a:solidFill>
                  <a:srgbClr val="5B6478"/>
                </a:solidFill>
                <a:latin typeface="Calibri" pitchFamily="34" charset="0"/>
                <a:ea typeface="Calibri" pitchFamily="34" charset="-122"/>
                <a:cs typeface="Calibri" pitchFamily="34" charset="-120"/>
              </a:rPr>
              <a:t>Tempat menulis kode</a:t>
            </a:r>
            <a:endParaRPr lang="en-US" sz="1600" dirty="0"/>
          </a:p>
        </p:txBody>
      </p:sp>
      <p:sp>
        <p:nvSpPr>
          <p:cNvPr id="10" name="Shape 8"/>
          <p:cNvSpPr/>
          <p:nvPr/>
        </p:nvSpPr>
        <p:spPr>
          <a:xfrm>
            <a:off x="1691640" y="2880360"/>
            <a:ext cx="2743200" cy="310896"/>
          </a:xfrm>
          <a:prstGeom prst="roundRect">
            <a:avLst>
              <a:gd name="adj" fmla="val 50000"/>
            </a:avLst>
          </a:prstGeom>
          <a:solidFill>
            <a:srgbClr val="DCE6FF"/>
          </a:solidFill>
          <a:ln/>
        </p:spPr>
      </p:sp>
      <p:sp>
        <p:nvSpPr>
          <p:cNvPr id="11" name="Text 9"/>
          <p:cNvSpPr txBox="1"/>
          <p:nvPr/>
        </p:nvSpPr>
        <p:spPr>
          <a:xfrm>
            <a:off x="1691640" y="2880360"/>
            <a:ext cx="2743200" cy="310896"/>
          </a:xfrm>
          <a:prstGeom prst="rect">
            <a:avLst/>
          </a:prstGeom>
          <a:noFill/>
          <a:ln/>
        </p:spPr>
        <p:txBody>
          <a:bodyPr wrap="square" lIns="0" tIns="0" rIns="0" bIns="0" rtlCol="0" anchor="ctr"/>
          <a:lstStyle/>
          <a:p>
            <a:pPr algn="ctr" indent="0" marL="0">
              <a:lnSpc>
                <a:spcPct val="115000"/>
              </a:lnSpc>
              <a:buNone/>
            </a:pPr>
            <a:r>
              <a:rPr lang="en-US" sz="1200" b="1" spc="40" kern="0" dirty="0">
                <a:solidFill>
                  <a:srgbClr val="1F4FD8"/>
                </a:solidFill>
                <a:latin typeface="Calibri" pitchFamily="34" charset="0"/>
                <a:ea typeface="Calibri" pitchFamily="34" charset="-122"/>
                <a:cs typeface="Calibri" pitchFamily="34" charset="-120"/>
              </a:rPr>
              <a:t>Ctrl + S  =  simpan</a:t>
            </a:r>
            <a:endParaRPr lang="en-US" sz="1200" dirty="0"/>
          </a:p>
        </p:txBody>
      </p:sp>
      <p:sp>
        <p:nvSpPr>
          <p:cNvPr id="12" name="Shape 10"/>
          <p:cNvSpPr/>
          <p:nvPr/>
        </p:nvSpPr>
        <p:spPr>
          <a:xfrm>
            <a:off x="731520" y="3474720"/>
            <a:ext cx="640080" cy="640080"/>
          </a:xfrm>
          <a:prstGeom prst="ellipse">
            <a:avLst/>
          </a:prstGeom>
          <a:solidFill>
            <a:srgbClr val="DCE6FF"/>
          </a:solidFill>
          <a:ln/>
        </p:spPr>
      </p:sp>
      <p:sp>
        <p:nvSpPr>
          <p:cNvPr id="13" name="Text 11"/>
          <p:cNvSpPr txBox="1"/>
          <p:nvPr/>
        </p:nvSpPr>
        <p:spPr>
          <a:xfrm>
            <a:off x="731520" y="3474720"/>
            <a:ext cx="640080" cy="640080"/>
          </a:xfrm>
          <a:prstGeom prst="rect">
            <a:avLst/>
          </a:prstGeom>
          <a:noFill/>
          <a:ln/>
        </p:spPr>
        <p:txBody>
          <a:bodyPr wrap="square" lIns="0" tIns="0" rIns="0" bIns="0" rtlCol="0" anchor="ctr"/>
          <a:lstStyle/>
          <a:p>
            <a:pPr algn="ctr" indent="0" marL="0">
              <a:lnSpc>
                <a:spcPct val="115000"/>
              </a:lnSpc>
              <a:buNone/>
            </a:pPr>
            <a:r>
              <a:rPr lang="en-US" sz="2400" b="1" dirty="0">
                <a:solidFill>
                  <a:srgbClr val="1F4FD8"/>
                </a:solidFill>
                <a:latin typeface="Calibri" pitchFamily="34" charset="0"/>
                <a:ea typeface="Calibri" pitchFamily="34" charset="-122"/>
                <a:cs typeface="Calibri" pitchFamily="34" charset="-120"/>
              </a:rPr>
              <a:t>2</a:t>
            </a:r>
            <a:endParaRPr lang="en-US" sz="2400" dirty="0"/>
          </a:p>
        </p:txBody>
      </p:sp>
      <p:sp>
        <p:nvSpPr>
          <p:cNvPr id="14" name="Text 12"/>
          <p:cNvSpPr txBox="1"/>
          <p:nvPr/>
        </p:nvSpPr>
        <p:spPr>
          <a:xfrm>
            <a:off x="1691640" y="3429000"/>
            <a:ext cx="5120640" cy="411480"/>
          </a:xfrm>
          <a:prstGeom prst="rect">
            <a:avLst/>
          </a:prstGeom>
          <a:noFill/>
          <a:ln/>
        </p:spPr>
        <p:txBody>
          <a:bodyPr wrap="square" lIns="0" tIns="0" rIns="0" bIns="0" rtlCol="0" anchor="t"/>
          <a:lstStyle/>
          <a:p>
            <a:pPr algn="l" indent="0" marL="0">
              <a:lnSpc>
                <a:spcPct val="115000"/>
              </a:lnSpc>
              <a:buNone/>
            </a:pPr>
            <a:r>
              <a:rPr lang="en-US" sz="2400" b="1" dirty="0">
                <a:solidFill>
                  <a:srgbClr val="0E1B3D"/>
                </a:solidFill>
                <a:latin typeface="Calibri" pitchFamily="34" charset="0"/>
                <a:ea typeface="Calibri" pitchFamily="34" charset="-122"/>
                <a:cs typeface="Calibri" pitchFamily="34" charset="-120"/>
              </a:rPr>
              <a:t>Live Server</a:t>
            </a:r>
            <a:endParaRPr lang="en-US" sz="2400" dirty="0"/>
          </a:p>
        </p:txBody>
      </p:sp>
      <p:sp>
        <p:nvSpPr>
          <p:cNvPr id="15" name="Text 13"/>
          <p:cNvSpPr txBox="1"/>
          <p:nvPr/>
        </p:nvSpPr>
        <p:spPr>
          <a:xfrm>
            <a:off x="1691640" y="3867912"/>
            <a:ext cx="5212080" cy="320040"/>
          </a:xfrm>
          <a:prstGeom prst="rect">
            <a:avLst/>
          </a:prstGeom>
          <a:noFill/>
          <a:ln/>
        </p:spPr>
        <p:txBody>
          <a:bodyPr wrap="square" lIns="0" tIns="0" rIns="0" bIns="0" rtlCol="0" anchor="t"/>
          <a:lstStyle/>
          <a:p>
            <a:pPr algn="l" indent="0" marL="0">
              <a:lnSpc>
                <a:spcPct val="115000"/>
              </a:lnSpc>
              <a:buNone/>
            </a:pPr>
            <a:r>
              <a:rPr lang="en-US" sz="1600" dirty="0">
                <a:solidFill>
                  <a:srgbClr val="5B6478"/>
                </a:solidFill>
                <a:latin typeface="Calibri" pitchFamily="34" charset="0"/>
                <a:ea typeface="Calibri" pitchFamily="34" charset="-122"/>
                <a:cs typeface="Calibri" pitchFamily="34" charset="-120"/>
              </a:rPr>
              <a:t>Hasil langsung muncul setiap kamu simpan</a:t>
            </a:r>
            <a:endParaRPr lang="en-US" sz="1600" dirty="0"/>
          </a:p>
        </p:txBody>
      </p:sp>
      <p:sp>
        <p:nvSpPr>
          <p:cNvPr id="16" name="Shape 14"/>
          <p:cNvSpPr/>
          <p:nvPr/>
        </p:nvSpPr>
        <p:spPr>
          <a:xfrm>
            <a:off x="1691640" y="4251960"/>
            <a:ext cx="4343400" cy="310896"/>
          </a:xfrm>
          <a:prstGeom prst="roundRect">
            <a:avLst>
              <a:gd name="adj" fmla="val 50000"/>
            </a:avLst>
          </a:prstGeom>
          <a:solidFill>
            <a:srgbClr val="DCE6FF"/>
          </a:solidFill>
          <a:ln/>
        </p:spPr>
      </p:sp>
      <p:sp>
        <p:nvSpPr>
          <p:cNvPr id="17" name="Text 15"/>
          <p:cNvSpPr txBox="1"/>
          <p:nvPr/>
        </p:nvSpPr>
        <p:spPr>
          <a:xfrm>
            <a:off x="1691640" y="4251960"/>
            <a:ext cx="4343400" cy="310896"/>
          </a:xfrm>
          <a:prstGeom prst="rect">
            <a:avLst/>
          </a:prstGeom>
          <a:noFill/>
          <a:ln/>
        </p:spPr>
        <p:txBody>
          <a:bodyPr wrap="square" lIns="0" tIns="0" rIns="0" bIns="0" rtlCol="0" anchor="ctr"/>
          <a:lstStyle/>
          <a:p>
            <a:pPr algn="ctr" indent="0" marL="0">
              <a:lnSpc>
                <a:spcPct val="115000"/>
              </a:lnSpc>
              <a:buNone/>
            </a:pPr>
            <a:r>
              <a:rPr lang="en-US" sz="1200" b="1" spc="40" kern="0" dirty="0">
                <a:solidFill>
                  <a:srgbClr val="1F4FD8"/>
                </a:solidFill>
                <a:latin typeface="Calibri" pitchFamily="34" charset="0"/>
                <a:ea typeface="Calibri" pitchFamily="34" charset="-122"/>
                <a:cs typeface="Calibri" pitchFamily="34" charset="-120"/>
              </a:rPr>
              <a:t>Klik kanan → Open with Live Server</a:t>
            </a:r>
            <a:endParaRPr lang="en-US" sz="1200" dirty="0"/>
          </a:p>
        </p:txBody>
      </p:sp>
      <p:sp>
        <p:nvSpPr>
          <p:cNvPr id="18" name="Shape 16"/>
          <p:cNvSpPr/>
          <p:nvPr/>
        </p:nvSpPr>
        <p:spPr>
          <a:xfrm>
            <a:off x="731520" y="4846320"/>
            <a:ext cx="640080" cy="640080"/>
          </a:xfrm>
          <a:prstGeom prst="ellipse">
            <a:avLst/>
          </a:prstGeom>
          <a:solidFill>
            <a:srgbClr val="DCE6FF"/>
          </a:solidFill>
          <a:ln/>
        </p:spPr>
      </p:sp>
      <p:sp>
        <p:nvSpPr>
          <p:cNvPr id="19" name="Text 17"/>
          <p:cNvSpPr txBox="1"/>
          <p:nvPr/>
        </p:nvSpPr>
        <p:spPr>
          <a:xfrm>
            <a:off x="731520" y="4846320"/>
            <a:ext cx="640080" cy="640080"/>
          </a:xfrm>
          <a:prstGeom prst="rect">
            <a:avLst/>
          </a:prstGeom>
          <a:noFill/>
          <a:ln/>
        </p:spPr>
        <p:txBody>
          <a:bodyPr wrap="square" lIns="0" tIns="0" rIns="0" bIns="0" rtlCol="0" anchor="ctr"/>
          <a:lstStyle/>
          <a:p>
            <a:pPr algn="ctr" indent="0" marL="0">
              <a:lnSpc>
                <a:spcPct val="115000"/>
              </a:lnSpc>
              <a:buNone/>
            </a:pPr>
            <a:r>
              <a:rPr lang="en-US" sz="2400" b="1" dirty="0">
                <a:solidFill>
                  <a:srgbClr val="1F4FD8"/>
                </a:solidFill>
                <a:latin typeface="Calibri" pitchFamily="34" charset="0"/>
                <a:ea typeface="Calibri" pitchFamily="34" charset="-122"/>
                <a:cs typeface="Calibri" pitchFamily="34" charset="-120"/>
              </a:rPr>
              <a:t>3</a:t>
            </a:r>
            <a:endParaRPr lang="en-US" sz="2400" dirty="0"/>
          </a:p>
        </p:txBody>
      </p:sp>
      <p:sp>
        <p:nvSpPr>
          <p:cNvPr id="20" name="Text 18"/>
          <p:cNvSpPr txBox="1"/>
          <p:nvPr/>
        </p:nvSpPr>
        <p:spPr>
          <a:xfrm>
            <a:off x="1691640" y="4800600"/>
            <a:ext cx="5120640" cy="411480"/>
          </a:xfrm>
          <a:prstGeom prst="rect">
            <a:avLst/>
          </a:prstGeom>
          <a:noFill/>
          <a:ln/>
        </p:spPr>
        <p:txBody>
          <a:bodyPr wrap="square" lIns="0" tIns="0" rIns="0" bIns="0" rtlCol="0" anchor="t"/>
          <a:lstStyle/>
          <a:p>
            <a:pPr algn="l" indent="0" marL="0">
              <a:lnSpc>
                <a:spcPct val="115000"/>
              </a:lnSpc>
              <a:buNone/>
            </a:pPr>
            <a:r>
              <a:rPr lang="en-US" sz="2400" b="1" dirty="0">
                <a:solidFill>
                  <a:srgbClr val="0E1B3D"/>
                </a:solidFill>
                <a:latin typeface="Calibri" pitchFamily="34" charset="0"/>
                <a:ea typeface="Calibri" pitchFamily="34" charset="-122"/>
                <a:cs typeface="Calibri" pitchFamily="34" charset="-120"/>
              </a:rPr>
              <a:t>Browser DevTools</a:t>
            </a:r>
            <a:endParaRPr lang="en-US" sz="2400" dirty="0"/>
          </a:p>
        </p:txBody>
      </p:sp>
      <p:sp>
        <p:nvSpPr>
          <p:cNvPr id="21" name="Text 19"/>
          <p:cNvSpPr txBox="1"/>
          <p:nvPr/>
        </p:nvSpPr>
        <p:spPr>
          <a:xfrm>
            <a:off x="1691640" y="5239512"/>
            <a:ext cx="5212080" cy="320040"/>
          </a:xfrm>
          <a:prstGeom prst="rect">
            <a:avLst/>
          </a:prstGeom>
          <a:noFill/>
          <a:ln/>
        </p:spPr>
        <p:txBody>
          <a:bodyPr wrap="square" lIns="0" tIns="0" rIns="0" bIns="0" rtlCol="0" anchor="t"/>
          <a:lstStyle/>
          <a:p>
            <a:pPr algn="l" indent="0" marL="0">
              <a:lnSpc>
                <a:spcPct val="115000"/>
              </a:lnSpc>
              <a:buNone/>
            </a:pPr>
            <a:r>
              <a:rPr lang="en-US" sz="1600" dirty="0">
                <a:solidFill>
                  <a:srgbClr val="5B6478"/>
                </a:solidFill>
                <a:latin typeface="Calibri" pitchFamily="34" charset="0"/>
                <a:ea typeface="Calibri" pitchFamily="34" charset="-122"/>
                <a:cs typeface="Calibri" pitchFamily="34" charset="-120"/>
              </a:rPr>
              <a:t>Mengintip kode website mana pun</a:t>
            </a:r>
            <a:endParaRPr lang="en-US" sz="1600" dirty="0"/>
          </a:p>
        </p:txBody>
      </p:sp>
      <p:sp>
        <p:nvSpPr>
          <p:cNvPr id="22" name="Shape 20"/>
          <p:cNvSpPr/>
          <p:nvPr/>
        </p:nvSpPr>
        <p:spPr>
          <a:xfrm>
            <a:off x="1691640" y="5623560"/>
            <a:ext cx="2011680" cy="310896"/>
          </a:xfrm>
          <a:prstGeom prst="roundRect">
            <a:avLst>
              <a:gd name="adj" fmla="val 50000"/>
            </a:avLst>
          </a:prstGeom>
          <a:solidFill>
            <a:srgbClr val="DCE6FF"/>
          </a:solidFill>
          <a:ln/>
        </p:spPr>
      </p:sp>
      <p:sp>
        <p:nvSpPr>
          <p:cNvPr id="23" name="Text 21"/>
          <p:cNvSpPr txBox="1"/>
          <p:nvPr/>
        </p:nvSpPr>
        <p:spPr>
          <a:xfrm>
            <a:off x="1691640" y="5623560"/>
            <a:ext cx="2011680" cy="310896"/>
          </a:xfrm>
          <a:prstGeom prst="rect">
            <a:avLst/>
          </a:prstGeom>
          <a:noFill/>
          <a:ln/>
        </p:spPr>
        <p:txBody>
          <a:bodyPr wrap="square" lIns="0" tIns="0" rIns="0" bIns="0" rtlCol="0" anchor="ctr"/>
          <a:lstStyle/>
          <a:p>
            <a:pPr algn="ctr" indent="0" marL="0">
              <a:lnSpc>
                <a:spcPct val="115000"/>
              </a:lnSpc>
              <a:buNone/>
            </a:pPr>
            <a:r>
              <a:rPr lang="en-US" sz="1200" b="1" spc="40" kern="0" dirty="0">
                <a:solidFill>
                  <a:srgbClr val="1F4FD8"/>
                </a:solidFill>
                <a:latin typeface="Calibri" pitchFamily="34" charset="0"/>
                <a:ea typeface="Calibri" pitchFamily="34" charset="-122"/>
                <a:cs typeface="Calibri" pitchFamily="34" charset="-120"/>
              </a:rPr>
              <a:t>Tekan F12</a:t>
            </a:r>
            <a:endParaRPr lang="en-US" sz="1200" dirty="0"/>
          </a:p>
        </p:txBody>
      </p:sp>
      <p:sp>
        <p:nvSpPr>
          <p:cNvPr id="24" name="Shape 22"/>
          <p:cNvSpPr/>
          <p:nvPr/>
        </p:nvSpPr>
        <p:spPr>
          <a:xfrm>
            <a:off x="7498080" y="2057400"/>
            <a:ext cx="3931920" cy="3977640"/>
          </a:xfrm>
          <a:prstGeom prst="roundRect">
            <a:avLst>
              <a:gd name="adj" fmla="val 4651"/>
            </a:avLst>
          </a:prstGeom>
          <a:solidFill>
            <a:srgbClr val="0B1530"/>
          </a:solidFill>
          <a:ln/>
          <a:effectLst>
            <a:outerShdw sx="100000" sy="100000" kx="0" ky="0" algn="bl" rotWithShape="0" blurRad="177800" dist="38100" dir="5400000">
              <a:srgbClr val="000000">
                <a:alpha val="40000"/>
              </a:srgbClr>
            </a:outerShdw>
          </a:effectLst>
        </p:spPr>
      </p:sp>
      <p:sp>
        <p:nvSpPr>
          <p:cNvPr id="25" name="Text 23"/>
          <p:cNvSpPr txBox="1"/>
          <p:nvPr/>
        </p:nvSpPr>
        <p:spPr>
          <a:xfrm>
            <a:off x="7818120" y="2286000"/>
            <a:ext cx="3291840" cy="274320"/>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7886A8"/>
                </a:solidFill>
                <a:latin typeface="Calibri" pitchFamily="34" charset="0"/>
                <a:ea typeface="Calibri" pitchFamily="34" charset="-122"/>
                <a:cs typeface="Calibri" pitchFamily="34" charset="-120"/>
              </a:rPr>
              <a:t>STRUKTUR FOLDER</a:t>
            </a:r>
            <a:endParaRPr lang="en-US" sz="1100" dirty="0"/>
          </a:p>
        </p:txBody>
      </p:sp>
      <p:sp>
        <p:nvSpPr>
          <p:cNvPr id="26" name="Text 24"/>
          <p:cNvSpPr txBox="1"/>
          <p:nvPr/>
        </p:nvSpPr>
        <p:spPr>
          <a:xfrm>
            <a:off x="7818120" y="2743200"/>
            <a:ext cx="4572000" cy="360934"/>
          </a:xfrm>
          <a:prstGeom prst="rect">
            <a:avLst/>
          </a:prstGeom>
          <a:noFill/>
          <a:ln/>
        </p:spPr>
        <p:txBody>
          <a:bodyPr wrap="none" lIns="0" tIns="0" rIns="0" bIns="0" rtlCol="0" anchor="ctr"/>
          <a:lstStyle/>
          <a:p>
            <a:pPr algn="l" indent="0" marL="0">
              <a:lnSpc>
                <a:spcPct val="115000"/>
              </a:lnSpc>
              <a:buNone/>
            </a:pPr>
            <a:r>
              <a:rPr lang="en-US" sz="2000" dirty="0">
                <a:solidFill>
                  <a:srgbClr val="FFC83D"/>
                </a:solidFill>
                <a:latin typeface="Consolas" pitchFamily="34" charset="0"/>
                <a:ea typeface="Consolas" pitchFamily="34" charset="-122"/>
                <a:cs typeface="Consolas" pitchFamily="34" charset="-120"/>
              </a:rPr>
              <a:t>▸ portfolio/</a:t>
            </a:r>
            <a:endParaRPr lang="en-US" sz="2000" dirty="0"/>
          </a:p>
        </p:txBody>
      </p:sp>
      <p:sp>
        <p:nvSpPr>
          <p:cNvPr id="27" name="Text 25"/>
          <p:cNvSpPr txBox="1"/>
          <p:nvPr/>
        </p:nvSpPr>
        <p:spPr>
          <a:xfrm>
            <a:off x="8138160" y="3104134"/>
            <a:ext cx="4572000" cy="360934"/>
          </a:xfrm>
          <a:prstGeom prst="rect">
            <a:avLst/>
          </a:prstGeom>
          <a:noFill/>
          <a:ln/>
        </p:spPr>
        <p:txBody>
          <a:bodyPr wrap="none" lIns="0" tIns="0" rIns="0" bIns="0" rtlCol="0" anchor="ctr"/>
          <a:lstStyle/>
          <a:p>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 img/</a:t>
            </a:r>
            <a:endParaRPr lang="en-US" sz="2000" dirty="0"/>
          </a:p>
        </p:txBody>
      </p:sp>
      <p:sp>
        <p:nvSpPr>
          <p:cNvPr id="28" name="Text 26"/>
          <p:cNvSpPr txBox="1"/>
          <p:nvPr/>
        </p:nvSpPr>
        <p:spPr>
          <a:xfrm>
            <a:off x="8138160" y="3465068"/>
            <a:ext cx="4572000" cy="360934"/>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index.html</a:t>
            </a:r>
            <a:endParaRPr lang="en-US" sz="2000" dirty="0"/>
          </a:p>
        </p:txBody>
      </p:sp>
      <p:sp>
        <p:nvSpPr>
          <p:cNvPr id="29" name="Text 27"/>
          <p:cNvSpPr txBox="1"/>
          <p:nvPr/>
        </p:nvSpPr>
        <p:spPr>
          <a:xfrm>
            <a:off x="8138160" y="3826002"/>
            <a:ext cx="4572000" cy="360934"/>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style.css</a:t>
            </a:r>
            <a:endParaRPr lang="en-US" sz="2000" dirty="0"/>
          </a:p>
        </p:txBody>
      </p:sp>
      <p:sp>
        <p:nvSpPr>
          <p:cNvPr id="30" name="Text 28"/>
          <p:cNvSpPr txBox="1"/>
          <p:nvPr/>
        </p:nvSpPr>
        <p:spPr>
          <a:xfrm>
            <a:off x="7818120" y="4572000"/>
            <a:ext cx="3383280" cy="1188720"/>
          </a:xfrm>
          <a:prstGeom prst="rect">
            <a:avLst/>
          </a:prstGeom>
          <a:noFill/>
          <a:ln/>
        </p:spPr>
        <p:txBody>
          <a:bodyPr wrap="square" lIns="0" tIns="0" rIns="0" bIns="0" rtlCol="0" anchor="t"/>
          <a:lstStyle/>
          <a:p>
            <a:pPr algn="l" indent="0" marL="0">
              <a:lnSpc>
                <a:spcPct val="140000"/>
              </a:lnSpc>
              <a:buNone/>
            </a:pPr>
            <a:r>
              <a:rPr lang="en-US" sz="1500" dirty="0">
                <a:solidFill>
                  <a:srgbClr val="A9B6D6"/>
                </a:solidFill>
                <a:latin typeface="Calibri" pitchFamily="34" charset="0"/>
                <a:ea typeface="Calibri" pitchFamily="34" charset="-122"/>
                <a:cs typeface="Calibri" pitchFamily="34" charset="-120"/>
              </a:rPr>
              <a:t>Satu folder, satu proyek. Semua file website-mu tinggal di dalamnya.</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10</a:t>
            </a:r>
            <a:endParaRPr lang="en-US" sz="1000" dirty="0"/>
          </a:p>
        </p:txBody>
      </p:sp>
      <p:sp>
        <p:nvSpPr>
          <p:cNvPr id="4" name="Text 2"/>
          <p:cNvSpPr txBox="1"/>
          <p:nvPr/>
        </p:nvSpPr>
        <p:spPr>
          <a:xfrm>
            <a:off x="731520" y="896112"/>
            <a:ext cx="10698480" cy="100584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Siapkan proyekmu</a:t>
            </a:r>
            <a:endParaRPr lang="en-US" sz="3800" dirty="0"/>
          </a:p>
        </p:txBody>
      </p:sp>
      <p:sp>
        <p:nvSpPr>
          <p:cNvPr id="5" name="Shape 3"/>
          <p:cNvSpPr/>
          <p:nvPr/>
        </p:nvSpPr>
        <p:spPr>
          <a:xfrm>
            <a:off x="731520" y="411480"/>
            <a:ext cx="2240280" cy="384048"/>
          </a:xfrm>
          <a:prstGeom prst="roundRect">
            <a:avLst>
              <a:gd name="adj" fmla="val 50000"/>
            </a:avLst>
          </a:prstGeom>
          <a:solidFill>
            <a:srgbClr val="FFC83D"/>
          </a:solidFill>
          <a:ln/>
        </p:spPr>
      </p:sp>
      <p:sp>
        <p:nvSpPr>
          <p:cNvPr id="6" name="Text 4"/>
          <p:cNvSpPr txBox="1"/>
          <p:nvPr/>
        </p:nvSpPr>
        <p:spPr>
          <a:xfrm>
            <a:off x="731520" y="411480"/>
            <a:ext cx="2240280" cy="384048"/>
          </a:xfrm>
          <a:prstGeom prst="rect">
            <a:avLst/>
          </a:prstGeom>
          <a:noFill/>
          <a:ln/>
        </p:spPr>
        <p:txBody>
          <a:bodyPr wrap="square" lIns="0" tIns="0" rIns="0" bIns="0" rtlCol="0" anchor="ctr"/>
          <a:lstStyle/>
          <a:p>
            <a:pPr algn="ctr" indent="0" marL="0">
              <a:lnSpc>
                <a:spcPct val="115000"/>
              </a:lnSpc>
              <a:buNone/>
            </a:pPr>
            <a:r>
              <a:rPr lang="en-US" sz="1300" b="1" spc="180" kern="0" dirty="0">
                <a:solidFill>
                  <a:srgbClr val="0E1B3D"/>
                </a:solidFill>
                <a:latin typeface="Calibri" pitchFamily="34" charset="0"/>
                <a:ea typeface="Calibri" pitchFamily="34" charset="-122"/>
                <a:cs typeface="Calibri" pitchFamily="34" charset="-120"/>
              </a:rPr>
              <a:t>CHECKPOINT 0</a:t>
            </a:r>
            <a:endParaRPr lang="en-US" sz="1300" dirty="0"/>
          </a:p>
        </p:txBody>
      </p:sp>
      <p:sp>
        <p:nvSpPr>
          <p:cNvPr id="7" name="Text 5"/>
          <p:cNvSpPr txBox="1"/>
          <p:nvPr/>
        </p:nvSpPr>
        <p:spPr>
          <a:xfrm>
            <a:off x="3154680" y="411480"/>
            <a:ext cx="5486400" cy="384048"/>
          </a:xfrm>
          <a:prstGeom prst="rect">
            <a:avLst/>
          </a:prstGeom>
          <a:noFill/>
          <a:ln/>
        </p:spPr>
        <p:txBody>
          <a:bodyPr wrap="square" lIns="0" tIns="0" rIns="0" bIns="0" rtlCol="0" anchor="ctr"/>
          <a:lstStyle/>
          <a:p>
            <a:pPr algn="l" indent="0" marL="0">
              <a:lnSpc>
                <a:spcPct val="115000"/>
              </a:lnSpc>
              <a:buNone/>
            </a:pPr>
            <a:r>
              <a:rPr lang="en-US" sz="1400" b="1" dirty="0">
                <a:solidFill>
                  <a:srgbClr val="5B6478"/>
                </a:solidFill>
                <a:latin typeface="Calibri" pitchFamily="34" charset="0"/>
                <a:ea typeface="Calibri" pitchFamily="34" charset="-122"/>
                <a:cs typeface="Calibri" pitchFamily="34" charset="-120"/>
              </a:rPr>
              <a:t>11 menit</a:t>
            </a:r>
            <a:endParaRPr lang="en-US" sz="1400" dirty="0"/>
          </a:p>
        </p:txBody>
      </p:sp>
      <p:sp>
        <p:nvSpPr>
          <p:cNvPr id="8" name="Shape 6"/>
          <p:cNvSpPr/>
          <p:nvPr/>
        </p:nvSpPr>
        <p:spPr>
          <a:xfrm>
            <a:off x="731520" y="1965960"/>
            <a:ext cx="457200" cy="457200"/>
          </a:xfrm>
          <a:prstGeom prst="ellipse">
            <a:avLst/>
          </a:prstGeom>
          <a:solidFill>
            <a:srgbClr val="FFC83D"/>
          </a:solidFill>
          <a:ln/>
        </p:spPr>
      </p:sp>
      <p:sp>
        <p:nvSpPr>
          <p:cNvPr id="9" name="Text 7"/>
          <p:cNvSpPr txBox="1"/>
          <p:nvPr/>
        </p:nvSpPr>
        <p:spPr>
          <a:xfrm>
            <a:off x="731520" y="1965960"/>
            <a:ext cx="457200" cy="457200"/>
          </a:xfrm>
          <a:prstGeom prst="rect">
            <a:avLst/>
          </a:prstGeom>
          <a:noFill/>
          <a:ln/>
        </p:spPr>
        <p:txBody>
          <a:bodyPr wrap="square" lIns="0" tIns="0" rIns="0" bIns="0" rtlCol="0" anchor="ctr"/>
          <a:lstStyle/>
          <a:p>
            <a:pPr algn="ctr" indent="0" marL="0">
              <a:lnSpc>
                <a:spcPct val="115000"/>
              </a:lnSpc>
              <a:buNone/>
            </a:pPr>
            <a:r>
              <a:rPr lang="en-US" sz="1700" b="1" dirty="0">
                <a:solidFill>
                  <a:srgbClr val="0E1B3D"/>
                </a:solidFill>
                <a:latin typeface="Calibri" pitchFamily="34" charset="0"/>
                <a:ea typeface="Calibri" pitchFamily="34" charset="-122"/>
                <a:cs typeface="Calibri" pitchFamily="34" charset="-120"/>
              </a:rPr>
              <a:t>1</a:t>
            </a:r>
            <a:endParaRPr lang="en-US" sz="1700" dirty="0"/>
          </a:p>
        </p:txBody>
      </p:sp>
      <p:sp>
        <p:nvSpPr>
          <p:cNvPr id="10" name="Text 8"/>
          <p:cNvSpPr txBox="1"/>
          <p:nvPr/>
        </p:nvSpPr>
        <p:spPr>
          <a:xfrm>
            <a:off x="1417320" y="1965960"/>
            <a:ext cx="5394960" cy="457200"/>
          </a:xfrm>
          <a:prstGeom prst="rect">
            <a:avLst/>
          </a:prstGeom>
          <a:noFill/>
          <a:ln/>
        </p:spPr>
        <p:txBody>
          <a:bodyPr wrap="square" lIns="0" tIns="0" rIns="0" bIns="0" rtlCol="0" anchor="ctr"/>
          <a:lstStyle/>
          <a:p>
            <a:pPr algn="l" indent="0" marL="0">
              <a:lnSpc>
                <a:spcPct val="115000"/>
              </a:lnSpc>
              <a:buNone/>
            </a:pPr>
            <a:r>
              <a:rPr lang="en-US" sz="1800" dirty="0">
                <a:solidFill>
                  <a:srgbClr val="0E1B3D"/>
                </a:solidFill>
                <a:latin typeface="Calibri" pitchFamily="34" charset="0"/>
                <a:ea typeface="Calibri" pitchFamily="34" charset="-122"/>
                <a:cs typeface="Calibri" pitchFamily="34" charset="-120"/>
              </a:rPr>
              <a:t>Buat folder portfolio di Desktop</a:t>
            </a:r>
            <a:endParaRPr lang="en-US" sz="1800" dirty="0"/>
          </a:p>
        </p:txBody>
      </p:sp>
      <p:sp>
        <p:nvSpPr>
          <p:cNvPr id="11" name="Shape 9"/>
          <p:cNvSpPr/>
          <p:nvPr/>
        </p:nvSpPr>
        <p:spPr>
          <a:xfrm>
            <a:off x="731520" y="2670048"/>
            <a:ext cx="457200" cy="457200"/>
          </a:xfrm>
          <a:prstGeom prst="ellipse">
            <a:avLst/>
          </a:prstGeom>
          <a:solidFill>
            <a:srgbClr val="FFC83D"/>
          </a:solidFill>
          <a:ln/>
        </p:spPr>
      </p:sp>
      <p:sp>
        <p:nvSpPr>
          <p:cNvPr id="12" name="Text 10"/>
          <p:cNvSpPr txBox="1"/>
          <p:nvPr/>
        </p:nvSpPr>
        <p:spPr>
          <a:xfrm>
            <a:off x="731520" y="2670048"/>
            <a:ext cx="457200" cy="457200"/>
          </a:xfrm>
          <a:prstGeom prst="rect">
            <a:avLst/>
          </a:prstGeom>
          <a:noFill/>
          <a:ln/>
        </p:spPr>
        <p:txBody>
          <a:bodyPr wrap="square" lIns="0" tIns="0" rIns="0" bIns="0" rtlCol="0" anchor="ctr"/>
          <a:lstStyle/>
          <a:p>
            <a:pPr algn="ctr" indent="0" marL="0">
              <a:lnSpc>
                <a:spcPct val="115000"/>
              </a:lnSpc>
              <a:buNone/>
            </a:pPr>
            <a:r>
              <a:rPr lang="en-US" sz="1700" b="1" dirty="0">
                <a:solidFill>
                  <a:srgbClr val="0E1B3D"/>
                </a:solidFill>
                <a:latin typeface="Calibri" pitchFamily="34" charset="0"/>
                <a:ea typeface="Calibri" pitchFamily="34" charset="-122"/>
                <a:cs typeface="Calibri" pitchFamily="34" charset="-120"/>
              </a:rPr>
              <a:t>2</a:t>
            </a:r>
            <a:endParaRPr lang="en-US" sz="1700" dirty="0"/>
          </a:p>
        </p:txBody>
      </p:sp>
      <p:sp>
        <p:nvSpPr>
          <p:cNvPr id="13" name="Text 11"/>
          <p:cNvSpPr txBox="1"/>
          <p:nvPr/>
        </p:nvSpPr>
        <p:spPr>
          <a:xfrm>
            <a:off x="1417320" y="2670048"/>
            <a:ext cx="5394960" cy="457200"/>
          </a:xfrm>
          <a:prstGeom prst="rect">
            <a:avLst/>
          </a:prstGeom>
          <a:noFill/>
          <a:ln/>
        </p:spPr>
        <p:txBody>
          <a:bodyPr wrap="square" lIns="0" tIns="0" rIns="0" bIns="0" rtlCol="0" anchor="ctr"/>
          <a:lstStyle/>
          <a:p>
            <a:pPr algn="l" indent="0" marL="0">
              <a:lnSpc>
                <a:spcPct val="115000"/>
              </a:lnSpc>
              <a:buNone/>
            </a:pPr>
            <a:r>
              <a:rPr lang="en-US" sz="1800" dirty="0">
                <a:solidFill>
                  <a:srgbClr val="0E1B3D"/>
                </a:solidFill>
                <a:latin typeface="Calibri" pitchFamily="34" charset="0"/>
                <a:ea typeface="Calibri" pitchFamily="34" charset="-122"/>
                <a:cs typeface="Calibri" pitchFamily="34" charset="-120"/>
              </a:rPr>
              <a:t>Buka VS Code → File → Open Folder</a:t>
            </a:r>
            <a:endParaRPr lang="en-US" sz="1800" dirty="0"/>
          </a:p>
        </p:txBody>
      </p:sp>
      <p:sp>
        <p:nvSpPr>
          <p:cNvPr id="14" name="Shape 12"/>
          <p:cNvSpPr/>
          <p:nvPr/>
        </p:nvSpPr>
        <p:spPr>
          <a:xfrm>
            <a:off x="731520" y="3374136"/>
            <a:ext cx="457200" cy="457200"/>
          </a:xfrm>
          <a:prstGeom prst="ellipse">
            <a:avLst/>
          </a:prstGeom>
          <a:solidFill>
            <a:srgbClr val="FFC83D"/>
          </a:solidFill>
          <a:ln/>
        </p:spPr>
      </p:sp>
      <p:sp>
        <p:nvSpPr>
          <p:cNvPr id="15" name="Text 13"/>
          <p:cNvSpPr txBox="1"/>
          <p:nvPr/>
        </p:nvSpPr>
        <p:spPr>
          <a:xfrm>
            <a:off x="731520" y="3374136"/>
            <a:ext cx="457200" cy="457200"/>
          </a:xfrm>
          <a:prstGeom prst="rect">
            <a:avLst/>
          </a:prstGeom>
          <a:noFill/>
          <a:ln/>
        </p:spPr>
        <p:txBody>
          <a:bodyPr wrap="square" lIns="0" tIns="0" rIns="0" bIns="0" rtlCol="0" anchor="ctr"/>
          <a:lstStyle/>
          <a:p>
            <a:pPr algn="ctr" indent="0" marL="0">
              <a:lnSpc>
                <a:spcPct val="115000"/>
              </a:lnSpc>
              <a:buNone/>
            </a:pPr>
            <a:r>
              <a:rPr lang="en-US" sz="1700" b="1" dirty="0">
                <a:solidFill>
                  <a:srgbClr val="0E1B3D"/>
                </a:solidFill>
                <a:latin typeface="Calibri" pitchFamily="34" charset="0"/>
                <a:ea typeface="Calibri" pitchFamily="34" charset="-122"/>
                <a:cs typeface="Calibri" pitchFamily="34" charset="-120"/>
              </a:rPr>
              <a:t>3</a:t>
            </a:r>
            <a:endParaRPr lang="en-US" sz="1700" dirty="0"/>
          </a:p>
        </p:txBody>
      </p:sp>
      <p:sp>
        <p:nvSpPr>
          <p:cNvPr id="16" name="Text 14"/>
          <p:cNvSpPr txBox="1"/>
          <p:nvPr/>
        </p:nvSpPr>
        <p:spPr>
          <a:xfrm>
            <a:off x="1417320" y="3374136"/>
            <a:ext cx="5394960" cy="457200"/>
          </a:xfrm>
          <a:prstGeom prst="rect">
            <a:avLst/>
          </a:prstGeom>
          <a:noFill/>
          <a:ln/>
        </p:spPr>
        <p:txBody>
          <a:bodyPr wrap="square" lIns="0" tIns="0" rIns="0" bIns="0" rtlCol="0" anchor="ctr"/>
          <a:lstStyle/>
          <a:p>
            <a:pPr algn="l" indent="0" marL="0">
              <a:lnSpc>
                <a:spcPct val="115000"/>
              </a:lnSpc>
              <a:buNone/>
            </a:pPr>
            <a:r>
              <a:rPr lang="en-US" sz="1800" dirty="0">
                <a:solidFill>
                  <a:srgbClr val="0E1B3D"/>
                </a:solidFill>
                <a:latin typeface="Calibri" pitchFamily="34" charset="0"/>
                <a:ea typeface="Calibri" pitchFamily="34" charset="-122"/>
                <a:cs typeface="Calibri" pitchFamily="34" charset="-120"/>
              </a:rPr>
              <a:t>Buat index.html, style.css, dan folder img</a:t>
            </a:r>
            <a:endParaRPr lang="en-US" sz="1800" dirty="0"/>
          </a:p>
        </p:txBody>
      </p:sp>
      <p:sp>
        <p:nvSpPr>
          <p:cNvPr id="17" name="Shape 15"/>
          <p:cNvSpPr/>
          <p:nvPr/>
        </p:nvSpPr>
        <p:spPr>
          <a:xfrm>
            <a:off x="731520" y="4078224"/>
            <a:ext cx="457200" cy="457200"/>
          </a:xfrm>
          <a:prstGeom prst="ellipse">
            <a:avLst/>
          </a:prstGeom>
          <a:solidFill>
            <a:srgbClr val="FFC83D"/>
          </a:solidFill>
          <a:ln/>
        </p:spPr>
      </p:sp>
      <p:sp>
        <p:nvSpPr>
          <p:cNvPr id="18" name="Text 16"/>
          <p:cNvSpPr txBox="1"/>
          <p:nvPr/>
        </p:nvSpPr>
        <p:spPr>
          <a:xfrm>
            <a:off x="731520" y="4078224"/>
            <a:ext cx="457200" cy="457200"/>
          </a:xfrm>
          <a:prstGeom prst="rect">
            <a:avLst/>
          </a:prstGeom>
          <a:noFill/>
          <a:ln/>
        </p:spPr>
        <p:txBody>
          <a:bodyPr wrap="square" lIns="0" tIns="0" rIns="0" bIns="0" rtlCol="0" anchor="ctr"/>
          <a:lstStyle/>
          <a:p>
            <a:pPr algn="ctr" indent="0" marL="0">
              <a:lnSpc>
                <a:spcPct val="115000"/>
              </a:lnSpc>
              <a:buNone/>
            </a:pPr>
            <a:r>
              <a:rPr lang="en-US" sz="1700" b="1" dirty="0">
                <a:solidFill>
                  <a:srgbClr val="0E1B3D"/>
                </a:solidFill>
                <a:latin typeface="Calibri" pitchFamily="34" charset="0"/>
                <a:ea typeface="Calibri" pitchFamily="34" charset="-122"/>
                <a:cs typeface="Calibri" pitchFamily="34" charset="-120"/>
              </a:rPr>
              <a:t>4</a:t>
            </a:r>
            <a:endParaRPr lang="en-US" sz="1700" dirty="0"/>
          </a:p>
        </p:txBody>
      </p:sp>
      <p:sp>
        <p:nvSpPr>
          <p:cNvPr id="19" name="Text 17"/>
          <p:cNvSpPr txBox="1"/>
          <p:nvPr/>
        </p:nvSpPr>
        <p:spPr>
          <a:xfrm>
            <a:off x="1417320" y="4078224"/>
            <a:ext cx="5394960" cy="457200"/>
          </a:xfrm>
          <a:prstGeom prst="rect">
            <a:avLst/>
          </a:prstGeom>
          <a:noFill/>
          <a:ln/>
        </p:spPr>
        <p:txBody>
          <a:bodyPr wrap="square" lIns="0" tIns="0" rIns="0" bIns="0" rtlCol="0" anchor="ctr"/>
          <a:lstStyle/>
          <a:p>
            <a:pPr algn="l" indent="0" marL="0">
              <a:lnSpc>
                <a:spcPct val="115000"/>
              </a:lnSpc>
              <a:buNone/>
            </a:pPr>
            <a:r>
              <a:rPr lang="en-US" sz="1800" dirty="0">
                <a:solidFill>
                  <a:srgbClr val="0E1B3D"/>
                </a:solidFill>
                <a:latin typeface="Calibri" pitchFamily="34" charset="0"/>
                <a:ea typeface="Calibri" pitchFamily="34" charset="-122"/>
                <a:cs typeface="Calibri" pitchFamily="34" charset="-120"/>
              </a:rPr>
              <a:t>Di index.html ketik ! lalu Tab</a:t>
            </a:r>
            <a:endParaRPr lang="en-US" sz="1800" dirty="0"/>
          </a:p>
        </p:txBody>
      </p:sp>
      <p:sp>
        <p:nvSpPr>
          <p:cNvPr id="20" name="Shape 18"/>
          <p:cNvSpPr/>
          <p:nvPr/>
        </p:nvSpPr>
        <p:spPr>
          <a:xfrm>
            <a:off x="731520" y="4782312"/>
            <a:ext cx="457200" cy="457200"/>
          </a:xfrm>
          <a:prstGeom prst="ellipse">
            <a:avLst/>
          </a:prstGeom>
          <a:solidFill>
            <a:srgbClr val="FFC83D"/>
          </a:solidFill>
          <a:ln/>
        </p:spPr>
      </p:sp>
      <p:sp>
        <p:nvSpPr>
          <p:cNvPr id="21" name="Text 19"/>
          <p:cNvSpPr txBox="1"/>
          <p:nvPr/>
        </p:nvSpPr>
        <p:spPr>
          <a:xfrm>
            <a:off x="731520" y="4782312"/>
            <a:ext cx="457200" cy="457200"/>
          </a:xfrm>
          <a:prstGeom prst="rect">
            <a:avLst/>
          </a:prstGeom>
          <a:noFill/>
          <a:ln/>
        </p:spPr>
        <p:txBody>
          <a:bodyPr wrap="square" lIns="0" tIns="0" rIns="0" bIns="0" rtlCol="0" anchor="ctr"/>
          <a:lstStyle/>
          <a:p>
            <a:pPr algn="ctr" indent="0" marL="0">
              <a:lnSpc>
                <a:spcPct val="115000"/>
              </a:lnSpc>
              <a:buNone/>
            </a:pPr>
            <a:r>
              <a:rPr lang="en-US" sz="1700" b="1" dirty="0">
                <a:solidFill>
                  <a:srgbClr val="0E1B3D"/>
                </a:solidFill>
                <a:latin typeface="Calibri" pitchFamily="34" charset="0"/>
                <a:ea typeface="Calibri" pitchFamily="34" charset="-122"/>
                <a:cs typeface="Calibri" pitchFamily="34" charset="-120"/>
              </a:rPr>
              <a:t>5</a:t>
            </a:r>
            <a:endParaRPr lang="en-US" sz="1700" dirty="0"/>
          </a:p>
        </p:txBody>
      </p:sp>
      <p:sp>
        <p:nvSpPr>
          <p:cNvPr id="22" name="Text 20"/>
          <p:cNvSpPr txBox="1"/>
          <p:nvPr/>
        </p:nvSpPr>
        <p:spPr>
          <a:xfrm>
            <a:off x="1417320" y="4782312"/>
            <a:ext cx="5394960" cy="457200"/>
          </a:xfrm>
          <a:prstGeom prst="rect">
            <a:avLst/>
          </a:prstGeom>
          <a:noFill/>
          <a:ln/>
        </p:spPr>
        <p:txBody>
          <a:bodyPr wrap="square" lIns="0" tIns="0" rIns="0" bIns="0" rtlCol="0" anchor="ctr"/>
          <a:lstStyle/>
          <a:p>
            <a:pPr algn="l" indent="0" marL="0">
              <a:lnSpc>
                <a:spcPct val="115000"/>
              </a:lnSpc>
              <a:buNone/>
            </a:pPr>
            <a:r>
              <a:rPr lang="en-US" sz="1800" dirty="0">
                <a:solidFill>
                  <a:srgbClr val="0E1B3D"/>
                </a:solidFill>
                <a:latin typeface="Calibri" pitchFamily="34" charset="0"/>
                <a:ea typeface="Calibri" pitchFamily="34" charset="-122"/>
                <a:cs typeface="Calibri" pitchFamily="34" charset="-120"/>
              </a:rPr>
              <a:t>Tulis &lt;h1&gt;Hello SI Fest!&lt;/h1&gt; di dalam body</a:t>
            </a:r>
            <a:endParaRPr lang="en-US" sz="1800" dirty="0"/>
          </a:p>
        </p:txBody>
      </p:sp>
      <p:sp>
        <p:nvSpPr>
          <p:cNvPr id="23" name="Shape 21"/>
          <p:cNvSpPr/>
          <p:nvPr/>
        </p:nvSpPr>
        <p:spPr>
          <a:xfrm>
            <a:off x="731520" y="5486400"/>
            <a:ext cx="457200" cy="457200"/>
          </a:xfrm>
          <a:prstGeom prst="ellipse">
            <a:avLst/>
          </a:prstGeom>
          <a:solidFill>
            <a:srgbClr val="FFC83D"/>
          </a:solidFill>
          <a:ln/>
        </p:spPr>
      </p:sp>
      <p:sp>
        <p:nvSpPr>
          <p:cNvPr id="24" name="Text 22"/>
          <p:cNvSpPr txBox="1"/>
          <p:nvPr/>
        </p:nvSpPr>
        <p:spPr>
          <a:xfrm>
            <a:off x="731520" y="5486400"/>
            <a:ext cx="457200" cy="457200"/>
          </a:xfrm>
          <a:prstGeom prst="rect">
            <a:avLst/>
          </a:prstGeom>
          <a:noFill/>
          <a:ln/>
        </p:spPr>
        <p:txBody>
          <a:bodyPr wrap="square" lIns="0" tIns="0" rIns="0" bIns="0" rtlCol="0" anchor="ctr"/>
          <a:lstStyle/>
          <a:p>
            <a:pPr algn="ctr" indent="0" marL="0">
              <a:lnSpc>
                <a:spcPct val="115000"/>
              </a:lnSpc>
              <a:buNone/>
            </a:pPr>
            <a:r>
              <a:rPr lang="en-US" sz="1700" b="1" dirty="0">
                <a:solidFill>
                  <a:srgbClr val="0E1B3D"/>
                </a:solidFill>
                <a:latin typeface="Calibri" pitchFamily="34" charset="0"/>
                <a:ea typeface="Calibri" pitchFamily="34" charset="-122"/>
                <a:cs typeface="Calibri" pitchFamily="34" charset="-120"/>
              </a:rPr>
              <a:t>6</a:t>
            </a:r>
            <a:endParaRPr lang="en-US" sz="1700" dirty="0"/>
          </a:p>
        </p:txBody>
      </p:sp>
      <p:sp>
        <p:nvSpPr>
          <p:cNvPr id="25" name="Text 23"/>
          <p:cNvSpPr txBox="1"/>
          <p:nvPr/>
        </p:nvSpPr>
        <p:spPr>
          <a:xfrm>
            <a:off x="1417320" y="5486400"/>
            <a:ext cx="5394960" cy="457200"/>
          </a:xfrm>
          <a:prstGeom prst="rect">
            <a:avLst/>
          </a:prstGeom>
          <a:noFill/>
          <a:ln/>
        </p:spPr>
        <p:txBody>
          <a:bodyPr wrap="square" lIns="0" tIns="0" rIns="0" bIns="0" rtlCol="0" anchor="ctr"/>
          <a:lstStyle/>
          <a:p>
            <a:pPr algn="l" indent="0" marL="0">
              <a:lnSpc>
                <a:spcPct val="115000"/>
              </a:lnSpc>
              <a:buNone/>
            </a:pPr>
            <a:r>
              <a:rPr lang="en-US" sz="1800" dirty="0">
                <a:solidFill>
                  <a:srgbClr val="0E1B3D"/>
                </a:solidFill>
                <a:latin typeface="Calibri" pitchFamily="34" charset="0"/>
                <a:ea typeface="Calibri" pitchFamily="34" charset="-122"/>
                <a:cs typeface="Calibri" pitchFamily="34" charset="-120"/>
              </a:rPr>
              <a:t>Klik kanan → Open with Live Server</a:t>
            </a:r>
            <a:endParaRPr lang="en-US" sz="1800" dirty="0"/>
          </a:p>
        </p:txBody>
      </p:sp>
      <p:sp>
        <p:nvSpPr>
          <p:cNvPr id="26" name="Shape 24"/>
          <p:cNvSpPr/>
          <p:nvPr/>
        </p:nvSpPr>
        <p:spPr>
          <a:xfrm>
            <a:off x="6858000" y="1965960"/>
            <a:ext cx="4663440" cy="1763268"/>
          </a:xfrm>
          <a:prstGeom prst="roundRect">
            <a:avLst>
              <a:gd name="adj" fmla="val 7260"/>
            </a:avLst>
          </a:prstGeom>
          <a:solidFill>
            <a:srgbClr val="0B1530"/>
          </a:solidFill>
          <a:ln/>
          <a:effectLst>
            <a:outerShdw sx="100000" sy="100000" kx="0" ky="0" algn="bl" rotWithShape="0" blurRad="177800" dist="38100" dir="5400000">
              <a:srgbClr val="000000">
                <a:alpha val="40000"/>
              </a:srgbClr>
            </a:outerShdw>
          </a:effectLst>
        </p:spPr>
      </p:sp>
      <p:sp>
        <p:nvSpPr>
          <p:cNvPr id="27" name="Shape 25"/>
          <p:cNvSpPr/>
          <p:nvPr/>
        </p:nvSpPr>
        <p:spPr>
          <a:xfrm>
            <a:off x="7059168" y="2121408"/>
            <a:ext cx="109728" cy="109728"/>
          </a:xfrm>
          <a:prstGeom prst="ellipse">
            <a:avLst/>
          </a:prstGeom>
          <a:solidFill>
            <a:srgbClr val="E63946"/>
          </a:solidFill>
          <a:ln/>
        </p:spPr>
      </p:sp>
      <p:sp>
        <p:nvSpPr>
          <p:cNvPr id="28" name="Shape 26"/>
          <p:cNvSpPr/>
          <p:nvPr/>
        </p:nvSpPr>
        <p:spPr>
          <a:xfrm>
            <a:off x="7242048" y="2121408"/>
            <a:ext cx="109728" cy="109728"/>
          </a:xfrm>
          <a:prstGeom prst="ellipse">
            <a:avLst/>
          </a:prstGeom>
          <a:solidFill>
            <a:srgbClr val="FFC83D"/>
          </a:solidFill>
          <a:ln/>
        </p:spPr>
      </p:sp>
      <p:sp>
        <p:nvSpPr>
          <p:cNvPr id="29" name="Shape 27"/>
          <p:cNvSpPr/>
          <p:nvPr/>
        </p:nvSpPr>
        <p:spPr>
          <a:xfrm>
            <a:off x="7424928" y="2121408"/>
            <a:ext cx="109728" cy="109728"/>
          </a:xfrm>
          <a:prstGeom prst="ellipse">
            <a:avLst/>
          </a:prstGeom>
          <a:solidFill>
            <a:srgbClr val="1E9E68"/>
          </a:solidFill>
          <a:ln/>
        </p:spPr>
      </p:sp>
      <p:sp>
        <p:nvSpPr>
          <p:cNvPr id="30" name="Text 28"/>
          <p:cNvSpPr txBox="1"/>
          <p:nvPr/>
        </p:nvSpPr>
        <p:spPr>
          <a:xfrm>
            <a:off x="7772400" y="2039112"/>
            <a:ext cx="347472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Consolas" pitchFamily="34" charset="0"/>
                <a:ea typeface="Consolas" pitchFamily="34" charset="-122"/>
                <a:cs typeface="Consolas" pitchFamily="34" charset="-120"/>
              </a:rPr>
              <a:t>index.html</a:t>
            </a:r>
            <a:endParaRPr lang="en-US" sz="1200" dirty="0"/>
          </a:p>
        </p:txBody>
      </p:sp>
      <p:sp>
        <p:nvSpPr>
          <p:cNvPr id="31" name="Shape 29"/>
          <p:cNvSpPr/>
          <p:nvPr/>
        </p:nvSpPr>
        <p:spPr>
          <a:xfrm>
            <a:off x="6931152" y="2864612"/>
            <a:ext cx="4517136" cy="368300"/>
          </a:xfrm>
          <a:prstGeom prst="rect">
            <a:avLst/>
          </a:prstGeom>
          <a:solidFill>
            <a:srgbClr val="FFC83D">
              <a:alpha val="16000"/>
            </a:srgbClr>
          </a:solidFill>
          <a:ln/>
        </p:spPr>
      </p:sp>
      <p:sp>
        <p:nvSpPr>
          <p:cNvPr id="32" name="Text 30"/>
          <p:cNvSpPr txBox="1"/>
          <p:nvPr/>
        </p:nvSpPr>
        <p:spPr>
          <a:xfrm>
            <a:off x="7022592" y="24963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1</a:t>
            </a:r>
            <a:endParaRPr lang="en-US" sz="1400" dirty="0"/>
          </a:p>
        </p:txBody>
      </p:sp>
      <p:sp>
        <p:nvSpPr>
          <p:cNvPr id="33" name="Text 31"/>
          <p:cNvSpPr txBox="1"/>
          <p:nvPr/>
        </p:nvSpPr>
        <p:spPr>
          <a:xfrm>
            <a:off x="7543800" y="2496312"/>
            <a:ext cx="393192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body</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34" name="Text 32"/>
          <p:cNvSpPr txBox="1"/>
          <p:nvPr/>
        </p:nvSpPr>
        <p:spPr>
          <a:xfrm>
            <a:off x="7022592" y="28646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2</a:t>
            </a:r>
            <a:endParaRPr lang="en-US" sz="1400" dirty="0"/>
          </a:p>
        </p:txBody>
      </p:sp>
      <p:sp>
        <p:nvSpPr>
          <p:cNvPr id="35" name="Text 33"/>
          <p:cNvSpPr txBox="1"/>
          <p:nvPr/>
        </p:nvSpPr>
        <p:spPr>
          <a:xfrm>
            <a:off x="7543800" y="2864612"/>
            <a:ext cx="393192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h1</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Hello SI Fest!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h1</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36" name="Text 34"/>
          <p:cNvSpPr txBox="1"/>
          <p:nvPr/>
        </p:nvSpPr>
        <p:spPr>
          <a:xfrm>
            <a:off x="7022592" y="32329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3</a:t>
            </a:r>
            <a:endParaRPr lang="en-US" sz="1400" dirty="0"/>
          </a:p>
        </p:txBody>
      </p:sp>
      <p:sp>
        <p:nvSpPr>
          <p:cNvPr id="37" name="Text 35"/>
          <p:cNvSpPr txBox="1"/>
          <p:nvPr/>
        </p:nvSpPr>
        <p:spPr>
          <a:xfrm>
            <a:off x="7543800" y="3232912"/>
            <a:ext cx="393192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body</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38" name="Shape 36"/>
          <p:cNvSpPr/>
          <p:nvPr/>
        </p:nvSpPr>
        <p:spPr>
          <a:xfrm>
            <a:off x="6858000" y="4003548"/>
            <a:ext cx="4572000" cy="2148840"/>
          </a:xfrm>
          <a:prstGeom prst="roundRect">
            <a:avLst>
              <a:gd name="adj" fmla="val 6809"/>
            </a:avLst>
          </a:prstGeom>
          <a:solidFill>
            <a:srgbClr val="FFFFFF"/>
          </a:solidFill>
          <a:ln w="15875">
            <a:solidFill>
              <a:srgbClr val="D5DAE6"/>
            </a:solidFill>
            <a:prstDash val="solid"/>
          </a:ln>
          <a:effectLst>
            <a:outerShdw sx="100000" sy="100000" kx="0" ky="0" algn="bl" rotWithShape="0" blurRad="177800" dist="38100" dir="5400000">
              <a:srgbClr val="7A8299">
                <a:alpha val="18000"/>
              </a:srgbClr>
            </a:outerShdw>
          </a:effectLst>
        </p:spPr>
      </p:sp>
      <p:sp>
        <p:nvSpPr>
          <p:cNvPr id="39" name="Shape 37"/>
          <p:cNvSpPr/>
          <p:nvPr/>
        </p:nvSpPr>
        <p:spPr>
          <a:xfrm>
            <a:off x="6876288" y="4021836"/>
            <a:ext cx="4535424" cy="384048"/>
          </a:xfrm>
          <a:prstGeom prst="roundRect">
            <a:avLst>
              <a:gd name="adj" fmla="val 33333"/>
            </a:avLst>
          </a:prstGeom>
          <a:solidFill>
            <a:srgbClr val="EEF1F7"/>
          </a:solidFill>
          <a:ln/>
        </p:spPr>
      </p:sp>
      <p:sp>
        <p:nvSpPr>
          <p:cNvPr id="40" name="Shape 38"/>
          <p:cNvSpPr/>
          <p:nvPr/>
        </p:nvSpPr>
        <p:spPr>
          <a:xfrm>
            <a:off x="6876288" y="4204716"/>
            <a:ext cx="4535424" cy="201168"/>
          </a:xfrm>
          <a:prstGeom prst="rect">
            <a:avLst/>
          </a:prstGeom>
          <a:solidFill>
            <a:srgbClr val="EEF1F7"/>
          </a:solidFill>
          <a:ln/>
        </p:spPr>
      </p:sp>
      <p:sp>
        <p:nvSpPr>
          <p:cNvPr id="41" name="Shape 39"/>
          <p:cNvSpPr/>
          <p:nvPr/>
        </p:nvSpPr>
        <p:spPr>
          <a:xfrm>
            <a:off x="7040880" y="4140708"/>
            <a:ext cx="100584" cy="100584"/>
          </a:xfrm>
          <a:prstGeom prst="ellipse">
            <a:avLst/>
          </a:prstGeom>
          <a:solidFill>
            <a:srgbClr val="E63946"/>
          </a:solidFill>
          <a:ln/>
        </p:spPr>
      </p:sp>
      <p:sp>
        <p:nvSpPr>
          <p:cNvPr id="42" name="Shape 40"/>
          <p:cNvSpPr/>
          <p:nvPr/>
        </p:nvSpPr>
        <p:spPr>
          <a:xfrm>
            <a:off x="7214616" y="4140708"/>
            <a:ext cx="100584" cy="100584"/>
          </a:xfrm>
          <a:prstGeom prst="ellipse">
            <a:avLst/>
          </a:prstGeom>
          <a:solidFill>
            <a:srgbClr val="FFC83D"/>
          </a:solidFill>
          <a:ln/>
        </p:spPr>
      </p:sp>
      <p:sp>
        <p:nvSpPr>
          <p:cNvPr id="43" name="Shape 41"/>
          <p:cNvSpPr/>
          <p:nvPr/>
        </p:nvSpPr>
        <p:spPr>
          <a:xfrm>
            <a:off x="7388352" y="4140708"/>
            <a:ext cx="100584" cy="100584"/>
          </a:xfrm>
          <a:prstGeom prst="ellipse">
            <a:avLst/>
          </a:prstGeom>
          <a:solidFill>
            <a:srgbClr val="1E9E68"/>
          </a:solidFill>
          <a:ln/>
        </p:spPr>
      </p:sp>
      <p:sp>
        <p:nvSpPr>
          <p:cNvPr id="44" name="Shape 42"/>
          <p:cNvSpPr/>
          <p:nvPr/>
        </p:nvSpPr>
        <p:spPr>
          <a:xfrm>
            <a:off x="7726680" y="4085844"/>
            <a:ext cx="3474720" cy="237744"/>
          </a:xfrm>
          <a:prstGeom prst="roundRect">
            <a:avLst>
              <a:gd name="adj" fmla="val 50000"/>
            </a:avLst>
          </a:prstGeom>
          <a:solidFill>
            <a:srgbClr val="FFFFFF"/>
          </a:solidFill>
          <a:ln/>
        </p:spPr>
      </p:sp>
      <p:sp>
        <p:nvSpPr>
          <p:cNvPr id="45" name="Text 43"/>
          <p:cNvSpPr txBox="1"/>
          <p:nvPr/>
        </p:nvSpPr>
        <p:spPr>
          <a:xfrm>
            <a:off x="7863840" y="4085844"/>
            <a:ext cx="32004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Calibri" pitchFamily="34" charset="0"/>
                <a:ea typeface="Calibri" pitchFamily="34" charset="-122"/>
                <a:cs typeface="Calibri" pitchFamily="34" charset="-120"/>
              </a:rPr>
              <a:t>localhost:5500</a:t>
            </a:r>
            <a:endParaRPr lang="en-US" sz="1100" dirty="0"/>
          </a:p>
        </p:txBody>
      </p:sp>
      <p:sp>
        <p:nvSpPr>
          <p:cNvPr id="46" name="Text 44"/>
          <p:cNvSpPr txBox="1"/>
          <p:nvPr/>
        </p:nvSpPr>
        <p:spPr>
          <a:xfrm>
            <a:off x="7178040" y="4680204"/>
            <a:ext cx="4023360" cy="731520"/>
          </a:xfrm>
          <a:prstGeom prst="rect">
            <a:avLst/>
          </a:prstGeom>
          <a:noFill/>
          <a:ln/>
        </p:spPr>
        <p:txBody>
          <a:bodyPr wrap="none" lIns="0" tIns="0" rIns="0" bIns="0" rtlCol="0" anchor="ctr"/>
          <a:lstStyle/>
          <a:p>
            <a:pPr algn="l" indent="0" marL="0">
              <a:lnSpc>
                <a:spcPct val="115000"/>
              </a:lnSpc>
              <a:buNone/>
            </a:pPr>
            <a:r>
              <a:rPr lang="en-US" sz="3600" b="1" dirty="0">
                <a:solidFill>
                  <a:srgbClr val="000000"/>
                </a:solidFill>
                <a:latin typeface="Times New Roman" pitchFamily="34" charset="0"/>
                <a:ea typeface="Times New Roman" pitchFamily="34" charset="-122"/>
                <a:cs typeface="Times New Roman" pitchFamily="34" charset="-120"/>
              </a:rPr>
              <a:t>Hello SI Fest!</a:t>
            </a:r>
            <a:endParaRPr 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4FD8"/>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11</a:t>
            </a:r>
            <a:endParaRPr lang="en-US" sz="1000" dirty="0"/>
          </a:p>
        </p:txBody>
      </p:sp>
      <p:sp>
        <p:nvSpPr>
          <p:cNvPr id="4" name="Text 2"/>
          <p:cNvSpPr txBox="1"/>
          <p:nvPr/>
        </p:nvSpPr>
        <p:spPr>
          <a:xfrm>
            <a:off x="4754880" y="182880"/>
            <a:ext cx="7315200" cy="6035040"/>
          </a:xfrm>
          <a:prstGeom prst="rect">
            <a:avLst/>
          </a:prstGeom>
          <a:noFill/>
          <a:ln/>
        </p:spPr>
        <p:txBody>
          <a:bodyPr wrap="none" lIns="0" tIns="0" rIns="0" bIns="0" rtlCol="0" anchor="ctr"/>
          <a:lstStyle/>
          <a:p>
            <a:pPr algn="r" indent="0" marL="0">
              <a:lnSpc>
                <a:spcPct val="115000"/>
              </a:lnSpc>
              <a:buNone/>
            </a:pPr>
            <a:r>
              <a:rPr lang="en-US" sz="30000" b="1" dirty="0">
                <a:solidFill>
                  <a:srgbClr val="3B6AEA"/>
                </a:solidFill>
                <a:latin typeface="Calibri" pitchFamily="34" charset="0"/>
                <a:ea typeface="Calibri" pitchFamily="34" charset="-122"/>
                <a:cs typeface="Calibri" pitchFamily="34" charset="-120"/>
              </a:rPr>
              <a:t>02</a:t>
            </a:r>
            <a:endParaRPr lang="en-US" sz="30000" dirty="0"/>
          </a:p>
        </p:txBody>
      </p:sp>
      <p:sp>
        <p:nvSpPr>
          <p:cNvPr id="5" name="Text 3"/>
          <p:cNvSpPr txBox="1"/>
          <p:nvPr/>
        </p:nvSpPr>
        <p:spPr>
          <a:xfrm>
            <a:off x="731520" y="2148840"/>
            <a:ext cx="7315200" cy="274320"/>
          </a:xfrm>
          <a:prstGeom prst="rect">
            <a:avLst/>
          </a:prstGeom>
          <a:noFill/>
          <a:ln/>
        </p:spPr>
        <p:txBody>
          <a:bodyPr wrap="square" lIns="0" tIns="0" rIns="0" bIns="0" rtlCol="0" anchor="t"/>
          <a:lstStyle/>
          <a:p>
            <a:pPr algn="l" indent="0" marL="0">
              <a:lnSpc>
                <a:spcPct val="115000"/>
              </a:lnSpc>
              <a:buNone/>
            </a:pPr>
            <a:r>
              <a:rPr lang="en-US" sz="1400" b="1" spc="300" kern="0" dirty="0">
                <a:solidFill>
                  <a:srgbClr val="FFC83D"/>
                </a:solidFill>
                <a:latin typeface="Calibri" pitchFamily="34" charset="0"/>
                <a:ea typeface="Calibri" pitchFamily="34" charset="-122"/>
                <a:cs typeface="Calibri" pitchFamily="34" charset="-120"/>
              </a:rPr>
              <a:t>BAGIAN 02</a:t>
            </a:r>
            <a:endParaRPr lang="en-US" sz="1400" dirty="0"/>
          </a:p>
        </p:txBody>
      </p:sp>
      <p:sp>
        <p:nvSpPr>
          <p:cNvPr id="6" name="Text 4"/>
          <p:cNvSpPr txBox="1"/>
          <p:nvPr/>
        </p:nvSpPr>
        <p:spPr>
          <a:xfrm>
            <a:off x="731520" y="2560320"/>
            <a:ext cx="8778240" cy="1371600"/>
          </a:xfrm>
          <a:prstGeom prst="rect">
            <a:avLst/>
          </a:prstGeom>
          <a:noFill/>
          <a:ln/>
        </p:spPr>
        <p:txBody>
          <a:bodyPr wrap="square" lIns="0" tIns="0" rIns="0" bIns="0" rtlCol="0" anchor="t"/>
          <a:lstStyle/>
          <a:p>
            <a:pPr algn="l" indent="0" marL="0">
              <a:lnSpc>
                <a:spcPct val="102000"/>
              </a:lnSpc>
              <a:buNone/>
            </a:pPr>
            <a:r>
              <a:rPr lang="en-US" sz="6600" b="1" dirty="0">
                <a:solidFill>
                  <a:srgbClr val="FFFFFF"/>
                </a:solidFill>
                <a:latin typeface="Calibri" pitchFamily="34" charset="0"/>
                <a:ea typeface="Calibri" pitchFamily="34" charset="-122"/>
                <a:cs typeface="Calibri" pitchFamily="34" charset="-120"/>
              </a:rPr>
              <a:t>HTML</a:t>
            </a:r>
            <a:endParaRPr lang="en-US" sz="6600" dirty="0"/>
          </a:p>
        </p:txBody>
      </p:sp>
      <p:sp>
        <p:nvSpPr>
          <p:cNvPr id="7" name="Text 5"/>
          <p:cNvSpPr txBox="1"/>
          <p:nvPr/>
        </p:nvSpPr>
        <p:spPr>
          <a:xfrm>
            <a:off x="731520" y="4160520"/>
            <a:ext cx="6583680" cy="822960"/>
          </a:xfrm>
          <a:prstGeom prst="rect">
            <a:avLst/>
          </a:prstGeom>
          <a:noFill/>
          <a:ln/>
        </p:spPr>
        <p:txBody>
          <a:bodyPr wrap="square" lIns="0" tIns="0" rIns="0" bIns="0" rtlCol="0" anchor="t"/>
          <a:lstStyle/>
          <a:p>
            <a:pPr algn="l" indent="0" marL="0">
              <a:lnSpc>
                <a:spcPct val="130000"/>
              </a:lnSpc>
              <a:buNone/>
            </a:pPr>
            <a:r>
              <a:rPr lang="en-US" sz="2200" dirty="0">
                <a:solidFill>
                  <a:srgbClr val="DCE6FF"/>
                </a:solidFill>
                <a:latin typeface="Calibri" pitchFamily="34" charset="0"/>
                <a:ea typeface="Calibri" pitchFamily="34" charset="-122"/>
                <a:cs typeface="Calibri" pitchFamily="34" charset="-120"/>
              </a:rPr>
              <a:t>Kerangka sebuah website. Setiap halaman dimulai dari sini</a:t>
            </a:r>
            <a:endParaRPr lang="en-US" sz="2200" dirty="0"/>
          </a:p>
        </p:txBody>
      </p:sp>
      <p:sp>
        <p:nvSpPr>
          <p:cNvPr id="8" name="Shape 6"/>
          <p:cNvSpPr/>
          <p:nvPr/>
        </p:nvSpPr>
        <p:spPr>
          <a:xfrm>
            <a:off x="731520" y="5349240"/>
            <a:ext cx="1737360" cy="347472"/>
          </a:xfrm>
          <a:prstGeom prst="roundRect">
            <a:avLst>
              <a:gd name="adj" fmla="val 50000"/>
            </a:avLst>
          </a:prstGeom>
          <a:ln w="15875">
            <a:solidFill>
              <a:srgbClr val="2A3C6E"/>
            </a:solidFill>
            <a:prstDash val="solid"/>
          </a:ln>
        </p:spPr>
      </p:sp>
      <p:sp>
        <p:nvSpPr>
          <p:cNvPr id="9" name="Text 7"/>
          <p:cNvSpPr txBox="1"/>
          <p:nvPr/>
        </p:nvSpPr>
        <p:spPr>
          <a:xfrm>
            <a:off x="731520" y="534924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A9B6D6"/>
                </a:solidFill>
                <a:latin typeface="Calibri" pitchFamily="34" charset="0"/>
                <a:ea typeface="Calibri" pitchFamily="34" charset="-122"/>
                <a:cs typeface="Calibri" pitchFamily="34" charset="-120"/>
              </a:rPr>
              <a:t>08.20 – 09.20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6F7FA8"/>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6F7FA8"/>
                </a:solidFill>
                <a:latin typeface="Calibri" pitchFamily="34" charset="0"/>
                <a:ea typeface="Calibri" pitchFamily="34" charset="-122"/>
                <a:cs typeface="Calibri" pitchFamily="34" charset="-120"/>
              </a:rPr>
              <a:t>12</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FFC83D"/>
                </a:solidFill>
                <a:latin typeface="Calibri" pitchFamily="34" charset="0"/>
                <a:ea typeface="Calibri" pitchFamily="34" charset="-122"/>
                <a:cs typeface="Calibri" pitchFamily="34" charset="-120"/>
              </a:rPr>
              <a:t>02 · HTML</a:t>
            </a:r>
            <a:endParaRPr lang="en-US" sz="1200" dirty="0"/>
          </a:p>
        </p:txBody>
      </p:sp>
      <p:sp>
        <p:nvSpPr>
          <p:cNvPr id="5" name="Text 3"/>
          <p:cNvSpPr txBox="1"/>
          <p:nvPr/>
        </p:nvSpPr>
        <p:spPr>
          <a:xfrm>
            <a:off x="731520" y="804672"/>
            <a:ext cx="10698480" cy="1005840"/>
          </a:xfrm>
          <a:prstGeom prst="rect">
            <a:avLst/>
          </a:prstGeom>
          <a:noFill/>
          <a:ln/>
        </p:spPr>
        <p:txBody>
          <a:bodyPr wrap="square" lIns="0" tIns="0" rIns="0" bIns="0" rtlCol="0" anchor="t"/>
          <a:lstStyle/>
          <a:p>
            <a:pPr algn="l" indent="0" marL="0">
              <a:lnSpc>
                <a:spcPct val="108000"/>
              </a:lnSpc>
              <a:buNone/>
            </a:pPr>
            <a:r>
              <a:rPr lang="en-US" sz="3800" b="1" dirty="0">
                <a:solidFill>
                  <a:srgbClr val="F4F6FB"/>
                </a:solidFill>
                <a:latin typeface="Calibri" pitchFamily="34" charset="0"/>
                <a:ea typeface="Calibri" pitchFamily="34" charset="-122"/>
                <a:cs typeface="Calibri" pitchFamily="34" charset="-120"/>
              </a:rPr>
              <a:t>Anatomi sebuah tag</a:t>
            </a:r>
            <a:endParaRPr lang="en-US" sz="3800" dirty="0"/>
          </a:p>
        </p:txBody>
      </p:sp>
      <p:sp>
        <p:nvSpPr>
          <p:cNvPr id="6" name="Text 4"/>
          <p:cNvSpPr txBox="1"/>
          <p:nvPr/>
        </p:nvSpPr>
        <p:spPr>
          <a:xfrm>
            <a:off x="2463648" y="2011680"/>
            <a:ext cx="7447280" cy="731520"/>
          </a:xfrm>
          <a:prstGeom prst="rect">
            <a:avLst/>
          </a:prstGeom>
          <a:noFill/>
          <a:ln/>
        </p:spPr>
        <p:txBody>
          <a:bodyPr wrap="none" lIns="0" tIns="0" rIns="0" bIns="0" rtlCol="0" anchor="ctr"/>
          <a:lstStyle/>
          <a:p>
            <a:pPr algn="l" indent="0" marL="0">
              <a:lnSpc>
                <a:spcPct val="115000"/>
              </a:lnSpc>
              <a:buNone/>
            </a:pPr>
            <a:r>
              <a:rPr lang="en-US" sz="4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4000" dirty="0">
                <a:solidFill>
                  <a:srgbClr val="8DB4FF"/>
                </a:solidFill>
                <a:latin typeface="Consolas" pitchFamily="34" charset="0"/>
                <a:ea typeface="Consolas" pitchFamily="34" charset="-122"/>
                <a:cs typeface="Consolas" pitchFamily="34" charset="-120"/>
              </a:rPr>
              <a:t>p</a:t>
            </a:r>
            <a:pPr algn="l" indent="0" marL="0">
              <a:lnSpc>
                <a:spcPct val="115000"/>
              </a:lnSpc>
              <a:buNone/>
            </a:pPr>
            <a:r>
              <a:rPr lang="en-US" sz="4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4000" dirty="0">
                <a:solidFill>
                  <a:srgbClr val="FFD36E"/>
                </a:solidFill>
                <a:latin typeface="Consolas" pitchFamily="34" charset="0"/>
                <a:ea typeface="Consolas" pitchFamily="34" charset="-122"/>
                <a:cs typeface="Consolas" pitchFamily="34" charset="-120"/>
              </a:rPr>
              <a:t>class</a:t>
            </a:r>
            <a:pPr algn="l" indent="0" marL="0">
              <a:lnSpc>
                <a:spcPct val="115000"/>
              </a:lnSpc>
              <a:buNone/>
            </a:pPr>
            <a:r>
              <a:rPr lang="en-US" sz="4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4000" dirty="0">
                <a:solidFill>
                  <a:srgbClr val="8FE3B0"/>
                </a:solidFill>
                <a:latin typeface="Consolas" pitchFamily="34" charset="0"/>
                <a:ea typeface="Consolas" pitchFamily="34" charset="-122"/>
                <a:cs typeface="Consolas" pitchFamily="34" charset="-120"/>
              </a:rPr>
              <a:t>"intro"</a:t>
            </a:r>
            <a:pPr algn="l" indent="0" marL="0">
              <a:lnSpc>
                <a:spcPct val="115000"/>
              </a:lnSpc>
              <a:buNone/>
            </a:pPr>
            <a:r>
              <a:rPr lang="en-US" sz="4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4000" dirty="0">
                <a:solidFill>
                  <a:srgbClr val="F4F6FB"/>
                </a:solidFill>
                <a:latin typeface="Consolas" pitchFamily="34" charset="0"/>
                <a:ea typeface="Consolas" pitchFamily="34" charset="-122"/>
                <a:cs typeface="Consolas" pitchFamily="34" charset="-120"/>
              </a:rPr>
              <a:t>Halo!</a:t>
            </a:r>
            <a:pPr algn="l" indent="0" marL="0">
              <a:lnSpc>
                <a:spcPct val="115000"/>
              </a:lnSpc>
              <a:buNone/>
            </a:pPr>
            <a:r>
              <a:rPr lang="en-US" sz="4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4000" dirty="0">
                <a:solidFill>
                  <a:srgbClr val="8DB4FF"/>
                </a:solidFill>
                <a:latin typeface="Consolas" pitchFamily="34" charset="0"/>
                <a:ea typeface="Consolas" pitchFamily="34" charset="-122"/>
                <a:cs typeface="Consolas" pitchFamily="34" charset="-120"/>
              </a:rPr>
              <a:t>p</a:t>
            </a:r>
            <a:pPr algn="l" indent="0" marL="0">
              <a:lnSpc>
                <a:spcPct val="115000"/>
              </a:lnSpc>
              <a:buNone/>
            </a:pPr>
            <a:r>
              <a:rPr lang="en-US" sz="4000" dirty="0">
                <a:solidFill>
                  <a:srgbClr val="C9D3EE"/>
                </a:solidFill>
                <a:latin typeface="Consolas" pitchFamily="34" charset="0"/>
                <a:ea typeface="Consolas" pitchFamily="34" charset="-122"/>
                <a:cs typeface="Consolas" pitchFamily="34" charset="-120"/>
              </a:rPr>
              <a:t>&gt;</a:t>
            </a:r>
            <a:endParaRPr lang="en-US" sz="4000" dirty="0"/>
          </a:p>
        </p:txBody>
      </p:sp>
      <p:sp>
        <p:nvSpPr>
          <p:cNvPr id="7" name="Shape 5"/>
          <p:cNvSpPr/>
          <p:nvPr/>
        </p:nvSpPr>
        <p:spPr>
          <a:xfrm>
            <a:off x="3301848" y="2926080"/>
            <a:ext cx="3632200" cy="0"/>
          </a:xfrm>
          <a:prstGeom prst="line">
            <a:avLst/>
          </a:prstGeom>
          <a:noFill/>
          <a:ln w="38100">
            <a:solidFill>
              <a:srgbClr val="FFD36E"/>
            </a:solidFill>
            <a:prstDash val="solid"/>
          </a:ln>
        </p:spPr>
      </p:sp>
      <p:sp>
        <p:nvSpPr>
          <p:cNvPr id="8" name="Text 6"/>
          <p:cNvSpPr txBox="1"/>
          <p:nvPr/>
        </p:nvSpPr>
        <p:spPr>
          <a:xfrm>
            <a:off x="3654908" y="3035808"/>
            <a:ext cx="292608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FFD36E"/>
                </a:solidFill>
                <a:latin typeface="Calibri" pitchFamily="34" charset="0"/>
                <a:ea typeface="Calibri" pitchFamily="34" charset="-122"/>
                <a:cs typeface="Calibri" pitchFamily="34" charset="-120"/>
              </a:rPr>
              <a:t>atribut</a:t>
            </a:r>
            <a:endParaRPr lang="en-US" sz="2200" dirty="0"/>
          </a:p>
        </p:txBody>
      </p:sp>
      <p:sp>
        <p:nvSpPr>
          <p:cNvPr id="9" name="Text 7"/>
          <p:cNvSpPr txBox="1"/>
          <p:nvPr/>
        </p:nvSpPr>
        <p:spPr>
          <a:xfrm>
            <a:off x="3654908" y="3429000"/>
            <a:ext cx="2926080" cy="320040"/>
          </a:xfrm>
          <a:prstGeom prst="rect">
            <a:avLst/>
          </a:prstGeom>
          <a:noFill/>
          <a:ln/>
        </p:spPr>
        <p:txBody>
          <a:bodyPr wrap="square" lIns="0" tIns="0" rIns="0" bIns="0" rtlCol="0" anchor="t"/>
          <a:lstStyle/>
          <a:p>
            <a:pPr algn="ctr" indent="0" marL="0">
              <a:lnSpc>
                <a:spcPct val="115000"/>
              </a:lnSpc>
              <a:buNone/>
            </a:pPr>
            <a:r>
              <a:rPr lang="en-US" sz="1500" dirty="0">
                <a:solidFill>
                  <a:srgbClr val="A9B6D6"/>
                </a:solidFill>
                <a:latin typeface="Calibri" pitchFamily="34" charset="0"/>
                <a:ea typeface="Calibri" pitchFamily="34" charset="-122"/>
                <a:cs typeface="Calibri" pitchFamily="34" charset="-120"/>
              </a:rPr>
              <a:t>info tambahan tentang elemen</a:t>
            </a:r>
            <a:endParaRPr lang="en-US" sz="1500" dirty="0"/>
          </a:p>
        </p:txBody>
      </p:sp>
      <p:sp>
        <p:nvSpPr>
          <p:cNvPr id="10" name="Shape 8"/>
          <p:cNvSpPr/>
          <p:nvPr/>
        </p:nvSpPr>
        <p:spPr>
          <a:xfrm>
            <a:off x="7213448" y="2926080"/>
            <a:ext cx="1397000" cy="0"/>
          </a:xfrm>
          <a:prstGeom prst="line">
            <a:avLst/>
          </a:prstGeom>
          <a:noFill/>
          <a:ln w="38100">
            <a:solidFill>
              <a:srgbClr val="8FE3B0"/>
            </a:solidFill>
            <a:prstDash val="solid"/>
          </a:ln>
        </p:spPr>
      </p:sp>
      <p:sp>
        <p:nvSpPr>
          <p:cNvPr id="11" name="Text 9"/>
          <p:cNvSpPr txBox="1"/>
          <p:nvPr/>
        </p:nvSpPr>
        <p:spPr>
          <a:xfrm>
            <a:off x="6448908" y="3035808"/>
            <a:ext cx="292608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8FE3B0"/>
                </a:solidFill>
                <a:latin typeface="Calibri" pitchFamily="34" charset="0"/>
                <a:ea typeface="Calibri" pitchFamily="34" charset="-122"/>
                <a:cs typeface="Calibri" pitchFamily="34" charset="-120"/>
              </a:rPr>
              <a:t>isi</a:t>
            </a:r>
            <a:endParaRPr lang="en-US" sz="2200" dirty="0"/>
          </a:p>
        </p:txBody>
      </p:sp>
      <p:sp>
        <p:nvSpPr>
          <p:cNvPr id="12" name="Text 10"/>
          <p:cNvSpPr txBox="1"/>
          <p:nvPr/>
        </p:nvSpPr>
        <p:spPr>
          <a:xfrm>
            <a:off x="6448908" y="3429000"/>
            <a:ext cx="2926080" cy="320040"/>
          </a:xfrm>
          <a:prstGeom prst="rect">
            <a:avLst/>
          </a:prstGeom>
          <a:noFill/>
          <a:ln/>
        </p:spPr>
        <p:txBody>
          <a:bodyPr wrap="square" lIns="0" tIns="0" rIns="0" bIns="0" rtlCol="0" anchor="t"/>
          <a:lstStyle/>
          <a:p>
            <a:pPr algn="ctr" indent="0" marL="0">
              <a:lnSpc>
                <a:spcPct val="115000"/>
              </a:lnSpc>
              <a:buNone/>
            </a:pPr>
            <a:r>
              <a:rPr lang="en-US" sz="1500" dirty="0">
                <a:solidFill>
                  <a:srgbClr val="A9B6D6"/>
                </a:solidFill>
                <a:latin typeface="Calibri" pitchFamily="34" charset="0"/>
                <a:ea typeface="Calibri" pitchFamily="34" charset="-122"/>
                <a:cs typeface="Calibri" pitchFamily="34" charset="-120"/>
              </a:rPr>
              <a:t>yang tampil di layar</a:t>
            </a:r>
            <a:endParaRPr lang="en-US" sz="1500" dirty="0"/>
          </a:p>
        </p:txBody>
      </p:sp>
      <p:sp>
        <p:nvSpPr>
          <p:cNvPr id="13" name="Shape 11"/>
          <p:cNvSpPr/>
          <p:nvPr/>
        </p:nvSpPr>
        <p:spPr>
          <a:xfrm>
            <a:off x="2463648" y="4251960"/>
            <a:ext cx="4749800" cy="0"/>
          </a:xfrm>
          <a:prstGeom prst="line">
            <a:avLst/>
          </a:prstGeom>
          <a:noFill/>
          <a:ln w="38100">
            <a:solidFill>
              <a:srgbClr val="8DB4FF"/>
            </a:solidFill>
            <a:prstDash val="solid"/>
          </a:ln>
        </p:spPr>
      </p:sp>
      <p:sp>
        <p:nvSpPr>
          <p:cNvPr id="14" name="Text 12"/>
          <p:cNvSpPr txBox="1"/>
          <p:nvPr/>
        </p:nvSpPr>
        <p:spPr>
          <a:xfrm>
            <a:off x="3375508" y="4361688"/>
            <a:ext cx="292608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8DB4FF"/>
                </a:solidFill>
                <a:latin typeface="Calibri" pitchFamily="34" charset="0"/>
                <a:ea typeface="Calibri" pitchFamily="34" charset="-122"/>
                <a:cs typeface="Calibri" pitchFamily="34" charset="-120"/>
              </a:rPr>
              <a:t>tag pembuka</a:t>
            </a:r>
            <a:endParaRPr lang="en-US" sz="2200" dirty="0"/>
          </a:p>
        </p:txBody>
      </p:sp>
      <p:sp>
        <p:nvSpPr>
          <p:cNvPr id="15" name="Text 13"/>
          <p:cNvSpPr txBox="1"/>
          <p:nvPr/>
        </p:nvSpPr>
        <p:spPr>
          <a:xfrm>
            <a:off x="3375508" y="4754880"/>
            <a:ext cx="2926080" cy="320040"/>
          </a:xfrm>
          <a:prstGeom prst="rect">
            <a:avLst/>
          </a:prstGeom>
          <a:noFill/>
          <a:ln/>
        </p:spPr>
        <p:txBody>
          <a:bodyPr wrap="square" lIns="0" tIns="0" rIns="0" bIns="0" rtlCol="0" anchor="t"/>
          <a:lstStyle/>
          <a:p>
            <a:pPr algn="ctr" indent="0" marL="0">
              <a:lnSpc>
                <a:spcPct val="115000"/>
              </a:lnSpc>
              <a:buNone/>
            </a:pPr>
            <a:r>
              <a:rPr lang="en-US" sz="1500" dirty="0">
                <a:solidFill>
                  <a:srgbClr val="A9B6D6"/>
                </a:solidFill>
                <a:latin typeface="Calibri" pitchFamily="34" charset="0"/>
                <a:ea typeface="Calibri" pitchFamily="34" charset="-122"/>
                <a:cs typeface="Calibri" pitchFamily="34" charset="-120"/>
              </a:rPr>
              <a:t>menandai awal elemen</a:t>
            </a:r>
            <a:endParaRPr lang="en-US" sz="1500" dirty="0"/>
          </a:p>
        </p:txBody>
      </p:sp>
      <p:sp>
        <p:nvSpPr>
          <p:cNvPr id="16" name="Shape 14"/>
          <p:cNvSpPr/>
          <p:nvPr/>
        </p:nvSpPr>
        <p:spPr>
          <a:xfrm>
            <a:off x="8610448" y="4251960"/>
            <a:ext cx="1117600" cy="0"/>
          </a:xfrm>
          <a:prstGeom prst="line">
            <a:avLst/>
          </a:prstGeom>
          <a:noFill/>
          <a:ln w="38100">
            <a:solidFill>
              <a:srgbClr val="8DB4FF"/>
            </a:solidFill>
            <a:prstDash val="solid"/>
          </a:ln>
        </p:spPr>
      </p:sp>
      <p:sp>
        <p:nvSpPr>
          <p:cNvPr id="17" name="Text 15"/>
          <p:cNvSpPr txBox="1"/>
          <p:nvPr/>
        </p:nvSpPr>
        <p:spPr>
          <a:xfrm>
            <a:off x="7706208" y="4361688"/>
            <a:ext cx="292608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8DB4FF"/>
                </a:solidFill>
                <a:latin typeface="Calibri" pitchFamily="34" charset="0"/>
                <a:ea typeface="Calibri" pitchFamily="34" charset="-122"/>
                <a:cs typeface="Calibri" pitchFamily="34" charset="-120"/>
              </a:rPr>
              <a:t>tag penutup</a:t>
            </a:r>
            <a:endParaRPr lang="en-US" sz="2200" dirty="0"/>
          </a:p>
        </p:txBody>
      </p:sp>
      <p:sp>
        <p:nvSpPr>
          <p:cNvPr id="18" name="Text 16"/>
          <p:cNvSpPr txBox="1"/>
          <p:nvPr/>
        </p:nvSpPr>
        <p:spPr>
          <a:xfrm>
            <a:off x="7706208" y="4754880"/>
            <a:ext cx="2926080" cy="320040"/>
          </a:xfrm>
          <a:prstGeom prst="rect">
            <a:avLst/>
          </a:prstGeom>
          <a:noFill/>
          <a:ln/>
        </p:spPr>
        <p:txBody>
          <a:bodyPr wrap="square" lIns="0" tIns="0" rIns="0" bIns="0" rtlCol="0" anchor="t"/>
          <a:lstStyle/>
          <a:p>
            <a:pPr algn="ctr" indent="0" marL="0">
              <a:lnSpc>
                <a:spcPct val="115000"/>
              </a:lnSpc>
              <a:buNone/>
            </a:pPr>
            <a:r>
              <a:rPr lang="en-US" sz="1500" dirty="0">
                <a:solidFill>
                  <a:srgbClr val="A9B6D6"/>
                </a:solidFill>
                <a:latin typeface="Calibri" pitchFamily="34" charset="0"/>
                <a:ea typeface="Calibri" pitchFamily="34" charset="-122"/>
                <a:cs typeface="Calibri" pitchFamily="34" charset="-120"/>
              </a:rPr>
              <a:t>ada garis miring /</a:t>
            </a:r>
            <a:endParaRPr lang="en-US" sz="1500" dirty="0"/>
          </a:p>
        </p:txBody>
      </p:sp>
      <p:sp>
        <p:nvSpPr>
          <p:cNvPr id="19" name="Text 17"/>
          <p:cNvSpPr txBox="1"/>
          <p:nvPr/>
        </p:nvSpPr>
        <p:spPr>
          <a:xfrm>
            <a:off x="731520" y="5669280"/>
            <a:ext cx="10698480" cy="457200"/>
          </a:xfrm>
          <a:prstGeom prst="rect">
            <a:avLst/>
          </a:prstGeom>
          <a:noFill/>
          <a:ln/>
        </p:spPr>
        <p:txBody>
          <a:bodyPr wrap="square" lIns="0" tIns="0" rIns="0" bIns="0" rtlCol="0" anchor="ctr"/>
          <a:lstStyle/>
          <a:p>
            <a:pPr algn="ctr" indent="0" marL="0">
              <a:lnSpc>
                <a:spcPct val="115000"/>
              </a:lnSpc>
              <a:buNone/>
            </a:pPr>
            <a:r>
              <a:rPr lang="en-US" sz="1700" dirty="0">
                <a:solidFill>
                  <a:srgbClr val="A9B6D6"/>
                </a:solidFill>
                <a:latin typeface="Calibri" pitchFamily="34" charset="0"/>
                <a:ea typeface="Calibri" pitchFamily="34" charset="-122"/>
                <a:cs typeface="Calibri" pitchFamily="34" charset="-120"/>
              </a:rPr>
              <a:t>Elemen = tag pembuka + isi + tag penutup. Ada tag tanpa penutup, misalnya &lt;img&gt; dan &lt;br&gt;.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13</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02 · HTML</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Kerangka wajib setiap halaman</a:t>
            </a:r>
            <a:endParaRPr lang="en-US" sz="3800" dirty="0"/>
          </a:p>
        </p:txBody>
      </p:sp>
      <p:sp>
        <p:nvSpPr>
          <p:cNvPr id="6" name="Shape 4"/>
          <p:cNvSpPr/>
          <p:nvPr/>
        </p:nvSpPr>
        <p:spPr>
          <a:xfrm>
            <a:off x="731520" y="1783080"/>
            <a:ext cx="6309360" cy="4341368"/>
          </a:xfrm>
          <a:prstGeom prst="roundRect">
            <a:avLst>
              <a:gd name="adj" fmla="val 2949"/>
            </a:avLst>
          </a:prstGeom>
          <a:solidFill>
            <a:srgbClr val="0B1530"/>
          </a:solidFill>
          <a:ln/>
          <a:effectLst>
            <a:outerShdw sx="100000" sy="100000" kx="0" ky="0" algn="bl" rotWithShape="0" blurRad="177800" dist="38100" dir="5400000">
              <a:srgbClr val="000000">
                <a:alpha val="40000"/>
              </a:srgbClr>
            </a:outerShdw>
          </a:effectLst>
        </p:spPr>
      </p:sp>
      <p:sp>
        <p:nvSpPr>
          <p:cNvPr id="7" name="Shape 5"/>
          <p:cNvSpPr/>
          <p:nvPr/>
        </p:nvSpPr>
        <p:spPr>
          <a:xfrm>
            <a:off x="932688" y="1938528"/>
            <a:ext cx="109728" cy="109728"/>
          </a:xfrm>
          <a:prstGeom prst="ellipse">
            <a:avLst/>
          </a:prstGeom>
          <a:solidFill>
            <a:srgbClr val="E63946"/>
          </a:solidFill>
          <a:ln/>
        </p:spPr>
      </p:sp>
      <p:sp>
        <p:nvSpPr>
          <p:cNvPr id="8" name="Shape 6"/>
          <p:cNvSpPr/>
          <p:nvPr/>
        </p:nvSpPr>
        <p:spPr>
          <a:xfrm>
            <a:off x="1115568" y="1938528"/>
            <a:ext cx="109728" cy="109728"/>
          </a:xfrm>
          <a:prstGeom prst="ellipse">
            <a:avLst/>
          </a:prstGeom>
          <a:solidFill>
            <a:srgbClr val="FFC83D"/>
          </a:solidFill>
          <a:ln/>
        </p:spPr>
      </p:sp>
      <p:sp>
        <p:nvSpPr>
          <p:cNvPr id="9" name="Shape 7"/>
          <p:cNvSpPr/>
          <p:nvPr/>
        </p:nvSpPr>
        <p:spPr>
          <a:xfrm>
            <a:off x="1298448" y="1938528"/>
            <a:ext cx="109728" cy="109728"/>
          </a:xfrm>
          <a:prstGeom prst="ellipse">
            <a:avLst/>
          </a:prstGeom>
          <a:solidFill>
            <a:srgbClr val="1E9E68"/>
          </a:solidFill>
          <a:ln/>
        </p:spPr>
      </p:sp>
      <p:sp>
        <p:nvSpPr>
          <p:cNvPr id="10" name="Text 8"/>
          <p:cNvSpPr txBox="1"/>
          <p:nvPr/>
        </p:nvSpPr>
        <p:spPr>
          <a:xfrm>
            <a:off x="1645920" y="1856232"/>
            <a:ext cx="512064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Consolas" pitchFamily="34" charset="0"/>
                <a:ea typeface="Consolas" pitchFamily="34" charset="-122"/>
                <a:cs typeface="Consolas" pitchFamily="34" charset="-120"/>
              </a:rPr>
              <a:t>index.html</a:t>
            </a:r>
            <a:endParaRPr lang="en-US" sz="1200" dirty="0"/>
          </a:p>
        </p:txBody>
      </p:sp>
      <p:sp>
        <p:nvSpPr>
          <p:cNvPr id="11" name="Shape 9"/>
          <p:cNvSpPr/>
          <p:nvPr/>
        </p:nvSpPr>
        <p:spPr>
          <a:xfrm>
            <a:off x="804672" y="3050032"/>
            <a:ext cx="6163056" cy="368300"/>
          </a:xfrm>
          <a:prstGeom prst="rect">
            <a:avLst/>
          </a:prstGeom>
          <a:solidFill>
            <a:srgbClr val="FFC83D">
              <a:alpha val="16000"/>
            </a:srgbClr>
          </a:solidFill>
          <a:ln/>
        </p:spPr>
      </p:sp>
      <p:sp>
        <p:nvSpPr>
          <p:cNvPr id="12" name="Shape 10"/>
          <p:cNvSpPr/>
          <p:nvPr/>
        </p:nvSpPr>
        <p:spPr>
          <a:xfrm>
            <a:off x="804672" y="4523232"/>
            <a:ext cx="6163056" cy="368300"/>
          </a:xfrm>
          <a:prstGeom prst="rect">
            <a:avLst/>
          </a:prstGeom>
          <a:solidFill>
            <a:srgbClr val="FFC83D">
              <a:alpha val="16000"/>
            </a:srgbClr>
          </a:solidFill>
          <a:ln/>
        </p:spPr>
      </p:sp>
      <p:sp>
        <p:nvSpPr>
          <p:cNvPr id="13" name="Text 11"/>
          <p:cNvSpPr txBox="1"/>
          <p:nvPr/>
        </p:nvSpPr>
        <p:spPr>
          <a:xfrm>
            <a:off x="896112" y="23134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1</a:t>
            </a:r>
            <a:endParaRPr lang="en-US" sz="1400" dirty="0"/>
          </a:p>
        </p:txBody>
      </p:sp>
      <p:sp>
        <p:nvSpPr>
          <p:cNvPr id="14" name="Text 12"/>
          <p:cNvSpPr txBox="1"/>
          <p:nvPr/>
        </p:nvSpPr>
        <p:spPr>
          <a:xfrm>
            <a:off x="1417320" y="23134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!DOCTYPE</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html</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15" name="Text 13"/>
          <p:cNvSpPr txBox="1"/>
          <p:nvPr/>
        </p:nvSpPr>
        <p:spPr>
          <a:xfrm>
            <a:off x="896112" y="26817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2</a:t>
            </a:r>
            <a:endParaRPr lang="en-US" sz="1400" dirty="0"/>
          </a:p>
        </p:txBody>
      </p:sp>
      <p:sp>
        <p:nvSpPr>
          <p:cNvPr id="16" name="Text 14"/>
          <p:cNvSpPr txBox="1"/>
          <p:nvPr/>
        </p:nvSpPr>
        <p:spPr>
          <a:xfrm>
            <a:off x="1417320" y="26817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html</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lang</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"id"</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17" name="Text 15"/>
          <p:cNvSpPr txBox="1"/>
          <p:nvPr/>
        </p:nvSpPr>
        <p:spPr>
          <a:xfrm>
            <a:off x="896112" y="30500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3</a:t>
            </a:r>
            <a:endParaRPr lang="en-US" sz="1400" dirty="0"/>
          </a:p>
        </p:txBody>
      </p:sp>
      <p:sp>
        <p:nvSpPr>
          <p:cNvPr id="18" name="Text 16"/>
          <p:cNvSpPr txBox="1"/>
          <p:nvPr/>
        </p:nvSpPr>
        <p:spPr>
          <a:xfrm>
            <a:off x="1417320" y="30500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head</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19" name="Text 17"/>
          <p:cNvSpPr txBox="1"/>
          <p:nvPr/>
        </p:nvSpPr>
        <p:spPr>
          <a:xfrm>
            <a:off x="896112" y="34183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4</a:t>
            </a:r>
            <a:endParaRPr lang="en-US" sz="1400" dirty="0"/>
          </a:p>
        </p:txBody>
      </p:sp>
      <p:sp>
        <p:nvSpPr>
          <p:cNvPr id="20" name="Text 18"/>
          <p:cNvSpPr txBox="1"/>
          <p:nvPr/>
        </p:nvSpPr>
        <p:spPr>
          <a:xfrm>
            <a:off x="1417320" y="34183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meta</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charset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"UTF-8"</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21" name="Text 19"/>
          <p:cNvSpPr txBox="1"/>
          <p:nvPr/>
        </p:nvSpPr>
        <p:spPr>
          <a:xfrm>
            <a:off x="896112" y="37866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5</a:t>
            </a:r>
            <a:endParaRPr lang="en-US" sz="1400" dirty="0"/>
          </a:p>
        </p:txBody>
      </p:sp>
      <p:sp>
        <p:nvSpPr>
          <p:cNvPr id="22" name="Text 20"/>
          <p:cNvSpPr txBox="1"/>
          <p:nvPr/>
        </p:nvSpPr>
        <p:spPr>
          <a:xfrm>
            <a:off x="1417320" y="37866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title</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Profil Alya</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title</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23" name="Text 21"/>
          <p:cNvSpPr txBox="1"/>
          <p:nvPr/>
        </p:nvSpPr>
        <p:spPr>
          <a:xfrm>
            <a:off x="896112" y="41549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6</a:t>
            </a:r>
            <a:endParaRPr lang="en-US" sz="1400" dirty="0"/>
          </a:p>
        </p:txBody>
      </p:sp>
      <p:sp>
        <p:nvSpPr>
          <p:cNvPr id="24" name="Text 22"/>
          <p:cNvSpPr txBox="1"/>
          <p:nvPr/>
        </p:nvSpPr>
        <p:spPr>
          <a:xfrm>
            <a:off x="1417320" y="41549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head</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25" name="Text 23"/>
          <p:cNvSpPr txBox="1"/>
          <p:nvPr/>
        </p:nvSpPr>
        <p:spPr>
          <a:xfrm>
            <a:off x="896112" y="45232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7</a:t>
            </a:r>
            <a:endParaRPr lang="en-US" sz="1400" dirty="0"/>
          </a:p>
        </p:txBody>
      </p:sp>
      <p:sp>
        <p:nvSpPr>
          <p:cNvPr id="26" name="Text 24"/>
          <p:cNvSpPr txBox="1"/>
          <p:nvPr/>
        </p:nvSpPr>
        <p:spPr>
          <a:xfrm>
            <a:off x="1417320" y="45232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body</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27" name="Text 25"/>
          <p:cNvSpPr txBox="1"/>
          <p:nvPr/>
        </p:nvSpPr>
        <p:spPr>
          <a:xfrm>
            <a:off x="896112" y="48915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8</a:t>
            </a:r>
            <a:endParaRPr lang="en-US" sz="1400" dirty="0"/>
          </a:p>
        </p:txBody>
      </p:sp>
      <p:sp>
        <p:nvSpPr>
          <p:cNvPr id="28" name="Text 26"/>
          <p:cNvSpPr txBox="1"/>
          <p:nvPr/>
        </p:nvSpPr>
        <p:spPr>
          <a:xfrm>
            <a:off x="1417320" y="48915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h1</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Halo!</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h1</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29" name="Text 27"/>
          <p:cNvSpPr txBox="1"/>
          <p:nvPr/>
        </p:nvSpPr>
        <p:spPr>
          <a:xfrm>
            <a:off x="896112" y="52598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9</a:t>
            </a:r>
            <a:endParaRPr lang="en-US" sz="1400" dirty="0"/>
          </a:p>
        </p:txBody>
      </p:sp>
      <p:sp>
        <p:nvSpPr>
          <p:cNvPr id="30" name="Text 28"/>
          <p:cNvSpPr txBox="1"/>
          <p:nvPr/>
        </p:nvSpPr>
        <p:spPr>
          <a:xfrm>
            <a:off x="1417320" y="52598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body</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31" name="Text 29"/>
          <p:cNvSpPr txBox="1"/>
          <p:nvPr/>
        </p:nvSpPr>
        <p:spPr>
          <a:xfrm>
            <a:off x="896112" y="56281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10</a:t>
            </a:r>
            <a:endParaRPr lang="en-US" sz="1400" dirty="0"/>
          </a:p>
        </p:txBody>
      </p:sp>
      <p:sp>
        <p:nvSpPr>
          <p:cNvPr id="32" name="Text 30"/>
          <p:cNvSpPr txBox="1"/>
          <p:nvPr/>
        </p:nvSpPr>
        <p:spPr>
          <a:xfrm>
            <a:off x="1417320" y="56281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html</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33" name="Shape 31"/>
          <p:cNvSpPr/>
          <p:nvPr/>
        </p:nvSpPr>
        <p:spPr>
          <a:xfrm>
            <a:off x="7498080" y="1828800"/>
            <a:ext cx="3931920" cy="0"/>
          </a:xfrm>
          <a:prstGeom prst="line">
            <a:avLst/>
          </a:prstGeom>
          <a:noFill/>
          <a:ln w="12700">
            <a:solidFill>
              <a:srgbClr val="E3DFD6"/>
            </a:solidFill>
            <a:prstDash val="solid"/>
          </a:ln>
        </p:spPr>
      </p:sp>
      <p:sp>
        <p:nvSpPr>
          <p:cNvPr id="34" name="Text 32"/>
          <p:cNvSpPr txBox="1"/>
          <p:nvPr/>
        </p:nvSpPr>
        <p:spPr>
          <a:xfrm>
            <a:off x="7498080" y="1965960"/>
            <a:ext cx="3931920" cy="32004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Consolas" pitchFamily="34" charset="0"/>
                <a:ea typeface="Consolas" pitchFamily="34" charset="-122"/>
                <a:cs typeface="Consolas" pitchFamily="34" charset="-120"/>
              </a:rPr>
              <a:t>&lt;!DOCTYPE html&gt;</a:t>
            </a:r>
            <a:endParaRPr lang="en-US" sz="1800" dirty="0"/>
          </a:p>
        </p:txBody>
      </p:sp>
      <p:sp>
        <p:nvSpPr>
          <p:cNvPr id="35" name="Text 33"/>
          <p:cNvSpPr txBox="1"/>
          <p:nvPr/>
        </p:nvSpPr>
        <p:spPr>
          <a:xfrm>
            <a:off x="7498080" y="2331720"/>
            <a:ext cx="3931920" cy="566928"/>
          </a:xfrm>
          <a:prstGeom prst="rect">
            <a:avLst/>
          </a:prstGeom>
          <a:noFill/>
          <a:ln/>
        </p:spPr>
        <p:txBody>
          <a:bodyPr wrap="square" lIns="0" tIns="0" rIns="0" bIns="0" rtlCol="0" anchor="t"/>
          <a:lstStyle/>
          <a:p>
            <a:pPr algn="l" indent="0" marL="0">
              <a:lnSpc>
                <a:spcPct val="125000"/>
              </a:lnSpc>
              <a:buNone/>
            </a:pPr>
            <a:r>
              <a:rPr lang="en-US" sz="1600" dirty="0">
                <a:solidFill>
                  <a:srgbClr val="5B6478"/>
                </a:solidFill>
                <a:latin typeface="Calibri" pitchFamily="34" charset="0"/>
                <a:ea typeface="Calibri" pitchFamily="34" charset="-122"/>
                <a:cs typeface="Calibri" pitchFamily="34" charset="-120"/>
              </a:rPr>
              <a:t>Memberi tahu browser: ini dokumen HTML5.</a:t>
            </a:r>
            <a:endParaRPr lang="en-US" sz="1600" dirty="0"/>
          </a:p>
        </p:txBody>
      </p:sp>
      <p:sp>
        <p:nvSpPr>
          <p:cNvPr id="36" name="Shape 34"/>
          <p:cNvSpPr/>
          <p:nvPr/>
        </p:nvSpPr>
        <p:spPr>
          <a:xfrm>
            <a:off x="7498080" y="2926080"/>
            <a:ext cx="3931920" cy="0"/>
          </a:xfrm>
          <a:prstGeom prst="line">
            <a:avLst/>
          </a:prstGeom>
          <a:noFill/>
          <a:ln w="12700">
            <a:solidFill>
              <a:srgbClr val="E3DFD6"/>
            </a:solidFill>
            <a:prstDash val="solid"/>
          </a:ln>
        </p:spPr>
      </p:sp>
      <p:sp>
        <p:nvSpPr>
          <p:cNvPr id="37" name="Text 35"/>
          <p:cNvSpPr txBox="1"/>
          <p:nvPr/>
        </p:nvSpPr>
        <p:spPr>
          <a:xfrm>
            <a:off x="7498080" y="3063240"/>
            <a:ext cx="3931920" cy="32004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Consolas" pitchFamily="34" charset="0"/>
                <a:ea typeface="Consolas" pitchFamily="34" charset="-122"/>
                <a:cs typeface="Consolas" pitchFamily="34" charset="-120"/>
              </a:rPr>
              <a:t>&lt;head&gt;</a:t>
            </a:r>
            <a:endParaRPr lang="en-US" sz="1800" dirty="0"/>
          </a:p>
        </p:txBody>
      </p:sp>
      <p:sp>
        <p:nvSpPr>
          <p:cNvPr id="38" name="Text 36"/>
          <p:cNvSpPr txBox="1"/>
          <p:nvPr/>
        </p:nvSpPr>
        <p:spPr>
          <a:xfrm>
            <a:off x="7498080" y="3429000"/>
            <a:ext cx="3931920" cy="566928"/>
          </a:xfrm>
          <a:prstGeom prst="rect">
            <a:avLst/>
          </a:prstGeom>
          <a:noFill/>
          <a:ln/>
        </p:spPr>
        <p:txBody>
          <a:bodyPr wrap="square" lIns="0" tIns="0" rIns="0" bIns="0" rtlCol="0" anchor="t"/>
          <a:lstStyle/>
          <a:p>
            <a:pPr algn="l" indent="0" marL="0">
              <a:lnSpc>
                <a:spcPct val="125000"/>
              </a:lnSpc>
              <a:buNone/>
            </a:pPr>
            <a:r>
              <a:rPr lang="en-US" sz="1600" dirty="0">
                <a:solidFill>
                  <a:srgbClr val="5B6478"/>
                </a:solidFill>
                <a:latin typeface="Calibri" pitchFamily="34" charset="0"/>
                <a:ea typeface="Calibri" pitchFamily="34" charset="-122"/>
                <a:cs typeface="Calibri" pitchFamily="34" charset="-120"/>
              </a:rPr>
              <a:t>Info tentang halaman. Tidak tampil di layar.</a:t>
            </a:r>
            <a:endParaRPr lang="en-US" sz="1600" dirty="0"/>
          </a:p>
        </p:txBody>
      </p:sp>
      <p:sp>
        <p:nvSpPr>
          <p:cNvPr id="39" name="Shape 37"/>
          <p:cNvSpPr/>
          <p:nvPr/>
        </p:nvSpPr>
        <p:spPr>
          <a:xfrm>
            <a:off x="7498080" y="4023360"/>
            <a:ext cx="3931920" cy="0"/>
          </a:xfrm>
          <a:prstGeom prst="line">
            <a:avLst/>
          </a:prstGeom>
          <a:noFill/>
          <a:ln w="12700">
            <a:solidFill>
              <a:srgbClr val="E3DFD6"/>
            </a:solidFill>
            <a:prstDash val="solid"/>
          </a:ln>
        </p:spPr>
      </p:sp>
      <p:sp>
        <p:nvSpPr>
          <p:cNvPr id="40" name="Text 38"/>
          <p:cNvSpPr txBox="1"/>
          <p:nvPr/>
        </p:nvSpPr>
        <p:spPr>
          <a:xfrm>
            <a:off x="7498080" y="4160520"/>
            <a:ext cx="3931920" cy="32004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Consolas" pitchFamily="34" charset="0"/>
                <a:ea typeface="Consolas" pitchFamily="34" charset="-122"/>
                <a:cs typeface="Consolas" pitchFamily="34" charset="-120"/>
              </a:rPr>
              <a:t>&lt;title&gt;</a:t>
            </a:r>
            <a:endParaRPr lang="en-US" sz="1800" dirty="0"/>
          </a:p>
        </p:txBody>
      </p:sp>
      <p:sp>
        <p:nvSpPr>
          <p:cNvPr id="41" name="Text 39"/>
          <p:cNvSpPr txBox="1"/>
          <p:nvPr/>
        </p:nvSpPr>
        <p:spPr>
          <a:xfrm>
            <a:off x="7498080" y="4526280"/>
            <a:ext cx="3931920" cy="566928"/>
          </a:xfrm>
          <a:prstGeom prst="rect">
            <a:avLst/>
          </a:prstGeom>
          <a:noFill/>
          <a:ln/>
        </p:spPr>
        <p:txBody>
          <a:bodyPr wrap="square" lIns="0" tIns="0" rIns="0" bIns="0" rtlCol="0" anchor="t"/>
          <a:lstStyle/>
          <a:p>
            <a:pPr algn="l" indent="0" marL="0">
              <a:lnSpc>
                <a:spcPct val="125000"/>
              </a:lnSpc>
              <a:buNone/>
            </a:pPr>
            <a:r>
              <a:rPr lang="en-US" sz="1600" dirty="0">
                <a:solidFill>
                  <a:srgbClr val="5B6478"/>
                </a:solidFill>
                <a:latin typeface="Calibri" pitchFamily="34" charset="0"/>
                <a:ea typeface="Calibri" pitchFamily="34" charset="-122"/>
                <a:cs typeface="Calibri" pitchFamily="34" charset="-120"/>
              </a:rPr>
              <a:t>Judul yang muncul di tab browser.</a:t>
            </a:r>
            <a:endParaRPr lang="en-US" sz="1600" dirty="0"/>
          </a:p>
        </p:txBody>
      </p:sp>
      <p:sp>
        <p:nvSpPr>
          <p:cNvPr id="42" name="Shape 40"/>
          <p:cNvSpPr/>
          <p:nvPr/>
        </p:nvSpPr>
        <p:spPr>
          <a:xfrm>
            <a:off x="7498080" y="5120640"/>
            <a:ext cx="3931920" cy="0"/>
          </a:xfrm>
          <a:prstGeom prst="line">
            <a:avLst/>
          </a:prstGeom>
          <a:noFill/>
          <a:ln w="12700">
            <a:solidFill>
              <a:srgbClr val="E3DFD6"/>
            </a:solidFill>
            <a:prstDash val="solid"/>
          </a:ln>
        </p:spPr>
      </p:sp>
      <p:sp>
        <p:nvSpPr>
          <p:cNvPr id="43" name="Text 41"/>
          <p:cNvSpPr txBox="1"/>
          <p:nvPr/>
        </p:nvSpPr>
        <p:spPr>
          <a:xfrm>
            <a:off x="7498080" y="5257800"/>
            <a:ext cx="3931920" cy="32004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Consolas" pitchFamily="34" charset="0"/>
                <a:ea typeface="Consolas" pitchFamily="34" charset="-122"/>
                <a:cs typeface="Consolas" pitchFamily="34" charset="-120"/>
              </a:rPr>
              <a:t>&lt;body&gt;</a:t>
            </a:r>
            <a:endParaRPr lang="en-US" sz="1800" dirty="0"/>
          </a:p>
        </p:txBody>
      </p:sp>
      <p:sp>
        <p:nvSpPr>
          <p:cNvPr id="44" name="Text 42"/>
          <p:cNvSpPr txBox="1"/>
          <p:nvPr/>
        </p:nvSpPr>
        <p:spPr>
          <a:xfrm>
            <a:off x="7498080" y="5623560"/>
            <a:ext cx="3931920" cy="566928"/>
          </a:xfrm>
          <a:prstGeom prst="rect">
            <a:avLst/>
          </a:prstGeom>
          <a:noFill/>
          <a:ln/>
        </p:spPr>
        <p:txBody>
          <a:bodyPr wrap="square" lIns="0" tIns="0" rIns="0" bIns="0" rtlCol="0" anchor="t"/>
          <a:lstStyle/>
          <a:p>
            <a:pPr algn="l" indent="0" marL="0">
              <a:lnSpc>
                <a:spcPct val="125000"/>
              </a:lnSpc>
              <a:buNone/>
            </a:pPr>
            <a:r>
              <a:rPr lang="en-US" sz="1600" dirty="0">
                <a:solidFill>
                  <a:srgbClr val="5B6478"/>
                </a:solidFill>
                <a:latin typeface="Calibri" pitchFamily="34" charset="0"/>
                <a:ea typeface="Calibri" pitchFamily="34" charset="-122"/>
                <a:cs typeface="Calibri" pitchFamily="34" charset="-120"/>
              </a:rPr>
              <a:t>Semua yang tampil di layar ada di sini.</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14</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02 · HTML</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Teks dan judul</a:t>
            </a:r>
            <a:endParaRPr lang="en-US" sz="3800" dirty="0"/>
          </a:p>
        </p:txBody>
      </p:sp>
      <p:sp>
        <p:nvSpPr>
          <p:cNvPr id="6" name="Shape 4"/>
          <p:cNvSpPr/>
          <p:nvPr/>
        </p:nvSpPr>
        <p:spPr>
          <a:xfrm>
            <a:off x="731520" y="1783080"/>
            <a:ext cx="6400800" cy="2131568"/>
          </a:xfrm>
          <a:prstGeom prst="roundRect">
            <a:avLst>
              <a:gd name="adj" fmla="val 6006"/>
            </a:avLst>
          </a:prstGeom>
          <a:solidFill>
            <a:srgbClr val="0B1530"/>
          </a:solidFill>
          <a:ln/>
          <a:effectLst>
            <a:outerShdw sx="100000" sy="100000" kx="0" ky="0" algn="bl" rotWithShape="0" blurRad="177800" dist="38100" dir="5400000">
              <a:srgbClr val="000000">
                <a:alpha val="40000"/>
              </a:srgbClr>
            </a:outerShdw>
          </a:effectLst>
        </p:spPr>
      </p:sp>
      <p:sp>
        <p:nvSpPr>
          <p:cNvPr id="7" name="Shape 5"/>
          <p:cNvSpPr/>
          <p:nvPr/>
        </p:nvSpPr>
        <p:spPr>
          <a:xfrm>
            <a:off x="932688" y="1938528"/>
            <a:ext cx="109728" cy="109728"/>
          </a:xfrm>
          <a:prstGeom prst="ellipse">
            <a:avLst/>
          </a:prstGeom>
          <a:solidFill>
            <a:srgbClr val="E63946"/>
          </a:solidFill>
          <a:ln/>
        </p:spPr>
      </p:sp>
      <p:sp>
        <p:nvSpPr>
          <p:cNvPr id="8" name="Shape 6"/>
          <p:cNvSpPr/>
          <p:nvPr/>
        </p:nvSpPr>
        <p:spPr>
          <a:xfrm>
            <a:off x="1115568" y="1938528"/>
            <a:ext cx="109728" cy="109728"/>
          </a:xfrm>
          <a:prstGeom prst="ellipse">
            <a:avLst/>
          </a:prstGeom>
          <a:solidFill>
            <a:srgbClr val="FFC83D"/>
          </a:solidFill>
          <a:ln/>
        </p:spPr>
      </p:sp>
      <p:sp>
        <p:nvSpPr>
          <p:cNvPr id="9" name="Shape 7"/>
          <p:cNvSpPr/>
          <p:nvPr/>
        </p:nvSpPr>
        <p:spPr>
          <a:xfrm>
            <a:off x="1298448" y="1938528"/>
            <a:ext cx="109728" cy="109728"/>
          </a:xfrm>
          <a:prstGeom prst="ellipse">
            <a:avLst/>
          </a:prstGeom>
          <a:solidFill>
            <a:srgbClr val="1E9E68"/>
          </a:solidFill>
          <a:ln/>
        </p:spPr>
      </p:sp>
      <p:sp>
        <p:nvSpPr>
          <p:cNvPr id="10" name="Text 8"/>
          <p:cNvSpPr txBox="1"/>
          <p:nvPr/>
        </p:nvSpPr>
        <p:spPr>
          <a:xfrm>
            <a:off x="1645920" y="1856232"/>
            <a:ext cx="521208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Consolas" pitchFamily="34" charset="0"/>
                <a:ea typeface="Consolas" pitchFamily="34" charset="-122"/>
                <a:cs typeface="Consolas" pitchFamily="34" charset="-120"/>
              </a:rPr>
              <a:t>index.html</a:t>
            </a:r>
            <a:endParaRPr lang="en-US" sz="1200" dirty="0"/>
          </a:p>
        </p:txBody>
      </p:sp>
      <p:sp>
        <p:nvSpPr>
          <p:cNvPr id="11" name="Text 9"/>
          <p:cNvSpPr txBox="1"/>
          <p:nvPr/>
        </p:nvSpPr>
        <p:spPr>
          <a:xfrm>
            <a:off x="896112" y="23134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1</a:t>
            </a:r>
            <a:endParaRPr lang="en-US" sz="1400" dirty="0"/>
          </a:p>
        </p:txBody>
      </p:sp>
      <p:sp>
        <p:nvSpPr>
          <p:cNvPr id="12" name="Text 10"/>
          <p:cNvSpPr txBox="1"/>
          <p:nvPr/>
        </p:nvSpPr>
        <p:spPr>
          <a:xfrm>
            <a:off x="1417320" y="2313432"/>
            <a:ext cx="566928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h1</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Alya Putri</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h1</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13" name="Text 11"/>
          <p:cNvSpPr txBox="1"/>
          <p:nvPr/>
        </p:nvSpPr>
        <p:spPr>
          <a:xfrm>
            <a:off x="896112" y="26817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2</a:t>
            </a:r>
            <a:endParaRPr lang="en-US" sz="1400" dirty="0"/>
          </a:p>
        </p:txBody>
      </p:sp>
      <p:sp>
        <p:nvSpPr>
          <p:cNvPr id="14" name="Text 12"/>
          <p:cNvSpPr txBox="1"/>
          <p:nvPr/>
        </p:nvSpPr>
        <p:spPr>
          <a:xfrm>
            <a:off x="1417320" y="2681732"/>
            <a:ext cx="566928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h2</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Tentang Saya</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h2</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15" name="Text 13"/>
          <p:cNvSpPr txBox="1"/>
          <p:nvPr/>
        </p:nvSpPr>
        <p:spPr>
          <a:xfrm>
            <a:off x="896112" y="30500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3</a:t>
            </a:r>
            <a:endParaRPr lang="en-US" sz="1400" dirty="0"/>
          </a:p>
        </p:txBody>
      </p:sp>
      <p:sp>
        <p:nvSpPr>
          <p:cNvPr id="16" name="Text 14"/>
          <p:cNvSpPr txBox="1"/>
          <p:nvPr/>
        </p:nvSpPr>
        <p:spPr>
          <a:xfrm>
            <a:off x="1417320" y="3050032"/>
            <a:ext cx="566928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p</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Aku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strong</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suka</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strong</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web.</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p</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17" name="Text 15"/>
          <p:cNvSpPr txBox="1"/>
          <p:nvPr/>
        </p:nvSpPr>
        <p:spPr>
          <a:xfrm>
            <a:off x="896112" y="34183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4</a:t>
            </a:r>
            <a:endParaRPr lang="en-US" sz="1400" dirty="0"/>
          </a:p>
        </p:txBody>
      </p:sp>
      <p:sp>
        <p:nvSpPr>
          <p:cNvPr id="18" name="Text 16"/>
          <p:cNvSpPr txBox="1"/>
          <p:nvPr/>
        </p:nvSpPr>
        <p:spPr>
          <a:xfrm>
            <a:off x="1417320" y="3418332"/>
            <a:ext cx="566928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p</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Aku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em</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ingin</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em</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belajar.</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p</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19" name="Shape 17"/>
          <p:cNvSpPr/>
          <p:nvPr/>
        </p:nvSpPr>
        <p:spPr>
          <a:xfrm>
            <a:off x="7498080" y="1783080"/>
            <a:ext cx="4023360" cy="2131568"/>
          </a:xfrm>
          <a:prstGeom prst="roundRect">
            <a:avLst>
              <a:gd name="adj" fmla="val 6864"/>
            </a:avLst>
          </a:prstGeom>
          <a:solidFill>
            <a:srgbClr val="FFFFFF"/>
          </a:solidFill>
          <a:ln w="15875">
            <a:solidFill>
              <a:srgbClr val="D5DAE6"/>
            </a:solidFill>
            <a:prstDash val="solid"/>
          </a:ln>
          <a:effectLst>
            <a:outerShdw sx="100000" sy="100000" kx="0" ky="0" algn="bl" rotWithShape="0" blurRad="177800" dist="38100" dir="5400000">
              <a:srgbClr val="7A8299">
                <a:alpha val="18000"/>
              </a:srgbClr>
            </a:outerShdw>
          </a:effectLst>
        </p:spPr>
      </p:sp>
      <p:sp>
        <p:nvSpPr>
          <p:cNvPr id="20" name="Shape 18"/>
          <p:cNvSpPr/>
          <p:nvPr/>
        </p:nvSpPr>
        <p:spPr>
          <a:xfrm>
            <a:off x="7516368" y="1801368"/>
            <a:ext cx="3986784" cy="384048"/>
          </a:xfrm>
          <a:prstGeom prst="roundRect">
            <a:avLst>
              <a:gd name="adj" fmla="val 33333"/>
            </a:avLst>
          </a:prstGeom>
          <a:solidFill>
            <a:srgbClr val="EEF1F7"/>
          </a:solidFill>
          <a:ln/>
        </p:spPr>
      </p:sp>
      <p:sp>
        <p:nvSpPr>
          <p:cNvPr id="21" name="Shape 19"/>
          <p:cNvSpPr/>
          <p:nvPr/>
        </p:nvSpPr>
        <p:spPr>
          <a:xfrm>
            <a:off x="7516368" y="1984248"/>
            <a:ext cx="3986784" cy="201168"/>
          </a:xfrm>
          <a:prstGeom prst="rect">
            <a:avLst/>
          </a:prstGeom>
          <a:solidFill>
            <a:srgbClr val="EEF1F7"/>
          </a:solidFill>
          <a:ln/>
        </p:spPr>
      </p:sp>
      <p:sp>
        <p:nvSpPr>
          <p:cNvPr id="22" name="Shape 20"/>
          <p:cNvSpPr/>
          <p:nvPr/>
        </p:nvSpPr>
        <p:spPr>
          <a:xfrm>
            <a:off x="7680960" y="1920240"/>
            <a:ext cx="100584" cy="100584"/>
          </a:xfrm>
          <a:prstGeom prst="ellipse">
            <a:avLst/>
          </a:prstGeom>
          <a:solidFill>
            <a:srgbClr val="E63946"/>
          </a:solidFill>
          <a:ln/>
        </p:spPr>
      </p:sp>
      <p:sp>
        <p:nvSpPr>
          <p:cNvPr id="23" name="Shape 21"/>
          <p:cNvSpPr/>
          <p:nvPr/>
        </p:nvSpPr>
        <p:spPr>
          <a:xfrm>
            <a:off x="7854696" y="1920240"/>
            <a:ext cx="100584" cy="100584"/>
          </a:xfrm>
          <a:prstGeom prst="ellipse">
            <a:avLst/>
          </a:prstGeom>
          <a:solidFill>
            <a:srgbClr val="FFC83D"/>
          </a:solidFill>
          <a:ln/>
        </p:spPr>
      </p:sp>
      <p:sp>
        <p:nvSpPr>
          <p:cNvPr id="24" name="Shape 22"/>
          <p:cNvSpPr/>
          <p:nvPr/>
        </p:nvSpPr>
        <p:spPr>
          <a:xfrm>
            <a:off x="8028432" y="1920240"/>
            <a:ext cx="100584" cy="100584"/>
          </a:xfrm>
          <a:prstGeom prst="ellipse">
            <a:avLst/>
          </a:prstGeom>
          <a:solidFill>
            <a:srgbClr val="1E9E68"/>
          </a:solidFill>
          <a:ln/>
        </p:spPr>
      </p:sp>
      <p:sp>
        <p:nvSpPr>
          <p:cNvPr id="25" name="Shape 23"/>
          <p:cNvSpPr/>
          <p:nvPr/>
        </p:nvSpPr>
        <p:spPr>
          <a:xfrm>
            <a:off x="8366760" y="1865376"/>
            <a:ext cx="2926080" cy="237744"/>
          </a:xfrm>
          <a:prstGeom prst="roundRect">
            <a:avLst>
              <a:gd name="adj" fmla="val 50000"/>
            </a:avLst>
          </a:prstGeom>
          <a:solidFill>
            <a:srgbClr val="FFFFFF"/>
          </a:solidFill>
          <a:ln/>
        </p:spPr>
      </p:sp>
      <p:sp>
        <p:nvSpPr>
          <p:cNvPr id="26" name="Text 24"/>
          <p:cNvSpPr txBox="1"/>
          <p:nvPr/>
        </p:nvSpPr>
        <p:spPr>
          <a:xfrm>
            <a:off x="8503920" y="1865376"/>
            <a:ext cx="265176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Calibri" pitchFamily="34" charset="0"/>
                <a:ea typeface="Calibri" pitchFamily="34" charset="-122"/>
                <a:cs typeface="Calibri" pitchFamily="34" charset="-120"/>
              </a:rPr>
              <a:t>localhost:5500</a:t>
            </a:r>
            <a:endParaRPr lang="en-US" sz="1100" dirty="0"/>
          </a:p>
        </p:txBody>
      </p:sp>
      <p:sp>
        <p:nvSpPr>
          <p:cNvPr id="27" name="Text 25"/>
          <p:cNvSpPr txBox="1"/>
          <p:nvPr/>
        </p:nvSpPr>
        <p:spPr>
          <a:xfrm>
            <a:off x="7744968" y="2295144"/>
            <a:ext cx="3566160" cy="411480"/>
          </a:xfrm>
          <a:prstGeom prst="rect">
            <a:avLst/>
          </a:prstGeom>
          <a:noFill/>
          <a:ln/>
        </p:spPr>
        <p:txBody>
          <a:bodyPr wrap="square" lIns="0" tIns="0" rIns="0" bIns="0" rtlCol="0" anchor="t"/>
          <a:lstStyle/>
          <a:p>
            <a:pPr algn="l" indent="0" marL="0">
              <a:lnSpc>
                <a:spcPct val="115000"/>
              </a:lnSpc>
              <a:buNone/>
            </a:pPr>
            <a:r>
              <a:rPr lang="en-US" sz="2600" b="1" dirty="0">
                <a:solidFill>
                  <a:srgbClr val="000000"/>
                </a:solidFill>
                <a:latin typeface="Times New Roman" pitchFamily="34" charset="0"/>
                <a:ea typeface="Times New Roman" pitchFamily="34" charset="-122"/>
                <a:cs typeface="Times New Roman" pitchFamily="34" charset="-120"/>
              </a:rPr>
              <a:t>Alya Putri</a:t>
            </a:r>
            <a:endParaRPr lang="en-US" sz="2600" dirty="0"/>
          </a:p>
        </p:txBody>
      </p:sp>
      <p:sp>
        <p:nvSpPr>
          <p:cNvPr id="28" name="Text 26"/>
          <p:cNvSpPr txBox="1"/>
          <p:nvPr/>
        </p:nvSpPr>
        <p:spPr>
          <a:xfrm>
            <a:off x="7744968" y="2752344"/>
            <a:ext cx="3566160" cy="320040"/>
          </a:xfrm>
          <a:prstGeom prst="rect">
            <a:avLst/>
          </a:prstGeom>
          <a:noFill/>
          <a:ln/>
        </p:spPr>
        <p:txBody>
          <a:bodyPr wrap="square" lIns="0" tIns="0" rIns="0" bIns="0" rtlCol="0" anchor="t"/>
          <a:lstStyle/>
          <a:p>
            <a:pPr algn="l" indent="0" marL="0">
              <a:lnSpc>
                <a:spcPct val="115000"/>
              </a:lnSpc>
              <a:buNone/>
            </a:pPr>
            <a:r>
              <a:rPr lang="en-US" sz="2000" b="1" dirty="0">
                <a:solidFill>
                  <a:srgbClr val="000000"/>
                </a:solidFill>
                <a:latin typeface="Times New Roman" pitchFamily="34" charset="0"/>
                <a:ea typeface="Times New Roman" pitchFamily="34" charset="-122"/>
                <a:cs typeface="Times New Roman" pitchFamily="34" charset="-120"/>
              </a:rPr>
              <a:t>Tentang Saya</a:t>
            </a:r>
            <a:endParaRPr lang="en-US" sz="2000" dirty="0"/>
          </a:p>
        </p:txBody>
      </p:sp>
      <p:sp>
        <p:nvSpPr>
          <p:cNvPr id="29" name="Text 27"/>
          <p:cNvSpPr txBox="1"/>
          <p:nvPr/>
        </p:nvSpPr>
        <p:spPr>
          <a:xfrm>
            <a:off x="7744968" y="3118104"/>
            <a:ext cx="3566160" cy="274320"/>
          </a:xfrm>
          <a:prstGeom prst="rect">
            <a:avLst/>
          </a:prstGeom>
          <a:noFill/>
          <a:ln/>
        </p:spPr>
        <p:txBody>
          <a:bodyPr wrap="square" lIns="0" tIns="0" rIns="0" bIns="0" rtlCol="0" anchor="t"/>
          <a:lstStyle/>
          <a:p>
            <a:pPr algn="l" indent="0" marL="0">
              <a:lnSpc>
                <a:spcPct val="115000"/>
              </a:lnSpc>
              <a:buNone/>
            </a:pPr>
            <a:r>
              <a:rPr lang="en-US" sz="1500" dirty="0">
                <a:solidFill>
                  <a:srgbClr val="000000"/>
                </a:solidFill>
                <a:latin typeface="Times New Roman" pitchFamily="34" charset="0"/>
                <a:ea typeface="Times New Roman" pitchFamily="34" charset="-122"/>
                <a:cs typeface="Times New Roman" pitchFamily="34" charset="-120"/>
              </a:rPr>
              <a:t>Aku </a:t>
            </a:r>
            <a:pPr algn="l" indent="0" marL="0">
              <a:lnSpc>
                <a:spcPct val="115000"/>
              </a:lnSpc>
              <a:buNone/>
            </a:pPr>
            <a:r>
              <a:rPr lang="en-US" sz="1500" b="1" dirty="0">
                <a:solidFill>
                  <a:srgbClr val="000000"/>
                </a:solidFill>
                <a:latin typeface="Times New Roman" pitchFamily="34" charset="0"/>
                <a:ea typeface="Times New Roman" pitchFamily="34" charset="-122"/>
                <a:cs typeface="Times New Roman" pitchFamily="34" charset="-120"/>
              </a:rPr>
              <a:t>suka</a:t>
            </a:r>
            <a:pPr algn="l" indent="0" marL="0">
              <a:lnSpc>
                <a:spcPct val="115000"/>
              </a:lnSpc>
              <a:buNone/>
            </a:pPr>
            <a:r>
              <a:rPr lang="en-US" sz="1500" dirty="0">
                <a:solidFill>
                  <a:srgbClr val="000000"/>
                </a:solidFill>
                <a:latin typeface="Times New Roman" pitchFamily="34" charset="0"/>
                <a:ea typeface="Times New Roman" pitchFamily="34" charset="-122"/>
                <a:cs typeface="Times New Roman" pitchFamily="34" charset="-120"/>
              </a:rPr>
              <a:t> web.</a:t>
            </a:r>
            <a:endParaRPr lang="en-US" sz="1500" dirty="0"/>
          </a:p>
        </p:txBody>
      </p:sp>
      <p:sp>
        <p:nvSpPr>
          <p:cNvPr id="30" name="Text 28"/>
          <p:cNvSpPr txBox="1"/>
          <p:nvPr/>
        </p:nvSpPr>
        <p:spPr>
          <a:xfrm>
            <a:off x="7744968" y="3392424"/>
            <a:ext cx="3566160" cy="274320"/>
          </a:xfrm>
          <a:prstGeom prst="rect">
            <a:avLst/>
          </a:prstGeom>
          <a:noFill/>
          <a:ln/>
        </p:spPr>
        <p:txBody>
          <a:bodyPr wrap="square" lIns="0" tIns="0" rIns="0" bIns="0" rtlCol="0" anchor="t"/>
          <a:lstStyle/>
          <a:p>
            <a:pPr algn="l" indent="0" marL="0">
              <a:lnSpc>
                <a:spcPct val="115000"/>
              </a:lnSpc>
              <a:buNone/>
            </a:pPr>
            <a:r>
              <a:rPr lang="en-US" sz="1500" dirty="0">
                <a:solidFill>
                  <a:srgbClr val="000000"/>
                </a:solidFill>
                <a:latin typeface="Times New Roman" pitchFamily="34" charset="0"/>
                <a:ea typeface="Times New Roman" pitchFamily="34" charset="-122"/>
                <a:cs typeface="Times New Roman" pitchFamily="34" charset="-120"/>
              </a:rPr>
              <a:t>Aku </a:t>
            </a:r>
            <a:pPr algn="l" indent="0" marL="0">
              <a:lnSpc>
                <a:spcPct val="115000"/>
              </a:lnSpc>
              <a:buNone/>
            </a:pPr>
            <a:r>
              <a:rPr lang="en-US" sz="1500" i="1" dirty="0">
                <a:solidFill>
                  <a:srgbClr val="000000"/>
                </a:solidFill>
                <a:latin typeface="Times New Roman" pitchFamily="34" charset="0"/>
                <a:ea typeface="Times New Roman" pitchFamily="34" charset="-122"/>
                <a:cs typeface="Times New Roman" pitchFamily="34" charset="-120"/>
              </a:rPr>
              <a:t>ingin</a:t>
            </a:r>
            <a:pPr algn="l" indent="0" marL="0">
              <a:lnSpc>
                <a:spcPct val="115000"/>
              </a:lnSpc>
              <a:buNone/>
            </a:pPr>
            <a:r>
              <a:rPr lang="en-US" sz="1500" dirty="0">
                <a:solidFill>
                  <a:srgbClr val="000000"/>
                </a:solidFill>
                <a:latin typeface="Times New Roman" pitchFamily="34" charset="0"/>
                <a:ea typeface="Times New Roman" pitchFamily="34" charset="-122"/>
                <a:cs typeface="Times New Roman" pitchFamily="34" charset="-120"/>
              </a:rPr>
              <a:t> belajar.</a:t>
            </a:r>
            <a:endParaRPr lang="en-US" sz="1500" dirty="0"/>
          </a:p>
        </p:txBody>
      </p:sp>
      <p:sp>
        <p:nvSpPr>
          <p:cNvPr id="31" name="Shape 29"/>
          <p:cNvSpPr/>
          <p:nvPr/>
        </p:nvSpPr>
        <p:spPr>
          <a:xfrm>
            <a:off x="731520" y="4343400"/>
            <a:ext cx="10789920" cy="0"/>
          </a:xfrm>
          <a:prstGeom prst="line">
            <a:avLst/>
          </a:prstGeom>
          <a:noFill/>
          <a:ln w="12700">
            <a:solidFill>
              <a:srgbClr val="E3DFD6"/>
            </a:solidFill>
            <a:prstDash val="solid"/>
          </a:ln>
        </p:spPr>
      </p:sp>
      <p:sp>
        <p:nvSpPr>
          <p:cNvPr id="32" name="Text 30"/>
          <p:cNvSpPr txBox="1"/>
          <p:nvPr/>
        </p:nvSpPr>
        <p:spPr>
          <a:xfrm>
            <a:off x="731520" y="4434840"/>
            <a:ext cx="2377440" cy="45720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Consolas" pitchFamily="34" charset="0"/>
                <a:ea typeface="Consolas" pitchFamily="34" charset="-122"/>
                <a:cs typeface="Consolas" pitchFamily="34" charset="-120"/>
              </a:rPr>
              <a:t>h1 – h6</a:t>
            </a:r>
            <a:endParaRPr lang="en-US" sz="1800" dirty="0"/>
          </a:p>
        </p:txBody>
      </p:sp>
      <p:sp>
        <p:nvSpPr>
          <p:cNvPr id="33" name="Text 31"/>
          <p:cNvSpPr txBox="1"/>
          <p:nvPr/>
        </p:nvSpPr>
        <p:spPr>
          <a:xfrm>
            <a:off x="3291840" y="4434840"/>
            <a:ext cx="8138160" cy="457200"/>
          </a:xfrm>
          <a:prstGeom prst="rect">
            <a:avLst/>
          </a:prstGeom>
          <a:noFill/>
          <a:ln/>
        </p:spPr>
        <p:txBody>
          <a:bodyPr wrap="square" lIns="0" tIns="0" rIns="0" bIns="0" rtlCol="0" anchor="ctr"/>
          <a:lstStyle/>
          <a:p>
            <a:pPr algn="l" indent="0" marL="0">
              <a:lnSpc>
                <a:spcPct val="115000"/>
              </a:lnSpc>
              <a:buNone/>
            </a:pPr>
            <a:r>
              <a:rPr lang="en-US" sz="1700" dirty="0">
                <a:solidFill>
                  <a:srgbClr val="0E1B3D"/>
                </a:solidFill>
                <a:latin typeface="Calibri" pitchFamily="34" charset="0"/>
                <a:ea typeface="Calibri" pitchFamily="34" charset="-122"/>
                <a:cs typeface="Calibri" pitchFamily="34" charset="-120"/>
              </a:rPr>
              <a:t>Judul, dari terbesar ke terkecil. Pakai satu h1 saja per halaman.</a:t>
            </a:r>
            <a:endParaRPr lang="en-US" sz="1700" dirty="0"/>
          </a:p>
        </p:txBody>
      </p:sp>
      <p:sp>
        <p:nvSpPr>
          <p:cNvPr id="34" name="Shape 32"/>
          <p:cNvSpPr/>
          <p:nvPr/>
        </p:nvSpPr>
        <p:spPr>
          <a:xfrm>
            <a:off x="731520" y="5001768"/>
            <a:ext cx="10789920" cy="0"/>
          </a:xfrm>
          <a:prstGeom prst="line">
            <a:avLst/>
          </a:prstGeom>
          <a:noFill/>
          <a:ln w="12700">
            <a:solidFill>
              <a:srgbClr val="E3DFD6"/>
            </a:solidFill>
            <a:prstDash val="solid"/>
          </a:ln>
        </p:spPr>
      </p:sp>
      <p:sp>
        <p:nvSpPr>
          <p:cNvPr id="35" name="Text 33"/>
          <p:cNvSpPr txBox="1"/>
          <p:nvPr/>
        </p:nvSpPr>
        <p:spPr>
          <a:xfrm>
            <a:off x="731520" y="5093208"/>
            <a:ext cx="2377440" cy="45720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Consolas" pitchFamily="34" charset="0"/>
                <a:ea typeface="Consolas" pitchFamily="34" charset="-122"/>
                <a:cs typeface="Consolas" pitchFamily="34" charset="-120"/>
              </a:rPr>
              <a:t>strong · em</a:t>
            </a:r>
            <a:endParaRPr lang="en-US" sz="1800" dirty="0"/>
          </a:p>
        </p:txBody>
      </p:sp>
      <p:sp>
        <p:nvSpPr>
          <p:cNvPr id="36" name="Text 34"/>
          <p:cNvSpPr txBox="1"/>
          <p:nvPr/>
        </p:nvSpPr>
        <p:spPr>
          <a:xfrm>
            <a:off x="3291840" y="5093208"/>
            <a:ext cx="8138160" cy="457200"/>
          </a:xfrm>
          <a:prstGeom prst="rect">
            <a:avLst/>
          </a:prstGeom>
          <a:noFill/>
          <a:ln/>
        </p:spPr>
        <p:txBody>
          <a:bodyPr wrap="square" lIns="0" tIns="0" rIns="0" bIns="0" rtlCol="0" anchor="ctr"/>
          <a:lstStyle/>
          <a:p>
            <a:pPr algn="l" indent="0" marL="0">
              <a:lnSpc>
                <a:spcPct val="115000"/>
              </a:lnSpc>
              <a:buNone/>
            </a:pPr>
            <a:r>
              <a:rPr lang="en-US" sz="1700" dirty="0">
                <a:solidFill>
                  <a:srgbClr val="0E1B3D"/>
                </a:solidFill>
                <a:latin typeface="Calibri" pitchFamily="34" charset="0"/>
                <a:ea typeface="Calibri" pitchFamily="34" charset="-122"/>
                <a:cs typeface="Calibri" pitchFamily="34" charset="-120"/>
              </a:rPr>
              <a:t>strong = penting (tebal).  em = ditekankan (miring).</a:t>
            </a:r>
            <a:endParaRPr lang="en-US" sz="1700" dirty="0"/>
          </a:p>
        </p:txBody>
      </p:sp>
      <p:sp>
        <p:nvSpPr>
          <p:cNvPr id="37" name="Shape 35"/>
          <p:cNvSpPr/>
          <p:nvPr/>
        </p:nvSpPr>
        <p:spPr>
          <a:xfrm>
            <a:off x="731520" y="5660136"/>
            <a:ext cx="10789920" cy="0"/>
          </a:xfrm>
          <a:prstGeom prst="line">
            <a:avLst/>
          </a:prstGeom>
          <a:noFill/>
          <a:ln w="12700">
            <a:solidFill>
              <a:srgbClr val="E3DFD6"/>
            </a:solidFill>
            <a:prstDash val="solid"/>
          </a:ln>
        </p:spPr>
      </p:sp>
      <p:sp>
        <p:nvSpPr>
          <p:cNvPr id="38" name="Text 36"/>
          <p:cNvSpPr txBox="1"/>
          <p:nvPr/>
        </p:nvSpPr>
        <p:spPr>
          <a:xfrm>
            <a:off x="731520" y="5751576"/>
            <a:ext cx="2377440" cy="45720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Consolas" pitchFamily="34" charset="0"/>
                <a:ea typeface="Consolas" pitchFamily="34" charset="-122"/>
                <a:cs typeface="Consolas" pitchFamily="34" charset="-120"/>
              </a:rPr>
              <a:t>p</a:t>
            </a:r>
            <a:endParaRPr lang="en-US" sz="1800" dirty="0"/>
          </a:p>
        </p:txBody>
      </p:sp>
      <p:sp>
        <p:nvSpPr>
          <p:cNvPr id="39" name="Text 37"/>
          <p:cNvSpPr txBox="1"/>
          <p:nvPr/>
        </p:nvSpPr>
        <p:spPr>
          <a:xfrm>
            <a:off x="3291840" y="5751576"/>
            <a:ext cx="8138160" cy="457200"/>
          </a:xfrm>
          <a:prstGeom prst="rect">
            <a:avLst/>
          </a:prstGeom>
          <a:noFill/>
          <a:ln/>
        </p:spPr>
        <p:txBody>
          <a:bodyPr wrap="square" lIns="0" tIns="0" rIns="0" bIns="0" rtlCol="0" anchor="ctr"/>
          <a:lstStyle/>
          <a:p>
            <a:pPr algn="l" indent="0" marL="0">
              <a:lnSpc>
                <a:spcPct val="115000"/>
              </a:lnSpc>
              <a:buNone/>
            </a:pPr>
            <a:r>
              <a:rPr lang="en-US" sz="1700" dirty="0">
                <a:solidFill>
                  <a:srgbClr val="0E1B3D"/>
                </a:solidFill>
                <a:latin typeface="Calibri" pitchFamily="34" charset="0"/>
                <a:ea typeface="Calibri" pitchFamily="34" charset="-122"/>
                <a:cs typeface="Calibri" pitchFamily="34" charset="-120"/>
              </a:rPr>
              <a:t>Satu paragraf. Browser memberi jarak otomatis di antaranya.</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15</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02 · HTML</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Link dan gambar</a:t>
            </a:r>
            <a:endParaRPr lang="en-US" sz="3800" dirty="0"/>
          </a:p>
        </p:txBody>
      </p:sp>
      <p:sp>
        <p:nvSpPr>
          <p:cNvPr id="6" name="Shape 4"/>
          <p:cNvSpPr/>
          <p:nvPr/>
        </p:nvSpPr>
        <p:spPr>
          <a:xfrm>
            <a:off x="731520" y="1783080"/>
            <a:ext cx="6309360" cy="2499868"/>
          </a:xfrm>
          <a:prstGeom prst="roundRect">
            <a:avLst>
              <a:gd name="adj" fmla="val 5121"/>
            </a:avLst>
          </a:prstGeom>
          <a:solidFill>
            <a:srgbClr val="0B1530"/>
          </a:solidFill>
          <a:ln/>
          <a:effectLst>
            <a:outerShdw sx="100000" sy="100000" kx="0" ky="0" algn="bl" rotWithShape="0" blurRad="177800" dist="38100" dir="5400000">
              <a:srgbClr val="000000">
                <a:alpha val="40000"/>
              </a:srgbClr>
            </a:outerShdw>
          </a:effectLst>
        </p:spPr>
      </p:sp>
      <p:sp>
        <p:nvSpPr>
          <p:cNvPr id="7" name="Shape 5"/>
          <p:cNvSpPr/>
          <p:nvPr/>
        </p:nvSpPr>
        <p:spPr>
          <a:xfrm>
            <a:off x="932688" y="1938528"/>
            <a:ext cx="109728" cy="109728"/>
          </a:xfrm>
          <a:prstGeom prst="ellipse">
            <a:avLst/>
          </a:prstGeom>
          <a:solidFill>
            <a:srgbClr val="E63946"/>
          </a:solidFill>
          <a:ln/>
        </p:spPr>
      </p:sp>
      <p:sp>
        <p:nvSpPr>
          <p:cNvPr id="8" name="Shape 6"/>
          <p:cNvSpPr/>
          <p:nvPr/>
        </p:nvSpPr>
        <p:spPr>
          <a:xfrm>
            <a:off x="1115568" y="1938528"/>
            <a:ext cx="109728" cy="109728"/>
          </a:xfrm>
          <a:prstGeom prst="ellipse">
            <a:avLst/>
          </a:prstGeom>
          <a:solidFill>
            <a:srgbClr val="FFC83D"/>
          </a:solidFill>
          <a:ln/>
        </p:spPr>
      </p:sp>
      <p:sp>
        <p:nvSpPr>
          <p:cNvPr id="9" name="Shape 7"/>
          <p:cNvSpPr/>
          <p:nvPr/>
        </p:nvSpPr>
        <p:spPr>
          <a:xfrm>
            <a:off x="1298448" y="1938528"/>
            <a:ext cx="109728" cy="109728"/>
          </a:xfrm>
          <a:prstGeom prst="ellipse">
            <a:avLst/>
          </a:prstGeom>
          <a:solidFill>
            <a:srgbClr val="1E9E68"/>
          </a:solidFill>
          <a:ln/>
        </p:spPr>
      </p:sp>
      <p:sp>
        <p:nvSpPr>
          <p:cNvPr id="10" name="Text 8"/>
          <p:cNvSpPr txBox="1"/>
          <p:nvPr/>
        </p:nvSpPr>
        <p:spPr>
          <a:xfrm>
            <a:off x="1645920" y="1856232"/>
            <a:ext cx="512064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Consolas" pitchFamily="34" charset="0"/>
                <a:ea typeface="Consolas" pitchFamily="34" charset="-122"/>
                <a:cs typeface="Consolas" pitchFamily="34" charset="-120"/>
              </a:rPr>
              <a:t>index.html</a:t>
            </a:r>
            <a:endParaRPr lang="en-US" sz="1200" dirty="0"/>
          </a:p>
        </p:txBody>
      </p:sp>
      <p:sp>
        <p:nvSpPr>
          <p:cNvPr id="11" name="Shape 9"/>
          <p:cNvSpPr/>
          <p:nvPr/>
        </p:nvSpPr>
        <p:spPr>
          <a:xfrm>
            <a:off x="804672" y="3050032"/>
            <a:ext cx="6163056" cy="368300"/>
          </a:xfrm>
          <a:prstGeom prst="rect">
            <a:avLst/>
          </a:prstGeom>
          <a:solidFill>
            <a:srgbClr val="FFC83D">
              <a:alpha val="16000"/>
            </a:srgbClr>
          </a:solidFill>
          <a:ln/>
        </p:spPr>
      </p:sp>
      <p:sp>
        <p:nvSpPr>
          <p:cNvPr id="12" name="Text 10"/>
          <p:cNvSpPr txBox="1"/>
          <p:nvPr/>
        </p:nvSpPr>
        <p:spPr>
          <a:xfrm>
            <a:off x="896112" y="23134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1</a:t>
            </a:r>
            <a:endParaRPr lang="en-US" sz="1400" dirty="0"/>
          </a:p>
        </p:txBody>
      </p:sp>
      <p:sp>
        <p:nvSpPr>
          <p:cNvPr id="13" name="Text 11"/>
          <p:cNvSpPr txBox="1"/>
          <p:nvPr/>
        </p:nvSpPr>
        <p:spPr>
          <a:xfrm>
            <a:off x="1417320" y="23134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a</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href</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"https://github.com"</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14" name="Text 12"/>
          <p:cNvSpPr txBox="1"/>
          <p:nvPr/>
        </p:nvSpPr>
        <p:spPr>
          <a:xfrm>
            <a:off x="896112" y="26817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2</a:t>
            </a:r>
            <a:endParaRPr lang="en-US" sz="1400" dirty="0"/>
          </a:p>
        </p:txBody>
      </p:sp>
      <p:sp>
        <p:nvSpPr>
          <p:cNvPr id="15" name="Text 13"/>
          <p:cNvSpPr txBox="1"/>
          <p:nvPr/>
        </p:nvSpPr>
        <p:spPr>
          <a:xfrm>
            <a:off x="1417320" y="26817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Lihat GitHub</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a</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16" name="Text 14"/>
          <p:cNvSpPr txBox="1"/>
          <p:nvPr/>
        </p:nvSpPr>
        <p:spPr>
          <a:xfrm>
            <a:off x="896112" y="30500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3</a:t>
            </a:r>
            <a:endParaRPr lang="en-US" sz="1400" dirty="0"/>
          </a:p>
        </p:txBody>
      </p:sp>
      <p:sp>
        <p:nvSpPr>
          <p:cNvPr id="17" name="Text 15"/>
          <p:cNvSpPr txBox="1"/>
          <p:nvPr/>
        </p:nvSpPr>
        <p:spPr>
          <a:xfrm>
            <a:off x="1417320" y="30500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img</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src</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"img/foto.jpg"</a:t>
            </a:r>
            <a:endParaRPr lang="en-US" sz="2000" dirty="0"/>
          </a:p>
        </p:txBody>
      </p:sp>
      <p:sp>
        <p:nvSpPr>
          <p:cNvPr id="18" name="Text 16"/>
          <p:cNvSpPr txBox="1"/>
          <p:nvPr/>
        </p:nvSpPr>
        <p:spPr>
          <a:xfrm>
            <a:off x="896112" y="34183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4</a:t>
            </a:r>
            <a:endParaRPr lang="en-US" sz="1400" dirty="0"/>
          </a:p>
        </p:txBody>
      </p:sp>
      <p:sp>
        <p:nvSpPr>
          <p:cNvPr id="19" name="Text 17"/>
          <p:cNvSpPr txBox="1"/>
          <p:nvPr/>
        </p:nvSpPr>
        <p:spPr>
          <a:xfrm>
            <a:off x="1417320" y="34183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alt="Foto Alya"</a:t>
            </a:r>
            <a:endParaRPr lang="en-US" sz="2000" dirty="0"/>
          </a:p>
        </p:txBody>
      </p:sp>
      <p:sp>
        <p:nvSpPr>
          <p:cNvPr id="20" name="Text 18"/>
          <p:cNvSpPr txBox="1"/>
          <p:nvPr/>
        </p:nvSpPr>
        <p:spPr>
          <a:xfrm>
            <a:off x="896112" y="37866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5</a:t>
            </a:r>
            <a:endParaRPr lang="en-US" sz="1400" dirty="0"/>
          </a:p>
        </p:txBody>
      </p:sp>
      <p:sp>
        <p:nvSpPr>
          <p:cNvPr id="21" name="Text 19"/>
          <p:cNvSpPr txBox="1"/>
          <p:nvPr/>
        </p:nvSpPr>
        <p:spPr>
          <a:xfrm>
            <a:off x="1417320" y="378663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loading="lazy"&gt;</a:t>
            </a:r>
            <a:endParaRPr lang="en-US" sz="2000" dirty="0"/>
          </a:p>
        </p:txBody>
      </p:sp>
      <p:sp>
        <p:nvSpPr>
          <p:cNvPr id="22" name="Shape 20"/>
          <p:cNvSpPr/>
          <p:nvPr/>
        </p:nvSpPr>
        <p:spPr>
          <a:xfrm>
            <a:off x="7498080" y="1783080"/>
            <a:ext cx="3931920" cy="2560320"/>
          </a:xfrm>
          <a:prstGeom prst="roundRect">
            <a:avLst>
              <a:gd name="adj" fmla="val 5714"/>
            </a:avLst>
          </a:prstGeom>
          <a:solidFill>
            <a:srgbClr val="0B1530"/>
          </a:solidFill>
          <a:ln/>
          <a:effectLst>
            <a:outerShdw sx="100000" sy="100000" kx="0" ky="0" algn="bl" rotWithShape="0" blurRad="177800" dist="38100" dir="5400000">
              <a:srgbClr val="000000">
                <a:alpha val="40000"/>
              </a:srgbClr>
            </a:outerShdw>
          </a:effectLst>
        </p:spPr>
      </p:sp>
      <p:sp>
        <p:nvSpPr>
          <p:cNvPr id="23" name="Text 21"/>
          <p:cNvSpPr txBox="1"/>
          <p:nvPr/>
        </p:nvSpPr>
        <p:spPr>
          <a:xfrm>
            <a:off x="7772400" y="1965960"/>
            <a:ext cx="3291840" cy="274320"/>
          </a:xfrm>
          <a:prstGeom prst="rect">
            <a:avLst/>
          </a:prstGeom>
          <a:noFill/>
          <a:ln/>
        </p:spPr>
        <p:txBody>
          <a:bodyPr wrap="square" lIns="0" tIns="0" rIns="0" bIns="0" rtlCol="0" anchor="t"/>
          <a:lstStyle/>
          <a:p>
            <a:pPr algn="l" indent="0" marL="0">
              <a:lnSpc>
                <a:spcPct val="115000"/>
              </a:lnSpc>
              <a:buNone/>
            </a:pPr>
            <a:r>
              <a:rPr lang="en-US" sz="1200" dirty="0">
                <a:solidFill>
                  <a:srgbClr val="7886A8"/>
                </a:solidFill>
                <a:latin typeface="Calibri" pitchFamily="34" charset="0"/>
                <a:ea typeface="Calibri" pitchFamily="34" charset="-122"/>
                <a:cs typeface="Calibri" pitchFamily="34" charset="-120"/>
              </a:rPr>
              <a:t>src dibaca dari lokasi index.html</a:t>
            </a:r>
            <a:endParaRPr lang="en-US" sz="1200" dirty="0"/>
          </a:p>
        </p:txBody>
      </p:sp>
      <p:sp>
        <p:nvSpPr>
          <p:cNvPr id="24" name="Text 22"/>
          <p:cNvSpPr txBox="1"/>
          <p:nvPr/>
        </p:nvSpPr>
        <p:spPr>
          <a:xfrm>
            <a:off x="7772400" y="2377440"/>
            <a:ext cx="4572000" cy="324841"/>
          </a:xfrm>
          <a:prstGeom prst="rect">
            <a:avLst/>
          </a:prstGeom>
          <a:noFill/>
          <a:ln/>
        </p:spPr>
        <p:txBody>
          <a:bodyPr wrap="none" lIns="0" tIns="0" rIns="0" bIns="0" rtlCol="0" anchor="ctr"/>
          <a:lstStyle/>
          <a:p>
            <a:pPr algn="l" indent="0" marL="0">
              <a:lnSpc>
                <a:spcPct val="115000"/>
              </a:lnSpc>
              <a:buNone/>
            </a:pPr>
            <a:r>
              <a:rPr lang="en-US" sz="1800" dirty="0">
                <a:solidFill>
                  <a:srgbClr val="8DB4FF"/>
                </a:solidFill>
                <a:latin typeface="Consolas" pitchFamily="34" charset="0"/>
                <a:ea typeface="Consolas" pitchFamily="34" charset="-122"/>
                <a:cs typeface="Consolas" pitchFamily="34" charset="-120"/>
              </a:rPr>
              <a:t>▸ portfolio/</a:t>
            </a:r>
            <a:endParaRPr lang="en-US" sz="1800" dirty="0"/>
          </a:p>
        </p:txBody>
      </p:sp>
      <p:sp>
        <p:nvSpPr>
          <p:cNvPr id="25" name="Text 23"/>
          <p:cNvSpPr txBox="1"/>
          <p:nvPr/>
        </p:nvSpPr>
        <p:spPr>
          <a:xfrm>
            <a:off x="8092440" y="2702281"/>
            <a:ext cx="4572000" cy="324841"/>
          </a:xfrm>
          <a:prstGeom prst="rect">
            <a:avLst/>
          </a:prstGeom>
          <a:noFill/>
          <a:ln/>
        </p:spPr>
        <p:txBody>
          <a:bodyPr wrap="none" lIns="0" tIns="0" rIns="0" bIns="0" rtlCol="0" anchor="ctr"/>
          <a:lstStyle/>
          <a:p>
            <a:pPr algn="l" indent="0" marL="0">
              <a:lnSpc>
                <a:spcPct val="115000"/>
              </a:lnSpc>
              <a:buNone/>
            </a:pPr>
            <a:r>
              <a:rPr lang="en-US" sz="1800" dirty="0">
                <a:solidFill>
                  <a:srgbClr val="F4F6FB"/>
                </a:solidFill>
                <a:latin typeface="Consolas" pitchFamily="34" charset="0"/>
                <a:ea typeface="Consolas" pitchFamily="34" charset="-122"/>
                <a:cs typeface="Consolas" pitchFamily="34" charset="-120"/>
              </a:rPr>
              <a:t>  index.html</a:t>
            </a:r>
            <a:endParaRPr lang="en-US" sz="1800" dirty="0"/>
          </a:p>
        </p:txBody>
      </p:sp>
      <p:sp>
        <p:nvSpPr>
          <p:cNvPr id="26" name="Text 24"/>
          <p:cNvSpPr txBox="1"/>
          <p:nvPr/>
        </p:nvSpPr>
        <p:spPr>
          <a:xfrm>
            <a:off x="8092440" y="3027121"/>
            <a:ext cx="4572000" cy="324841"/>
          </a:xfrm>
          <a:prstGeom prst="rect">
            <a:avLst/>
          </a:prstGeom>
          <a:noFill/>
          <a:ln/>
        </p:spPr>
        <p:txBody>
          <a:bodyPr wrap="none" lIns="0" tIns="0" rIns="0" bIns="0" rtlCol="0" anchor="ctr"/>
          <a:lstStyle/>
          <a:p>
            <a:pPr algn="l" indent="0" marL="0">
              <a:lnSpc>
                <a:spcPct val="115000"/>
              </a:lnSpc>
              <a:buNone/>
            </a:pPr>
            <a:r>
              <a:rPr lang="en-US" sz="1800" dirty="0">
                <a:solidFill>
                  <a:srgbClr val="8DB4FF"/>
                </a:solidFill>
                <a:latin typeface="Consolas" pitchFamily="34" charset="0"/>
                <a:ea typeface="Consolas" pitchFamily="34" charset="-122"/>
                <a:cs typeface="Consolas" pitchFamily="34" charset="-120"/>
              </a:rPr>
              <a:t>▸ img/</a:t>
            </a:r>
            <a:endParaRPr lang="en-US" sz="1800" dirty="0"/>
          </a:p>
        </p:txBody>
      </p:sp>
      <p:sp>
        <p:nvSpPr>
          <p:cNvPr id="27" name="Text 25"/>
          <p:cNvSpPr txBox="1"/>
          <p:nvPr/>
        </p:nvSpPr>
        <p:spPr>
          <a:xfrm>
            <a:off x="8412480" y="3351962"/>
            <a:ext cx="4572000" cy="324841"/>
          </a:xfrm>
          <a:prstGeom prst="rect">
            <a:avLst/>
          </a:prstGeom>
          <a:noFill/>
          <a:ln/>
        </p:spPr>
        <p:txBody>
          <a:bodyPr wrap="none" lIns="0" tIns="0" rIns="0" bIns="0" rtlCol="0" anchor="ctr"/>
          <a:lstStyle/>
          <a:p>
            <a:pPr algn="l" indent="0" marL="0">
              <a:lnSpc>
                <a:spcPct val="115000"/>
              </a:lnSpc>
              <a:buNone/>
            </a:pPr>
            <a:r>
              <a:rPr lang="en-US" sz="1800" dirty="0">
                <a:solidFill>
                  <a:srgbClr val="FFC83D"/>
                </a:solidFill>
                <a:latin typeface="Consolas" pitchFamily="34" charset="0"/>
                <a:ea typeface="Consolas" pitchFamily="34" charset="-122"/>
                <a:cs typeface="Consolas" pitchFamily="34" charset="-120"/>
              </a:rPr>
              <a:t>  foto.jpg</a:t>
            </a:r>
            <a:endParaRPr lang="en-US" sz="1800" dirty="0"/>
          </a:p>
        </p:txBody>
      </p:sp>
      <p:sp>
        <p:nvSpPr>
          <p:cNvPr id="28" name="Shape 26"/>
          <p:cNvSpPr/>
          <p:nvPr/>
        </p:nvSpPr>
        <p:spPr>
          <a:xfrm>
            <a:off x="731520" y="4617720"/>
            <a:ext cx="10789920" cy="0"/>
          </a:xfrm>
          <a:prstGeom prst="line">
            <a:avLst/>
          </a:prstGeom>
          <a:noFill/>
          <a:ln w="12700">
            <a:solidFill>
              <a:srgbClr val="E3DFD6"/>
            </a:solidFill>
            <a:prstDash val="solid"/>
          </a:ln>
        </p:spPr>
      </p:sp>
      <p:sp>
        <p:nvSpPr>
          <p:cNvPr id="29" name="Text 27"/>
          <p:cNvSpPr txBox="1"/>
          <p:nvPr/>
        </p:nvSpPr>
        <p:spPr>
          <a:xfrm>
            <a:off x="731520" y="4681728"/>
            <a:ext cx="3017520" cy="411480"/>
          </a:xfrm>
          <a:prstGeom prst="rect">
            <a:avLst/>
          </a:prstGeom>
          <a:noFill/>
          <a:ln/>
        </p:spPr>
        <p:txBody>
          <a:bodyPr wrap="none" lIns="0" tIns="0" rIns="0" bIns="0" rtlCol="0" anchor="ctr"/>
          <a:lstStyle/>
          <a:p>
            <a:pPr algn="l" indent="0" marL="0">
              <a:lnSpc>
                <a:spcPct val="115000"/>
              </a:lnSpc>
              <a:buNone/>
            </a:pPr>
            <a:r>
              <a:rPr lang="en-US" sz="1700" b="1" dirty="0">
                <a:solidFill>
                  <a:srgbClr val="1F4FD8"/>
                </a:solidFill>
                <a:latin typeface="Consolas" pitchFamily="34" charset="0"/>
                <a:ea typeface="Consolas" pitchFamily="34" charset="-122"/>
                <a:cs typeface="Consolas" pitchFamily="34" charset="-120"/>
              </a:rPr>
              <a:t>href</a:t>
            </a:r>
            <a:endParaRPr lang="en-US" sz="1700" dirty="0"/>
          </a:p>
        </p:txBody>
      </p:sp>
      <p:sp>
        <p:nvSpPr>
          <p:cNvPr id="30" name="Text 28"/>
          <p:cNvSpPr txBox="1"/>
          <p:nvPr/>
        </p:nvSpPr>
        <p:spPr>
          <a:xfrm>
            <a:off x="3840480" y="4681728"/>
            <a:ext cx="7589520" cy="411480"/>
          </a:xfrm>
          <a:prstGeom prst="rect">
            <a:avLst/>
          </a:prstGeom>
          <a:noFill/>
          <a:ln/>
        </p:spPr>
        <p:txBody>
          <a:bodyPr wrap="square" lIns="0" tIns="0" rIns="0" bIns="0" rtlCol="0" anchor="ctr"/>
          <a:lstStyle/>
          <a:p>
            <a:pPr algn="l" indent="0" marL="0">
              <a:lnSpc>
                <a:spcPct val="115000"/>
              </a:lnSpc>
              <a:buNone/>
            </a:pPr>
            <a:r>
              <a:rPr lang="en-US" sz="1600" dirty="0">
                <a:solidFill>
                  <a:srgbClr val="0E1B3D"/>
                </a:solidFill>
                <a:latin typeface="Calibri" pitchFamily="34" charset="0"/>
                <a:ea typeface="Calibri" pitchFamily="34" charset="-122"/>
                <a:cs typeface="Calibri" pitchFamily="34" charset="-120"/>
              </a:rPr>
              <a:t>Alamat tujuan link.</a:t>
            </a:r>
            <a:endParaRPr lang="en-US" sz="1600" dirty="0"/>
          </a:p>
        </p:txBody>
      </p:sp>
      <p:sp>
        <p:nvSpPr>
          <p:cNvPr id="31" name="Shape 29"/>
          <p:cNvSpPr/>
          <p:nvPr/>
        </p:nvSpPr>
        <p:spPr>
          <a:xfrm>
            <a:off x="731520" y="5166360"/>
            <a:ext cx="10789920" cy="0"/>
          </a:xfrm>
          <a:prstGeom prst="line">
            <a:avLst/>
          </a:prstGeom>
          <a:noFill/>
          <a:ln w="12700">
            <a:solidFill>
              <a:srgbClr val="E3DFD6"/>
            </a:solidFill>
            <a:prstDash val="solid"/>
          </a:ln>
        </p:spPr>
      </p:sp>
      <p:sp>
        <p:nvSpPr>
          <p:cNvPr id="32" name="Text 30"/>
          <p:cNvSpPr txBox="1"/>
          <p:nvPr/>
        </p:nvSpPr>
        <p:spPr>
          <a:xfrm>
            <a:off x="731520" y="5230368"/>
            <a:ext cx="3017520" cy="411480"/>
          </a:xfrm>
          <a:prstGeom prst="rect">
            <a:avLst/>
          </a:prstGeom>
          <a:noFill/>
          <a:ln/>
        </p:spPr>
        <p:txBody>
          <a:bodyPr wrap="none" lIns="0" tIns="0" rIns="0" bIns="0" rtlCol="0" anchor="ctr"/>
          <a:lstStyle/>
          <a:p>
            <a:pPr algn="l" indent="0" marL="0">
              <a:lnSpc>
                <a:spcPct val="115000"/>
              </a:lnSpc>
              <a:buNone/>
            </a:pPr>
            <a:r>
              <a:rPr lang="en-US" sz="1700" b="1" dirty="0">
                <a:solidFill>
                  <a:srgbClr val="1F4FD8"/>
                </a:solidFill>
                <a:latin typeface="Consolas" pitchFamily="34" charset="0"/>
                <a:ea typeface="Consolas" pitchFamily="34" charset="-122"/>
                <a:cs typeface="Consolas" pitchFamily="34" charset="-120"/>
              </a:rPr>
              <a:t>alt</a:t>
            </a:r>
            <a:endParaRPr lang="en-US" sz="1700" dirty="0"/>
          </a:p>
        </p:txBody>
      </p:sp>
      <p:sp>
        <p:nvSpPr>
          <p:cNvPr id="33" name="Text 31"/>
          <p:cNvSpPr txBox="1"/>
          <p:nvPr/>
        </p:nvSpPr>
        <p:spPr>
          <a:xfrm>
            <a:off x="3840480" y="5230368"/>
            <a:ext cx="7589520" cy="411480"/>
          </a:xfrm>
          <a:prstGeom prst="rect">
            <a:avLst/>
          </a:prstGeom>
          <a:noFill/>
          <a:ln/>
        </p:spPr>
        <p:txBody>
          <a:bodyPr wrap="square" lIns="0" tIns="0" rIns="0" bIns="0" rtlCol="0" anchor="ctr"/>
          <a:lstStyle/>
          <a:p>
            <a:pPr algn="l" indent="0" marL="0">
              <a:lnSpc>
                <a:spcPct val="115000"/>
              </a:lnSpc>
              <a:buNone/>
            </a:pPr>
            <a:r>
              <a:rPr lang="en-US" sz="1600" dirty="0">
                <a:solidFill>
                  <a:srgbClr val="0E1B3D"/>
                </a:solidFill>
                <a:latin typeface="Calibri" pitchFamily="34" charset="0"/>
                <a:ea typeface="Calibri" pitchFamily="34" charset="-122"/>
                <a:cs typeface="Calibri" pitchFamily="34" charset="-120"/>
              </a:rPr>
              <a:t>Teks pengganti. Dibaca pembaca layar dan tampil jika gambar gagal dimuat.</a:t>
            </a:r>
            <a:endParaRPr lang="en-US" sz="1600" dirty="0"/>
          </a:p>
        </p:txBody>
      </p:sp>
      <p:sp>
        <p:nvSpPr>
          <p:cNvPr id="34" name="Shape 32"/>
          <p:cNvSpPr/>
          <p:nvPr/>
        </p:nvSpPr>
        <p:spPr>
          <a:xfrm>
            <a:off x="731520" y="5715000"/>
            <a:ext cx="10789920" cy="0"/>
          </a:xfrm>
          <a:prstGeom prst="line">
            <a:avLst/>
          </a:prstGeom>
          <a:noFill/>
          <a:ln w="12700">
            <a:solidFill>
              <a:srgbClr val="E3DFD6"/>
            </a:solidFill>
            <a:prstDash val="solid"/>
          </a:ln>
        </p:spPr>
      </p:sp>
      <p:sp>
        <p:nvSpPr>
          <p:cNvPr id="35" name="Text 33"/>
          <p:cNvSpPr txBox="1"/>
          <p:nvPr/>
        </p:nvSpPr>
        <p:spPr>
          <a:xfrm>
            <a:off x="731520" y="5779008"/>
            <a:ext cx="3017520" cy="411480"/>
          </a:xfrm>
          <a:prstGeom prst="rect">
            <a:avLst/>
          </a:prstGeom>
          <a:noFill/>
          <a:ln/>
        </p:spPr>
        <p:txBody>
          <a:bodyPr wrap="none" lIns="0" tIns="0" rIns="0" bIns="0" rtlCol="0" anchor="ctr"/>
          <a:lstStyle/>
          <a:p>
            <a:pPr algn="l" indent="0" marL="0">
              <a:lnSpc>
                <a:spcPct val="115000"/>
              </a:lnSpc>
              <a:buNone/>
            </a:pPr>
            <a:r>
              <a:rPr lang="en-US" sz="1700" b="1" dirty="0">
                <a:solidFill>
                  <a:srgbClr val="1F4FD8"/>
                </a:solidFill>
                <a:latin typeface="Consolas" pitchFamily="34" charset="0"/>
                <a:ea typeface="Consolas" pitchFamily="34" charset="-122"/>
                <a:cs typeface="Consolas" pitchFamily="34" charset="-120"/>
              </a:rPr>
              <a:t>loading="lazy"</a:t>
            </a:r>
            <a:endParaRPr lang="en-US" sz="1700" dirty="0"/>
          </a:p>
        </p:txBody>
      </p:sp>
      <p:sp>
        <p:nvSpPr>
          <p:cNvPr id="36" name="Text 34"/>
          <p:cNvSpPr txBox="1"/>
          <p:nvPr/>
        </p:nvSpPr>
        <p:spPr>
          <a:xfrm>
            <a:off x="3840480" y="5779008"/>
            <a:ext cx="7589520" cy="411480"/>
          </a:xfrm>
          <a:prstGeom prst="rect">
            <a:avLst/>
          </a:prstGeom>
          <a:noFill/>
          <a:ln/>
        </p:spPr>
        <p:txBody>
          <a:bodyPr wrap="square" lIns="0" tIns="0" rIns="0" bIns="0" rtlCol="0" anchor="ctr"/>
          <a:lstStyle/>
          <a:p>
            <a:pPr algn="l" indent="0" marL="0">
              <a:lnSpc>
                <a:spcPct val="115000"/>
              </a:lnSpc>
              <a:buNone/>
            </a:pPr>
            <a:r>
              <a:rPr lang="en-US" sz="1600" dirty="0">
                <a:solidFill>
                  <a:srgbClr val="0E1B3D"/>
                </a:solidFill>
                <a:latin typeface="Calibri" pitchFamily="34" charset="0"/>
                <a:ea typeface="Calibri" pitchFamily="34" charset="-122"/>
                <a:cs typeface="Calibri" pitchFamily="34" charset="-120"/>
              </a:rPr>
              <a:t>Gambar dimuat saat discroll, jadi hemat kuota.</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16</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02 · HTML</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Beri nama pada setiap bagian</a:t>
            </a:r>
            <a:endParaRPr lang="en-US" sz="3800" dirty="0"/>
          </a:p>
        </p:txBody>
      </p:sp>
      <p:sp>
        <p:nvSpPr>
          <p:cNvPr id="6" name="Shape 4"/>
          <p:cNvSpPr/>
          <p:nvPr/>
        </p:nvSpPr>
        <p:spPr>
          <a:xfrm>
            <a:off x="731520" y="1783080"/>
            <a:ext cx="4572000" cy="2131568"/>
          </a:xfrm>
          <a:prstGeom prst="roundRect">
            <a:avLst>
              <a:gd name="adj" fmla="val 6006"/>
            </a:avLst>
          </a:prstGeom>
          <a:solidFill>
            <a:srgbClr val="0B1530"/>
          </a:solidFill>
          <a:ln/>
          <a:effectLst>
            <a:outerShdw sx="100000" sy="100000" kx="0" ky="0" algn="bl" rotWithShape="0" blurRad="177800" dist="38100" dir="5400000">
              <a:srgbClr val="000000">
                <a:alpha val="40000"/>
              </a:srgbClr>
            </a:outerShdw>
          </a:effectLst>
        </p:spPr>
      </p:sp>
      <p:sp>
        <p:nvSpPr>
          <p:cNvPr id="7" name="Shape 5"/>
          <p:cNvSpPr/>
          <p:nvPr/>
        </p:nvSpPr>
        <p:spPr>
          <a:xfrm>
            <a:off x="932688" y="1938528"/>
            <a:ext cx="109728" cy="109728"/>
          </a:xfrm>
          <a:prstGeom prst="ellipse">
            <a:avLst/>
          </a:prstGeom>
          <a:solidFill>
            <a:srgbClr val="E63946"/>
          </a:solidFill>
          <a:ln/>
        </p:spPr>
      </p:sp>
      <p:sp>
        <p:nvSpPr>
          <p:cNvPr id="8" name="Shape 6"/>
          <p:cNvSpPr/>
          <p:nvPr/>
        </p:nvSpPr>
        <p:spPr>
          <a:xfrm>
            <a:off x="1115568" y="1938528"/>
            <a:ext cx="109728" cy="109728"/>
          </a:xfrm>
          <a:prstGeom prst="ellipse">
            <a:avLst/>
          </a:prstGeom>
          <a:solidFill>
            <a:srgbClr val="FFC83D"/>
          </a:solidFill>
          <a:ln/>
        </p:spPr>
      </p:sp>
      <p:sp>
        <p:nvSpPr>
          <p:cNvPr id="9" name="Shape 7"/>
          <p:cNvSpPr/>
          <p:nvPr/>
        </p:nvSpPr>
        <p:spPr>
          <a:xfrm>
            <a:off x="1298448" y="1938528"/>
            <a:ext cx="109728" cy="109728"/>
          </a:xfrm>
          <a:prstGeom prst="ellipse">
            <a:avLst/>
          </a:prstGeom>
          <a:solidFill>
            <a:srgbClr val="1E9E68"/>
          </a:solidFill>
          <a:ln/>
        </p:spPr>
      </p:sp>
      <p:sp>
        <p:nvSpPr>
          <p:cNvPr id="10" name="Text 8"/>
          <p:cNvSpPr txBox="1"/>
          <p:nvPr/>
        </p:nvSpPr>
        <p:spPr>
          <a:xfrm>
            <a:off x="1645920" y="1856232"/>
            <a:ext cx="338328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Consolas" pitchFamily="34" charset="0"/>
                <a:ea typeface="Consolas" pitchFamily="34" charset="-122"/>
                <a:cs typeface="Consolas" pitchFamily="34" charset="-120"/>
              </a:rPr>
              <a:t>index.html</a:t>
            </a:r>
            <a:endParaRPr lang="en-US" sz="1200" dirty="0"/>
          </a:p>
        </p:txBody>
      </p:sp>
      <p:sp>
        <p:nvSpPr>
          <p:cNvPr id="11" name="Text 9"/>
          <p:cNvSpPr txBox="1"/>
          <p:nvPr/>
        </p:nvSpPr>
        <p:spPr>
          <a:xfrm>
            <a:off x="896112" y="23134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1</a:t>
            </a:r>
            <a:endParaRPr lang="en-US" sz="1400" dirty="0"/>
          </a:p>
        </p:txBody>
      </p:sp>
      <p:sp>
        <p:nvSpPr>
          <p:cNvPr id="12" name="Text 10"/>
          <p:cNvSpPr txBox="1"/>
          <p:nvPr/>
        </p:nvSpPr>
        <p:spPr>
          <a:xfrm>
            <a:off x="1417320" y="2313432"/>
            <a:ext cx="384048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ul</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13" name="Text 11"/>
          <p:cNvSpPr txBox="1"/>
          <p:nvPr/>
        </p:nvSpPr>
        <p:spPr>
          <a:xfrm>
            <a:off x="896112" y="26817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2</a:t>
            </a:r>
            <a:endParaRPr lang="en-US" sz="1400" dirty="0"/>
          </a:p>
        </p:txBody>
      </p:sp>
      <p:sp>
        <p:nvSpPr>
          <p:cNvPr id="14" name="Text 12"/>
          <p:cNvSpPr txBox="1"/>
          <p:nvPr/>
        </p:nvSpPr>
        <p:spPr>
          <a:xfrm>
            <a:off x="1417320" y="2681732"/>
            <a:ext cx="384048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li</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HTML</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li</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15" name="Text 13"/>
          <p:cNvSpPr txBox="1"/>
          <p:nvPr/>
        </p:nvSpPr>
        <p:spPr>
          <a:xfrm>
            <a:off x="896112" y="30500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3</a:t>
            </a:r>
            <a:endParaRPr lang="en-US" sz="1400" dirty="0"/>
          </a:p>
        </p:txBody>
      </p:sp>
      <p:sp>
        <p:nvSpPr>
          <p:cNvPr id="16" name="Text 14"/>
          <p:cNvSpPr txBox="1"/>
          <p:nvPr/>
        </p:nvSpPr>
        <p:spPr>
          <a:xfrm>
            <a:off x="1417320" y="3050032"/>
            <a:ext cx="384048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li</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CSS</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li</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17" name="Text 15"/>
          <p:cNvSpPr txBox="1"/>
          <p:nvPr/>
        </p:nvSpPr>
        <p:spPr>
          <a:xfrm>
            <a:off x="896112" y="34183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4</a:t>
            </a:r>
            <a:endParaRPr lang="en-US" sz="1400" dirty="0"/>
          </a:p>
        </p:txBody>
      </p:sp>
      <p:sp>
        <p:nvSpPr>
          <p:cNvPr id="18" name="Text 16"/>
          <p:cNvSpPr txBox="1"/>
          <p:nvPr/>
        </p:nvSpPr>
        <p:spPr>
          <a:xfrm>
            <a:off x="1417320" y="3418332"/>
            <a:ext cx="384048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ul</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19" name="Text 17"/>
          <p:cNvSpPr txBox="1"/>
          <p:nvPr/>
        </p:nvSpPr>
        <p:spPr>
          <a:xfrm>
            <a:off x="731520" y="4160520"/>
            <a:ext cx="4572000" cy="365760"/>
          </a:xfrm>
          <a:prstGeom prst="rect">
            <a:avLst/>
          </a:prstGeom>
          <a:noFill/>
          <a:ln/>
        </p:spPr>
        <p:txBody>
          <a:bodyPr wrap="square" lIns="0" tIns="0" rIns="0" bIns="0" rtlCol="0" anchor="t"/>
          <a:lstStyle/>
          <a:p>
            <a:pPr algn="l" indent="0" marL="0">
              <a:lnSpc>
                <a:spcPct val="115000"/>
              </a:lnSpc>
              <a:buNone/>
            </a:pPr>
            <a:r>
              <a:rPr lang="en-US" sz="1600" dirty="0">
                <a:solidFill>
                  <a:srgbClr val="0E1B3D"/>
                </a:solidFill>
                <a:latin typeface="Calibri" pitchFamily="34" charset="0"/>
                <a:ea typeface="Calibri" pitchFamily="34" charset="-122"/>
                <a:cs typeface="Calibri" pitchFamily="34" charset="-120"/>
              </a:rPr>
              <a:t>ul = daftar bertitik  ·  ol = daftar bernomor</a:t>
            </a:r>
            <a:endParaRPr lang="en-US" sz="1600" dirty="0"/>
          </a:p>
        </p:txBody>
      </p:sp>
      <p:sp>
        <p:nvSpPr>
          <p:cNvPr id="20" name="Text 18"/>
          <p:cNvSpPr txBox="1"/>
          <p:nvPr/>
        </p:nvSpPr>
        <p:spPr>
          <a:xfrm>
            <a:off x="731520" y="4709160"/>
            <a:ext cx="4572000" cy="1463040"/>
          </a:xfrm>
          <a:prstGeom prst="rect">
            <a:avLst/>
          </a:prstGeom>
          <a:noFill/>
          <a:ln/>
        </p:spPr>
        <p:txBody>
          <a:bodyPr wrap="square" lIns="0" tIns="0" rIns="0" bIns="0" rtlCol="0" anchor="t"/>
          <a:lstStyle/>
          <a:p>
            <a:pPr algn="l" indent="0" marL="0">
              <a:lnSpc>
                <a:spcPct val="145000"/>
              </a:lnSpc>
              <a:buNone/>
            </a:pPr>
            <a:r>
              <a:rPr lang="en-US" sz="1700" dirty="0">
                <a:solidFill>
                  <a:srgbClr val="5B6478"/>
                </a:solidFill>
                <a:latin typeface="Calibri" pitchFamily="34" charset="0"/>
                <a:ea typeface="Calibri" pitchFamily="34" charset="-122"/>
                <a:cs typeface="Calibri" pitchFamily="34" charset="-120"/>
              </a:rPr>
              <a:t>Tag semantik punya makna. Mesin pencari dan pembaca layar jadi paham struktur halamanmu.</a:t>
            </a:r>
            <a:endParaRPr lang="en-US" sz="1700" dirty="0"/>
          </a:p>
        </p:txBody>
      </p:sp>
      <p:sp>
        <p:nvSpPr>
          <p:cNvPr id="21" name="Shape 19"/>
          <p:cNvSpPr/>
          <p:nvPr/>
        </p:nvSpPr>
        <p:spPr>
          <a:xfrm>
            <a:off x="6035040" y="1783080"/>
            <a:ext cx="5394960" cy="4434840"/>
          </a:xfrm>
          <a:prstGeom prst="roundRect">
            <a:avLst>
              <a:gd name="adj" fmla="val 4124"/>
            </a:avLst>
          </a:prstGeom>
          <a:solidFill>
            <a:srgbClr val="FFFFFF"/>
          </a:solidFill>
          <a:ln w="15875">
            <a:solidFill>
              <a:srgbClr val="E3DFD6"/>
            </a:solidFill>
            <a:prstDash val="solid"/>
          </a:ln>
          <a:effectLst>
            <a:outerShdw sx="100000" sy="100000" kx="0" ky="0" algn="bl" rotWithShape="0" blurRad="177800" dist="38100" dir="5400000">
              <a:srgbClr val="7A8299">
                <a:alpha val="18000"/>
              </a:srgbClr>
            </a:outerShdw>
          </a:effectLst>
        </p:spPr>
      </p:sp>
      <p:sp>
        <p:nvSpPr>
          <p:cNvPr id="22" name="Shape 20"/>
          <p:cNvSpPr/>
          <p:nvPr/>
        </p:nvSpPr>
        <p:spPr>
          <a:xfrm>
            <a:off x="6263640" y="1965960"/>
            <a:ext cx="4937760" cy="640080"/>
          </a:xfrm>
          <a:prstGeom prst="roundRect">
            <a:avLst>
              <a:gd name="adj" fmla="val 14286"/>
            </a:avLst>
          </a:prstGeom>
          <a:solidFill>
            <a:srgbClr val="EEF3FF"/>
          </a:solidFill>
          <a:ln w="15875">
            <a:solidFill>
              <a:srgbClr val="DCE6FF"/>
            </a:solidFill>
            <a:prstDash val="solid"/>
          </a:ln>
        </p:spPr>
      </p:sp>
      <p:sp>
        <p:nvSpPr>
          <p:cNvPr id="23" name="Text 21"/>
          <p:cNvSpPr txBox="1"/>
          <p:nvPr/>
        </p:nvSpPr>
        <p:spPr>
          <a:xfrm>
            <a:off x="6446520" y="1965960"/>
            <a:ext cx="2743200" cy="640080"/>
          </a:xfrm>
          <a:prstGeom prst="rect">
            <a:avLst/>
          </a:prstGeom>
          <a:noFill/>
          <a:ln/>
        </p:spPr>
        <p:txBody>
          <a:bodyPr wrap="none" lIns="0" tIns="0" rIns="0" bIns="0" rtlCol="0" anchor="ctr"/>
          <a:lstStyle/>
          <a:p>
            <a:pPr algn="l" indent="0" marL="0">
              <a:lnSpc>
                <a:spcPct val="115000"/>
              </a:lnSpc>
              <a:buNone/>
            </a:pPr>
            <a:r>
              <a:rPr lang="en-US" sz="1600" b="1" dirty="0">
                <a:solidFill>
                  <a:srgbClr val="1F4FD8"/>
                </a:solidFill>
                <a:latin typeface="Consolas" pitchFamily="34" charset="0"/>
                <a:ea typeface="Consolas" pitchFamily="34" charset="-122"/>
                <a:cs typeface="Consolas" pitchFamily="34" charset="-120"/>
              </a:rPr>
              <a:t>&lt;header&gt;</a:t>
            </a:r>
            <a:endParaRPr lang="en-US" sz="1600" dirty="0"/>
          </a:p>
        </p:txBody>
      </p:sp>
      <p:sp>
        <p:nvSpPr>
          <p:cNvPr id="24" name="Shape 22"/>
          <p:cNvSpPr/>
          <p:nvPr/>
        </p:nvSpPr>
        <p:spPr>
          <a:xfrm>
            <a:off x="6263640" y="2715768"/>
            <a:ext cx="4937760" cy="502920"/>
          </a:xfrm>
          <a:prstGeom prst="roundRect">
            <a:avLst>
              <a:gd name="adj" fmla="val 18182"/>
            </a:avLst>
          </a:prstGeom>
          <a:solidFill>
            <a:srgbClr val="EEF3FF"/>
          </a:solidFill>
          <a:ln w="15875">
            <a:solidFill>
              <a:srgbClr val="DCE6FF"/>
            </a:solidFill>
            <a:prstDash val="solid"/>
          </a:ln>
        </p:spPr>
      </p:sp>
      <p:sp>
        <p:nvSpPr>
          <p:cNvPr id="25" name="Text 23"/>
          <p:cNvSpPr txBox="1"/>
          <p:nvPr/>
        </p:nvSpPr>
        <p:spPr>
          <a:xfrm>
            <a:off x="6446520" y="2715768"/>
            <a:ext cx="2743200" cy="502920"/>
          </a:xfrm>
          <a:prstGeom prst="rect">
            <a:avLst/>
          </a:prstGeom>
          <a:noFill/>
          <a:ln/>
        </p:spPr>
        <p:txBody>
          <a:bodyPr wrap="none" lIns="0" tIns="0" rIns="0" bIns="0" rtlCol="0" anchor="ctr"/>
          <a:lstStyle/>
          <a:p>
            <a:pPr algn="l" indent="0" marL="0">
              <a:lnSpc>
                <a:spcPct val="115000"/>
              </a:lnSpc>
              <a:buNone/>
            </a:pPr>
            <a:r>
              <a:rPr lang="en-US" sz="1600" b="1" dirty="0">
                <a:solidFill>
                  <a:srgbClr val="1F4FD8"/>
                </a:solidFill>
                <a:latin typeface="Consolas" pitchFamily="34" charset="0"/>
                <a:ea typeface="Consolas" pitchFamily="34" charset="-122"/>
                <a:cs typeface="Consolas" pitchFamily="34" charset="-120"/>
              </a:rPr>
              <a:t>&lt;nav&gt;</a:t>
            </a:r>
            <a:endParaRPr lang="en-US" sz="1600" dirty="0"/>
          </a:p>
        </p:txBody>
      </p:sp>
      <p:sp>
        <p:nvSpPr>
          <p:cNvPr id="26" name="Shape 24"/>
          <p:cNvSpPr/>
          <p:nvPr/>
        </p:nvSpPr>
        <p:spPr>
          <a:xfrm>
            <a:off x="6263640" y="3328416"/>
            <a:ext cx="4937760" cy="2011680"/>
          </a:xfrm>
          <a:prstGeom prst="roundRect">
            <a:avLst>
              <a:gd name="adj" fmla="val 4545"/>
            </a:avLst>
          </a:prstGeom>
          <a:ln w="19050">
            <a:solidFill>
              <a:srgbClr val="1F4FD8"/>
            </a:solidFill>
            <a:prstDash val="dash"/>
          </a:ln>
        </p:spPr>
      </p:sp>
      <p:sp>
        <p:nvSpPr>
          <p:cNvPr id="27" name="Text 25"/>
          <p:cNvSpPr txBox="1"/>
          <p:nvPr/>
        </p:nvSpPr>
        <p:spPr>
          <a:xfrm>
            <a:off x="6446520" y="3401568"/>
            <a:ext cx="1828800" cy="320040"/>
          </a:xfrm>
          <a:prstGeom prst="rect">
            <a:avLst/>
          </a:prstGeom>
          <a:noFill/>
          <a:ln/>
        </p:spPr>
        <p:txBody>
          <a:bodyPr wrap="none" lIns="0" tIns="0" rIns="0" bIns="0" rtlCol="0" anchor="ctr"/>
          <a:lstStyle/>
          <a:p>
            <a:pPr algn="l" indent="0" marL="0">
              <a:lnSpc>
                <a:spcPct val="115000"/>
              </a:lnSpc>
              <a:buNone/>
            </a:pPr>
            <a:r>
              <a:rPr lang="en-US" sz="1600" b="1" dirty="0">
                <a:solidFill>
                  <a:srgbClr val="1F4FD8"/>
                </a:solidFill>
                <a:latin typeface="Consolas" pitchFamily="34" charset="0"/>
                <a:ea typeface="Consolas" pitchFamily="34" charset="-122"/>
                <a:cs typeface="Consolas" pitchFamily="34" charset="-120"/>
              </a:rPr>
              <a:t>&lt;main&gt;</a:t>
            </a:r>
            <a:endParaRPr lang="en-US" sz="1600" dirty="0"/>
          </a:p>
        </p:txBody>
      </p:sp>
      <p:sp>
        <p:nvSpPr>
          <p:cNvPr id="28" name="Shape 26"/>
          <p:cNvSpPr/>
          <p:nvPr/>
        </p:nvSpPr>
        <p:spPr>
          <a:xfrm>
            <a:off x="6446520" y="3822192"/>
            <a:ext cx="2286000" cy="1325880"/>
          </a:xfrm>
          <a:prstGeom prst="roundRect">
            <a:avLst>
              <a:gd name="adj" fmla="val 6897"/>
            </a:avLst>
          </a:prstGeom>
          <a:solidFill>
            <a:srgbClr val="FFF3CF"/>
          </a:solidFill>
          <a:ln w="15875">
            <a:solidFill>
              <a:srgbClr val="FFC83D"/>
            </a:solidFill>
            <a:prstDash val="solid"/>
          </a:ln>
        </p:spPr>
      </p:sp>
      <p:sp>
        <p:nvSpPr>
          <p:cNvPr id="29" name="Text 27"/>
          <p:cNvSpPr txBox="1"/>
          <p:nvPr/>
        </p:nvSpPr>
        <p:spPr>
          <a:xfrm>
            <a:off x="6583680" y="3822192"/>
            <a:ext cx="2103120" cy="1325880"/>
          </a:xfrm>
          <a:prstGeom prst="rect">
            <a:avLst/>
          </a:prstGeom>
          <a:noFill/>
          <a:ln/>
        </p:spPr>
        <p:txBody>
          <a:bodyPr wrap="none" lIns="0" tIns="0" rIns="0" bIns="0" rtlCol="0" anchor="ctr"/>
          <a:lstStyle/>
          <a:p>
            <a:pPr algn="l" indent="0" marL="0">
              <a:lnSpc>
                <a:spcPct val="115000"/>
              </a:lnSpc>
              <a:buNone/>
            </a:pPr>
            <a:r>
              <a:rPr lang="en-US" sz="1600" b="1" dirty="0">
                <a:solidFill>
                  <a:srgbClr val="0E1B3D"/>
                </a:solidFill>
                <a:latin typeface="Consolas" pitchFamily="34" charset="0"/>
                <a:ea typeface="Consolas" pitchFamily="34" charset="-122"/>
                <a:cs typeface="Consolas" pitchFamily="34" charset="-120"/>
              </a:rPr>
              <a:t>&lt;section&gt;</a:t>
            </a:r>
            <a:endParaRPr lang="en-US" sz="1600" dirty="0"/>
          </a:p>
        </p:txBody>
      </p:sp>
      <p:sp>
        <p:nvSpPr>
          <p:cNvPr id="30" name="Shape 28"/>
          <p:cNvSpPr/>
          <p:nvPr/>
        </p:nvSpPr>
        <p:spPr>
          <a:xfrm>
            <a:off x="8869680" y="3822192"/>
            <a:ext cx="2286000" cy="1325880"/>
          </a:xfrm>
          <a:prstGeom prst="roundRect">
            <a:avLst>
              <a:gd name="adj" fmla="val 6897"/>
            </a:avLst>
          </a:prstGeom>
          <a:solidFill>
            <a:srgbClr val="FFF3CF"/>
          </a:solidFill>
          <a:ln w="15875">
            <a:solidFill>
              <a:srgbClr val="FFC83D"/>
            </a:solidFill>
            <a:prstDash val="solid"/>
          </a:ln>
        </p:spPr>
      </p:sp>
      <p:sp>
        <p:nvSpPr>
          <p:cNvPr id="31" name="Text 29"/>
          <p:cNvSpPr txBox="1"/>
          <p:nvPr/>
        </p:nvSpPr>
        <p:spPr>
          <a:xfrm>
            <a:off x="9006840" y="3822192"/>
            <a:ext cx="2103120" cy="1325880"/>
          </a:xfrm>
          <a:prstGeom prst="rect">
            <a:avLst/>
          </a:prstGeom>
          <a:noFill/>
          <a:ln/>
        </p:spPr>
        <p:txBody>
          <a:bodyPr wrap="none" lIns="0" tIns="0" rIns="0" bIns="0" rtlCol="0" anchor="ctr"/>
          <a:lstStyle/>
          <a:p>
            <a:pPr algn="l" indent="0" marL="0">
              <a:lnSpc>
                <a:spcPct val="115000"/>
              </a:lnSpc>
              <a:buNone/>
            </a:pPr>
            <a:r>
              <a:rPr lang="en-US" sz="1600" b="1" dirty="0">
                <a:solidFill>
                  <a:srgbClr val="0E1B3D"/>
                </a:solidFill>
                <a:latin typeface="Consolas" pitchFamily="34" charset="0"/>
                <a:ea typeface="Consolas" pitchFamily="34" charset="-122"/>
                <a:cs typeface="Consolas" pitchFamily="34" charset="-120"/>
              </a:rPr>
              <a:t>&lt;section&gt;</a:t>
            </a:r>
            <a:endParaRPr lang="en-US" sz="1600" dirty="0"/>
          </a:p>
        </p:txBody>
      </p:sp>
      <p:sp>
        <p:nvSpPr>
          <p:cNvPr id="32" name="Shape 30"/>
          <p:cNvSpPr/>
          <p:nvPr/>
        </p:nvSpPr>
        <p:spPr>
          <a:xfrm>
            <a:off x="6263640" y="5468112"/>
            <a:ext cx="4937760" cy="548640"/>
          </a:xfrm>
          <a:prstGeom prst="roundRect">
            <a:avLst>
              <a:gd name="adj" fmla="val 16667"/>
            </a:avLst>
          </a:prstGeom>
          <a:solidFill>
            <a:srgbClr val="EEF3FF"/>
          </a:solidFill>
          <a:ln w="15875">
            <a:solidFill>
              <a:srgbClr val="DCE6FF"/>
            </a:solidFill>
            <a:prstDash val="solid"/>
          </a:ln>
        </p:spPr>
      </p:sp>
      <p:sp>
        <p:nvSpPr>
          <p:cNvPr id="33" name="Text 31"/>
          <p:cNvSpPr txBox="1"/>
          <p:nvPr/>
        </p:nvSpPr>
        <p:spPr>
          <a:xfrm>
            <a:off x="6446520" y="5468112"/>
            <a:ext cx="2743200" cy="548640"/>
          </a:xfrm>
          <a:prstGeom prst="rect">
            <a:avLst/>
          </a:prstGeom>
          <a:noFill/>
          <a:ln/>
        </p:spPr>
        <p:txBody>
          <a:bodyPr wrap="none" lIns="0" tIns="0" rIns="0" bIns="0" rtlCol="0" anchor="ctr"/>
          <a:lstStyle/>
          <a:p>
            <a:pPr algn="l" indent="0" marL="0">
              <a:lnSpc>
                <a:spcPct val="115000"/>
              </a:lnSpc>
              <a:buNone/>
            </a:pPr>
            <a:r>
              <a:rPr lang="en-US" sz="1600" b="1" dirty="0">
                <a:solidFill>
                  <a:srgbClr val="1F4FD8"/>
                </a:solidFill>
                <a:latin typeface="Consolas" pitchFamily="34" charset="0"/>
                <a:ea typeface="Consolas" pitchFamily="34" charset="-122"/>
                <a:cs typeface="Consolas" pitchFamily="34" charset="-120"/>
              </a:rPr>
              <a:t>&lt;footer&gt;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17</a:t>
            </a:r>
            <a:endParaRPr lang="en-US" sz="1000" dirty="0"/>
          </a:p>
        </p:txBody>
      </p:sp>
      <p:sp>
        <p:nvSpPr>
          <p:cNvPr id="4" name="Text 2"/>
          <p:cNvSpPr txBox="1"/>
          <p:nvPr/>
        </p:nvSpPr>
        <p:spPr>
          <a:xfrm>
            <a:off x="731520" y="896112"/>
            <a:ext cx="10698480" cy="100584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Rangka dulu, dandan nanti</a:t>
            </a:r>
            <a:endParaRPr lang="en-US" sz="3800" dirty="0"/>
          </a:p>
        </p:txBody>
      </p:sp>
      <p:sp>
        <p:nvSpPr>
          <p:cNvPr id="5" name="Shape 3"/>
          <p:cNvSpPr/>
          <p:nvPr/>
        </p:nvSpPr>
        <p:spPr>
          <a:xfrm>
            <a:off x="731520" y="411480"/>
            <a:ext cx="2240280" cy="384048"/>
          </a:xfrm>
          <a:prstGeom prst="roundRect">
            <a:avLst>
              <a:gd name="adj" fmla="val 50000"/>
            </a:avLst>
          </a:prstGeom>
          <a:solidFill>
            <a:srgbClr val="FFC83D"/>
          </a:solidFill>
          <a:ln/>
        </p:spPr>
      </p:sp>
      <p:sp>
        <p:nvSpPr>
          <p:cNvPr id="6" name="Text 4"/>
          <p:cNvSpPr txBox="1"/>
          <p:nvPr/>
        </p:nvSpPr>
        <p:spPr>
          <a:xfrm>
            <a:off x="731520" y="411480"/>
            <a:ext cx="2240280" cy="384048"/>
          </a:xfrm>
          <a:prstGeom prst="rect">
            <a:avLst/>
          </a:prstGeom>
          <a:noFill/>
          <a:ln/>
        </p:spPr>
        <p:txBody>
          <a:bodyPr wrap="square" lIns="0" tIns="0" rIns="0" bIns="0" rtlCol="0" anchor="ctr"/>
          <a:lstStyle/>
          <a:p>
            <a:pPr algn="ctr" indent="0" marL="0">
              <a:lnSpc>
                <a:spcPct val="115000"/>
              </a:lnSpc>
              <a:buNone/>
            </a:pPr>
            <a:r>
              <a:rPr lang="en-US" sz="1300" b="1" spc="180" kern="0" dirty="0">
                <a:solidFill>
                  <a:srgbClr val="0E1B3D"/>
                </a:solidFill>
                <a:latin typeface="Calibri" pitchFamily="34" charset="0"/>
                <a:ea typeface="Calibri" pitchFamily="34" charset="-122"/>
                <a:cs typeface="Calibri" pitchFamily="34" charset="-120"/>
              </a:rPr>
              <a:t>CHECKPOINT 1</a:t>
            </a:r>
            <a:endParaRPr lang="en-US" sz="1300" dirty="0"/>
          </a:p>
        </p:txBody>
      </p:sp>
      <p:sp>
        <p:nvSpPr>
          <p:cNvPr id="7" name="Text 5"/>
          <p:cNvSpPr txBox="1"/>
          <p:nvPr/>
        </p:nvSpPr>
        <p:spPr>
          <a:xfrm>
            <a:off x="3154680" y="411480"/>
            <a:ext cx="5486400" cy="384048"/>
          </a:xfrm>
          <a:prstGeom prst="rect">
            <a:avLst/>
          </a:prstGeom>
          <a:noFill/>
          <a:ln/>
        </p:spPr>
        <p:txBody>
          <a:bodyPr wrap="square" lIns="0" tIns="0" rIns="0" bIns="0" rtlCol="0" anchor="ctr"/>
          <a:lstStyle/>
          <a:p>
            <a:pPr algn="l" indent="0" marL="0">
              <a:lnSpc>
                <a:spcPct val="115000"/>
              </a:lnSpc>
              <a:buNone/>
            </a:pPr>
            <a:r>
              <a:rPr lang="en-US" sz="1400" b="1" dirty="0">
                <a:solidFill>
                  <a:srgbClr val="5B6478"/>
                </a:solidFill>
                <a:latin typeface="Calibri" pitchFamily="34" charset="0"/>
                <a:ea typeface="Calibri" pitchFamily="34" charset="-122"/>
                <a:cs typeface="Calibri" pitchFamily="34" charset="-120"/>
              </a:rPr>
              <a:t>30 menit</a:t>
            </a:r>
            <a:endParaRPr lang="en-US" sz="1400" dirty="0"/>
          </a:p>
        </p:txBody>
      </p:sp>
      <p:sp>
        <p:nvSpPr>
          <p:cNvPr id="8" name="Shape 6"/>
          <p:cNvSpPr/>
          <p:nvPr/>
        </p:nvSpPr>
        <p:spPr>
          <a:xfrm>
            <a:off x="731520" y="1975104"/>
            <a:ext cx="329184" cy="329184"/>
          </a:xfrm>
          <a:prstGeom prst="roundRect">
            <a:avLst>
              <a:gd name="adj" fmla="val 22000"/>
            </a:avLst>
          </a:prstGeom>
          <a:ln w="22225">
            <a:solidFill>
              <a:srgbClr val="1F4FD8"/>
            </a:solidFill>
            <a:prstDash val="solid"/>
          </a:ln>
        </p:spPr>
      </p:sp>
      <p:sp>
        <p:nvSpPr>
          <p:cNvPr id="9" name="Text 7"/>
          <p:cNvSpPr txBox="1"/>
          <p:nvPr/>
        </p:nvSpPr>
        <p:spPr>
          <a:xfrm>
            <a:off x="1280160" y="1920240"/>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Consolas" pitchFamily="34" charset="0"/>
                <a:ea typeface="Consolas" pitchFamily="34" charset="-122"/>
                <a:cs typeface="Consolas" pitchFamily="34" charset="-120"/>
              </a:rPr>
              <a:t>&lt;header&gt;</a:t>
            </a:r>
            <a:endParaRPr lang="en-US" sz="1500" dirty="0"/>
          </a:p>
        </p:txBody>
      </p:sp>
      <p:sp>
        <p:nvSpPr>
          <p:cNvPr id="10" name="Text 8"/>
          <p:cNvSpPr txBox="1"/>
          <p:nvPr/>
        </p:nvSpPr>
        <p:spPr>
          <a:xfrm>
            <a:off x="4114800" y="1920240"/>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Calibri" pitchFamily="34" charset="0"/>
                <a:ea typeface="Calibri" pitchFamily="34" charset="-122"/>
                <a:cs typeface="Calibri" pitchFamily="34" charset="-120"/>
              </a:rPr>
              <a:t>nama dan subjudul (h1, p)</a:t>
            </a:r>
            <a:endParaRPr lang="en-US" sz="1500" dirty="0"/>
          </a:p>
        </p:txBody>
      </p:sp>
      <p:sp>
        <p:nvSpPr>
          <p:cNvPr id="11" name="Shape 9"/>
          <p:cNvSpPr/>
          <p:nvPr/>
        </p:nvSpPr>
        <p:spPr>
          <a:xfrm>
            <a:off x="731520" y="2578608"/>
            <a:ext cx="329184" cy="329184"/>
          </a:xfrm>
          <a:prstGeom prst="roundRect">
            <a:avLst>
              <a:gd name="adj" fmla="val 22000"/>
            </a:avLst>
          </a:prstGeom>
          <a:ln w="22225">
            <a:solidFill>
              <a:srgbClr val="1F4FD8"/>
            </a:solidFill>
            <a:prstDash val="solid"/>
          </a:ln>
        </p:spPr>
      </p:sp>
      <p:sp>
        <p:nvSpPr>
          <p:cNvPr id="12" name="Text 10"/>
          <p:cNvSpPr txBox="1"/>
          <p:nvPr/>
        </p:nvSpPr>
        <p:spPr>
          <a:xfrm>
            <a:off x="1280160" y="2523744"/>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Consolas" pitchFamily="34" charset="0"/>
                <a:ea typeface="Consolas" pitchFamily="34" charset="-122"/>
                <a:cs typeface="Consolas" pitchFamily="34" charset="-120"/>
              </a:rPr>
              <a:t>&lt;nav&gt;</a:t>
            </a:r>
            <a:endParaRPr lang="en-US" sz="1500" dirty="0"/>
          </a:p>
        </p:txBody>
      </p:sp>
      <p:sp>
        <p:nvSpPr>
          <p:cNvPr id="13" name="Text 11"/>
          <p:cNvSpPr txBox="1"/>
          <p:nvPr/>
        </p:nvSpPr>
        <p:spPr>
          <a:xfrm>
            <a:off x="4114800" y="2523744"/>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Calibri" pitchFamily="34" charset="0"/>
                <a:ea typeface="Calibri" pitchFamily="34" charset="-122"/>
                <a:cs typeface="Calibri" pitchFamily="34" charset="-120"/>
              </a:rPr>
              <a:t>4 link ke bagian halaman</a:t>
            </a:r>
            <a:endParaRPr lang="en-US" sz="1500" dirty="0"/>
          </a:p>
        </p:txBody>
      </p:sp>
      <p:sp>
        <p:nvSpPr>
          <p:cNvPr id="14" name="Shape 12"/>
          <p:cNvSpPr/>
          <p:nvPr/>
        </p:nvSpPr>
        <p:spPr>
          <a:xfrm>
            <a:off x="731520" y="3182112"/>
            <a:ext cx="329184" cy="329184"/>
          </a:xfrm>
          <a:prstGeom prst="roundRect">
            <a:avLst>
              <a:gd name="adj" fmla="val 22000"/>
            </a:avLst>
          </a:prstGeom>
          <a:ln w="22225">
            <a:solidFill>
              <a:srgbClr val="1F4FD8"/>
            </a:solidFill>
            <a:prstDash val="solid"/>
          </a:ln>
        </p:spPr>
      </p:sp>
      <p:sp>
        <p:nvSpPr>
          <p:cNvPr id="15" name="Text 13"/>
          <p:cNvSpPr txBox="1"/>
          <p:nvPr/>
        </p:nvSpPr>
        <p:spPr>
          <a:xfrm>
            <a:off x="1280160" y="3127248"/>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Consolas" pitchFamily="34" charset="0"/>
                <a:ea typeface="Consolas" pitchFamily="34" charset="-122"/>
                <a:cs typeface="Consolas" pitchFamily="34" charset="-120"/>
              </a:rPr>
              <a:t>&lt;section&gt; Tentang</a:t>
            </a:r>
            <a:endParaRPr lang="en-US" sz="1500" dirty="0"/>
          </a:p>
        </p:txBody>
      </p:sp>
      <p:sp>
        <p:nvSpPr>
          <p:cNvPr id="16" name="Text 14"/>
          <p:cNvSpPr txBox="1"/>
          <p:nvPr/>
        </p:nvSpPr>
        <p:spPr>
          <a:xfrm>
            <a:off x="4114800" y="3127248"/>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Calibri" pitchFamily="34" charset="0"/>
                <a:ea typeface="Calibri" pitchFamily="34" charset="-122"/>
                <a:cs typeface="Calibri" pitchFamily="34" charset="-120"/>
              </a:rPr>
              <a:t>foto dan satu paragraf</a:t>
            </a:r>
            <a:endParaRPr lang="en-US" sz="1500" dirty="0"/>
          </a:p>
        </p:txBody>
      </p:sp>
      <p:sp>
        <p:nvSpPr>
          <p:cNvPr id="17" name="Shape 15"/>
          <p:cNvSpPr/>
          <p:nvPr/>
        </p:nvSpPr>
        <p:spPr>
          <a:xfrm>
            <a:off x="731520" y="3785616"/>
            <a:ext cx="329184" cy="329184"/>
          </a:xfrm>
          <a:prstGeom prst="roundRect">
            <a:avLst>
              <a:gd name="adj" fmla="val 22000"/>
            </a:avLst>
          </a:prstGeom>
          <a:ln w="22225">
            <a:solidFill>
              <a:srgbClr val="1F4FD8"/>
            </a:solidFill>
            <a:prstDash val="solid"/>
          </a:ln>
        </p:spPr>
      </p:sp>
      <p:sp>
        <p:nvSpPr>
          <p:cNvPr id="18" name="Text 16"/>
          <p:cNvSpPr txBox="1"/>
          <p:nvPr/>
        </p:nvSpPr>
        <p:spPr>
          <a:xfrm>
            <a:off x="1280160" y="3730752"/>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Consolas" pitchFamily="34" charset="0"/>
                <a:ea typeface="Consolas" pitchFamily="34" charset="-122"/>
                <a:cs typeface="Consolas" pitchFamily="34" charset="-120"/>
              </a:rPr>
              <a:t>&lt;section&gt; Skill</a:t>
            </a:r>
            <a:endParaRPr lang="en-US" sz="1500" dirty="0"/>
          </a:p>
        </p:txBody>
      </p:sp>
      <p:sp>
        <p:nvSpPr>
          <p:cNvPr id="19" name="Text 17"/>
          <p:cNvSpPr txBox="1"/>
          <p:nvPr/>
        </p:nvSpPr>
        <p:spPr>
          <a:xfrm>
            <a:off x="4114800" y="3730752"/>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Calibri" pitchFamily="34" charset="0"/>
                <a:ea typeface="Calibri" pitchFamily="34" charset="-122"/>
                <a:cs typeface="Calibri" pitchFamily="34" charset="-120"/>
              </a:rPr>
              <a:t>daftar skill (ul)</a:t>
            </a:r>
            <a:endParaRPr lang="en-US" sz="1500" dirty="0"/>
          </a:p>
        </p:txBody>
      </p:sp>
      <p:sp>
        <p:nvSpPr>
          <p:cNvPr id="20" name="Shape 18"/>
          <p:cNvSpPr/>
          <p:nvPr/>
        </p:nvSpPr>
        <p:spPr>
          <a:xfrm>
            <a:off x="731520" y="4389120"/>
            <a:ext cx="329184" cy="329184"/>
          </a:xfrm>
          <a:prstGeom prst="roundRect">
            <a:avLst>
              <a:gd name="adj" fmla="val 22000"/>
            </a:avLst>
          </a:prstGeom>
          <a:ln w="22225">
            <a:solidFill>
              <a:srgbClr val="1F4FD8"/>
            </a:solidFill>
            <a:prstDash val="solid"/>
          </a:ln>
        </p:spPr>
      </p:sp>
      <p:sp>
        <p:nvSpPr>
          <p:cNvPr id="21" name="Text 19"/>
          <p:cNvSpPr txBox="1"/>
          <p:nvPr/>
        </p:nvSpPr>
        <p:spPr>
          <a:xfrm>
            <a:off x="1280160" y="4334256"/>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Consolas" pitchFamily="34" charset="0"/>
                <a:ea typeface="Consolas" pitchFamily="34" charset="-122"/>
                <a:cs typeface="Consolas" pitchFamily="34" charset="-120"/>
              </a:rPr>
              <a:t>&lt;section&gt; Project</a:t>
            </a:r>
            <a:endParaRPr lang="en-US" sz="1500" dirty="0"/>
          </a:p>
        </p:txBody>
      </p:sp>
      <p:sp>
        <p:nvSpPr>
          <p:cNvPr id="22" name="Text 20"/>
          <p:cNvSpPr txBox="1"/>
          <p:nvPr/>
        </p:nvSpPr>
        <p:spPr>
          <a:xfrm>
            <a:off x="4114800" y="4334256"/>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Calibri" pitchFamily="34" charset="0"/>
                <a:ea typeface="Calibri" pitchFamily="34" charset="-122"/>
                <a:cs typeface="Calibri" pitchFamily="34" charset="-120"/>
              </a:rPr>
              <a:t>minimal 2 project</a:t>
            </a:r>
            <a:endParaRPr lang="en-US" sz="1500" dirty="0"/>
          </a:p>
        </p:txBody>
      </p:sp>
      <p:sp>
        <p:nvSpPr>
          <p:cNvPr id="23" name="Shape 21"/>
          <p:cNvSpPr/>
          <p:nvPr/>
        </p:nvSpPr>
        <p:spPr>
          <a:xfrm>
            <a:off x="731520" y="4992624"/>
            <a:ext cx="329184" cy="329184"/>
          </a:xfrm>
          <a:prstGeom prst="roundRect">
            <a:avLst>
              <a:gd name="adj" fmla="val 22000"/>
            </a:avLst>
          </a:prstGeom>
          <a:ln w="22225">
            <a:solidFill>
              <a:srgbClr val="1F4FD8"/>
            </a:solidFill>
            <a:prstDash val="solid"/>
          </a:ln>
        </p:spPr>
      </p:sp>
      <p:sp>
        <p:nvSpPr>
          <p:cNvPr id="24" name="Text 22"/>
          <p:cNvSpPr txBox="1"/>
          <p:nvPr/>
        </p:nvSpPr>
        <p:spPr>
          <a:xfrm>
            <a:off x="1280160" y="4937760"/>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Consolas" pitchFamily="34" charset="0"/>
                <a:ea typeface="Consolas" pitchFamily="34" charset="-122"/>
                <a:cs typeface="Consolas" pitchFamily="34" charset="-120"/>
              </a:rPr>
              <a:t>&lt;section&gt; Kontak</a:t>
            </a:r>
            <a:endParaRPr lang="en-US" sz="1500" dirty="0"/>
          </a:p>
        </p:txBody>
      </p:sp>
      <p:sp>
        <p:nvSpPr>
          <p:cNvPr id="25" name="Text 23"/>
          <p:cNvSpPr txBox="1"/>
          <p:nvPr/>
        </p:nvSpPr>
        <p:spPr>
          <a:xfrm>
            <a:off x="4114800" y="4937760"/>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Calibri" pitchFamily="34" charset="0"/>
                <a:ea typeface="Calibri" pitchFamily="34" charset="-122"/>
                <a:cs typeface="Calibri" pitchFamily="34" charset="-120"/>
              </a:rPr>
              <a:t>link email atau media sosial</a:t>
            </a:r>
            <a:endParaRPr lang="en-US" sz="1500" dirty="0"/>
          </a:p>
        </p:txBody>
      </p:sp>
      <p:sp>
        <p:nvSpPr>
          <p:cNvPr id="26" name="Shape 24"/>
          <p:cNvSpPr/>
          <p:nvPr/>
        </p:nvSpPr>
        <p:spPr>
          <a:xfrm>
            <a:off x="731520" y="5596128"/>
            <a:ext cx="329184" cy="329184"/>
          </a:xfrm>
          <a:prstGeom prst="roundRect">
            <a:avLst>
              <a:gd name="adj" fmla="val 22000"/>
            </a:avLst>
          </a:prstGeom>
          <a:ln w="22225">
            <a:solidFill>
              <a:srgbClr val="1F4FD8"/>
            </a:solidFill>
            <a:prstDash val="solid"/>
          </a:ln>
        </p:spPr>
      </p:sp>
      <p:sp>
        <p:nvSpPr>
          <p:cNvPr id="27" name="Text 25"/>
          <p:cNvSpPr txBox="1"/>
          <p:nvPr/>
        </p:nvSpPr>
        <p:spPr>
          <a:xfrm>
            <a:off x="1280160" y="5541264"/>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Consolas" pitchFamily="34" charset="0"/>
                <a:ea typeface="Consolas" pitchFamily="34" charset="-122"/>
                <a:cs typeface="Consolas" pitchFamily="34" charset="-120"/>
              </a:rPr>
              <a:t>&lt;footer&gt;</a:t>
            </a:r>
            <a:endParaRPr lang="en-US" sz="1500" dirty="0"/>
          </a:p>
        </p:txBody>
      </p:sp>
      <p:sp>
        <p:nvSpPr>
          <p:cNvPr id="28" name="Text 26"/>
          <p:cNvSpPr txBox="1"/>
          <p:nvPr/>
        </p:nvSpPr>
        <p:spPr>
          <a:xfrm>
            <a:off x="4114800" y="5541264"/>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Calibri" pitchFamily="34" charset="0"/>
                <a:ea typeface="Calibri" pitchFamily="34" charset="-122"/>
                <a:cs typeface="Calibri" pitchFamily="34" charset="-120"/>
              </a:rPr>
              <a:t>hak cipta dengan namamu</a:t>
            </a:r>
            <a:endParaRPr lang="en-US" sz="1500" dirty="0"/>
          </a:p>
        </p:txBody>
      </p:sp>
      <p:sp>
        <p:nvSpPr>
          <p:cNvPr id="29" name="Shape 27"/>
          <p:cNvSpPr/>
          <p:nvPr/>
        </p:nvSpPr>
        <p:spPr>
          <a:xfrm>
            <a:off x="7498080" y="1874520"/>
            <a:ext cx="3931920" cy="3246120"/>
          </a:xfrm>
          <a:prstGeom prst="roundRect">
            <a:avLst>
              <a:gd name="adj" fmla="val 4507"/>
            </a:avLst>
          </a:prstGeom>
          <a:solidFill>
            <a:srgbClr val="FFFFFF"/>
          </a:solidFill>
          <a:ln w="15875">
            <a:solidFill>
              <a:srgbClr val="D5DAE6"/>
            </a:solidFill>
            <a:prstDash val="solid"/>
          </a:ln>
          <a:effectLst>
            <a:outerShdw sx="100000" sy="100000" kx="0" ky="0" algn="bl" rotWithShape="0" blurRad="177800" dist="38100" dir="5400000">
              <a:srgbClr val="7A8299">
                <a:alpha val="18000"/>
              </a:srgbClr>
            </a:outerShdw>
          </a:effectLst>
        </p:spPr>
      </p:sp>
      <p:sp>
        <p:nvSpPr>
          <p:cNvPr id="30" name="Shape 28"/>
          <p:cNvSpPr/>
          <p:nvPr/>
        </p:nvSpPr>
        <p:spPr>
          <a:xfrm>
            <a:off x="7516368" y="1892808"/>
            <a:ext cx="3895344" cy="384048"/>
          </a:xfrm>
          <a:prstGeom prst="roundRect">
            <a:avLst>
              <a:gd name="adj" fmla="val 33333"/>
            </a:avLst>
          </a:prstGeom>
          <a:solidFill>
            <a:srgbClr val="EEF1F7"/>
          </a:solidFill>
          <a:ln/>
        </p:spPr>
      </p:sp>
      <p:sp>
        <p:nvSpPr>
          <p:cNvPr id="31" name="Shape 29"/>
          <p:cNvSpPr/>
          <p:nvPr/>
        </p:nvSpPr>
        <p:spPr>
          <a:xfrm>
            <a:off x="7516368" y="2075688"/>
            <a:ext cx="3895344" cy="201168"/>
          </a:xfrm>
          <a:prstGeom prst="rect">
            <a:avLst/>
          </a:prstGeom>
          <a:solidFill>
            <a:srgbClr val="EEF1F7"/>
          </a:solidFill>
          <a:ln/>
        </p:spPr>
      </p:sp>
      <p:sp>
        <p:nvSpPr>
          <p:cNvPr id="32" name="Shape 30"/>
          <p:cNvSpPr/>
          <p:nvPr/>
        </p:nvSpPr>
        <p:spPr>
          <a:xfrm>
            <a:off x="7680960" y="2011680"/>
            <a:ext cx="100584" cy="100584"/>
          </a:xfrm>
          <a:prstGeom prst="ellipse">
            <a:avLst/>
          </a:prstGeom>
          <a:solidFill>
            <a:srgbClr val="E63946"/>
          </a:solidFill>
          <a:ln/>
        </p:spPr>
      </p:sp>
      <p:sp>
        <p:nvSpPr>
          <p:cNvPr id="33" name="Shape 31"/>
          <p:cNvSpPr/>
          <p:nvPr/>
        </p:nvSpPr>
        <p:spPr>
          <a:xfrm>
            <a:off x="7854696" y="2011680"/>
            <a:ext cx="100584" cy="100584"/>
          </a:xfrm>
          <a:prstGeom prst="ellipse">
            <a:avLst/>
          </a:prstGeom>
          <a:solidFill>
            <a:srgbClr val="FFC83D"/>
          </a:solidFill>
          <a:ln/>
        </p:spPr>
      </p:sp>
      <p:sp>
        <p:nvSpPr>
          <p:cNvPr id="34" name="Shape 32"/>
          <p:cNvSpPr/>
          <p:nvPr/>
        </p:nvSpPr>
        <p:spPr>
          <a:xfrm>
            <a:off x="8028432" y="2011680"/>
            <a:ext cx="100584" cy="100584"/>
          </a:xfrm>
          <a:prstGeom prst="ellipse">
            <a:avLst/>
          </a:prstGeom>
          <a:solidFill>
            <a:srgbClr val="1E9E68"/>
          </a:solidFill>
          <a:ln/>
        </p:spPr>
      </p:sp>
      <p:sp>
        <p:nvSpPr>
          <p:cNvPr id="35" name="Shape 33"/>
          <p:cNvSpPr/>
          <p:nvPr/>
        </p:nvSpPr>
        <p:spPr>
          <a:xfrm>
            <a:off x="8366760" y="1956816"/>
            <a:ext cx="2834640" cy="237744"/>
          </a:xfrm>
          <a:prstGeom prst="roundRect">
            <a:avLst>
              <a:gd name="adj" fmla="val 50000"/>
            </a:avLst>
          </a:prstGeom>
          <a:solidFill>
            <a:srgbClr val="FFFFFF"/>
          </a:solidFill>
          <a:ln/>
        </p:spPr>
      </p:sp>
      <p:sp>
        <p:nvSpPr>
          <p:cNvPr id="36" name="Text 34"/>
          <p:cNvSpPr txBox="1"/>
          <p:nvPr/>
        </p:nvSpPr>
        <p:spPr>
          <a:xfrm>
            <a:off x="8503920" y="1956816"/>
            <a:ext cx="256032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Calibri" pitchFamily="34" charset="0"/>
                <a:ea typeface="Calibri" pitchFamily="34" charset="-122"/>
                <a:cs typeface="Calibri" pitchFamily="34" charset="-120"/>
              </a:rPr>
              <a:t>localhost:5500</a:t>
            </a:r>
            <a:endParaRPr lang="en-US" sz="1100" dirty="0"/>
          </a:p>
        </p:txBody>
      </p:sp>
      <p:sp>
        <p:nvSpPr>
          <p:cNvPr id="37" name="Text 35"/>
          <p:cNvSpPr txBox="1"/>
          <p:nvPr/>
        </p:nvSpPr>
        <p:spPr>
          <a:xfrm>
            <a:off x="7699248" y="2408530"/>
            <a:ext cx="3529584" cy="365760"/>
          </a:xfrm>
          <a:prstGeom prst="rect">
            <a:avLst/>
          </a:prstGeom>
          <a:noFill/>
          <a:ln/>
        </p:spPr>
        <p:txBody>
          <a:bodyPr wrap="square" lIns="0" tIns="0" rIns="0" bIns="0" rtlCol="0" anchor="t"/>
          <a:lstStyle/>
          <a:p>
            <a:pPr algn="l" indent="0" marL="0">
              <a:lnSpc>
                <a:spcPct val="115000"/>
              </a:lnSpc>
              <a:buNone/>
            </a:pPr>
            <a:r>
              <a:rPr lang="en-US" sz="2080" b="1" dirty="0">
                <a:solidFill>
                  <a:srgbClr val="000000"/>
                </a:solidFill>
                <a:latin typeface="Times New Roman" pitchFamily="34" charset="0"/>
                <a:ea typeface="Times New Roman" pitchFamily="34" charset="-122"/>
                <a:cs typeface="Times New Roman" pitchFamily="34" charset="-120"/>
              </a:rPr>
              <a:t>Alya Putri</a:t>
            </a:r>
            <a:endParaRPr lang="en-US" sz="2080" dirty="0"/>
          </a:p>
        </p:txBody>
      </p:sp>
      <p:sp>
        <p:nvSpPr>
          <p:cNvPr id="38" name="Text 36"/>
          <p:cNvSpPr txBox="1"/>
          <p:nvPr/>
        </p:nvSpPr>
        <p:spPr>
          <a:xfrm>
            <a:off x="7699248" y="2774290"/>
            <a:ext cx="3529584" cy="219456"/>
          </a:xfrm>
          <a:prstGeom prst="rect">
            <a:avLst/>
          </a:prstGeom>
          <a:noFill/>
          <a:ln/>
        </p:spPr>
        <p:txBody>
          <a:bodyPr wrap="square" lIns="0" tIns="0" rIns="0" bIns="0" rtlCol="0" anchor="t"/>
          <a:lstStyle/>
          <a:p>
            <a:pPr algn="l" indent="0" marL="0">
              <a:lnSpc>
                <a:spcPct val="115000"/>
              </a:lnSpc>
              <a:buNone/>
            </a:pPr>
            <a:r>
              <a:rPr lang="en-US" sz="1120" dirty="0">
                <a:solidFill>
                  <a:srgbClr val="000000"/>
                </a:solidFill>
                <a:latin typeface="Times New Roman" pitchFamily="34" charset="0"/>
                <a:ea typeface="Times New Roman" pitchFamily="34" charset="-122"/>
                <a:cs typeface="Times New Roman" pitchFamily="34" charset="-120"/>
              </a:rPr>
              <a:t>Siswa SMA · Calon Web Developer</a:t>
            </a:r>
            <a:endParaRPr lang="en-US" sz="1120" dirty="0"/>
          </a:p>
        </p:txBody>
      </p:sp>
      <p:sp>
        <p:nvSpPr>
          <p:cNvPr id="39" name="Text 37"/>
          <p:cNvSpPr txBox="1"/>
          <p:nvPr/>
        </p:nvSpPr>
        <p:spPr>
          <a:xfrm>
            <a:off x="7699248" y="3023006"/>
            <a:ext cx="3529584" cy="219456"/>
          </a:xfrm>
          <a:prstGeom prst="rect">
            <a:avLst/>
          </a:prstGeom>
          <a:noFill/>
          <a:ln/>
        </p:spPr>
        <p:txBody>
          <a:bodyPr wrap="square" lIns="0" tIns="0" rIns="0" bIns="0" rtlCol="0" anchor="t"/>
          <a:lstStyle/>
          <a:p>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Tentang</a:t>
            </a:r>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   </a:t>
            </a:r>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Skill</a:t>
            </a:r>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   </a:t>
            </a:r>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Project</a:t>
            </a:r>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   </a:t>
            </a:r>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Kontak</a:t>
            </a:r>
            <a:endParaRPr lang="en-US" sz="1120" dirty="0"/>
          </a:p>
        </p:txBody>
      </p:sp>
      <p:sp>
        <p:nvSpPr>
          <p:cNvPr id="40" name="Text 38"/>
          <p:cNvSpPr txBox="1"/>
          <p:nvPr/>
        </p:nvSpPr>
        <p:spPr>
          <a:xfrm>
            <a:off x="7699248" y="3330245"/>
            <a:ext cx="3529584" cy="292608"/>
          </a:xfrm>
          <a:prstGeom prst="rect">
            <a:avLst/>
          </a:prstGeom>
          <a:noFill/>
          <a:ln/>
        </p:spPr>
        <p:txBody>
          <a:bodyPr wrap="square" lIns="0" tIns="0" rIns="0" bIns="0" rtlCol="0" anchor="t"/>
          <a:lstStyle/>
          <a:p>
            <a:pPr algn="l" indent="0" marL="0">
              <a:lnSpc>
                <a:spcPct val="115000"/>
              </a:lnSpc>
              <a:buNone/>
            </a:pPr>
            <a:r>
              <a:rPr lang="en-US" sz="1600" b="1" dirty="0">
                <a:solidFill>
                  <a:srgbClr val="000000"/>
                </a:solidFill>
                <a:latin typeface="Times New Roman" pitchFamily="34" charset="0"/>
                <a:ea typeface="Times New Roman" pitchFamily="34" charset="-122"/>
                <a:cs typeface="Times New Roman" pitchFamily="34" charset="-120"/>
              </a:rPr>
              <a:t>Tentang Saya</a:t>
            </a:r>
            <a:endParaRPr lang="en-US" sz="1600" dirty="0"/>
          </a:p>
        </p:txBody>
      </p:sp>
      <p:sp>
        <p:nvSpPr>
          <p:cNvPr id="41" name="Text 39"/>
          <p:cNvSpPr txBox="1"/>
          <p:nvPr/>
        </p:nvSpPr>
        <p:spPr>
          <a:xfrm>
            <a:off x="7699248" y="3637483"/>
            <a:ext cx="3529584" cy="438912"/>
          </a:xfrm>
          <a:prstGeom prst="rect">
            <a:avLst/>
          </a:prstGeom>
          <a:noFill/>
          <a:ln/>
        </p:spPr>
        <p:txBody>
          <a:bodyPr wrap="square" lIns="0" tIns="0" rIns="0" bIns="0" rtlCol="0" anchor="t"/>
          <a:lstStyle/>
          <a:p>
            <a:pPr algn="l" indent="0" marL="0">
              <a:lnSpc>
                <a:spcPct val="115000"/>
              </a:lnSpc>
              <a:buNone/>
            </a:pPr>
            <a:r>
              <a:rPr lang="en-US" sz="1120" dirty="0">
                <a:solidFill>
                  <a:srgbClr val="000000"/>
                </a:solidFill>
                <a:latin typeface="Times New Roman" pitchFamily="34" charset="0"/>
                <a:ea typeface="Times New Roman" pitchFamily="34" charset="-122"/>
                <a:cs typeface="Times New Roman" pitchFamily="34" charset="-120"/>
              </a:rPr>
              <a:t>Aku suka desain dan ingin belajar membuat website.</a:t>
            </a:r>
            <a:endParaRPr lang="en-US" sz="1120" dirty="0"/>
          </a:p>
        </p:txBody>
      </p:sp>
      <p:sp>
        <p:nvSpPr>
          <p:cNvPr id="42" name="Text 40"/>
          <p:cNvSpPr txBox="1"/>
          <p:nvPr/>
        </p:nvSpPr>
        <p:spPr>
          <a:xfrm>
            <a:off x="7699248" y="4091026"/>
            <a:ext cx="3529584" cy="292608"/>
          </a:xfrm>
          <a:prstGeom prst="rect">
            <a:avLst/>
          </a:prstGeom>
          <a:noFill/>
          <a:ln/>
        </p:spPr>
        <p:txBody>
          <a:bodyPr wrap="square" lIns="0" tIns="0" rIns="0" bIns="0" rtlCol="0" anchor="t"/>
          <a:lstStyle/>
          <a:p>
            <a:pPr algn="l" indent="0" marL="0">
              <a:lnSpc>
                <a:spcPct val="115000"/>
              </a:lnSpc>
              <a:buNone/>
            </a:pPr>
            <a:r>
              <a:rPr lang="en-US" sz="1600" b="1" dirty="0">
                <a:solidFill>
                  <a:srgbClr val="000000"/>
                </a:solidFill>
                <a:latin typeface="Times New Roman" pitchFamily="34" charset="0"/>
                <a:ea typeface="Times New Roman" pitchFamily="34" charset="-122"/>
                <a:cs typeface="Times New Roman" pitchFamily="34" charset="-120"/>
              </a:rPr>
              <a:t>Skill</a:t>
            </a:r>
            <a:endParaRPr lang="en-US" sz="1600" dirty="0"/>
          </a:p>
        </p:txBody>
      </p:sp>
      <p:sp>
        <p:nvSpPr>
          <p:cNvPr id="43" name="Text 41"/>
          <p:cNvSpPr txBox="1"/>
          <p:nvPr/>
        </p:nvSpPr>
        <p:spPr>
          <a:xfrm>
            <a:off x="7699248" y="4398264"/>
            <a:ext cx="3529584" cy="548640"/>
          </a:xfrm>
          <a:prstGeom prst="rect">
            <a:avLst/>
          </a:prstGeom>
          <a:noFill/>
          <a:ln/>
        </p:spPr>
        <p:txBody>
          <a:bodyPr wrap="square" lIns="0" tIns="0" rIns="0" bIns="0" rtlCol="0" anchor="t"/>
          <a:lstStyle/>
          <a:p>
            <a:pPr algn="l" indent="0" marL="0">
              <a:lnSpc>
                <a:spcPct val="110000"/>
              </a:lnSpc>
              <a:buNone/>
            </a:pPr>
            <a:r>
              <a:rPr lang="en-US" sz="1120" dirty="0">
                <a:solidFill>
                  <a:srgbClr val="000000"/>
                </a:solidFill>
                <a:latin typeface="Times New Roman" pitchFamily="34" charset="0"/>
                <a:ea typeface="Times New Roman" pitchFamily="34" charset="-122"/>
                <a:cs typeface="Times New Roman" pitchFamily="34" charset="-120"/>
              </a:rPr>
              <a:t>•  HTML</a:t>
            </a:r>
            <a:endParaRPr lang="en-US" sz="1120" dirty="0"/>
          </a:p>
          <a:p>
            <a:pPr algn="l" indent="0" marL="0">
              <a:lnSpc>
                <a:spcPct val="110000"/>
              </a:lnSpc>
              <a:buNone/>
            </a:pPr>
            <a:r>
              <a:rPr lang="en-US" sz="1120" dirty="0">
                <a:solidFill>
                  <a:srgbClr val="000000"/>
                </a:solidFill>
                <a:latin typeface="Times New Roman" pitchFamily="34" charset="0"/>
                <a:ea typeface="Times New Roman" pitchFamily="34" charset="-122"/>
                <a:cs typeface="Times New Roman" pitchFamily="34" charset="-120"/>
              </a:rPr>
              <a:t>•  CSS</a:t>
            </a:r>
            <a:endParaRPr lang="en-US" sz="1120" dirty="0"/>
          </a:p>
          <a:p>
            <a:pPr algn="l" indent="0" marL="0">
              <a:lnSpc>
                <a:spcPct val="110000"/>
              </a:lnSpc>
              <a:buNone/>
            </a:pPr>
            <a:r>
              <a:rPr lang="en-US" sz="1120" dirty="0">
                <a:solidFill>
                  <a:srgbClr val="000000"/>
                </a:solidFill>
                <a:latin typeface="Times New Roman" pitchFamily="34" charset="0"/>
                <a:ea typeface="Times New Roman" pitchFamily="34" charset="-122"/>
                <a:cs typeface="Times New Roman" pitchFamily="34" charset="-120"/>
              </a:rPr>
              <a:t>•  Git</a:t>
            </a:r>
            <a:endParaRPr lang="en-US" sz="1120" dirty="0"/>
          </a:p>
        </p:txBody>
      </p:sp>
      <p:sp>
        <p:nvSpPr>
          <p:cNvPr id="44" name="Shape 42"/>
          <p:cNvSpPr/>
          <p:nvPr/>
        </p:nvSpPr>
        <p:spPr>
          <a:xfrm>
            <a:off x="7498080" y="5349240"/>
            <a:ext cx="3931920" cy="777240"/>
          </a:xfrm>
          <a:prstGeom prst="roundRect">
            <a:avLst>
              <a:gd name="adj" fmla="val 16471"/>
            </a:avLst>
          </a:prstGeom>
          <a:solidFill>
            <a:srgbClr val="FFF3CF"/>
          </a:solidFill>
          <a:ln/>
        </p:spPr>
      </p:sp>
      <p:sp>
        <p:nvSpPr>
          <p:cNvPr id="45" name="Text 43"/>
          <p:cNvSpPr txBox="1"/>
          <p:nvPr/>
        </p:nvSpPr>
        <p:spPr>
          <a:xfrm>
            <a:off x="7680960" y="5349240"/>
            <a:ext cx="3566160" cy="777240"/>
          </a:xfrm>
          <a:prstGeom prst="rect">
            <a:avLst/>
          </a:prstGeom>
          <a:noFill/>
          <a:ln/>
        </p:spPr>
        <p:txBody>
          <a:bodyPr wrap="square" lIns="0" tIns="0" rIns="0" bIns="0" rtlCol="0" anchor="ctr"/>
          <a:lstStyle/>
          <a:p>
            <a:pPr algn="l" indent="0" marL="0">
              <a:lnSpc>
                <a:spcPct val="125000"/>
              </a:lnSpc>
              <a:buNone/>
            </a:pPr>
            <a:r>
              <a:rPr lang="en-US" sz="1500" b="1" dirty="0">
                <a:solidFill>
                  <a:srgbClr val="0E1B3D"/>
                </a:solidFill>
                <a:latin typeface="Calibri" pitchFamily="34" charset="0"/>
                <a:ea typeface="Calibri" pitchFamily="34" charset="-122"/>
                <a:cs typeface="Calibri" pitchFamily="34" charset="-120"/>
              </a:rPr>
              <a:t>Tampilan polos itu NORMAL, dan sudah benar.</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4FD8"/>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18</a:t>
            </a:r>
            <a:endParaRPr lang="en-US" sz="1000" dirty="0"/>
          </a:p>
        </p:txBody>
      </p:sp>
      <p:sp>
        <p:nvSpPr>
          <p:cNvPr id="4" name="Text 2"/>
          <p:cNvSpPr txBox="1"/>
          <p:nvPr/>
        </p:nvSpPr>
        <p:spPr>
          <a:xfrm>
            <a:off x="4754880" y="182880"/>
            <a:ext cx="7315200" cy="6035040"/>
          </a:xfrm>
          <a:prstGeom prst="rect">
            <a:avLst/>
          </a:prstGeom>
          <a:noFill/>
          <a:ln/>
        </p:spPr>
        <p:txBody>
          <a:bodyPr wrap="none" lIns="0" tIns="0" rIns="0" bIns="0" rtlCol="0" anchor="ctr"/>
          <a:lstStyle/>
          <a:p>
            <a:pPr algn="r" indent="0" marL="0">
              <a:lnSpc>
                <a:spcPct val="115000"/>
              </a:lnSpc>
              <a:buNone/>
            </a:pPr>
            <a:r>
              <a:rPr lang="en-US" sz="30000" b="1" dirty="0">
                <a:solidFill>
                  <a:srgbClr val="3B6AEA"/>
                </a:solidFill>
                <a:latin typeface="Calibri" pitchFamily="34" charset="0"/>
                <a:ea typeface="Calibri" pitchFamily="34" charset="-122"/>
                <a:cs typeface="Calibri" pitchFamily="34" charset="-120"/>
              </a:rPr>
              <a:t>03</a:t>
            </a:r>
            <a:endParaRPr lang="en-US" sz="30000" dirty="0"/>
          </a:p>
        </p:txBody>
      </p:sp>
      <p:sp>
        <p:nvSpPr>
          <p:cNvPr id="5" name="Text 3"/>
          <p:cNvSpPr txBox="1"/>
          <p:nvPr/>
        </p:nvSpPr>
        <p:spPr>
          <a:xfrm>
            <a:off x="731520" y="2148840"/>
            <a:ext cx="7315200" cy="274320"/>
          </a:xfrm>
          <a:prstGeom prst="rect">
            <a:avLst/>
          </a:prstGeom>
          <a:noFill/>
          <a:ln/>
        </p:spPr>
        <p:txBody>
          <a:bodyPr wrap="square" lIns="0" tIns="0" rIns="0" bIns="0" rtlCol="0" anchor="t"/>
          <a:lstStyle/>
          <a:p>
            <a:pPr algn="l" indent="0" marL="0">
              <a:lnSpc>
                <a:spcPct val="115000"/>
              </a:lnSpc>
              <a:buNone/>
            </a:pPr>
            <a:r>
              <a:rPr lang="en-US" sz="1400" b="1" spc="300" kern="0" dirty="0">
                <a:solidFill>
                  <a:srgbClr val="FFC83D"/>
                </a:solidFill>
                <a:latin typeface="Calibri" pitchFamily="34" charset="0"/>
                <a:ea typeface="Calibri" pitchFamily="34" charset="-122"/>
                <a:cs typeface="Calibri" pitchFamily="34" charset="-120"/>
              </a:rPr>
              <a:t>BAGIAN 03</a:t>
            </a:r>
            <a:endParaRPr lang="en-US" sz="1400" dirty="0"/>
          </a:p>
        </p:txBody>
      </p:sp>
      <p:sp>
        <p:nvSpPr>
          <p:cNvPr id="6" name="Text 4"/>
          <p:cNvSpPr txBox="1"/>
          <p:nvPr/>
        </p:nvSpPr>
        <p:spPr>
          <a:xfrm>
            <a:off x="731520" y="2560320"/>
            <a:ext cx="8778240" cy="1371600"/>
          </a:xfrm>
          <a:prstGeom prst="rect">
            <a:avLst/>
          </a:prstGeom>
          <a:noFill/>
          <a:ln/>
        </p:spPr>
        <p:txBody>
          <a:bodyPr wrap="square" lIns="0" tIns="0" rIns="0" bIns="0" rtlCol="0" anchor="t"/>
          <a:lstStyle/>
          <a:p>
            <a:pPr algn="l" indent="0" marL="0">
              <a:lnSpc>
                <a:spcPct val="102000"/>
              </a:lnSpc>
              <a:buNone/>
            </a:pPr>
            <a:r>
              <a:rPr lang="en-US" sz="6600" b="1" dirty="0">
                <a:solidFill>
                  <a:srgbClr val="FFFFFF"/>
                </a:solidFill>
                <a:latin typeface="Calibri" pitchFamily="34" charset="0"/>
                <a:ea typeface="Calibri" pitchFamily="34" charset="-122"/>
                <a:cs typeface="Calibri" pitchFamily="34" charset="-120"/>
              </a:rPr>
              <a:t>CSS</a:t>
            </a:r>
            <a:endParaRPr lang="en-US" sz="6600" dirty="0"/>
          </a:p>
        </p:txBody>
      </p:sp>
      <p:sp>
        <p:nvSpPr>
          <p:cNvPr id="7" name="Text 5"/>
          <p:cNvSpPr txBox="1"/>
          <p:nvPr/>
        </p:nvSpPr>
        <p:spPr>
          <a:xfrm>
            <a:off x="731520" y="4160520"/>
            <a:ext cx="6583680" cy="822960"/>
          </a:xfrm>
          <a:prstGeom prst="rect">
            <a:avLst/>
          </a:prstGeom>
          <a:noFill/>
          <a:ln/>
        </p:spPr>
        <p:txBody>
          <a:bodyPr wrap="square" lIns="0" tIns="0" rIns="0" bIns="0" rtlCol="0" anchor="t"/>
          <a:lstStyle/>
          <a:p>
            <a:pPr algn="l" indent="0" marL="0">
              <a:lnSpc>
                <a:spcPct val="130000"/>
              </a:lnSpc>
              <a:buNone/>
            </a:pPr>
            <a:r>
              <a:rPr lang="en-US" sz="2200" dirty="0">
                <a:solidFill>
                  <a:srgbClr val="DCE6FF"/>
                </a:solidFill>
                <a:latin typeface="Calibri" pitchFamily="34" charset="0"/>
                <a:ea typeface="Calibri" pitchFamily="34" charset="-122"/>
                <a:cs typeface="Calibri" pitchFamily="34" charset="-120"/>
              </a:rPr>
              <a:t>Penampilan website. Dari polos jadi memikat</a:t>
            </a:r>
            <a:endParaRPr lang="en-US" sz="2200" dirty="0"/>
          </a:p>
        </p:txBody>
      </p:sp>
      <p:sp>
        <p:nvSpPr>
          <p:cNvPr id="8" name="Shape 6"/>
          <p:cNvSpPr/>
          <p:nvPr/>
        </p:nvSpPr>
        <p:spPr>
          <a:xfrm>
            <a:off x="731520" y="5349240"/>
            <a:ext cx="1737360" cy="347472"/>
          </a:xfrm>
          <a:prstGeom prst="roundRect">
            <a:avLst>
              <a:gd name="adj" fmla="val 50000"/>
            </a:avLst>
          </a:prstGeom>
          <a:ln w="15875">
            <a:solidFill>
              <a:srgbClr val="2A3C6E"/>
            </a:solidFill>
            <a:prstDash val="solid"/>
          </a:ln>
        </p:spPr>
      </p:sp>
      <p:sp>
        <p:nvSpPr>
          <p:cNvPr id="9" name="Text 7"/>
          <p:cNvSpPr txBox="1"/>
          <p:nvPr/>
        </p:nvSpPr>
        <p:spPr>
          <a:xfrm>
            <a:off x="731520" y="534924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A9B6D6"/>
                </a:solidFill>
                <a:latin typeface="Calibri" pitchFamily="34" charset="0"/>
                <a:ea typeface="Calibri" pitchFamily="34" charset="-122"/>
                <a:cs typeface="Calibri" pitchFamily="34" charset="-120"/>
              </a:rPr>
              <a:t>09.35 – 10.35</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6F7FA8"/>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6F7FA8"/>
                </a:solidFill>
                <a:latin typeface="Calibri" pitchFamily="34" charset="0"/>
                <a:ea typeface="Calibri" pitchFamily="34" charset="-122"/>
                <a:cs typeface="Calibri" pitchFamily="34" charset="-120"/>
              </a:rPr>
              <a:t>19</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FFC83D"/>
                </a:solidFill>
                <a:latin typeface="Calibri" pitchFamily="34" charset="0"/>
                <a:ea typeface="Calibri" pitchFamily="34" charset="-122"/>
                <a:cs typeface="Calibri" pitchFamily="34" charset="-120"/>
              </a:rPr>
              <a:t>03 · CSS</a:t>
            </a:r>
            <a:endParaRPr lang="en-US" sz="1200" dirty="0"/>
          </a:p>
        </p:txBody>
      </p:sp>
      <p:sp>
        <p:nvSpPr>
          <p:cNvPr id="5" name="Text 3"/>
          <p:cNvSpPr txBox="1"/>
          <p:nvPr/>
        </p:nvSpPr>
        <p:spPr>
          <a:xfrm>
            <a:off x="731520" y="804672"/>
            <a:ext cx="10698480" cy="1005840"/>
          </a:xfrm>
          <a:prstGeom prst="rect">
            <a:avLst/>
          </a:prstGeom>
          <a:noFill/>
          <a:ln/>
        </p:spPr>
        <p:txBody>
          <a:bodyPr wrap="square" lIns="0" tIns="0" rIns="0" bIns="0" rtlCol="0" anchor="t"/>
          <a:lstStyle/>
          <a:p>
            <a:pPr algn="l" indent="0" marL="0">
              <a:lnSpc>
                <a:spcPct val="108000"/>
              </a:lnSpc>
              <a:buNone/>
            </a:pPr>
            <a:r>
              <a:rPr lang="en-US" sz="3800" b="1" dirty="0">
                <a:solidFill>
                  <a:srgbClr val="F4F6FB"/>
                </a:solidFill>
                <a:latin typeface="Calibri" pitchFamily="34" charset="0"/>
                <a:ea typeface="Calibri" pitchFamily="34" charset="-122"/>
                <a:cs typeface="Calibri" pitchFamily="34" charset="-120"/>
              </a:rPr>
              <a:t>Halaman yang sama. Bedanya hanya CSS.</a:t>
            </a:r>
            <a:endParaRPr lang="en-US" sz="3800" dirty="0"/>
          </a:p>
        </p:txBody>
      </p:sp>
      <p:sp>
        <p:nvSpPr>
          <p:cNvPr id="6" name="Shape 4"/>
          <p:cNvSpPr/>
          <p:nvPr/>
        </p:nvSpPr>
        <p:spPr>
          <a:xfrm>
            <a:off x="731520" y="1691640"/>
            <a:ext cx="1463040" cy="310896"/>
          </a:xfrm>
          <a:prstGeom prst="roundRect">
            <a:avLst>
              <a:gd name="adj" fmla="val 50000"/>
            </a:avLst>
          </a:prstGeom>
          <a:solidFill>
            <a:srgbClr val="2A3C6E"/>
          </a:solidFill>
          <a:ln/>
        </p:spPr>
      </p:sp>
      <p:sp>
        <p:nvSpPr>
          <p:cNvPr id="7" name="Text 5"/>
          <p:cNvSpPr txBox="1"/>
          <p:nvPr/>
        </p:nvSpPr>
        <p:spPr>
          <a:xfrm>
            <a:off x="731520" y="1691640"/>
            <a:ext cx="1463040" cy="310896"/>
          </a:xfrm>
          <a:prstGeom prst="rect">
            <a:avLst/>
          </a:prstGeom>
          <a:noFill/>
          <a:ln/>
        </p:spPr>
        <p:txBody>
          <a:bodyPr wrap="square" lIns="0" tIns="0" rIns="0" bIns="0" rtlCol="0" anchor="ctr"/>
          <a:lstStyle/>
          <a:p>
            <a:pPr algn="ctr" indent="0" marL="0">
              <a:lnSpc>
                <a:spcPct val="115000"/>
              </a:lnSpc>
              <a:buNone/>
            </a:pPr>
            <a:r>
              <a:rPr lang="en-US" sz="1100" b="1" spc="120" kern="0" dirty="0">
                <a:solidFill>
                  <a:srgbClr val="A9B6D6"/>
                </a:solidFill>
                <a:latin typeface="Calibri" pitchFamily="34" charset="0"/>
                <a:ea typeface="Calibri" pitchFamily="34" charset="-122"/>
                <a:cs typeface="Calibri" pitchFamily="34" charset="-120"/>
              </a:rPr>
              <a:t>SEBELUM</a:t>
            </a:r>
            <a:endParaRPr lang="en-US" sz="1100" dirty="0"/>
          </a:p>
        </p:txBody>
      </p:sp>
      <p:sp>
        <p:nvSpPr>
          <p:cNvPr id="8" name="Shape 6"/>
          <p:cNvSpPr/>
          <p:nvPr/>
        </p:nvSpPr>
        <p:spPr>
          <a:xfrm>
            <a:off x="6355080" y="1691640"/>
            <a:ext cx="1463040" cy="310896"/>
          </a:xfrm>
          <a:prstGeom prst="roundRect">
            <a:avLst>
              <a:gd name="adj" fmla="val 50000"/>
            </a:avLst>
          </a:prstGeom>
          <a:solidFill>
            <a:srgbClr val="FFC83D"/>
          </a:solidFill>
          <a:ln/>
        </p:spPr>
      </p:sp>
      <p:sp>
        <p:nvSpPr>
          <p:cNvPr id="9" name="Text 7"/>
          <p:cNvSpPr txBox="1"/>
          <p:nvPr/>
        </p:nvSpPr>
        <p:spPr>
          <a:xfrm>
            <a:off x="6355080" y="1691640"/>
            <a:ext cx="1463040" cy="310896"/>
          </a:xfrm>
          <a:prstGeom prst="rect">
            <a:avLst/>
          </a:prstGeom>
          <a:noFill/>
          <a:ln/>
        </p:spPr>
        <p:txBody>
          <a:bodyPr wrap="square" lIns="0" tIns="0" rIns="0" bIns="0" rtlCol="0" anchor="ctr"/>
          <a:lstStyle/>
          <a:p>
            <a:pPr algn="ctr" indent="0" marL="0">
              <a:lnSpc>
                <a:spcPct val="115000"/>
              </a:lnSpc>
              <a:buNone/>
            </a:pPr>
            <a:r>
              <a:rPr lang="en-US" sz="1100" b="1" spc="120" kern="0" dirty="0">
                <a:solidFill>
                  <a:srgbClr val="0E1B3D"/>
                </a:solidFill>
                <a:latin typeface="Calibri" pitchFamily="34" charset="0"/>
                <a:ea typeface="Calibri" pitchFamily="34" charset="-122"/>
                <a:cs typeface="Calibri" pitchFamily="34" charset="-120"/>
              </a:rPr>
              <a:t>SESUDAH</a:t>
            </a:r>
            <a:endParaRPr lang="en-US" sz="1100" dirty="0"/>
          </a:p>
        </p:txBody>
      </p:sp>
      <p:sp>
        <p:nvSpPr>
          <p:cNvPr id="10" name="Shape 8"/>
          <p:cNvSpPr/>
          <p:nvPr/>
        </p:nvSpPr>
        <p:spPr>
          <a:xfrm>
            <a:off x="731520" y="2148840"/>
            <a:ext cx="5120640" cy="3931920"/>
          </a:xfrm>
          <a:prstGeom prst="roundRect">
            <a:avLst>
              <a:gd name="adj" fmla="val 3721"/>
            </a:avLst>
          </a:prstGeom>
          <a:solidFill>
            <a:srgbClr val="FFFFFF"/>
          </a:solidFill>
          <a:ln w="15875">
            <a:solidFill>
              <a:srgbClr val="2A3C6E"/>
            </a:solidFill>
            <a:prstDash val="solid"/>
          </a:ln>
          <a:effectLst>
            <a:outerShdw sx="100000" sy="100000" kx="0" ky="0" algn="bl" rotWithShape="0" blurRad="177800" dist="38100" dir="5400000">
              <a:srgbClr val="000000">
                <a:alpha val="40000"/>
              </a:srgbClr>
            </a:outerShdw>
          </a:effectLst>
        </p:spPr>
      </p:sp>
      <p:sp>
        <p:nvSpPr>
          <p:cNvPr id="11" name="Shape 9"/>
          <p:cNvSpPr/>
          <p:nvPr/>
        </p:nvSpPr>
        <p:spPr>
          <a:xfrm>
            <a:off x="749808" y="2167128"/>
            <a:ext cx="5084064" cy="384048"/>
          </a:xfrm>
          <a:prstGeom prst="roundRect">
            <a:avLst>
              <a:gd name="adj" fmla="val 33333"/>
            </a:avLst>
          </a:prstGeom>
          <a:solidFill>
            <a:srgbClr val="EEF1F7"/>
          </a:solidFill>
          <a:ln/>
        </p:spPr>
      </p:sp>
      <p:sp>
        <p:nvSpPr>
          <p:cNvPr id="12" name="Shape 10"/>
          <p:cNvSpPr/>
          <p:nvPr/>
        </p:nvSpPr>
        <p:spPr>
          <a:xfrm>
            <a:off x="749808" y="2350008"/>
            <a:ext cx="5084064" cy="201168"/>
          </a:xfrm>
          <a:prstGeom prst="rect">
            <a:avLst/>
          </a:prstGeom>
          <a:solidFill>
            <a:srgbClr val="EEF1F7"/>
          </a:solidFill>
          <a:ln/>
        </p:spPr>
      </p:sp>
      <p:sp>
        <p:nvSpPr>
          <p:cNvPr id="13" name="Shape 11"/>
          <p:cNvSpPr/>
          <p:nvPr/>
        </p:nvSpPr>
        <p:spPr>
          <a:xfrm>
            <a:off x="914400" y="2286000"/>
            <a:ext cx="100584" cy="100584"/>
          </a:xfrm>
          <a:prstGeom prst="ellipse">
            <a:avLst/>
          </a:prstGeom>
          <a:solidFill>
            <a:srgbClr val="E63946"/>
          </a:solidFill>
          <a:ln/>
        </p:spPr>
      </p:sp>
      <p:sp>
        <p:nvSpPr>
          <p:cNvPr id="14" name="Shape 12"/>
          <p:cNvSpPr/>
          <p:nvPr/>
        </p:nvSpPr>
        <p:spPr>
          <a:xfrm>
            <a:off x="1088136" y="2286000"/>
            <a:ext cx="100584" cy="100584"/>
          </a:xfrm>
          <a:prstGeom prst="ellipse">
            <a:avLst/>
          </a:prstGeom>
          <a:solidFill>
            <a:srgbClr val="FFC83D"/>
          </a:solidFill>
          <a:ln/>
        </p:spPr>
      </p:sp>
      <p:sp>
        <p:nvSpPr>
          <p:cNvPr id="15" name="Shape 13"/>
          <p:cNvSpPr/>
          <p:nvPr/>
        </p:nvSpPr>
        <p:spPr>
          <a:xfrm>
            <a:off x="1261872" y="2286000"/>
            <a:ext cx="100584" cy="100584"/>
          </a:xfrm>
          <a:prstGeom prst="ellipse">
            <a:avLst/>
          </a:prstGeom>
          <a:solidFill>
            <a:srgbClr val="1E9E68"/>
          </a:solidFill>
          <a:ln/>
        </p:spPr>
      </p:sp>
      <p:sp>
        <p:nvSpPr>
          <p:cNvPr id="16" name="Shape 14"/>
          <p:cNvSpPr/>
          <p:nvPr/>
        </p:nvSpPr>
        <p:spPr>
          <a:xfrm>
            <a:off x="1600200" y="2231136"/>
            <a:ext cx="4023360" cy="237744"/>
          </a:xfrm>
          <a:prstGeom prst="roundRect">
            <a:avLst>
              <a:gd name="adj" fmla="val 50000"/>
            </a:avLst>
          </a:prstGeom>
          <a:solidFill>
            <a:srgbClr val="FFFFFF"/>
          </a:solidFill>
          <a:ln/>
        </p:spPr>
      </p:sp>
      <p:sp>
        <p:nvSpPr>
          <p:cNvPr id="17" name="Text 15"/>
          <p:cNvSpPr txBox="1"/>
          <p:nvPr/>
        </p:nvSpPr>
        <p:spPr>
          <a:xfrm>
            <a:off x="1737360" y="2231136"/>
            <a:ext cx="374904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Calibri" pitchFamily="34" charset="0"/>
                <a:ea typeface="Calibri" pitchFamily="34" charset="-122"/>
                <a:cs typeface="Calibri" pitchFamily="34" charset="-120"/>
              </a:rPr>
              <a:t>localhost:5500</a:t>
            </a:r>
            <a:endParaRPr lang="en-US" sz="1100" dirty="0"/>
          </a:p>
        </p:txBody>
      </p:sp>
      <p:sp>
        <p:nvSpPr>
          <p:cNvPr id="18" name="Text 16"/>
          <p:cNvSpPr txBox="1"/>
          <p:nvPr/>
        </p:nvSpPr>
        <p:spPr>
          <a:xfrm>
            <a:off x="978408" y="2715768"/>
            <a:ext cx="4626864" cy="457200"/>
          </a:xfrm>
          <a:prstGeom prst="rect">
            <a:avLst/>
          </a:prstGeom>
          <a:noFill/>
          <a:ln/>
        </p:spPr>
        <p:txBody>
          <a:bodyPr wrap="square" lIns="0" tIns="0" rIns="0" bIns="0" rtlCol="0" anchor="t"/>
          <a:lstStyle/>
          <a:p>
            <a:pPr algn="l" indent="0" marL="0">
              <a:lnSpc>
                <a:spcPct val="115000"/>
              </a:lnSpc>
              <a:buNone/>
            </a:pPr>
            <a:r>
              <a:rPr lang="en-US" sz="2600" b="1" dirty="0">
                <a:solidFill>
                  <a:srgbClr val="000000"/>
                </a:solidFill>
                <a:latin typeface="Times New Roman" pitchFamily="34" charset="0"/>
                <a:ea typeface="Times New Roman" pitchFamily="34" charset="-122"/>
                <a:cs typeface="Times New Roman" pitchFamily="34" charset="-120"/>
              </a:rPr>
              <a:t>Alya Putri</a:t>
            </a:r>
            <a:endParaRPr lang="en-US" sz="2600" dirty="0"/>
          </a:p>
        </p:txBody>
      </p:sp>
      <p:sp>
        <p:nvSpPr>
          <p:cNvPr id="19" name="Text 17"/>
          <p:cNvSpPr txBox="1"/>
          <p:nvPr/>
        </p:nvSpPr>
        <p:spPr>
          <a:xfrm>
            <a:off x="978408" y="3172968"/>
            <a:ext cx="4626864" cy="274320"/>
          </a:xfrm>
          <a:prstGeom prst="rect">
            <a:avLst/>
          </a:prstGeom>
          <a:noFill/>
          <a:ln/>
        </p:spPr>
        <p:txBody>
          <a:bodyPr wrap="square" lIns="0" tIns="0" rIns="0" bIns="0" rtlCol="0" anchor="t"/>
          <a:lstStyle/>
          <a:p>
            <a:pPr algn="l" indent="0" marL="0">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Siswa SMA · Calon Web Developer</a:t>
            </a:r>
            <a:endParaRPr lang="en-US" sz="1400" dirty="0"/>
          </a:p>
        </p:txBody>
      </p:sp>
      <p:sp>
        <p:nvSpPr>
          <p:cNvPr id="20" name="Text 18"/>
          <p:cNvSpPr txBox="1"/>
          <p:nvPr/>
        </p:nvSpPr>
        <p:spPr>
          <a:xfrm>
            <a:off x="978408" y="3483864"/>
            <a:ext cx="4626864" cy="274320"/>
          </a:xfrm>
          <a:prstGeom prst="rect">
            <a:avLst/>
          </a:prstGeom>
          <a:noFill/>
          <a:ln/>
        </p:spPr>
        <p:txBody>
          <a:bodyPr wrap="square" lIns="0" tIns="0" rIns="0" bIns="0" rtlCol="0" anchor="t"/>
          <a:lstStyle/>
          <a:p>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Tentang</a:t>
            </a:r>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   </a:t>
            </a:r>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Skill</a:t>
            </a:r>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   </a:t>
            </a:r>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Project</a:t>
            </a:r>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   </a:t>
            </a:r>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Kontak</a:t>
            </a:r>
            <a:endParaRPr lang="en-US" sz="1400" dirty="0"/>
          </a:p>
        </p:txBody>
      </p:sp>
      <p:sp>
        <p:nvSpPr>
          <p:cNvPr id="21" name="Text 19"/>
          <p:cNvSpPr txBox="1"/>
          <p:nvPr/>
        </p:nvSpPr>
        <p:spPr>
          <a:xfrm>
            <a:off x="978408" y="3867912"/>
            <a:ext cx="4626864" cy="365760"/>
          </a:xfrm>
          <a:prstGeom prst="rect">
            <a:avLst/>
          </a:prstGeom>
          <a:noFill/>
          <a:ln/>
        </p:spPr>
        <p:txBody>
          <a:bodyPr wrap="square" lIns="0" tIns="0" rIns="0" bIns="0" rtlCol="0" anchor="t"/>
          <a:lstStyle/>
          <a:p>
            <a:pPr algn="l" indent="0" marL="0">
              <a:lnSpc>
                <a:spcPct val="115000"/>
              </a:lnSpc>
              <a:buNone/>
            </a:pPr>
            <a:r>
              <a:rPr lang="en-US" sz="2000" b="1" dirty="0">
                <a:solidFill>
                  <a:srgbClr val="000000"/>
                </a:solidFill>
                <a:latin typeface="Times New Roman" pitchFamily="34" charset="0"/>
                <a:ea typeface="Times New Roman" pitchFamily="34" charset="-122"/>
                <a:cs typeface="Times New Roman" pitchFamily="34" charset="-120"/>
              </a:rPr>
              <a:t>Tentang Saya</a:t>
            </a:r>
            <a:endParaRPr lang="en-US" sz="2000" dirty="0"/>
          </a:p>
        </p:txBody>
      </p:sp>
      <p:sp>
        <p:nvSpPr>
          <p:cNvPr id="22" name="Text 20"/>
          <p:cNvSpPr txBox="1"/>
          <p:nvPr/>
        </p:nvSpPr>
        <p:spPr>
          <a:xfrm>
            <a:off x="978408" y="4251960"/>
            <a:ext cx="4626864" cy="548640"/>
          </a:xfrm>
          <a:prstGeom prst="rect">
            <a:avLst/>
          </a:prstGeom>
          <a:noFill/>
          <a:ln/>
        </p:spPr>
        <p:txBody>
          <a:bodyPr wrap="square" lIns="0" tIns="0" rIns="0" bIns="0" rtlCol="0" anchor="t"/>
          <a:lstStyle/>
          <a:p>
            <a:pPr algn="l" indent="0" marL="0">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Aku suka desain dan ingin belajar membuat website.</a:t>
            </a:r>
            <a:endParaRPr lang="en-US" sz="1400" dirty="0"/>
          </a:p>
        </p:txBody>
      </p:sp>
      <p:sp>
        <p:nvSpPr>
          <p:cNvPr id="23" name="Text 21"/>
          <p:cNvSpPr txBox="1"/>
          <p:nvPr/>
        </p:nvSpPr>
        <p:spPr>
          <a:xfrm>
            <a:off x="978408" y="4818888"/>
            <a:ext cx="4626864" cy="365760"/>
          </a:xfrm>
          <a:prstGeom prst="rect">
            <a:avLst/>
          </a:prstGeom>
          <a:noFill/>
          <a:ln/>
        </p:spPr>
        <p:txBody>
          <a:bodyPr wrap="square" lIns="0" tIns="0" rIns="0" bIns="0" rtlCol="0" anchor="t"/>
          <a:lstStyle/>
          <a:p>
            <a:pPr algn="l" indent="0" marL="0">
              <a:lnSpc>
                <a:spcPct val="115000"/>
              </a:lnSpc>
              <a:buNone/>
            </a:pPr>
            <a:r>
              <a:rPr lang="en-US" sz="2000" b="1" dirty="0">
                <a:solidFill>
                  <a:srgbClr val="000000"/>
                </a:solidFill>
                <a:latin typeface="Times New Roman" pitchFamily="34" charset="0"/>
                <a:ea typeface="Times New Roman" pitchFamily="34" charset="-122"/>
                <a:cs typeface="Times New Roman" pitchFamily="34" charset="-120"/>
              </a:rPr>
              <a:t>Skill</a:t>
            </a:r>
            <a:endParaRPr lang="en-US" sz="2000" dirty="0"/>
          </a:p>
        </p:txBody>
      </p:sp>
      <p:sp>
        <p:nvSpPr>
          <p:cNvPr id="24" name="Text 22"/>
          <p:cNvSpPr txBox="1"/>
          <p:nvPr/>
        </p:nvSpPr>
        <p:spPr>
          <a:xfrm>
            <a:off x="978408" y="5202936"/>
            <a:ext cx="4626864" cy="685800"/>
          </a:xfrm>
          <a:prstGeom prst="rect">
            <a:avLst/>
          </a:prstGeom>
          <a:noFill/>
          <a:ln/>
        </p:spPr>
        <p:txBody>
          <a:bodyPr wrap="square" lIns="0" tIns="0" rIns="0" bIns="0" rtlCol="0" anchor="t"/>
          <a:lstStyle/>
          <a:p>
            <a:pPr algn="l" indent="0" marL="0">
              <a:lnSpc>
                <a:spcPct val="110000"/>
              </a:lnSpc>
              <a:buNone/>
            </a:pPr>
            <a:r>
              <a:rPr lang="en-US" sz="1400" dirty="0">
                <a:solidFill>
                  <a:srgbClr val="000000"/>
                </a:solidFill>
                <a:latin typeface="Times New Roman" pitchFamily="34" charset="0"/>
                <a:ea typeface="Times New Roman" pitchFamily="34" charset="-122"/>
                <a:cs typeface="Times New Roman" pitchFamily="34" charset="-120"/>
              </a:rPr>
              <a:t>•  HTML</a:t>
            </a:r>
            <a:endParaRPr lang="en-US" sz="1400" dirty="0"/>
          </a:p>
          <a:p>
            <a:pPr algn="l" indent="0" marL="0">
              <a:lnSpc>
                <a:spcPct val="110000"/>
              </a:lnSpc>
              <a:buNone/>
            </a:pPr>
            <a:r>
              <a:rPr lang="en-US" sz="1400" dirty="0">
                <a:solidFill>
                  <a:srgbClr val="000000"/>
                </a:solidFill>
                <a:latin typeface="Times New Roman" pitchFamily="34" charset="0"/>
                <a:ea typeface="Times New Roman" pitchFamily="34" charset="-122"/>
                <a:cs typeface="Times New Roman" pitchFamily="34" charset="-120"/>
              </a:rPr>
              <a:t>•  CSS</a:t>
            </a:r>
            <a:endParaRPr lang="en-US" sz="1400" dirty="0"/>
          </a:p>
          <a:p>
            <a:pPr algn="l" indent="0" marL="0">
              <a:lnSpc>
                <a:spcPct val="110000"/>
              </a:lnSpc>
              <a:buNone/>
            </a:pPr>
            <a:r>
              <a:rPr lang="en-US" sz="1400" dirty="0">
                <a:solidFill>
                  <a:srgbClr val="000000"/>
                </a:solidFill>
                <a:latin typeface="Times New Roman" pitchFamily="34" charset="0"/>
                <a:ea typeface="Times New Roman" pitchFamily="34" charset="-122"/>
                <a:cs typeface="Times New Roman" pitchFamily="34" charset="-120"/>
              </a:rPr>
              <a:t>•  Git</a:t>
            </a:r>
            <a:endParaRPr lang="en-US" sz="1400" dirty="0"/>
          </a:p>
        </p:txBody>
      </p:sp>
      <p:sp>
        <p:nvSpPr>
          <p:cNvPr id="25" name="Shape 23"/>
          <p:cNvSpPr/>
          <p:nvPr/>
        </p:nvSpPr>
        <p:spPr>
          <a:xfrm>
            <a:off x="6355080" y="2148840"/>
            <a:ext cx="5074920" cy="3931920"/>
          </a:xfrm>
          <a:prstGeom prst="roundRect">
            <a:avLst>
              <a:gd name="adj" fmla="val 3721"/>
            </a:avLst>
          </a:prstGeom>
          <a:solidFill>
            <a:srgbClr val="FFFFFF"/>
          </a:solidFill>
          <a:ln w="15875">
            <a:solidFill>
              <a:srgbClr val="2A3C6E"/>
            </a:solidFill>
            <a:prstDash val="solid"/>
          </a:ln>
          <a:effectLst>
            <a:outerShdw sx="100000" sy="100000" kx="0" ky="0" algn="bl" rotWithShape="0" blurRad="177800" dist="38100" dir="5400000">
              <a:srgbClr val="000000">
                <a:alpha val="40000"/>
              </a:srgbClr>
            </a:outerShdw>
          </a:effectLst>
        </p:spPr>
      </p:sp>
      <p:sp>
        <p:nvSpPr>
          <p:cNvPr id="26" name="Shape 24"/>
          <p:cNvSpPr/>
          <p:nvPr/>
        </p:nvSpPr>
        <p:spPr>
          <a:xfrm>
            <a:off x="6373368" y="2167128"/>
            <a:ext cx="5038344" cy="384048"/>
          </a:xfrm>
          <a:prstGeom prst="roundRect">
            <a:avLst>
              <a:gd name="adj" fmla="val 33333"/>
            </a:avLst>
          </a:prstGeom>
          <a:solidFill>
            <a:srgbClr val="EEF1F7"/>
          </a:solidFill>
          <a:ln/>
        </p:spPr>
      </p:sp>
      <p:sp>
        <p:nvSpPr>
          <p:cNvPr id="27" name="Shape 25"/>
          <p:cNvSpPr/>
          <p:nvPr/>
        </p:nvSpPr>
        <p:spPr>
          <a:xfrm>
            <a:off x="6373368" y="2350008"/>
            <a:ext cx="5038344" cy="201168"/>
          </a:xfrm>
          <a:prstGeom prst="rect">
            <a:avLst/>
          </a:prstGeom>
          <a:solidFill>
            <a:srgbClr val="EEF1F7"/>
          </a:solidFill>
          <a:ln/>
        </p:spPr>
      </p:sp>
      <p:sp>
        <p:nvSpPr>
          <p:cNvPr id="28" name="Shape 26"/>
          <p:cNvSpPr/>
          <p:nvPr/>
        </p:nvSpPr>
        <p:spPr>
          <a:xfrm>
            <a:off x="6537960" y="2286000"/>
            <a:ext cx="100584" cy="100584"/>
          </a:xfrm>
          <a:prstGeom prst="ellipse">
            <a:avLst/>
          </a:prstGeom>
          <a:solidFill>
            <a:srgbClr val="E63946"/>
          </a:solidFill>
          <a:ln/>
        </p:spPr>
      </p:sp>
      <p:sp>
        <p:nvSpPr>
          <p:cNvPr id="29" name="Shape 27"/>
          <p:cNvSpPr/>
          <p:nvPr/>
        </p:nvSpPr>
        <p:spPr>
          <a:xfrm>
            <a:off x="6711696" y="2286000"/>
            <a:ext cx="100584" cy="100584"/>
          </a:xfrm>
          <a:prstGeom prst="ellipse">
            <a:avLst/>
          </a:prstGeom>
          <a:solidFill>
            <a:srgbClr val="FFC83D"/>
          </a:solidFill>
          <a:ln/>
        </p:spPr>
      </p:sp>
      <p:sp>
        <p:nvSpPr>
          <p:cNvPr id="30" name="Shape 28"/>
          <p:cNvSpPr/>
          <p:nvPr/>
        </p:nvSpPr>
        <p:spPr>
          <a:xfrm>
            <a:off x="6885432" y="2286000"/>
            <a:ext cx="100584" cy="100584"/>
          </a:xfrm>
          <a:prstGeom prst="ellipse">
            <a:avLst/>
          </a:prstGeom>
          <a:solidFill>
            <a:srgbClr val="1E9E68"/>
          </a:solidFill>
          <a:ln/>
        </p:spPr>
      </p:sp>
      <p:sp>
        <p:nvSpPr>
          <p:cNvPr id="31" name="Shape 29"/>
          <p:cNvSpPr/>
          <p:nvPr/>
        </p:nvSpPr>
        <p:spPr>
          <a:xfrm>
            <a:off x="7223760" y="2231136"/>
            <a:ext cx="3977640" cy="237744"/>
          </a:xfrm>
          <a:prstGeom prst="roundRect">
            <a:avLst>
              <a:gd name="adj" fmla="val 50000"/>
            </a:avLst>
          </a:prstGeom>
          <a:solidFill>
            <a:srgbClr val="FFFFFF"/>
          </a:solidFill>
          <a:ln/>
        </p:spPr>
      </p:sp>
      <p:sp>
        <p:nvSpPr>
          <p:cNvPr id="32" name="Text 30"/>
          <p:cNvSpPr txBox="1"/>
          <p:nvPr/>
        </p:nvSpPr>
        <p:spPr>
          <a:xfrm>
            <a:off x="7360920" y="2231136"/>
            <a:ext cx="370332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Calibri" pitchFamily="34" charset="0"/>
                <a:ea typeface="Calibri" pitchFamily="34" charset="-122"/>
                <a:cs typeface="Calibri" pitchFamily="34" charset="-120"/>
              </a:rPr>
              <a:t>localhost:5500</a:t>
            </a:r>
            <a:endParaRPr lang="en-US" sz="1100" dirty="0"/>
          </a:p>
        </p:txBody>
      </p:sp>
      <p:sp>
        <p:nvSpPr>
          <p:cNvPr id="33" name="Shape 31"/>
          <p:cNvSpPr/>
          <p:nvPr/>
        </p:nvSpPr>
        <p:spPr>
          <a:xfrm>
            <a:off x="6373368" y="2551176"/>
            <a:ext cx="5038344" cy="3493008"/>
          </a:xfrm>
          <a:prstGeom prst="rect">
            <a:avLst/>
          </a:prstGeom>
          <a:solidFill>
            <a:srgbClr val="FAF8F4"/>
          </a:solidFill>
          <a:ln/>
        </p:spPr>
      </p:sp>
      <p:sp>
        <p:nvSpPr>
          <p:cNvPr id="34" name="Shape 32"/>
          <p:cNvSpPr/>
          <p:nvPr/>
        </p:nvSpPr>
        <p:spPr>
          <a:xfrm>
            <a:off x="6373368" y="2551176"/>
            <a:ext cx="5038344" cy="1257300"/>
          </a:xfrm>
          <a:prstGeom prst="rect">
            <a:avLst/>
          </a:prstGeom>
          <a:solidFill>
            <a:srgbClr val="0E1B3D"/>
          </a:solidFill>
          <a:ln/>
        </p:spPr>
      </p:sp>
      <p:sp>
        <p:nvSpPr>
          <p:cNvPr id="35" name="Text 33"/>
          <p:cNvSpPr txBox="1"/>
          <p:nvPr/>
        </p:nvSpPr>
        <p:spPr>
          <a:xfrm>
            <a:off x="6675120" y="2752344"/>
            <a:ext cx="4434840" cy="452628"/>
          </a:xfrm>
          <a:prstGeom prst="rect">
            <a:avLst/>
          </a:prstGeom>
          <a:noFill/>
          <a:ln/>
        </p:spPr>
        <p:txBody>
          <a:bodyPr wrap="square" lIns="0" tIns="0" rIns="0" bIns="0" rtlCol="0" anchor="t"/>
          <a:lstStyle/>
          <a:p>
            <a:pPr algn="l" indent="0" marL="0">
              <a:lnSpc>
                <a:spcPct val="115000"/>
              </a:lnSpc>
              <a:buNone/>
            </a:pPr>
            <a:r>
              <a:rPr lang="en-US" sz="2640" b="1" dirty="0">
                <a:solidFill>
                  <a:srgbClr val="FFFFFF"/>
                </a:solidFill>
                <a:latin typeface="Calibri" pitchFamily="34" charset="0"/>
                <a:ea typeface="Calibri" pitchFamily="34" charset="-122"/>
                <a:cs typeface="Calibri" pitchFamily="34" charset="-120"/>
              </a:rPr>
              <a:t>Alya Putri</a:t>
            </a:r>
            <a:endParaRPr lang="en-US" sz="2640" dirty="0"/>
          </a:p>
        </p:txBody>
      </p:sp>
      <p:sp>
        <p:nvSpPr>
          <p:cNvPr id="36" name="Text 34"/>
          <p:cNvSpPr txBox="1"/>
          <p:nvPr/>
        </p:nvSpPr>
        <p:spPr>
          <a:xfrm>
            <a:off x="6675120" y="3174797"/>
            <a:ext cx="4434840" cy="251460"/>
          </a:xfrm>
          <a:prstGeom prst="rect">
            <a:avLst/>
          </a:prstGeom>
          <a:noFill/>
          <a:ln/>
        </p:spPr>
        <p:txBody>
          <a:bodyPr wrap="square" lIns="0" tIns="0" rIns="0" bIns="0" rtlCol="0" anchor="t"/>
          <a:lstStyle/>
          <a:p>
            <a:pPr algn="l" indent="0" marL="0">
              <a:lnSpc>
                <a:spcPct val="115000"/>
              </a:lnSpc>
              <a:buNone/>
            </a:pPr>
            <a:r>
              <a:rPr lang="en-US" sz="1320" dirty="0">
                <a:solidFill>
                  <a:srgbClr val="FFC83D"/>
                </a:solidFill>
                <a:latin typeface="Calibri" pitchFamily="34" charset="0"/>
                <a:ea typeface="Calibri" pitchFamily="34" charset="-122"/>
                <a:cs typeface="Calibri" pitchFamily="34" charset="-120"/>
              </a:rPr>
              <a:t>Siswa SMA · Calon Web Developer</a:t>
            </a:r>
            <a:endParaRPr lang="en-US" sz="1320" dirty="0"/>
          </a:p>
        </p:txBody>
      </p:sp>
      <p:sp>
        <p:nvSpPr>
          <p:cNvPr id="37" name="Shape 35"/>
          <p:cNvSpPr/>
          <p:nvPr/>
        </p:nvSpPr>
        <p:spPr>
          <a:xfrm>
            <a:off x="6675120" y="3486607"/>
            <a:ext cx="854964" cy="241402"/>
          </a:xfrm>
          <a:prstGeom prst="roundRect">
            <a:avLst>
              <a:gd name="adj" fmla="val 50000"/>
            </a:avLst>
          </a:prstGeom>
          <a:solidFill>
            <a:srgbClr val="17285A"/>
          </a:solidFill>
          <a:ln/>
        </p:spPr>
      </p:sp>
      <p:sp>
        <p:nvSpPr>
          <p:cNvPr id="38" name="Text 36"/>
          <p:cNvSpPr txBox="1"/>
          <p:nvPr/>
        </p:nvSpPr>
        <p:spPr>
          <a:xfrm>
            <a:off x="6675120" y="3486607"/>
            <a:ext cx="854964" cy="241402"/>
          </a:xfrm>
          <a:prstGeom prst="rect">
            <a:avLst/>
          </a:prstGeom>
          <a:noFill/>
          <a:ln/>
        </p:spPr>
        <p:txBody>
          <a:bodyPr wrap="square" lIns="0" tIns="0" rIns="0" bIns="0" rtlCol="0" anchor="ctr"/>
          <a:lstStyle/>
          <a:p>
            <a:pPr algn="ctr" indent="0" marL="0">
              <a:lnSpc>
                <a:spcPct val="115000"/>
              </a:lnSpc>
              <a:buNone/>
            </a:pPr>
            <a:r>
              <a:rPr lang="en-US" sz="1100" b="1" dirty="0">
                <a:solidFill>
                  <a:srgbClr val="F4F6FB"/>
                </a:solidFill>
                <a:latin typeface="Calibri" pitchFamily="34" charset="0"/>
                <a:ea typeface="Calibri" pitchFamily="34" charset="-122"/>
                <a:cs typeface="Calibri" pitchFamily="34" charset="-120"/>
              </a:rPr>
              <a:t>Tentang</a:t>
            </a:r>
            <a:endParaRPr lang="en-US" sz="1100" dirty="0"/>
          </a:p>
        </p:txBody>
      </p:sp>
      <p:sp>
        <p:nvSpPr>
          <p:cNvPr id="39" name="Shape 37"/>
          <p:cNvSpPr/>
          <p:nvPr/>
        </p:nvSpPr>
        <p:spPr>
          <a:xfrm>
            <a:off x="7630668" y="3486607"/>
            <a:ext cx="854964" cy="241402"/>
          </a:xfrm>
          <a:prstGeom prst="roundRect">
            <a:avLst>
              <a:gd name="adj" fmla="val 50000"/>
            </a:avLst>
          </a:prstGeom>
          <a:solidFill>
            <a:srgbClr val="17285A"/>
          </a:solidFill>
          <a:ln/>
        </p:spPr>
      </p:sp>
      <p:sp>
        <p:nvSpPr>
          <p:cNvPr id="40" name="Text 38"/>
          <p:cNvSpPr txBox="1"/>
          <p:nvPr/>
        </p:nvSpPr>
        <p:spPr>
          <a:xfrm>
            <a:off x="7630668" y="3486607"/>
            <a:ext cx="854964" cy="241402"/>
          </a:xfrm>
          <a:prstGeom prst="rect">
            <a:avLst/>
          </a:prstGeom>
          <a:noFill/>
          <a:ln/>
        </p:spPr>
        <p:txBody>
          <a:bodyPr wrap="square" lIns="0" tIns="0" rIns="0" bIns="0" rtlCol="0" anchor="ctr"/>
          <a:lstStyle/>
          <a:p>
            <a:pPr algn="ctr" indent="0" marL="0">
              <a:lnSpc>
                <a:spcPct val="115000"/>
              </a:lnSpc>
              <a:buNone/>
            </a:pPr>
            <a:r>
              <a:rPr lang="en-US" sz="1100" b="1" dirty="0">
                <a:solidFill>
                  <a:srgbClr val="F4F6FB"/>
                </a:solidFill>
                <a:latin typeface="Calibri" pitchFamily="34" charset="0"/>
                <a:ea typeface="Calibri" pitchFamily="34" charset="-122"/>
                <a:cs typeface="Calibri" pitchFamily="34" charset="-120"/>
              </a:rPr>
              <a:t>Skill</a:t>
            </a:r>
            <a:endParaRPr lang="en-US" sz="1100" dirty="0"/>
          </a:p>
        </p:txBody>
      </p:sp>
      <p:sp>
        <p:nvSpPr>
          <p:cNvPr id="41" name="Shape 39"/>
          <p:cNvSpPr/>
          <p:nvPr/>
        </p:nvSpPr>
        <p:spPr>
          <a:xfrm>
            <a:off x="8586216" y="3486607"/>
            <a:ext cx="854964" cy="241402"/>
          </a:xfrm>
          <a:prstGeom prst="roundRect">
            <a:avLst>
              <a:gd name="adj" fmla="val 50000"/>
            </a:avLst>
          </a:prstGeom>
          <a:solidFill>
            <a:srgbClr val="17285A"/>
          </a:solidFill>
          <a:ln/>
        </p:spPr>
      </p:sp>
      <p:sp>
        <p:nvSpPr>
          <p:cNvPr id="42" name="Text 40"/>
          <p:cNvSpPr txBox="1"/>
          <p:nvPr/>
        </p:nvSpPr>
        <p:spPr>
          <a:xfrm>
            <a:off x="8586216" y="3486607"/>
            <a:ext cx="854964" cy="241402"/>
          </a:xfrm>
          <a:prstGeom prst="rect">
            <a:avLst/>
          </a:prstGeom>
          <a:noFill/>
          <a:ln/>
        </p:spPr>
        <p:txBody>
          <a:bodyPr wrap="square" lIns="0" tIns="0" rIns="0" bIns="0" rtlCol="0" anchor="ctr"/>
          <a:lstStyle/>
          <a:p>
            <a:pPr algn="ctr" indent="0" marL="0">
              <a:lnSpc>
                <a:spcPct val="115000"/>
              </a:lnSpc>
              <a:buNone/>
            </a:pPr>
            <a:r>
              <a:rPr lang="en-US" sz="1100" b="1" dirty="0">
                <a:solidFill>
                  <a:srgbClr val="F4F6FB"/>
                </a:solidFill>
                <a:latin typeface="Calibri" pitchFamily="34" charset="0"/>
                <a:ea typeface="Calibri" pitchFamily="34" charset="-122"/>
                <a:cs typeface="Calibri" pitchFamily="34" charset="-120"/>
              </a:rPr>
              <a:t>Project</a:t>
            </a:r>
            <a:endParaRPr lang="en-US" sz="1100" dirty="0"/>
          </a:p>
        </p:txBody>
      </p:sp>
      <p:sp>
        <p:nvSpPr>
          <p:cNvPr id="43" name="Shape 41"/>
          <p:cNvSpPr/>
          <p:nvPr/>
        </p:nvSpPr>
        <p:spPr>
          <a:xfrm>
            <a:off x="9541764" y="3486607"/>
            <a:ext cx="854964" cy="241402"/>
          </a:xfrm>
          <a:prstGeom prst="roundRect">
            <a:avLst>
              <a:gd name="adj" fmla="val 50000"/>
            </a:avLst>
          </a:prstGeom>
          <a:solidFill>
            <a:srgbClr val="17285A"/>
          </a:solidFill>
          <a:ln/>
        </p:spPr>
      </p:sp>
      <p:sp>
        <p:nvSpPr>
          <p:cNvPr id="44" name="Text 42"/>
          <p:cNvSpPr txBox="1"/>
          <p:nvPr/>
        </p:nvSpPr>
        <p:spPr>
          <a:xfrm>
            <a:off x="9541764" y="3486607"/>
            <a:ext cx="854964" cy="241402"/>
          </a:xfrm>
          <a:prstGeom prst="rect">
            <a:avLst/>
          </a:prstGeom>
          <a:noFill/>
          <a:ln/>
        </p:spPr>
        <p:txBody>
          <a:bodyPr wrap="square" lIns="0" tIns="0" rIns="0" bIns="0" rtlCol="0" anchor="ctr"/>
          <a:lstStyle/>
          <a:p>
            <a:pPr algn="ctr" indent="0" marL="0">
              <a:lnSpc>
                <a:spcPct val="115000"/>
              </a:lnSpc>
              <a:buNone/>
            </a:pPr>
            <a:r>
              <a:rPr lang="en-US" sz="1100" b="1" dirty="0">
                <a:solidFill>
                  <a:srgbClr val="F4F6FB"/>
                </a:solidFill>
                <a:latin typeface="Calibri" pitchFamily="34" charset="0"/>
                <a:ea typeface="Calibri" pitchFamily="34" charset="-122"/>
                <a:cs typeface="Calibri" pitchFamily="34" charset="-120"/>
              </a:rPr>
              <a:t>Kontak</a:t>
            </a:r>
            <a:endParaRPr lang="en-US" sz="1100" dirty="0"/>
          </a:p>
        </p:txBody>
      </p:sp>
      <p:sp>
        <p:nvSpPr>
          <p:cNvPr id="45" name="Shape 43"/>
          <p:cNvSpPr/>
          <p:nvPr/>
        </p:nvSpPr>
        <p:spPr>
          <a:xfrm>
            <a:off x="6675120" y="4110228"/>
            <a:ext cx="2066544" cy="1106424"/>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46" name="Text 44"/>
          <p:cNvSpPr txBox="1"/>
          <p:nvPr/>
        </p:nvSpPr>
        <p:spPr>
          <a:xfrm>
            <a:off x="6825996" y="4251046"/>
            <a:ext cx="1764792" cy="251460"/>
          </a:xfrm>
          <a:prstGeom prst="rect">
            <a:avLst/>
          </a:prstGeom>
          <a:noFill/>
          <a:ln/>
        </p:spPr>
        <p:txBody>
          <a:bodyPr wrap="square" lIns="0" tIns="0" rIns="0" bIns="0" rtlCol="0" anchor="t"/>
          <a:lstStyle/>
          <a:p>
            <a:pPr algn="l" indent="0" marL="0">
              <a:lnSpc>
                <a:spcPct val="115000"/>
              </a:lnSpc>
              <a:buNone/>
            </a:pPr>
            <a:r>
              <a:rPr lang="en-US" sz="1320" b="1" dirty="0">
                <a:solidFill>
                  <a:srgbClr val="0E1B3D"/>
                </a:solidFill>
                <a:latin typeface="Calibri" pitchFamily="34" charset="0"/>
                <a:ea typeface="Calibri" pitchFamily="34" charset="-122"/>
                <a:cs typeface="Calibri" pitchFamily="34" charset="-120"/>
              </a:rPr>
              <a:t>Profil Pribadi</a:t>
            </a:r>
            <a:endParaRPr lang="en-US" sz="1320" dirty="0"/>
          </a:p>
        </p:txBody>
      </p:sp>
      <p:sp>
        <p:nvSpPr>
          <p:cNvPr id="47" name="Shape 45"/>
          <p:cNvSpPr/>
          <p:nvPr/>
        </p:nvSpPr>
        <p:spPr>
          <a:xfrm>
            <a:off x="6825996" y="4613148"/>
            <a:ext cx="1764792" cy="70409"/>
          </a:xfrm>
          <a:prstGeom prst="rect">
            <a:avLst/>
          </a:prstGeom>
          <a:solidFill>
            <a:srgbClr val="E3DFD6"/>
          </a:solidFill>
          <a:ln/>
        </p:spPr>
      </p:sp>
      <p:sp>
        <p:nvSpPr>
          <p:cNvPr id="48" name="Shape 46"/>
          <p:cNvSpPr/>
          <p:nvPr/>
        </p:nvSpPr>
        <p:spPr>
          <a:xfrm>
            <a:off x="6825996" y="4794199"/>
            <a:ext cx="1147115" cy="70409"/>
          </a:xfrm>
          <a:prstGeom prst="rect">
            <a:avLst/>
          </a:prstGeom>
          <a:solidFill>
            <a:srgbClr val="E3DFD6"/>
          </a:solidFill>
          <a:ln/>
        </p:spPr>
      </p:sp>
      <p:sp>
        <p:nvSpPr>
          <p:cNvPr id="49" name="Shape 47"/>
          <p:cNvSpPr/>
          <p:nvPr/>
        </p:nvSpPr>
        <p:spPr>
          <a:xfrm>
            <a:off x="9043416" y="4110228"/>
            <a:ext cx="2066544" cy="1106424"/>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50" name="Text 48"/>
          <p:cNvSpPr txBox="1"/>
          <p:nvPr/>
        </p:nvSpPr>
        <p:spPr>
          <a:xfrm>
            <a:off x="9194292" y="4251046"/>
            <a:ext cx="1764792" cy="251460"/>
          </a:xfrm>
          <a:prstGeom prst="rect">
            <a:avLst/>
          </a:prstGeom>
          <a:noFill/>
          <a:ln/>
        </p:spPr>
        <p:txBody>
          <a:bodyPr wrap="square" lIns="0" tIns="0" rIns="0" bIns="0" rtlCol="0" anchor="t"/>
          <a:lstStyle/>
          <a:p>
            <a:pPr algn="l" indent="0" marL="0">
              <a:lnSpc>
                <a:spcPct val="115000"/>
              </a:lnSpc>
              <a:buNone/>
            </a:pPr>
            <a:r>
              <a:rPr lang="en-US" sz="1320" b="1" dirty="0">
                <a:solidFill>
                  <a:srgbClr val="0E1B3D"/>
                </a:solidFill>
                <a:latin typeface="Calibri" pitchFamily="34" charset="0"/>
                <a:ea typeface="Calibri" pitchFamily="34" charset="-122"/>
                <a:cs typeface="Calibri" pitchFamily="34" charset="-120"/>
              </a:rPr>
              <a:t>Cuaca Hari Ini</a:t>
            </a:r>
            <a:endParaRPr lang="en-US" sz="1320" dirty="0"/>
          </a:p>
        </p:txBody>
      </p:sp>
      <p:sp>
        <p:nvSpPr>
          <p:cNvPr id="51" name="Shape 49"/>
          <p:cNvSpPr/>
          <p:nvPr/>
        </p:nvSpPr>
        <p:spPr>
          <a:xfrm>
            <a:off x="9194292" y="4613148"/>
            <a:ext cx="1764792" cy="70409"/>
          </a:xfrm>
          <a:prstGeom prst="rect">
            <a:avLst/>
          </a:prstGeom>
          <a:solidFill>
            <a:srgbClr val="E3DFD6"/>
          </a:solidFill>
          <a:ln/>
        </p:spPr>
      </p:sp>
      <p:sp>
        <p:nvSpPr>
          <p:cNvPr id="52" name="Shape 50"/>
          <p:cNvSpPr/>
          <p:nvPr/>
        </p:nvSpPr>
        <p:spPr>
          <a:xfrm>
            <a:off x="9194292" y="4794199"/>
            <a:ext cx="1147115" cy="70409"/>
          </a:xfrm>
          <a:prstGeom prst="rect">
            <a:avLst/>
          </a:prstGeom>
          <a:solidFill>
            <a:srgbClr val="E3DFD6"/>
          </a:solidFill>
          <a:ln/>
        </p:spPr>
      </p:sp>
      <p:sp>
        <p:nvSpPr>
          <p:cNvPr id="53" name="Shape 51"/>
          <p:cNvSpPr/>
          <p:nvPr/>
        </p:nvSpPr>
        <p:spPr>
          <a:xfrm>
            <a:off x="6675120" y="5518404"/>
            <a:ext cx="754380" cy="261518"/>
          </a:xfrm>
          <a:prstGeom prst="roundRect">
            <a:avLst>
              <a:gd name="adj" fmla="val 50000"/>
            </a:avLst>
          </a:prstGeom>
          <a:solidFill>
            <a:srgbClr val="DCE6FF"/>
          </a:solidFill>
          <a:ln/>
        </p:spPr>
      </p:sp>
      <p:sp>
        <p:nvSpPr>
          <p:cNvPr id="54" name="Text 52"/>
          <p:cNvSpPr txBox="1"/>
          <p:nvPr/>
        </p:nvSpPr>
        <p:spPr>
          <a:xfrm>
            <a:off x="6675120" y="5518404"/>
            <a:ext cx="754380" cy="261518"/>
          </a:xfrm>
          <a:prstGeom prst="rect">
            <a:avLst/>
          </a:prstGeom>
          <a:noFill/>
          <a:ln/>
        </p:spPr>
        <p:txBody>
          <a:bodyPr wrap="square" lIns="0" tIns="0" rIns="0" bIns="0" rtlCol="0" anchor="ctr"/>
          <a:lstStyle/>
          <a:p>
            <a:pPr algn="ctr" indent="0" marL="0">
              <a:lnSpc>
                <a:spcPct val="115000"/>
              </a:lnSpc>
              <a:buNone/>
            </a:pPr>
            <a:r>
              <a:rPr lang="en-US" sz="1100" b="1" dirty="0">
                <a:solidFill>
                  <a:srgbClr val="1F4FD8"/>
                </a:solidFill>
                <a:latin typeface="Calibri" pitchFamily="34" charset="0"/>
                <a:ea typeface="Calibri" pitchFamily="34" charset="-122"/>
                <a:cs typeface="Calibri" pitchFamily="34" charset="-120"/>
              </a:rPr>
              <a:t>HTML</a:t>
            </a:r>
            <a:endParaRPr lang="en-US" sz="1100" dirty="0"/>
          </a:p>
        </p:txBody>
      </p:sp>
      <p:sp>
        <p:nvSpPr>
          <p:cNvPr id="55" name="Shape 53"/>
          <p:cNvSpPr/>
          <p:nvPr/>
        </p:nvSpPr>
        <p:spPr>
          <a:xfrm>
            <a:off x="7530084" y="5518404"/>
            <a:ext cx="754380" cy="261518"/>
          </a:xfrm>
          <a:prstGeom prst="roundRect">
            <a:avLst>
              <a:gd name="adj" fmla="val 50000"/>
            </a:avLst>
          </a:prstGeom>
          <a:solidFill>
            <a:srgbClr val="DCE6FF"/>
          </a:solidFill>
          <a:ln/>
        </p:spPr>
      </p:sp>
      <p:sp>
        <p:nvSpPr>
          <p:cNvPr id="56" name="Text 54"/>
          <p:cNvSpPr txBox="1"/>
          <p:nvPr/>
        </p:nvSpPr>
        <p:spPr>
          <a:xfrm>
            <a:off x="7530084" y="5518404"/>
            <a:ext cx="754380" cy="261518"/>
          </a:xfrm>
          <a:prstGeom prst="rect">
            <a:avLst/>
          </a:prstGeom>
          <a:noFill/>
          <a:ln/>
        </p:spPr>
        <p:txBody>
          <a:bodyPr wrap="square" lIns="0" tIns="0" rIns="0" bIns="0" rtlCol="0" anchor="ctr"/>
          <a:lstStyle/>
          <a:p>
            <a:pPr algn="ctr" indent="0" marL="0">
              <a:lnSpc>
                <a:spcPct val="115000"/>
              </a:lnSpc>
              <a:buNone/>
            </a:pPr>
            <a:r>
              <a:rPr lang="en-US" sz="1100" b="1" dirty="0">
                <a:solidFill>
                  <a:srgbClr val="1F4FD8"/>
                </a:solidFill>
                <a:latin typeface="Calibri" pitchFamily="34" charset="0"/>
                <a:ea typeface="Calibri" pitchFamily="34" charset="-122"/>
                <a:cs typeface="Calibri" pitchFamily="34" charset="-120"/>
              </a:rPr>
              <a:t>CSS</a:t>
            </a:r>
            <a:endParaRPr lang="en-US" sz="1100" dirty="0"/>
          </a:p>
        </p:txBody>
      </p:sp>
      <p:sp>
        <p:nvSpPr>
          <p:cNvPr id="57" name="Shape 55"/>
          <p:cNvSpPr/>
          <p:nvPr/>
        </p:nvSpPr>
        <p:spPr>
          <a:xfrm>
            <a:off x="8385048" y="5518404"/>
            <a:ext cx="754380" cy="261518"/>
          </a:xfrm>
          <a:prstGeom prst="roundRect">
            <a:avLst>
              <a:gd name="adj" fmla="val 50000"/>
            </a:avLst>
          </a:prstGeom>
          <a:solidFill>
            <a:srgbClr val="DCE6FF"/>
          </a:solidFill>
          <a:ln/>
        </p:spPr>
      </p:sp>
      <p:sp>
        <p:nvSpPr>
          <p:cNvPr id="58" name="Text 56"/>
          <p:cNvSpPr txBox="1"/>
          <p:nvPr/>
        </p:nvSpPr>
        <p:spPr>
          <a:xfrm>
            <a:off x="8385048" y="5518404"/>
            <a:ext cx="754380" cy="261518"/>
          </a:xfrm>
          <a:prstGeom prst="rect">
            <a:avLst/>
          </a:prstGeom>
          <a:noFill/>
          <a:ln/>
        </p:spPr>
        <p:txBody>
          <a:bodyPr wrap="square" lIns="0" tIns="0" rIns="0" bIns="0" rtlCol="0" anchor="ctr"/>
          <a:lstStyle/>
          <a:p>
            <a:pPr algn="ctr" indent="0" marL="0">
              <a:lnSpc>
                <a:spcPct val="115000"/>
              </a:lnSpc>
              <a:buNone/>
            </a:pPr>
            <a:r>
              <a:rPr lang="en-US" sz="1100" b="1" dirty="0">
                <a:solidFill>
                  <a:srgbClr val="1F4FD8"/>
                </a:solidFill>
                <a:latin typeface="Calibri" pitchFamily="34" charset="0"/>
                <a:ea typeface="Calibri" pitchFamily="34" charset="-122"/>
                <a:cs typeface="Calibri" pitchFamily="34" charset="-120"/>
              </a:rPr>
              <a:t>Git</a:t>
            </a:r>
            <a:endParaRPr lang="en-US" sz="1100" dirty="0"/>
          </a:p>
        </p:txBody>
      </p:sp>
      <p:sp>
        <p:nvSpPr>
          <p:cNvPr id="59" name="Shape 57"/>
          <p:cNvSpPr/>
          <p:nvPr/>
        </p:nvSpPr>
        <p:spPr>
          <a:xfrm>
            <a:off x="5577840" y="3749040"/>
            <a:ext cx="640080" cy="640080"/>
          </a:xfrm>
          <a:prstGeom prst="ellipse">
            <a:avLst/>
          </a:prstGeom>
          <a:solidFill>
            <a:srgbClr val="FFC83D"/>
          </a:solidFill>
          <a:ln/>
        </p:spPr>
      </p:sp>
      <p:sp>
        <p:nvSpPr>
          <p:cNvPr id="60" name="Text 58"/>
          <p:cNvSpPr txBox="1"/>
          <p:nvPr/>
        </p:nvSpPr>
        <p:spPr>
          <a:xfrm>
            <a:off x="5577840" y="3749040"/>
            <a:ext cx="640080" cy="640080"/>
          </a:xfrm>
          <a:prstGeom prst="rect">
            <a:avLst/>
          </a:prstGeom>
          <a:noFill/>
          <a:ln/>
        </p:spPr>
        <p:txBody>
          <a:bodyPr wrap="none" lIns="0" tIns="0" rIns="0" bIns="0" rtlCol="0" anchor="ctr"/>
          <a:lstStyle/>
          <a:p>
            <a:pPr algn="ctr" indent="0" marL="0">
              <a:lnSpc>
                <a:spcPct val="115000"/>
              </a:lnSpc>
              <a:buNone/>
            </a:pPr>
            <a:r>
              <a:rPr lang="en-US" sz="2800" b="1" dirty="0">
                <a:solidFill>
                  <a:srgbClr val="0E1B3D"/>
                </a:solidFill>
                <a:latin typeface="Calibri" pitchFamily="34" charset="0"/>
                <a:ea typeface="Calibri" pitchFamily="34" charset="-122"/>
                <a:cs typeface="Calibri" pitchFamily="34" charset="-120"/>
              </a:rPr>
              <a:t>→</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20</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03 · CSS</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Cara kerja CSS</a:t>
            </a:r>
            <a:endParaRPr lang="en-US" sz="3800" dirty="0"/>
          </a:p>
        </p:txBody>
      </p:sp>
      <p:sp>
        <p:nvSpPr>
          <p:cNvPr id="6" name="Shape 4"/>
          <p:cNvSpPr/>
          <p:nvPr/>
        </p:nvSpPr>
        <p:spPr>
          <a:xfrm>
            <a:off x="731520" y="1737360"/>
            <a:ext cx="6675120" cy="2131568"/>
          </a:xfrm>
          <a:prstGeom prst="roundRect">
            <a:avLst>
              <a:gd name="adj" fmla="val 6006"/>
            </a:avLst>
          </a:prstGeom>
          <a:solidFill>
            <a:srgbClr val="0B1530"/>
          </a:solidFill>
          <a:ln/>
          <a:effectLst>
            <a:outerShdw sx="100000" sy="100000" kx="0" ky="0" algn="bl" rotWithShape="0" blurRad="177800" dist="38100" dir="5400000">
              <a:srgbClr val="000000">
                <a:alpha val="40000"/>
              </a:srgbClr>
            </a:outerShdw>
          </a:effectLst>
        </p:spPr>
      </p:sp>
      <p:sp>
        <p:nvSpPr>
          <p:cNvPr id="7" name="Shape 5"/>
          <p:cNvSpPr/>
          <p:nvPr/>
        </p:nvSpPr>
        <p:spPr>
          <a:xfrm>
            <a:off x="932688" y="1892808"/>
            <a:ext cx="109728" cy="109728"/>
          </a:xfrm>
          <a:prstGeom prst="ellipse">
            <a:avLst/>
          </a:prstGeom>
          <a:solidFill>
            <a:srgbClr val="E63946"/>
          </a:solidFill>
          <a:ln/>
        </p:spPr>
      </p:sp>
      <p:sp>
        <p:nvSpPr>
          <p:cNvPr id="8" name="Shape 6"/>
          <p:cNvSpPr/>
          <p:nvPr/>
        </p:nvSpPr>
        <p:spPr>
          <a:xfrm>
            <a:off x="1115568" y="1892808"/>
            <a:ext cx="109728" cy="109728"/>
          </a:xfrm>
          <a:prstGeom prst="ellipse">
            <a:avLst/>
          </a:prstGeom>
          <a:solidFill>
            <a:srgbClr val="FFC83D"/>
          </a:solidFill>
          <a:ln/>
        </p:spPr>
      </p:sp>
      <p:sp>
        <p:nvSpPr>
          <p:cNvPr id="9" name="Shape 7"/>
          <p:cNvSpPr/>
          <p:nvPr/>
        </p:nvSpPr>
        <p:spPr>
          <a:xfrm>
            <a:off x="1298448" y="1892808"/>
            <a:ext cx="109728" cy="109728"/>
          </a:xfrm>
          <a:prstGeom prst="ellipse">
            <a:avLst/>
          </a:prstGeom>
          <a:solidFill>
            <a:srgbClr val="1E9E68"/>
          </a:solidFill>
          <a:ln/>
        </p:spPr>
      </p:sp>
      <p:sp>
        <p:nvSpPr>
          <p:cNvPr id="10" name="Text 8"/>
          <p:cNvSpPr txBox="1"/>
          <p:nvPr/>
        </p:nvSpPr>
        <p:spPr>
          <a:xfrm>
            <a:off x="1645920" y="1810512"/>
            <a:ext cx="548640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Consolas" pitchFamily="34" charset="0"/>
                <a:ea typeface="Consolas" pitchFamily="34" charset="-122"/>
                <a:cs typeface="Consolas" pitchFamily="34" charset="-120"/>
              </a:rPr>
              <a:t>style.css</a:t>
            </a:r>
            <a:endParaRPr lang="en-US" sz="1200" dirty="0"/>
          </a:p>
        </p:txBody>
      </p:sp>
      <p:sp>
        <p:nvSpPr>
          <p:cNvPr id="11" name="Shape 9"/>
          <p:cNvSpPr/>
          <p:nvPr/>
        </p:nvSpPr>
        <p:spPr>
          <a:xfrm>
            <a:off x="804672" y="2636012"/>
            <a:ext cx="6528816" cy="368300"/>
          </a:xfrm>
          <a:prstGeom prst="rect">
            <a:avLst/>
          </a:prstGeom>
          <a:solidFill>
            <a:srgbClr val="FFC83D">
              <a:alpha val="16000"/>
            </a:srgbClr>
          </a:solidFill>
          <a:ln/>
        </p:spPr>
      </p:sp>
      <p:sp>
        <p:nvSpPr>
          <p:cNvPr id="12" name="Text 10"/>
          <p:cNvSpPr txBox="1"/>
          <p:nvPr/>
        </p:nvSpPr>
        <p:spPr>
          <a:xfrm>
            <a:off x="896112" y="22677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1</a:t>
            </a:r>
            <a:endParaRPr lang="en-US" sz="1400" dirty="0"/>
          </a:p>
        </p:txBody>
      </p:sp>
      <p:sp>
        <p:nvSpPr>
          <p:cNvPr id="13" name="Text 11"/>
          <p:cNvSpPr txBox="1"/>
          <p:nvPr/>
        </p:nvSpPr>
        <p:spPr>
          <a:xfrm>
            <a:off x="1417320" y="2267712"/>
            <a:ext cx="594360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h1</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14" name="Text 12"/>
          <p:cNvSpPr txBox="1"/>
          <p:nvPr/>
        </p:nvSpPr>
        <p:spPr>
          <a:xfrm>
            <a:off x="896112" y="26360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2</a:t>
            </a:r>
            <a:endParaRPr lang="en-US" sz="1400" dirty="0"/>
          </a:p>
        </p:txBody>
      </p:sp>
      <p:sp>
        <p:nvSpPr>
          <p:cNvPr id="15" name="Text 13"/>
          <p:cNvSpPr txBox="1"/>
          <p:nvPr/>
        </p:nvSpPr>
        <p:spPr>
          <a:xfrm>
            <a:off x="1417320" y="2636012"/>
            <a:ext cx="59436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color</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navy</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16" name="Text 14"/>
          <p:cNvSpPr txBox="1"/>
          <p:nvPr/>
        </p:nvSpPr>
        <p:spPr>
          <a:xfrm>
            <a:off x="896112" y="30043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3</a:t>
            </a:r>
            <a:endParaRPr lang="en-US" sz="1400" dirty="0"/>
          </a:p>
        </p:txBody>
      </p:sp>
      <p:sp>
        <p:nvSpPr>
          <p:cNvPr id="17" name="Text 15"/>
          <p:cNvSpPr txBox="1"/>
          <p:nvPr/>
        </p:nvSpPr>
        <p:spPr>
          <a:xfrm>
            <a:off x="1417320" y="3004312"/>
            <a:ext cx="59436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font-size</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40px</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18" name="Text 16"/>
          <p:cNvSpPr txBox="1"/>
          <p:nvPr/>
        </p:nvSpPr>
        <p:spPr>
          <a:xfrm>
            <a:off x="896112" y="33726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4</a:t>
            </a:r>
            <a:endParaRPr lang="en-US" sz="1400" dirty="0"/>
          </a:p>
        </p:txBody>
      </p:sp>
      <p:sp>
        <p:nvSpPr>
          <p:cNvPr id="19" name="Text 17"/>
          <p:cNvSpPr txBox="1"/>
          <p:nvPr/>
        </p:nvSpPr>
        <p:spPr>
          <a:xfrm>
            <a:off x="1417320" y="3372612"/>
            <a:ext cx="594360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0" name="Shape 18"/>
          <p:cNvSpPr/>
          <p:nvPr/>
        </p:nvSpPr>
        <p:spPr>
          <a:xfrm>
            <a:off x="731520" y="4143248"/>
            <a:ext cx="6675120" cy="1026668"/>
          </a:xfrm>
          <a:prstGeom prst="roundRect">
            <a:avLst>
              <a:gd name="adj" fmla="val 12469"/>
            </a:avLst>
          </a:prstGeom>
          <a:solidFill>
            <a:srgbClr val="0B1530"/>
          </a:solidFill>
          <a:ln/>
          <a:effectLst>
            <a:outerShdw sx="100000" sy="100000" kx="0" ky="0" algn="bl" rotWithShape="0" blurRad="177800" dist="38100" dir="5400000">
              <a:srgbClr val="000000">
                <a:alpha val="40000"/>
              </a:srgbClr>
            </a:outerShdw>
          </a:effectLst>
        </p:spPr>
      </p:sp>
      <p:sp>
        <p:nvSpPr>
          <p:cNvPr id="21" name="Shape 19"/>
          <p:cNvSpPr/>
          <p:nvPr/>
        </p:nvSpPr>
        <p:spPr>
          <a:xfrm>
            <a:off x="932688" y="4298696"/>
            <a:ext cx="109728" cy="109728"/>
          </a:xfrm>
          <a:prstGeom prst="ellipse">
            <a:avLst/>
          </a:prstGeom>
          <a:solidFill>
            <a:srgbClr val="E63946"/>
          </a:solidFill>
          <a:ln/>
        </p:spPr>
      </p:sp>
      <p:sp>
        <p:nvSpPr>
          <p:cNvPr id="22" name="Shape 20"/>
          <p:cNvSpPr/>
          <p:nvPr/>
        </p:nvSpPr>
        <p:spPr>
          <a:xfrm>
            <a:off x="1115568" y="4298696"/>
            <a:ext cx="109728" cy="109728"/>
          </a:xfrm>
          <a:prstGeom prst="ellipse">
            <a:avLst/>
          </a:prstGeom>
          <a:solidFill>
            <a:srgbClr val="FFC83D"/>
          </a:solidFill>
          <a:ln/>
        </p:spPr>
      </p:sp>
      <p:sp>
        <p:nvSpPr>
          <p:cNvPr id="23" name="Shape 21"/>
          <p:cNvSpPr/>
          <p:nvPr/>
        </p:nvSpPr>
        <p:spPr>
          <a:xfrm>
            <a:off x="1298448" y="4298696"/>
            <a:ext cx="109728" cy="109728"/>
          </a:xfrm>
          <a:prstGeom prst="ellipse">
            <a:avLst/>
          </a:prstGeom>
          <a:solidFill>
            <a:srgbClr val="1E9E68"/>
          </a:solidFill>
          <a:ln/>
        </p:spPr>
      </p:sp>
      <p:sp>
        <p:nvSpPr>
          <p:cNvPr id="24" name="Text 22"/>
          <p:cNvSpPr txBox="1"/>
          <p:nvPr/>
        </p:nvSpPr>
        <p:spPr>
          <a:xfrm>
            <a:off x="1645920" y="4216400"/>
            <a:ext cx="548640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Consolas" pitchFamily="34" charset="0"/>
                <a:ea typeface="Consolas" pitchFamily="34" charset="-122"/>
                <a:cs typeface="Consolas" pitchFamily="34" charset="-120"/>
              </a:rPr>
              <a:t>index.html  (di dalam &lt;head&gt;)</a:t>
            </a:r>
            <a:endParaRPr lang="en-US" sz="1200" dirty="0"/>
          </a:p>
        </p:txBody>
      </p:sp>
      <p:sp>
        <p:nvSpPr>
          <p:cNvPr id="25" name="Text 23"/>
          <p:cNvSpPr txBox="1"/>
          <p:nvPr/>
        </p:nvSpPr>
        <p:spPr>
          <a:xfrm>
            <a:off x="1005840" y="4673600"/>
            <a:ext cx="594360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link</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rel</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"stylesheet"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href</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"style.css"</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&gt;</a:t>
            </a:r>
            <a:endParaRPr lang="en-US" sz="2000" dirty="0"/>
          </a:p>
        </p:txBody>
      </p:sp>
      <p:sp>
        <p:nvSpPr>
          <p:cNvPr id="26" name="Text 24"/>
          <p:cNvSpPr txBox="1"/>
          <p:nvPr/>
        </p:nvSpPr>
        <p:spPr>
          <a:xfrm>
            <a:off x="731520" y="5352796"/>
            <a:ext cx="6675120" cy="365760"/>
          </a:xfrm>
          <a:prstGeom prst="rect">
            <a:avLst/>
          </a:prstGeom>
          <a:noFill/>
          <a:ln/>
        </p:spPr>
        <p:txBody>
          <a:bodyPr wrap="square" lIns="0" tIns="0" rIns="0" bIns="0" rtlCol="0" anchor="t"/>
          <a:lstStyle/>
          <a:p>
            <a:pPr algn="l" indent="0" marL="0">
              <a:lnSpc>
                <a:spcPct val="115000"/>
              </a:lnSpc>
              <a:buNone/>
            </a:pPr>
            <a:r>
              <a:rPr lang="en-US" sz="1600" dirty="0">
                <a:solidFill>
                  <a:srgbClr val="5B6478"/>
                </a:solidFill>
                <a:latin typeface="Calibri" pitchFamily="34" charset="0"/>
                <a:ea typeface="Calibri" pitchFamily="34" charset="-122"/>
                <a:cs typeface="Calibri" pitchFamily="34" charset="-120"/>
              </a:rPr>
              <a:t>Satu baris ini menghubungkan HTML dengan CSS.</a:t>
            </a:r>
            <a:endParaRPr lang="en-US" sz="1600" dirty="0"/>
          </a:p>
        </p:txBody>
      </p:sp>
      <p:sp>
        <p:nvSpPr>
          <p:cNvPr id="27" name="Shape 25"/>
          <p:cNvSpPr/>
          <p:nvPr/>
        </p:nvSpPr>
        <p:spPr>
          <a:xfrm>
            <a:off x="7955280" y="1828800"/>
            <a:ext cx="1691640" cy="457200"/>
          </a:xfrm>
          <a:prstGeom prst="roundRect">
            <a:avLst>
              <a:gd name="adj" fmla="val 24000"/>
            </a:avLst>
          </a:prstGeom>
          <a:solidFill>
            <a:srgbClr val="0B1530"/>
          </a:solidFill>
          <a:ln/>
        </p:spPr>
      </p:sp>
      <p:sp>
        <p:nvSpPr>
          <p:cNvPr id="28" name="Text 26"/>
          <p:cNvSpPr txBox="1"/>
          <p:nvPr/>
        </p:nvSpPr>
        <p:spPr>
          <a:xfrm>
            <a:off x="7955280" y="1828800"/>
            <a:ext cx="1691640" cy="457200"/>
          </a:xfrm>
          <a:prstGeom prst="rect">
            <a:avLst/>
          </a:prstGeom>
          <a:noFill/>
          <a:ln/>
        </p:spPr>
        <p:txBody>
          <a:bodyPr wrap="none" lIns="0" tIns="0" rIns="0" bIns="0" rtlCol="0" anchor="ctr"/>
          <a:lstStyle/>
          <a:p>
            <a:pPr algn="ctr" indent="0" marL="0">
              <a:lnSpc>
                <a:spcPct val="115000"/>
              </a:lnSpc>
              <a:buNone/>
            </a:pPr>
            <a:r>
              <a:rPr lang="en-US" sz="1600" b="1" dirty="0">
                <a:solidFill>
                  <a:srgbClr val="FFD36E"/>
                </a:solidFill>
                <a:latin typeface="Consolas" pitchFamily="34" charset="0"/>
                <a:ea typeface="Consolas" pitchFamily="34" charset="-122"/>
                <a:cs typeface="Consolas" pitchFamily="34" charset="-120"/>
              </a:rPr>
              <a:t>selector</a:t>
            </a:r>
            <a:endParaRPr lang="en-US" sz="1600" dirty="0"/>
          </a:p>
        </p:txBody>
      </p:sp>
      <p:sp>
        <p:nvSpPr>
          <p:cNvPr id="29" name="Text 27"/>
          <p:cNvSpPr txBox="1"/>
          <p:nvPr/>
        </p:nvSpPr>
        <p:spPr>
          <a:xfrm>
            <a:off x="9784080" y="1828800"/>
            <a:ext cx="1645920" cy="548640"/>
          </a:xfrm>
          <a:prstGeom prst="rect">
            <a:avLst/>
          </a:prstGeom>
          <a:noFill/>
          <a:ln/>
        </p:spPr>
        <p:txBody>
          <a:bodyPr wrap="square" lIns="0" tIns="0" rIns="0" bIns="0" rtlCol="0" anchor="ctr"/>
          <a:lstStyle/>
          <a:p>
            <a:pPr algn="l" indent="0" marL="0">
              <a:lnSpc>
                <a:spcPct val="125000"/>
              </a:lnSpc>
              <a:buNone/>
            </a:pPr>
            <a:r>
              <a:rPr lang="en-US" sz="1400" dirty="0">
                <a:solidFill>
                  <a:srgbClr val="0E1B3D"/>
                </a:solidFill>
                <a:latin typeface="Calibri" pitchFamily="34" charset="0"/>
                <a:ea typeface="Calibri" pitchFamily="34" charset="-122"/>
                <a:cs typeface="Calibri" pitchFamily="34" charset="-120"/>
              </a:rPr>
              <a:t>siapa yang didandani (h1)</a:t>
            </a:r>
            <a:endParaRPr lang="en-US" sz="1400" dirty="0"/>
          </a:p>
        </p:txBody>
      </p:sp>
      <p:sp>
        <p:nvSpPr>
          <p:cNvPr id="30" name="Shape 28"/>
          <p:cNvSpPr/>
          <p:nvPr/>
        </p:nvSpPr>
        <p:spPr>
          <a:xfrm>
            <a:off x="7955280" y="2697480"/>
            <a:ext cx="1691640" cy="457200"/>
          </a:xfrm>
          <a:prstGeom prst="roundRect">
            <a:avLst>
              <a:gd name="adj" fmla="val 24000"/>
            </a:avLst>
          </a:prstGeom>
          <a:solidFill>
            <a:srgbClr val="0B1530"/>
          </a:solidFill>
          <a:ln/>
        </p:spPr>
      </p:sp>
      <p:sp>
        <p:nvSpPr>
          <p:cNvPr id="31" name="Text 29"/>
          <p:cNvSpPr txBox="1"/>
          <p:nvPr/>
        </p:nvSpPr>
        <p:spPr>
          <a:xfrm>
            <a:off x="7955280" y="2697480"/>
            <a:ext cx="1691640" cy="457200"/>
          </a:xfrm>
          <a:prstGeom prst="rect">
            <a:avLst/>
          </a:prstGeom>
          <a:noFill/>
          <a:ln/>
        </p:spPr>
        <p:txBody>
          <a:bodyPr wrap="none" lIns="0" tIns="0" rIns="0" bIns="0" rtlCol="0" anchor="ctr"/>
          <a:lstStyle/>
          <a:p>
            <a:pPr algn="ctr" indent="0" marL="0">
              <a:lnSpc>
                <a:spcPct val="115000"/>
              </a:lnSpc>
              <a:buNone/>
            </a:pPr>
            <a:r>
              <a:rPr lang="en-US" sz="1600" b="1" dirty="0">
                <a:solidFill>
                  <a:srgbClr val="8DB4FF"/>
                </a:solidFill>
                <a:latin typeface="Consolas" pitchFamily="34" charset="0"/>
                <a:ea typeface="Consolas" pitchFamily="34" charset="-122"/>
                <a:cs typeface="Consolas" pitchFamily="34" charset="-120"/>
              </a:rPr>
              <a:t>property</a:t>
            </a:r>
            <a:endParaRPr lang="en-US" sz="1600" dirty="0"/>
          </a:p>
        </p:txBody>
      </p:sp>
      <p:sp>
        <p:nvSpPr>
          <p:cNvPr id="32" name="Text 30"/>
          <p:cNvSpPr txBox="1"/>
          <p:nvPr/>
        </p:nvSpPr>
        <p:spPr>
          <a:xfrm>
            <a:off x="9784080" y="2697480"/>
            <a:ext cx="1645920" cy="548640"/>
          </a:xfrm>
          <a:prstGeom prst="rect">
            <a:avLst/>
          </a:prstGeom>
          <a:noFill/>
          <a:ln/>
        </p:spPr>
        <p:txBody>
          <a:bodyPr wrap="square" lIns="0" tIns="0" rIns="0" bIns="0" rtlCol="0" anchor="ctr"/>
          <a:lstStyle/>
          <a:p>
            <a:pPr algn="l" indent="0" marL="0">
              <a:lnSpc>
                <a:spcPct val="125000"/>
              </a:lnSpc>
              <a:buNone/>
            </a:pPr>
            <a:r>
              <a:rPr lang="en-US" sz="1400" dirty="0">
                <a:solidFill>
                  <a:srgbClr val="0E1B3D"/>
                </a:solidFill>
                <a:latin typeface="Calibri" pitchFamily="34" charset="0"/>
                <a:ea typeface="Calibri" pitchFamily="34" charset="-122"/>
                <a:cs typeface="Calibri" pitchFamily="34" charset="-120"/>
              </a:rPr>
              <a:t>apa yang diubah (color)</a:t>
            </a:r>
            <a:endParaRPr lang="en-US" sz="1400" dirty="0"/>
          </a:p>
        </p:txBody>
      </p:sp>
      <p:sp>
        <p:nvSpPr>
          <p:cNvPr id="33" name="Shape 31"/>
          <p:cNvSpPr/>
          <p:nvPr/>
        </p:nvSpPr>
        <p:spPr>
          <a:xfrm>
            <a:off x="7955280" y="3566160"/>
            <a:ext cx="1691640" cy="457200"/>
          </a:xfrm>
          <a:prstGeom prst="roundRect">
            <a:avLst>
              <a:gd name="adj" fmla="val 24000"/>
            </a:avLst>
          </a:prstGeom>
          <a:solidFill>
            <a:srgbClr val="0B1530"/>
          </a:solidFill>
          <a:ln/>
        </p:spPr>
      </p:sp>
      <p:sp>
        <p:nvSpPr>
          <p:cNvPr id="34" name="Text 32"/>
          <p:cNvSpPr txBox="1"/>
          <p:nvPr/>
        </p:nvSpPr>
        <p:spPr>
          <a:xfrm>
            <a:off x="7955280" y="3566160"/>
            <a:ext cx="1691640" cy="457200"/>
          </a:xfrm>
          <a:prstGeom prst="rect">
            <a:avLst/>
          </a:prstGeom>
          <a:noFill/>
          <a:ln/>
        </p:spPr>
        <p:txBody>
          <a:bodyPr wrap="none" lIns="0" tIns="0" rIns="0" bIns="0" rtlCol="0" anchor="ctr"/>
          <a:lstStyle/>
          <a:p>
            <a:pPr algn="ctr" indent="0" marL="0">
              <a:lnSpc>
                <a:spcPct val="115000"/>
              </a:lnSpc>
              <a:buNone/>
            </a:pPr>
            <a:r>
              <a:rPr lang="en-US" sz="1600" b="1" dirty="0">
                <a:solidFill>
                  <a:srgbClr val="8FE3B0"/>
                </a:solidFill>
                <a:latin typeface="Consolas" pitchFamily="34" charset="0"/>
                <a:ea typeface="Consolas" pitchFamily="34" charset="-122"/>
                <a:cs typeface="Consolas" pitchFamily="34" charset="-120"/>
              </a:rPr>
              <a:t>value</a:t>
            </a:r>
            <a:endParaRPr lang="en-US" sz="1600" dirty="0"/>
          </a:p>
        </p:txBody>
      </p:sp>
      <p:sp>
        <p:nvSpPr>
          <p:cNvPr id="35" name="Text 33"/>
          <p:cNvSpPr txBox="1"/>
          <p:nvPr/>
        </p:nvSpPr>
        <p:spPr>
          <a:xfrm>
            <a:off x="9784080" y="3566160"/>
            <a:ext cx="1645920" cy="548640"/>
          </a:xfrm>
          <a:prstGeom prst="rect">
            <a:avLst/>
          </a:prstGeom>
          <a:noFill/>
          <a:ln/>
        </p:spPr>
        <p:txBody>
          <a:bodyPr wrap="square" lIns="0" tIns="0" rIns="0" bIns="0" rtlCol="0" anchor="ctr"/>
          <a:lstStyle/>
          <a:p>
            <a:pPr algn="l" indent="0" marL="0">
              <a:lnSpc>
                <a:spcPct val="125000"/>
              </a:lnSpc>
              <a:buNone/>
            </a:pPr>
            <a:r>
              <a:rPr lang="en-US" sz="1400" dirty="0">
                <a:solidFill>
                  <a:srgbClr val="0E1B3D"/>
                </a:solidFill>
                <a:latin typeface="Calibri" pitchFamily="34" charset="0"/>
                <a:ea typeface="Calibri" pitchFamily="34" charset="-122"/>
                <a:cs typeface="Calibri" pitchFamily="34" charset="-120"/>
              </a:rPr>
              <a:t>jadi apa (navy)</a:t>
            </a:r>
            <a:endParaRPr lang="en-US" sz="1400" dirty="0"/>
          </a:p>
        </p:txBody>
      </p:sp>
      <p:sp>
        <p:nvSpPr>
          <p:cNvPr id="36" name="Shape 34"/>
          <p:cNvSpPr/>
          <p:nvPr/>
        </p:nvSpPr>
        <p:spPr>
          <a:xfrm>
            <a:off x="7955280" y="4526280"/>
            <a:ext cx="3474720" cy="0"/>
          </a:xfrm>
          <a:prstGeom prst="line">
            <a:avLst/>
          </a:prstGeom>
          <a:noFill/>
          <a:ln w="12700">
            <a:solidFill>
              <a:srgbClr val="E3DFD6"/>
            </a:solidFill>
            <a:prstDash val="solid"/>
          </a:ln>
        </p:spPr>
      </p:sp>
      <p:sp>
        <p:nvSpPr>
          <p:cNvPr id="37" name="Text 35"/>
          <p:cNvSpPr txBox="1"/>
          <p:nvPr/>
        </p:nvSpPr>
        <p:spPr>
          <a:xfrm>
            <a:off x="7955280" y="4617720"/>
            <a:ext cx="3474720" cy="274320"/>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1F4FD8"/>
                </a:solidFill>
                <a:latin typeface="Calibri" pitchFamily="34" charset="0"/>
                <a:ea typeface="Calibri" pitchFamily="34" charset="-122"/>
                <a:cs typeface="Calibri" pitchFamily="34" charset="-120"/>
              </a:rPr>
              <a:t>HASIL</a:t>
            </a:r>
            <a:endParaRPr lang="en-US" sz="1100" dirty="0"/>
          </a:p>
        </p:txBody>
      </p:sp>
      <p:sp>
        <p:nvSpPr>
          <p:cNvPr id="38" name="Text 36"/>
          <p:cNvSpPr txBox="1"/>
          <p:nvPr/>
        </p:nvSpPr>
        <p:spPr>
          <a:xfrm>
            <a:off x="7955280" y="4937760"/>
            <a:ext cx="3474720" cy="731520"/>
          </a:xfrm>
          <a:prstGeom prst="rect">
            <a:avLst/>
          </a:prstGeom>
          <a:noFill/>
          <a:ln/>
        </p:spPr>
        <p:txBody>
          <a:bodyPr wrap="none" lIns="0" tIns="0" rIns="0" bIns="0" rtlCol="0" anchor="t"/>
          <a:lstStyle/>
          <a:p>
            <a:pPr algn="l" indent="0" marL="0">
              <a:lnSpc>
                <a:spcPct val="115000"/>
              </a:lnSpc>
              <a:buNone/>
            </a:pPr>
            <a:r>
              <a:rPr lang="en-US" sz="4000" b="1" dirty="0">
                <a:solidFill>
                  <a:srgbClr val="000080"/>
                </a:solidFill>
                <a:latin typeface="Calibri" pitchFamily="34" charset="0"/>
                <a:ea typeface="Calibri" pitchFamily="34" charset="-122"/>
                <a:cs typeface="Calibri" pitchFamily="34" charset="-120"/>
              </a:rPr>
              <a:t>Alya Putri</a:t>
            </a:r>
            <a:endParaRPr lang="en-US" sz="4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21</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03 · CSS</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Selector: cara memilih elemen</a:t>
            </a:r>
            <a:endParaRPr lang="en-US" sz="3800" dirty="0"/>
          </a:p>
        </p:txBody>
      </p:sp>
      <p:sp>
        <p:nvSpPr>
          <p:cNvPr id="6" name="Shape 4"/>
          <p:cNvSpPr/>
          <p:nvPr/>
        </p:nvSpPr>
        <p:spPr>
          <a:xfrm>
            <a:off x="731520" y="1783080"/>
            <a:ext cx="10698480" cy="0"/>
          </a:xfrm>
          <a:prstGeom prst="line">
            <a:avLst/>
          </a:prstGeom>
          <a:noFill/>
          <a:ln w="12700">
            <a:solidFill>
              <a:srgbClr val="E3DFD6"/>
            </a:solidFill>
            <a:prstDash val="solid"/>
          </a:ln>
        </p:spPr>
      </p:sp>
      <p:sp>
        <p:nvSpPr>
          <p:cNvPr id="7" name="Text 5"/>
          <p:cNvSpPr txBox="1"/>
          <p:nvPr/>
        </p:nvSpPr>
        <p:spPr>
          <a:xfrm>
            <a:off x="731520" y="1920240"/>
            <a:ext cx="3200400" cy="822960"/>
          </a:xfrm>
          <a:prstGeom prst="rect">
            <a:avLst/>
          </a:prstGeom>
          <a:noFill/>
          <a:ln/>
        </p:spPr>
        <p:txBody>
          <a:bodyPr wrap="none" lIns="0" tIns="0" rIns="0" bIns="0" rtlCol="0" anchor="ctr"/>
          <a:lstStyle/>
          <a:p>
            <a:pPr algn="l" indent="0" marL="0">
              <a:lnSpc>
                <a:spcPct val="115000"/>
              </a:lnSpc>
              <a:buNone/>
            </a:pPr>
            <a:r>
              <a:rPr lang="en-US" sz="2800" b="1" dirty="0">
                <a:solidFill>
                  <a:srgbClr val="1F4FD8"/>
                </a:solidFill>
                <a:latin typeface="Consolas" pitchFamily="34" charset="0"/>
                <a:ea typeface="Consolas" pitchFamily="34" charset="-122"/>
                <a:cs typeface="Consolas" pitchFamily="34" charset="-120"/>
              </a:rPr>
              <a:t>p { }</a:t>
            </a:r>
            <a:endParaRPr lang="en-US" sz="2800" dirty="0"/>
          </a:p>
        </p:txBody>
      </p:sp>
      <p:sp>
        <p:nvSpPr>
          <p:cNvPr id="8" name="Shape 6"/>
          <p:cNvSpPr/>
          <p:nvPr/>
        </p:nvSpPr>
        <p:spPr>
          <a:xfrm>
            <a:off x="4114800" y="2057400"/>
            <a:ext cx="3566160" cy="548640"/>
          </a:xfrm>
          <a:prstGeom prst="roundRect">
            <a:avLst>
              <a:gd name="adj" fmla="val 20000"/>
            </a:avLst>
          </a:prstGeom>
          <a:solidFill>
            <a:srgbClr val="0B1530"/>
          </a:solidFill>
          <a:ln/>
        </p:spPr>
      </p:sp>
      <p:sp>
        <p:nvSpPr>
          <p:cNvPr id="9" name="Text 7"/>
          <p:cNvSpPr txBox="1"/>
          <p:nvPr/>
        </p:nvSpPr>
        <p:spPr>
          <a:xfrm>
            <a:off x="4297680" y="2057400"/>
            <a:ext cx="3291840" cy="548640"/>
          </a:xfrm>
          <a:prstGeom prst="rect">
            <a:avLst/>
          </a:prstGeom>
          <a:noFill/>
          <a:ln/>
        </p:spPr>
        <p:txBody>
          <a:bodyPr wrap="none" lIns="0" tIns="0" rIns="0" bIns="0" rtlCol="0" anchor="ctr"/>
          <a:lstStyle/>
          <a:p>
            <a:pPr algn="l" indent="0" marL="0">
              <a:lnSpc>
                <a:spcPct val="115000"/>
              </a:lnSpc>
              <a:buNone/>
            </a:pPr>
            <a:r>
              <a:rPr lang="en-US" sz="1700" dirty="0">
                <a:solidFill>
                  <a:srgbClr val="F4F6FB"/>
                </a:solidFill>
                <a:latin typeface="Consolas" pitchFamily="34" charset="0"/>
                <a:ea typeface="Consolas" pitchFamily="34" charset="-122"/>
                <a:cs typeface="Consolas" pitchFamily="34" charset="-120"/>
              </a:rPr>
              <a:t>&lt;p&gt;Halo&lt;/p&gt;</a:t>
            </a:r>
            <a:endParaRPr lang="en-US" sz="1700" dirty="0"/>
          </a:p>
        </p:txBody>
      </p:sp>
      <p:sp>
        <p:nvSpPr>
          <p:cNvPr id="10" name="Text 8"/>
          <p:cNvSpPr txBox="1"/>
          <p:nvPr/>
        </p:nvSpPr>
        <p:spPr>
          <a:xfrm>
            <a:off x="8046720" y="1920240"/>
            <a:ext cx="3383280" cy="822960"/>
          </a:xfrm>
          <a:prstGeom prst="rect">
            <a:avLst/>
          </a:prstGeom>
          <a:noFill/>
          <a:ln/>
        </p:spPr>
        <p:txBody>
          <a:bodyPr wrap="square" lIns="0" tIns="0" rIns="0" bIns="0" rtlCol="0" anchor="ctr"/>
          <a:lstStyle/>
          <a:p>
            <a:pPr algn="l" indent="0" marL="0">
              <a:lnSpc>
                <a:spcPct val="130000"/>
              </a:lnSpc>
              <a:buNone/>
            </a:pPr>
            <a:r>
              <a:rPr lang="en-US" sz="1600" dirty="0">
                <a:solidFill>
                  <a:srgbClr val="0E1B3D"/>
                </a:solidFill>
                <a:latin typeface="Calibri" pitchFamily="34" charset="0"/>
                <a:ea typeface="Calibri" pitchFamily="34" charset="-122"/>
                <a:cs typeface="Calibri" pitchFamily="34" charset="-120"/>
              </a:rPr>
              <a:t>Semua elemen p.</a:t>
            </a:r>
            <a:endParaRPr lang="en-US" sz="1600" dirty="0"/>
          </a:p>
        </p:txBody>
      </p:sp>
      <p:sp>
        <p:nvSpPr>
          <p:cNvPr id="11" name="Shape 9"/>
          <p:cNvSpPr/>
          <p:nvPr/>
        </p:nvSpPr>
        <p:spPr>
          <a:xfrm>
            <a:off x="731520" y="2971800"/>
            <a:ext cx="10698480" cy="0"/>
          </a:xfrm>
          <a:prstGeom prst="line">
            <a:avLst/>
          </a:prstGeom>
          <a:noFill/>
          <a:ln w="12700">
            <a:solidFill>
              <a:srgbClr val="E3DFD6"/>
            </a:solidFill>
            <a:prstDash val="solid"/>
          </a:ln>
        </p:spPr>
      </p:sp>
      <p:sp>
        <p:nvSpPr>
          <p:cNvPr id="12" name="Text 10"/>
          <p:cNvSpPr txBox="1"/>
          <p:nvPr/>
        </p:nvSpPr>
        <p:spPr>
          <a:xfrm>
            <a:off x="731520" y="3108960"/>
            <a:ext cx="3200400" cy="822960"/>
          </a:xfrm>
          <a:prstGeom prst="rect">
            <a:avLst/>
          </a:prstGeom>
          <a:noFill/>
          <a:ln/>
        </p:spPr>
        <p:txBody>
          <a:bodyPr wrap="none" lIns="0" tIns="0" rIns="0" bIns="0" rtlCol="0" anchor="ctr"/>
          <a:lstStyle/>
          <a:p>
            <a:pPr algn="l" indent="0" marL="0">
              <a:lnSpc>
                <a:spcPct val="115000"/>
              </a:lnSpc>
              <a:buNone/>
            </a:pPr>
            <a:r>
              <a:rPr lang="en-US" sz="2800" b="1" dirty="0">
                <a:solidFill>
                  <a:srgbClr val="1F4FD8"/>
                </a:solidFill>
                <a:latin typeface="Consolas" pitchFamily="34" charset="0"/>
                <a:ea typeface="Consolas" pitchFamily="34" charset="-122"/>
                <a:cs typeface="Consolas" pitchFamily="34" charset="-120"/>
              </a:rPr>
              <a:t>.kartu { }</a:t>
            </a:r>
            <a:endParaRPr lang="en-US" sz="2800" dirty="0"/>
          </a:p>
        </p:txBody>
      </p:sp>
      <p:sp>
        <p:nvSpPr>
          <p:cNvPr id="13" name="Shape 11"/>
          <p:cNvSpPr/>
          <p:nvPr/>
        </p:nvSpPr>
        <p:spPr>
          <a:xfrm>
            <a:off x="4114800" y="3246120"/>
            <a:ext cx="3566160" cy="548640"/>
          </a:xfrm>
          <a:prstGeom prst="roundRect">
            <a:avLst>
              <a:gd name="adj" fmla="val 20000"/>
            </a:avLst>
          </a:prstGeom>
          <a:solidFill>
            <a:srgbClr val="0B1530"/>
          </a:solidFill>
          <a:ln/>
        </p:spPr>
      </p:sp>
      <p:sp>
        <p:nvSpPr>
          <p:cNvPr id="14" name="Text 12"/>
          <p:cNvSpPr txBox="1"/>
          <p:nvPr/>
        </p:nvSpPr>
        <p:spPr>
          <a:xfrm>
            <a:off x="4297680" y="3246120"/>
            <a:ext cx="3291840" cy="548640"/>
          </a:xfrm>
          <a:prstGeom prst="rect">
            <a:avLst/>
          </a:prstGeom>
          <a:noFill/>
          <a:ln/>
        </p:spPr>
        <p:txBody>
          <a:bodyPr wrap="none" lIns="0" tIns="0" rIns="0" bIns="0" rtlCol="0" anchor="ctr"/>
          <a:lstStyle/>
          <a:p>
            <a:pPr algn="l" indent="0" marL="0">
              <a:lnSpc>
                <a:spcPct val="115000"/>
              </a:lnSpc>
              <a:buNone/>
            </a:pPr>
            <a:r>
              <a:rPr lang="en-US" sz="1700" dirty="0">
                <a:solidFill>
                  <a:srgbClr val="F4F6FB"/>
                </a:solidFill>
                <a:latin typeface="Consolas" pitchFamily="34" charset="0"/>
                <a:ea typeface="Consolas" pitchFamily="34" charset="-122"/>
                <a:cs typeface="Consolas" pitchFamily="34" charset="-120"/>
              </a:rPr>
              <a:t>&lt;div class="kartu"&gt;</a:t>
            </a:r>
            <a:endParaRPr lang="en-US" sz="1700" dirty="0"/>
          </a:p>
        </p:txBody>
      </p:sp>
      <p:sp>
        <p:nvSpPr>
          <p:cNvPr id="15" name="Text 13"/>
          <p:cNvSpPr txBox="1"/>
          <p:nvPr/>
        </p:nvSpPr>
        <p:spPr>
          <a:xfrm>
            <a:off x="8046720" y="3108960"/>
            <a:ext cx="3383280" cy="822960"/>
          </a:xfrm>
          <a:prstGeom prst="rect">
            <a:avLst/>
          </a:prstGeom>
          <a:noFill/>
          <a:ln/>
        </p:spPr>
        <p:txBody>
          <a:bodyPr wrap="square" lIns="0" tIns="0" rIns="0" bIns="0" rtlCol="0" anchor="ctr"/>
          <a:lstStyle/>
          <a:p>
            <a:pPr algn="l" indent="0" marL="0">
              <a:lnSpc>
                <a:spcPct val="130000"/>
              </a:lnSpc>
              <a:buNone/>
            </a:pPr>
            <a:r>
              <a:rPr lang="en-US" sz="1600" dirty="0">
                <a:solidFill>
                  <a:srgbClr val="0E1B3D"/>
                </a:solidFill>
                <a:latin typeface="Calibri" pitchFamily="34" charset="0"/>
                <a:ea typeface="Calibri" pitchFamily="34" charset="-122"/>
                <a:cs typeface="Calibri" pitchFamily="34" charset="-120"/>
              </a:rPr>
              <a:t>Semua elemen ber-class kartu. Boleh dipakai berkali-kali.</a:t>
            </a:r>
            <a:endParaRPr lang="en-US" sz="1600" dirty="0"/>
          </a:p>
        </p:txBody>
      </p:sp>
      <p:sp>
        <p:nvSpPr>
          <p:cNvPr id="16" name="Shape 14"/>
          <p:cNvSpPr/>
          <p:nvPr/>
        </p:nvSpPr>
        <p:spPr>
          <a:xfrm>
            <a:off x="731520" y="4160520"/>
            <a:ext cx="10698480" cy="0"/>
          </a:xfrm>
          <a:prstGeom prst="line">
            <a:avLst/>
          </a:prstGeom>
          <a:noFill/>
          <a:ln w="12700">
            <a:solidFill>
              <a:srgbClr val="E3DFD6"/>
            </a:solidFill>
            <a:prstDash val="solid"/>
          </a:ln>
        </p:spPr>
      </p:sp>
      <p:sp>
        <p:nvSpPr>
          <p:cNvPr id="17" name="Text 15"/>
          <p:cNvSpPr txBox="1"/>
          <p:nvPr/>
        </p:nvSpPr>
        <p:spPr>
          <a:xfrm>
            <a:off x="731520" y="4297680"/>
            <a:ext cx="3200400" cy="822960"/>
          </a:xfrm>
          <a:prstGeom prst="rect">
            <a:avLst/>
          </a:prstGeom>
          <a:noFill/>
          <a:ln/>
        </p:spPr>
        <p:txBody>
          <a:bodyPr wrap="none" lIns="0" tIns="0" rIns="0" bIns="0" rtlCol="0" anchor="ctr"/>
          <a:lstStyle/>
          <a:p>
            <a:pPr algn="l" indent="0" marL="0">
              <a:lnSpc>
                <a:spcPct val="115000"/>
              </a:lnSpc>
              <a:buNone/>
            </a:pPr>
            <a:r>
              <a:rPr lang="en-US" sz="2800" b="1" dirty="0">
                <a:solidFill>
                  <a:srgbClr val="1F4FD8"/>
                </a:solidFill>
                <a:latin typeface="Consolas" pitchFamily="34" charset="0"/>
                <a:ea typeface="Consolas" pitchFamily="34" charset="-122"/>
                <a:cs typeface="Consolas" pitchFamily="34" charset="-120"/>
              </a:rPr>
              <a:t>#header { }</a:t>
            </a:r>
            <a:endParaRPr lang="en-US" sz="2800" dirty="0"/>
          </a:p>
        </p:txBody>
      </p:sp>
      <p:sp>
        <p:nvSpPr>
          <p:cNvPr id="18" name="Shape 16"/>
          <p:cNvSpPr/>
          <p:nvPr/>
        </p:nvSpPr>
        <p:spPr>
          <a:xfrm>
            <a:off x="4114800" y="4434840"/>
            <a:ext cx="3566160" cy="548640"/>
          </a:xfrm>
          <a:prstGeom prst="roundRect">
            <a:avLst>
              <a:gd name="adj" fmla="val 20000"/>
            </a:avLst>
          </a:prstGeom>
          <a:solidFill>
            <a:srgbClr val="0B1530"/>
          </a:solidFill>
          <a:ln/>
        </p:spPr>
      </p:sp>
      <p:sp>
        <p:nvSpPr>
          <p:cNvPr id="19" name="Text 17"/>
          <p:cNvSpPr txBox="1"/>
          <p:nvPr/>
        </p:nvSpPr>
        <p:spPr>
          <a:xfrm>
            <a:off x="4297680" y="4434840"/>
            <a:ext cx="3291840" cy="548640"/>
          </a:xfrm>
          <a:prstGeom prst="rect">
            <a:avLst/>
          </a:prstGeom>
          <a:noFill/>
          <a:ln/>
        </p:spPr>
        <p:txBody>
          <a:bodyPr wrap="none" lIns="0" tIns="0" rIns="0" bIns="0" rtlCol="0" anchor="ctr"/>
          <a:lstStyle/>
          <a:p>
            <a:pPr algn="l" indent="0" marL="0">
              <a:lnSpc>
                <a:spcPct val="115000"/>
              </a:lnSpc>
              <a:buNone/>
            </a:pPr>
            <a:r>
              <a:rPr lang="en-US" sz="1700" dirty="0">
                <a:solidFill>
                  <a:srgbClr val="F4F6FB"/>
                </a:solidFill>
                <a:latin typeface="Consolas" pitchFamily="34" charset="0"/>
                <a:ea typeface="Consolas" pitchFamily="34" charset="-122"/>
                <a:cs typeface="Consolas" pitchFamily="34" charset="-120"/>
              </a:rPr>
              <a:t>&lt;header id="header"&gt;</a:t>
            </a:r>
            <a:endParaRPr lang="en-US" sz="1700" dirty="0"/>
          </a:p>
        </p:txBody>
      </p:sp>
      <p:sp>
        <p:nvSpPr>
          <p:cNvPr id="20" name="Text 18"/>
          <p:cNvSpPr txBox="1"/>
          <p:nvPr/>
        </p:nvSpPr>
        <p:spPr>
          <a:xfrm>
            <a:off x="8046720" y="4297680"/>
            <a:ext cx="3383280" cy="822960"/>
          </a:xfrm>
          <a:prstGeom prst="rect">
            <a:avLst/>
          </a:prstGeom>
          <a:noFill/>
          <a:ln/>
        </p:spPr>
        <p:txBody>
          <a:bodyPr wrap="square" lIns="0" tIns="0" rIns="0" bIns="0" rtlCol="0" anchor="ctr"/>
          <a:lstStyle/>
          <a:p>
            <a:pPr algn="l" indent="0" marL="0">
              <a:lnSpc>
                <a:spcPct val="130000"/>
              </a:lnSpc>
              <a:buNone/>
            </a:pPr>
            <a:r>
              <a:rPr lang="en-US" sz="1600" dirty="0">
                <a:solidFill>
                  <a:srgbClr val="0E1B3D"/>
                </a:solidFill>
                <a:latin typeface="Calibri" pitchFamily="34" charset="0"/>
                <a:ea typeface="Calibri" pitchFamily="34" charset="-122"/>
                <a:cs typeface="Calibri" pitchFamily="34" charset="-120"/>
              </a:rPr>
              <a:t>Satu elemen unik. Hanya sekali per halaman.</a:t>
            </a:r>
            <a:endParaRPr lang="en-US" sz="1600" dirty="0"/>
          </a:p>
        </p:txBody>
      </p:sp>
      <p:sp>
        <p:nvSpPr>
          <p:cNvPr id="21" name="Shape 19"/>
          <p:cNvSpPr/>
          <p:nvPr/>
        </p:nvSpPr>
        <p:spPr>
          <a:xfrm>
            <a:off x="731520" y="5486400"/>
            <a:ext cx="10698480" cy="640080"/>
          </a:xfrm>
          <a:prstGeom prst="roundRect">
            <a:avLst>
              <a:gd name="adj" fmla="val 22857"/>
            </a:avLst>
          </a:prstGeom>
          <a:solidFill>
            <a:srgbClr val="FFF3CF"/>
          </a:solidFill>
          <a:ln/>
        </p:spPr>
      </p:sp>
      <p:sp>
        <p:nvSpPr>
          <p:cNvPr id="22" name="Text 20"/>
          <p:cNvSpPr txBox="1"/>
          <p:nvPr/>
        </p:nvSpPr>
        <p:spPr>
          <a:xfrm>
            <a:off x="1005840" y="5486400"/>
            <a:ext cx="10149840" cy="640080"/>
          </a:xfrm>
          <a:prstGeom prst="rect">
            <a:avLst/>
          </a:prstGeom>
          <a:noFill/>
          <a:ln/>
        </p:spPr>
        <p:txBody>
          <a:bodyPr wrap="square" lIns="0" tIns="0" rIns="0" bIns="0" rtlCol="0" anchor="ctr"/>
          <a:lstStyle/>
          <a:p>
            <a:pPr algn="l" indent="0" marL="0">
              <a:lnSpc>
                <a:spcPct val="115000"/>
              </a:lnSpc>
              <a:buNone/>
            </a:pPr>
            <a:r>
              <a:rPr lang="en-US" sz="1900" b="1" dirty="0">
                <a:solidFill>
                  <a:srgbClr val="0E1B3D"/>
                </a:solidFill>
                <a:latin typeface="Calibri" pitchFamily="34" charset="0"/>
                <a:ea typeface="Calibri" pitchFamily="34" charset="-122"/>
                <a:cs typeface="Calibri" pitchFamily="34" charset="-120"/>
              </a:rPr>
              <a:t>Aturan praktis: pakai class untuk hampir semua hal.</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22</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03 · CSS</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Warna dan font</a:t>
            </a:r>
            <a:endParaRPr lang="en-US" sz="3800" dirty="0"/>
          </a:p>
        </p:txBody>
      </p:sp>
      <p:sp>
        <p:nvSpPr>
          <p:cNvPr id="6" name="Shape 4"/>
          <p:cNvSpPr/>
          <p:nvPr/>
        </p:nvSpPr>
        <p:spPr>
          <a:xfrm>
            <a:off x="731520" y="1737360"/>
            <a:ext cx="6766560" cy="3236468"/>
          </a:xfrm>
          <a:prstGeom prst="roundRect">
            <a:avLst>
              <a:gd name="adj" fmla="val 3955"/>
            </a:avLst>
          </a:prstGeom>
          <a:solidFill>
            <a:srgbClr val="0B1530"/>
          </a:solidFill>
          <a:ln/>
          <a:effectLst>
            <a:outerShdw sx="100000" sy="100000" kx="0" ky="0" algn="bl" rotWithShape="0" blurRad="177800" dist="38100" dir="5400000">
              <a:srgbClr val="000000">
                <a:alpha val="40000"/>
              </a:srgbClr>
            </a:outerShdw>
          </a:effectLst>
        </p:spPr>
      </p:sp>
      <p:sp>
        <p:nvSpPr>
          <p:cNvPr id="7" name="Shape 5"/>
          <p:cNvSpPr/>
          <p:nvPr/>
        </p:nvSpPr>
        <p:spPr>
          <a:xfrm>
            <a:off x="932688" y="1892808"/>
            <a:ext cx="109728" cy="109728"/>
          </a:xfrm>
          <a:prstGeom prst="ellipse">
            <a:avLst/>
          </a:prstGeom>
          <a:solidFill>
            <a:srgbClr val="E63946"/>
          </a:solidFill>
          <a:ln/>
        </p:spPr>
      </p:sp>
      <p:sp>
        <p:nvSpPr>
          <p:cNvPr id="8" name="Shape 6"/>
          <p:cNvSpPr/>
          <p:nvPr/>
        </p:nvSpPr>
        <p:spPr>
          <a:xfrm>
            <a:off x="1115568" y="1892808"/>
            <a:ext cx="109728" cy="109728"/>
          </a:xfrm>
          <a:prstGeom prst="ellipse">
            <a:avLst/>
          </a:prstGeom>
          <a:solidFill>
            <a:srgbClr val="FFC83D"/>
          </a:solidFill>
          <a:ln/>
        </p:spPr>
      </p:sp>
      <p:sp>
        <p:nvSpPr>
          <p:cNvPr id="9" name="Shape 7"/>
          <p:cNvSpPr/>
          <p:nvPr/>
        </p:nvSpPr>
        <p:spPr>
          <a:xfrm>
            <a:off x="1298448" y="1892808"/>
            <a:ext cx="109728" cy="109728"/>
          </a:xfrm>
          <a:prstGeom prst="ellipse">
            <a:avLst/>
          </a:prstGeom>
          <a:solidFill>
            <a:srgbClr val="1E9E68"/>
          </a:solidFill>
          <a:ln/>
        </p:spPr>
      </p:sp>
      <p:sp>
        <p:nvSpPr>
          <p:cNvPr id="10" name="Text 8"/>
          <p:cNvSpPr txBox="1"/>
          <p:nvPr/>
        </p:nvSpPr>
        <p:spPr>
          <a:xfrm>
            <a:off x="1645920" y="1810512"/>
            <a:ext cx="557784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Consolas" pitchFamily="34" charset="0"/>
                <a:ea typeface="Consolas" pitchFamily="34" charset="-122"/>
                <a:cs typeface="Consolas" pitchFamily="34" charset="-120"/>
              </a:rPr>
              <a:t>style.css</a:t>
            </a:r>
            <a:endParaRPr lang="en-US" sz="1200" dirty="0"/>
          </a:p>
        </p:txBody>
      </p:sp>
      <p:sp>
        <p:nvSpPr>
          <p:cNvPr id="11" name="Shape 9"/>
          <p:cNvSpPr/>
          <p:nvPr/>
        </p:nvSpPr>
        <p:spPr>
          <a:xfrm>
            <a:off x="804672" y="2636012"/>
            <a:ext cx="6620256" cy="368300"/>
          </a:xfrm>
          <a:prstGeom prst="rect">
            <a:avLst/>
          </a:prstGeom>
          <a:solidFill>
            <a:srgbClr val="FFC83D">
              <a:alpha val="16000"/>
            </a:srgbClr>
          </a:solidFill>
          <a:ln/>
        </p:spPr>
      </p:sp>
      <p:sp>
        <p:nvSpPr>
          <p:cNvPr id="12" name="Shape 10"/>
          <p:cNvSpPr/>
          <p:nvPr/>
        </p:nvSpPr>
        <p:spPr>
          <a:xfrm>
            <a:off x="804672" y="3740912"/>
            <a:ext cx="6620256" cy="368300"/>
          </a:xfrm>
          <a:prstGeom prst="rect">
            <a:avLst/>
          </a:prstGeom>
          <a:solidFill>
            <a:srgbClr val="FFC83D">
              <a:alpha val="16000"/>
            </a:srgbClr>
          </a:solidFill>
          <a:ln/>
        </p:spPr>
      </p:sp>
      <p:sp>
        <p:nvSpPr>
          <p:cNvPr id="13" name="Text 11"/>
          <p:cNvSpPr txBox="1"/>
          <p:nvPr/>
        </p:nvSpPr>
        <p:spPr>
          <a:xfrm>
            <a:off x="896112" y="22677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1</a:t>
            </a:r>
            <a:endParaRPr lang="en-US" sz="1400" dirty="0"/>
          </a:p>
        </p:txBody>
      </p:sp>
      <p:sp>
        <p:nvSpPr>
          <p:cNvPr id="14" name="Text 12"/>
          <p:cNvSpPr txBox="1"/>
          <p:nvPr/>
        </p:nvSpPr>
        <p:spPr>
          <a:xfrm>
            <a:off x="1417320" y="226771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:root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15" name="Text 13"/>
          <p:cNvSpPr txBox="1"/>
          <p:nvPr/>
        </p:nvSpPr>
        <p:spPr>
          <a:xfrm>
            <a:off x="896112" y="26360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2</a:t>
            </a:r>
            <a:endParaRPr lang="en-US" sz="1400" dirty="0"/>
          </a:p>
        </p:txBody>
      </p:sp>
      <p:sp>
        <p:nvSpPr>
          <p:cNvPr id="16" name="Text 14"/>
          <p:cNvSpPr txBox="1"/>
          <p:nvPr/>
        </p:nvSpPr>
        <p:spPr>
          <a:xfrm>
            <a:off x="1417320" y="263601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--biru</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#1F4FD8</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17" name="Text 15"/>
          <p:cNvSpPr txBox="1"/>
          <p:nvPr/>
        </p:nvSpPr>
        <p:spPr>
          <a:xfrm>
            <a:off x="896112" y="30043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3</a:t>
            </a:r>
            <a:endParaRPr lang="en-US" sz="1400" dirty="0"/>
          </a:p>
        </p:txBody>
      </p:sp>
      <p:sp>
        <p:nvSpPr>
          <p:cNvPr id="18" name="Text 16"/>
          <p:cNvSpPr txBox="1"/>
          <p:nvPr/>
        </p:nvSpPr>
        <p:spPr>
          <a:xfrm>
            <a:off x="1417320" y="300431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19" name="Text 17"/>
          <p:cNvSpPr txBox="1"/>
          <p:nvPr/>
        </p:nvSpPr>
        <p:spPr>
          <a:xfrm>
            <a:off x="896112" y="33726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4</a:t>
            </a:r>
            <a:endParaRPr lang="en-US" sz="1400" dirty="0"/>
          </a:p>
        </p:txBody>
      </p:sp>
      <p:sp>
        <p:nvSpPr>
          <p:cNvPr id="20" name="Text 18"/>
          <p:cNvSpPr txBox="1"/>
          <p:nvPr/>
        </p:nvSpPr>
        <p:spPr>
          <a:xfrm>
            <a:off x="1417320" y="337261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h1</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1" name="Text 19"/>
          <p:cNvSpPr txBox="1"/>
          <p:nvPr/>
        </p:nvSpPr>
        <p:spPr>
          <a:xfrm>
            <a:off x="896112" y="37409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5</a:t>
            </a:r>
            <a:endParaRPr lang="en-US" sz="1400" dirty="0"/>
          </a:p>
        </p:txBody>
      </p:sp>
      <p:sp>
        <p:nvSpPr>
          <p:cNvPr id="22" name="Text 20"/>
          <p:cNvSpPr txBox="1"/>
          <p:nvPr/>
        </p:nvSpPr>
        <p:spPr>
          <a:xfrm>
            <a:off x="1417320" y="374091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color</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var(--biru)</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3" name="Text 21"/>
          <p:cNvSpPr txBox="1"/>
          <p:nvPr/>
        </p:nvSpPr>
        <p:spPr>
          <a:xfrm>
            <a:off x="896112" y="41092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6</a:t>
            </a:r>
            <a:endParaRPr lang="en-US" sz="1400" dirty="0"/>
          </a:p>
        </p:txBody>
      </p:sp>
      <p:sp>
        <p:nvSpPr>
          <p:cNvPr id="24" name="Text 22"/>
          <p:cNvSpPr txBox="1"/>
          <p:nvPr/>
        </p:nvSpPr>
        <p:spPr>
          <a:xfrm>
            <a:off x="1417320" y="410921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font-family</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'Poppins', sans-serif</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5" name="Text 23"/>
          <p:cNvSpPr txBox="1"/>
          <p:nvPr/>
        </p:nvSpPr>
        <p:spPr>
          <a:xfrm>
            <a:off x="896112" y="44775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7</a:t>
            </a:r>
            <a:endParaRPr lang="en-US" sz="1400" dirty="0"/>
          </a:p>
        </p:txBody>
      </p:sp>
      <p:sp>
        <p:nvSpPr>
          <p:cNvPr id="26" name="Text 24"/>
          <p:cNvSpPr txBox="1"/>
          <p:nvPr/>
        </p:nvSpPr>
        <p:spPr>
          <a:xfrm>
            <a:off x="1417320" y="447751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7" name="Text 25"/>
          <p:cNvSpPr txBox="1"/>
          <p:nvPr/>
        </p:nvSpPr>
        <p:spPr>
          <a:xfrm>
            <a:off x="731520" y="5202428"/>
            <a:ext cx="6766560" cy="822960"/>
          </a:xfrm>
          <a:prstGeom prst="rect">
            <a:avLst/>
          </a:prstGeom>
          <a:noFill/>
          <a:ln/>
        </p:spPr>
        <p:txBody>
          <a:bodyPr wrap="square" lIns="0" tIns="0" rIns="0" bIns="0" rtlCol="0" anchor="t"/>
          <a:lstStyle/>
          <a:p>
            <a:pPr algn="l" indent="0" marL="0">
              <a:lnSpc>
                <a:spcPct val="140000"/>
              </a:lnSpc>
              <a:buNone/>
            </a:pPr>
            <a:r>
              <a:rPr lang="en-US" sz="1600" dirty="0">
                <a:solidFill>
                  <a:srgbClr val="5B6478"/>
                </a:solidFill>
                <a:latin typeface="Calibri" pitchFamily="34" charset="0"/>
                <a:ea typeface="Calibri" pitchFamily="34" charset="-122"/>
                <a:cs typeface="Calibri" pitchFamily="34" charset="-120"/>
              </a:rPr>
              <a:t>Font gratis: fonts.google.com → pilih font → salin tag &lt;link&gt; ke dalam &lt;head&gt;.</a:t>
            </a:r>
            <a:endParaRPr lang="en-US" sz="1600" dirty="0"/>
          </a:p>
        </p:txBody>
      </p:sp>
      <p:sp>
        <p:nvSpPr>
          <p:cNvPr id="28" name="Shape 26"/>
          <p:cNvSpPr/>
          <p:nvPr/>
        </p:nvSpPr>
        <p:spPr>
          <a:xfrm>
            <a:off x="8138160" y="1828800"/>
            <a:ext cx="822960" cy="822960"/>
          </a:xfrm>
          <a:prstGeom prst="roundRect">
            <a:avLst>
              <a:gd name="adj" fmla="val 17778"/>
            </a:avLst>
          </a:prstGeom>
          <a:solidFill>
            <a:srgbClr val="1F4FD8"/>
          </a:solidFill>
          <a:ln w="12700">
            <a:solidFill>
              <a:srgbClr val="E3DFD6"/>
            </a:solidFill>
            <a:prstDash val="solid"/>
          </a:ln>
        </p:spPr>
      </p:sp>
      <p:sp>
        <p:nvSpPr>
          <p:cNvPr id="29" name="Text 27"/>
          <p:cNvSpPr txBox="1"/>
          <p:nvPr/>
        </p:nvSpPr>
        <p:spPr>
          <a:xfrm>
            <a:off x="9144000" y="1828800"/>
            <a:ext cx="2286000" cy="411480"/>
          </a:xfrm>
          <a:prstGeom prst="rect">
            <a:avLst/>
          </a:prstGeom>
          <a:noFill/>
          <a:ln/>
        </p:spPr>
        <p:txBody>
          <a:bodyPr wrap="none" lIns="0" tIns="0" rIns="0" bIns="0" rtlCol="0" anchor="ctr"/>
          <a:lstStyle/>
          <a:p>
            <a:pPr algn="l" indent="0" marL="0">
              <a:lnSpc>
                <a:spcPct val="115000"/>
              </a:lnSpc>
              <a:buNone/>
            </a:pPr>
            <a:r>
              <a:rPr lang="en-US" sz="1800" b="1" dirty="0">
                <a:solidFill>
                  <a:srgbClr val="0E1B3D"/>
                </a:solidFill>
                <a:latin typeface="Consolas" pitchFamily="34" charset="0"/>
                <a:ea typeface="Consolas" pitchFamily="34" charset="-122"/>
                <a:cs typeface="Consolas" pitchFamily="34" charset="-120"/>
              </a:rPr>
              <a:t>--biru</a:t>
            </a:r>
            <a:endParaRPr lang="en-US" sz="1800" dirty="0"/>
          </a:p>
        </p:txBody>
      </p:sp>
      <p:sp>
        <p:nvSpPr>
          <p:cNvPr id="30" name="Text 28"/>
          <p:cNvSpPr txBox="1"/>
          <p:nvPr/>
        </p:nvSpPr>
        <p:spPr>
          <a:xfrm>
            <a:off x="9144000" y="2240280"/>
            <a:ext cx="2286000" cy="365760"/>
          </a:xfrm>
          <a:prstGeom prst="rect">
            <a:avLst/>
          </a:prstGeom>
          <a:noFill/>
          <a:ln/>
        </p:spPr>
        <p:txBody>
          <a:bodyPr wrap="none" lIns="0" tIns="0" rIns="0" bIns="0" rtlCol="0" anchor="ctr"/>
          <a:lstStyle/>
          <a:p>
            <a:pPr algn="l" indent="0" marL="0">
              <a:lnSpc>
                <a:spcPct val="115000"/>
              </a:lnSpc>
              <a:buNone/>
            </a:pPr>
            <a:r>
              <a:rPr lang="en-US" sz="1500" dirty="0">
                <a:solidFill>
                  <a:srgbClr val="5B6478"/>
                </a:solidFill>
                <a:latin typeface="Consolas" pitchFamily="34" charset="0"/>
                <a:ea typeface="Consolas" pitchFamily="34" charset="-122"/>
                <a:cs typeface="Consolas" pitchFamily="34" charset="-120"/>
              </a:rPr>
              <a:t>#1F4FD8</a:t>
            </a:r>
            <a:endParaRPr lang="en-US" sz="1500" dirty="0"/>
          </a:p>
        </p:txBody>
      </p:sp>
      <p:sp>
        <p:nvSpPr>
          <p:cNvPr id="31" name="Shape 29"/>
          <p:cNvSpPr/>
          <p:nvPr/>
        </p:nvSpPr>
        <p:spPr>
          <a:xfrm>
            <a:off x="8138160" y="2880360"/>
            <a:ext cx="822960" cy="822960"/>
          </a:xfrm>
          <a:prstGeom prst="roundRect">
            <a:avLst>
              <a:gd name="adj" fmla="val 17778"/>
            </a:avLst>
          </a:prstGeom>
          <a:solidFill>
            <a:srgbClr val="FFC83D"/>
          </a:solidFill>
          <a:ln w="12700">
            <a:solidFill>
              <a:srgbClr val="E3DFD6"/>
            </a:solidFill>
            <a:prstDash val="solid"/>
          </a:ln>
        </p:spPr>
      </p:sp>
      <p:sp>
        <p:nvSpPr>
          <p:cNvPr id="32" name="Text 30"/>
          <p:cNvSpPr txBox="1"/>
          <p:nvPr/>
        </p:nvSpPr>
        <p:spPr>
          <a:xfrm>
            <a:off x="9144000" y="2880360"/>
            <a:ext cx="2286000" cy="411480"/>
          </a:xfrm>
          <a:prstGeom prst="rect">
            <a:avLst/>
          </a:prstGeom>
          <a:noFill/>
          <a:ln/>
        </p:spPr>
        <p:txBody>
          <a:bodyPr wrap="none" lIns="0" tIns="0" rIns="0" bIns="0" rtlCol="0" anchor="ctr"/>
          <a:lstStyle/>
          <a:p>
            <a:pPr algn="l" indent="0" marL="0">
              <a:lnSpc>
                <a:spcPct val="115000"/>
              </a:lnSpc>
              <a:buNone/>
            </a:pPr>
            <a:r>
              <a:rPr lang="en-US" sz="1800" b="1" dirty="0">
                <a:solidFill>
                  <a:srgbClr val="0E1B3D"/>
                </a:solidFill>
                <a:latin typeface="Consolas" pitchFamily="34" charset="0"/>
                <a:ea typeface="Consolas" pitchFamily="34" charset="-122"/>
                <a:cs typeface="Consolas" pitchFamily="34" charset="-120"/>
              </a:rPr>
              <a:t>--kuning</a:t>
            </a:r>
            <a:endParaRPr lang="en-US" sz="1800" dirty="0"/>
          </a:p>
        </p:txBody>
      </p:sp>
      <p:sp>
        <p:nvSpPr>
          <p:cNvPr id="33" name="Text 31"/>
          <p:cNvSpPr txBox="1"/>
          <p:nvPr/>
        </p:nvSpPr>
        <p:spPr>
          <a:xfrm>
            <a:off x="9144000" y="3291840"/>
            <a:ext cx="2286000" cy="365760"/>
          </a:xfrm>
          <a:prstGeom prst="rect">
            <a:avLst/>
          </a:prstGeom>
          <a:noFill/>
          <a:ln/>
        </p:spPr>
        <p:txBody>
          <a:bodyPr wrap="none" lIns="0" tIns="0" rIns="0" bIns="0" rtlCol="0" anchor="ctr"/>
          <a:lstStyle/>
          <a:p>
            <a:pPr algn="l" indent="0" marL="0">
              <a:lnSpc>
                <a:spcPct val="115000"/>
              </a:lnSpc>
              <a:buNone/>
            </a:pPr>
            <a:r>
              <a:rPr lang="en-US" sz="1500" dirty="0">
                <a:solidFill>
                  <a:srgbClr val="5B6478"/>
                </a:solidFill>
                <a:latin typeface="Consolas" pitchFamily="34" charset="0"/>
                <a:ea typeface="Consolas" pitchFamily="34" charset="-122"/>
                <a:cs typeface="Consolas" pitchFamily="34" charset="-120"/>
              </a:rPr>
              <a:t>#FFC83D</a:t>
            </a:r>
            <a:endParaRPr lang="en-US" sz="1500" dirty="0"/>
          </a:p>
        </p:txBody>
      </p:sp>
      <p:sp>
        <p:nvSpPr>
          <p:cNvPr id="34" name="Shape 32"/>
          <p:cNvSpPr/>
          <p:nvPr/>
        </p:nvSpPr>
        <p:spPr>
          <a:xfrm>
            <a:off x="8138160" y="3931920"/>
            <a:ext cx="822960" cy="822960"/>
          </a:xfrm>
          <a:prstGeom prst="roundRect">
            <a:avLst>
              <a:gd name="adj" fmla="val 17778"/>
            </a:avLst>
          </a:prstGeom>
          <a:solidFill>
            <a:srgbClr val="0E1B3D"/>
          </a:solidFill>
          <a:ln w="12700">
            <a:solidFill>
              <a:srgbClr val="E3DFD6"/>
            </a:solidFill>
            <a:prstDash val="solid"/>
          </a:ln>
        </p:spPr>
      </p:sp>
      <p:sp>
        <p:nvSpPr>
          <p:cNvPr id="35" name="Text 33"/>
          <p:cNvSpPr txBox="1"/>
          <p:nvPr/>
        </p:nvSpPr>
        <p:spPr>
          <a:xfrm>
            <a:off x="9144000" y="3931920"/>
            <a:ext cx="2286000" cy="411480"/>
          </a:xfrm>
          <a:prstGeom prst="rect">
            <a:avLst/>
          </a:prstGeom>
          <a:noFill/>
          <a:ln/>
        </p:spPr>
        <p:txBody>
          <a:bodyPr wrap="none" lIns="0" tIns="0" rIns="0" bIns="0" rtlCol="0" anchor="ctr"/>
          <a:lstStyle/>
          <a:p>
            <a:pPr algn="l" indent="0" marL="0">
              <a:lnSpc>
                <a:spcPct val="115000"/>
              </a:lnSpc>
              <a:buNone/>
            </a:pPr>
            <a:r>
              <a:rPr lang="en-US" sz="1800" b="1" dirty="0">
                <a:solidFill>
                  <a:srgbClr val="0E1B3D"/>
                </a:solidFill>
                <a:latin typeface="Consolas" pitchFamily="34" charset="0"/>
                <a:ea typeface="Consolas" pitchFamily="34" charset="-122"/>
                <a:cs typeface="Consolas" pitchFamily="34" charset="-120"/>
              </a:rPr>
              <a:t>--gelap</a:t>
            </a:r>
            <a:endParaRPr lang="en-US" sz="1800" dirty="0"/>
          </a:p>
        </p:txBody>
      </p:sp>
      <p:sp>
        <p:nvSpPr>
          <p:cNvPr id="36" name="Text 34"/>
          <p:cNvSpPr txBox="1"/>
          <p:nvPr/>
        </p:nvSpPr>
        <p:spPr>
          <a:xfrm>
            <a:off x="9144000" y="4343400"/>
            <a:ext cx="2286000" cy="365760"/>
          </a:xfrm>
          <a:prstGeom prst="rect">
            <a:avLst/>
          </a:prstGeom>
          <a:noFill/>
          <a:ln/>
        </p:spPr>
        <p:txBody>
          <a:bodyPr wrap="none" lIns="0" tIns="0" rIns="0" bIns="0" rtlCol="0" anchor="ctr"/>
          <a:lstStyle/>
          <a:p>
            <a:pPr algn="l" indent="0" marL="0">
              <a:lnSpc>
                <a:spcPct val="115000"/>
              </a:lnSpc>
              <a:buNone/>
            </a:pPr>
            <a:r>
              <a:rPr lang="en-US" sz="1500" dirty="0">
                <a:solidFill>
                  <a:srgbClr val="5B6478"/>
                </a:solidFill>
                <a:latin typeface="Consolas" pitchFamily="34" charset="0"/>
                <a:ea typeface="Consolas" pitchFamily="34" charset="-122"/>
                <a:cs typeface="Consolas" pitchFamily="34" charset="-120"/>
              </a:rPr>
              <a:t>#0E1B3D</a:t>
            </a:r>
            <a:endParaRPr lang="en-US" sz="1500" dirty="0"/>
          </a:p>
        </p:txBody>
      </p:sp>
      <p:sp>
        <p:nvSpPr>
          <p:cNvPr id="37" name="Text 35"/>
          <p:cNvSpPr txBox="1"/>
          <p:nvPr/>
        </p:nvSpPr>
        <p:spPr>
          <a:xfrm>
            <a:off x="8138160" y="5074920"/>
            <a:ext cx="3291840" cy="1005840"/>
          </a:xfrm>
          <a:prstGeom prst="rect">
            <a:avLst/>
          </a:prstGeom>
          <a:noFill/>
          <a:ln/>
        </p:spPr>
        <p:txBody>
          <a:bodyPr wrap="square" lIns="0" tIns="0" rIns="0" bIns="0" rtlCol="0" anchor="t"/>
          <a:lstStyle/>
          <a:p>
            <a:pPr algn="l" indent="0" marL="0">
              <a:lnSpc>
                <a:spcPct val="140000"/>
              </a:lnSpc>
              <a:buNone/>
            </a:pPr>
            <a:r>
              <a:rPr lang="en-US" sz="1600" dirty="0">
                <a:solidFill>
                  <a:srgbClr val="0E1B3D"/>
                </a:solidFill>
                <a:latin typeface="Calibri" pitchFamily="34" charset="0"/>
                <a:ea typeface="Calibri" pitchFamily="34" charset="-122"/>
                <a:cs typeface="Calibri" pitchFamily="34" charset="-120"/>
              </a:rPr>
              <a:t>Ganti satu baris di :root, seluruh warna halaman ikut berubah.</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23</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03 · CSS</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Setiap elemen adalah sebuah kotak</a:t>
            </a:r>
            <a:endParaRPr lang="en-US" sz="3800" dirty="0"/>
          </a:p>
        </p:txBody>
      </p:sp>
      <p:sp>
        <p:nvSpPr>
          <p:cNvPr id="6" name="Shape 4"/>
          <p:cNvSpPr/>
          <p:nvPr/>
        </p:nvSpPr>
        <p:spPr>
          <a:xfrm>
            <a:off x="731520" y="1783080"/>
            <a:ext cx="5120640" cy="4297680"/>
          </a:xfrm>
          <a:prstGeom prst="rect">
            <a:avLst/>
          </a:prstGeom>
          <a:solidFill>
            <a:srgbClr val="EEF3FF"/>
          </a:solidFill>
          <a:ln w="19050">
            <a:solidFill>
              <a:srgbClr val="1F4FD8"/>
            </a:solidFill>
            <a:prstDash val="dash"/>
          </a:ln>
        </p:spPr>
      </p:sp>
      <p:sp>
        <p:nvSpPr>
          <p:cNvPr id="7" name="Shape 5"/>
          <p:cNvSpPr/>
          <p:nvPr/>
        </p:nvSpPr>
        <p:spPr>
          <a:xfrm>
            <a:off x="1280160" y="2286000"/>
            <a:ext cx="4114800" cy="3291840"/>
          </a:xfrm>
          <a:prstGeom prst="rect">
            <a:avLst/>
          </a:prstGeom>
          <a:solidFill>
            <a:srgbClr val="FFFFFF"/>
          </a:solidFill>
          <a:ln w="50800">
            <a:solidFill>
              <a:srgbClr val="0E1B3D"/>
            </a:solidFill>
            <a:prstDash val="solid"/>
          </a:ln>
        </p:spPr>
      </p:sp>
      <p:sp>
        <p:nvSpPr>
          <p:cNvPr id="8" name="Shape 6"/>
          <p:cNvSpPr/>
          <p:nvPr/>
        </p:nvSpPr>
        <p:spPr>
          <a:xfrm>
            <a:off x="1737360" y="2743200"/>
            <a:ext cx="3200400" cy="2377440"/>
          </a:xfrm>
          <a:prstGeom prst="rect">
            <a:avLst/>
          </a:prstGeom>
          <a:solidFill>
            <a:srgbClr val="DCE6FF"/>
          </a:solidFill>
          <a:ln/>
        </p:spPr>
      </p:sp>
      <p:sp>
        <p:nvSpPr>
          <p:cNvPr id="9" name="Shape 7"/>
          <p:cNvSpPr/>
          <p:nvPr/>
        </p:nvSpPr>
        <p:spPr>
          <a:xfrm>
            <a:off x="2194560" y="3200400"/>
            <a:ext cx="2286000" cy="1463040"/>
          </a:xfrm>
          <a:prstGeom prst="rect">
            <a:avLst/>
          </a:prstGeom>
          <a:solidFill>
            <a:srgbClr val="FFC83D"/>
          </a:solidFill>
          <a:ln/>
        </p:spPr>
      </p:sp>
      <p:sp>
        <p:nvSpPr>
          <p:cNvPr id="10" name="Text 8"/>
          <p:cNvSpPr txBox="1"/>
          <p:nvPr/>
        </p:nvSpPr>
        <p:spPr>
          <a:xfrm>
            <a:off x="731520" y="1874520"/>
            <a:ext cx="5120640" cy="320040"/>
          </a:xfrm>
          <a:prstGeom prst="rect">
            <a:avLst/>
          </a:prstGeom>
          <a:noFill/>
          <a:ln/>
        </p:spPr>
        <p:txBody>
          <a:bodyPr wrap="none" lIns="0" tIns="0" rIns="0" bIns="0" rtlCol="0" anchor="ctr"/>
          <a:lstStyle/>
          <a:p>
            <a:pPr algn="ctr" indent="0" marL="0">
              <a:lnSpc>
                <a:spcPct val="115000"/>
              </a:lnSpc>
              <a:buNone/>
            </a:pPr>
            <a:r>
              <a:rPr lang="en-US" sz="1400" b="1" dirty="0">
                <a:solidFill>
                  <a:srgbClr val="0E1B3D"/>
                </a:solidFill>
                <a:latin typeface="Consolas" pitchFamily="34" charset="0"/>
                <a:ea typeface="Consolas" pitchFamily="34" charset="-122"/>
                <a:cs typeface="Consolas" pitchFamily="34" charset="-120"/>
              </a:rPr>
              <a:t>margin</a:t>
            </a:r>
            <a:endParaRPr lang="en-US" sz="1400" dirty="0"/>
          </a:p>
        </p:txBody>
      </p:sp>
      <p:sp>
        <p:nvSpPr>
          <p:cNvPr id="11" name="Text 9"/>
          <p:cNvSpPr txBox="1"/>
          <p:nvPr/>
        </p:nvSpPr>
        <p:spPr>
          <a:xfrm>
            <a:off x="731520" y="2377440"/>
            <a:ext cx="5120640" cy="320040"/>
          </a:xfrm>
          <a:prstGeom prst="rect">
            <a:avLst/>
          </a:prstGeom>
          <a:noFill/>
          <a:ln/>
        </p:spPr>
        <p:txBody>
          <a:bodyPr wrap="none" lIns="0" tIns="0" rIns="0" bIns="0" rtlCol="0" anchor="ctr"/>
          <a:lstStyle/>
          <a:p>
            <a:pPr algn="ctr" indent="0" marL="0">
              <a:lnSpc>
                <a:spcPct val="115000"/>
              </a:lnSpc>
              <a:buNone/>
            </a:pPr>
            <a:r>
              <a:rPr lang="en-US" sz="1400" b="1" dirty="0">
                <a:solidFill>
                  <a:srgbClr val="0E1B3D"/>
                </a:solidFill>
                <a:latin typeface="Consolas" pitchFamily="34" charset="0"/>
                <a:ea typeface="Consolas" pitchFamily="34" charset="-122"/>
                <a:cs typeface="Consolas" pitchFamily="34" charset="-120"/>
              </a:rPr>
              <a:t>border</a:t>
            </a:r>
            <a:endParaRPr lang="en-US" sz="1400" dirty="0"/>
          </a:p>
        </p:txBody>
      </p:sp>
      <p:sp>
        <p:nvSpPr>
          <p:cNvPr id="12" name="Text 10"/>
          <p:cNvSpPr txBox="1"/>
          <p:nvPr/>
        </p:nvSpPr>
        <p:spPr>
          <a:xfrm>
            <a:off x="731520" y="2816352"/>
            <a:ext cx="5120640" cy="320040"/>
          </a:xfrm>
          <a:prstGeom prst="rect">
            <a:avLst/>
          </a:prstGeom>
          <a:noFill/>
          <a:ln/>
        </p:spPr>
        <p:txBody>
          <a:bodyPr wrap="none" lIns="0" tIns="0" rIns="0" bIns="0" rtlCol="0" anchor="ctr"/>
          <a:lstStyle/>
          <a:p>
            <a:pPr algn="ctr" indent="0" marL="0">
              <a:lnSpc>
                <a:spcPct val="115000"/>
              </a:lnSpc>
              <a:buNone/>
            </a:pPr>
            <a:r>
              <a:rPr lang="en-US" sz="1400" b="1" dirty="0">
                <a:solidFill>
                  <a:srgbClr val="0E1B3D"/>
                </a:solidFill>
                <a:latin typeface="Consolas" pitchFamily="34" charset="0"/>
                <a:ea typeface="Consolas" pitchFamily="34" charset="-122"/>
                <a:cs typeface="Consolas" pitchFamily="34" charset="-120"/>
              </a:rPr>
              <a:t>padding</a:t>
            </a:r>
            <a:endParaRPr lang="en-US" sz="1400" dirty="0"/>
          </a:p>
        </p:txBody>
      </p:sp>
      <p:sp>
        <p:nvSpPr>
          <p:cNvPr id="13" name="Text 11"/>
          <p:cNvSpPr txBox="1"/>
          <p:nvPr/>
        </p:nvSpPr>
        <p:spPr>
          <a:xfrm>
            <a:off x="2194560" y="3200400"/>
            <a:ext cx="2286000" cy="1463040"/>
          </a:xfrm>
          <a:prstGeom prst="rect">
            <a:avLst/>
          </a:prstGeom>
          <a:noFill/>
          <a:ln/>
        </p:spPr>
        <p:txBody>
          <a:bodyPr wrap="none" lIns="0" tIns="0" rIns="0" bIns="0" rtlCol="0" anchor="ctr"/>
          <a:lstStyle/>
          <a:p>
            <a:pPr algn="ctr" indent="0" marL="0">
              <a:lnSpc>
                <a:spcPct val="115000"/>
              </a:lnSpc>
              <a:buNone/>
            </a:pPr>
            <a:r>
              <a:rPr lang="en-US" sz="1600" b="1" dirty="0">
                <a:solidFill>
                  <a:srgbClr val="0E1B3D"/>
                </a:solidFill>
                <a:latin typeface="Consolas" pitchFamily="34" charset="0"/>
                <a:ea typeface="Consolas" pitchFamily="34" charset="-122"/>
                <a:cs typeface="Consolas" pitchFamily="34" charset="-120"/>
              </a:rPr>
              <a:t>content</a:t>
            </a:r>
            <a:endParaRPr lang="en-US" sz="1600" dirty="0"/>
          </a:p>
        </p:txBody>
      </p:sp>
      <p:sp>
        <p:nvSpPr>
          <p:cNvPr id="14" name="Shape 12"/>
          <p:cNvSpPr/>
          <p:nvPr/>
        </p:nvSpPr>
        <p:spPr>
          <a:xfrm>
            <a:off x="6583680" y="1783080"/>
            <a:ext cx="4846320" cy="3236468"/>
          </a:xfrm>
          <a:prstGeom prst="roundRect">
            <a:avLst>
              <a:gd name="adj" fmla="val 3955"/>
            </a:avLst>
          </a:prstGeom>
          <a:solidFill>
            <a:srgbClr val="0B1530"/>
          </a:solidFill>
          <a:ln/>
          <a:effectLst>
            <a:outerShdw sx="100000" sy="100000" kx="0" ky="0" algn="bl" rotWithShape="0" blurRad="177800" dist="38100" dir="5400000">
              <a:srgbClr val="000000">
                <a:alpha val="40000"/>
              </a:srgbClr>
            </a:outerShdw>
          </a:effectLst>
        </p:spPr>
      </p:sp>
      <p:sp>
        <p:nvSpPr>
          <p:cNvPr id="15" name="Shape 13"/>
          <p:cNvSpPr/>
          <p:nvPr/>
        </p:nvSpPr>
        <p:spPr>
          <a:xfrm>
            <a:off x="6784848" y="1938528"/>
            <a:ext cx="109728" cy="109728"/>
          </a:xfrm>
          <a:prstGeom prst="ellipse">
            <a:avLst/>
          </a:prstGeom>
          <a:solidFill>
            <a:srgbClr val="E63946"/>
          </a:solidFill>
          <a:ln/>
        </p:spPr>
      </p:sp>
      <p:sp>
        <p:nvSpPr>
          <p:cNvPr id="16" name="Shape 14"/>
          <p:cNvSpPr/>
          <p:nvPr/>
        </p:nvSpPr>
        <p:spPr>
          <a:xfrm>
            <a:off x="6967728" y="1938528"/>
            <a:ext cx="109728" cy="109728"/>
          </a:xfrm>
          <a:prstGeom prst="ellipse">
            <a:avLst/>
          </a:prstGeom>
          <a:solidFill>
            <a:srgbClr val="FFC83D"/>
          </a:solidFill>
          <a:ln/>
        </p:spPr>
      </p:sp>
      <p:sp>
        <p:nvSpPr>
          <p:cNvPr id="17" name="Shape 15"/>
          <p:cNvSpPr/>
          <p:nvPr/>
        </p:nvSpPr>
        <p:spPr>
          <a:xfrm>
            <a:off x="7150608" y="1938528"/>
            <a:ext cx="109728" cy="109728"/>
          </a:xfrm>
          <a:prstGeom prst="ellipse">
            <a:avLst/>
          </a:prstGeom>
          <a:solidFill>
            <a:srgbClr val="1E9E68"/>
          </a:solidFill>
          <a:ln/>
        </p:spPr>
      </p:sp>
      <p:sp>
        <p:nvSpPr>
          <p:cNvPr id="18" name="Text 16"/>
          <p:cNvSpPr txBox="1"/>
          <p:nvPr/>
        </p:nvSpPr>
        <p:spPr>
          <a:xfrm>
            <a:off x="7498080" y="1856232"/>
            <a:ext cx="365760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Consolas" pitchFamily="34" charset="0"/>
                <a:ea typeface="Consolas" pitchFamily="34" charset="-122"/>
                <a:cs typeface="Consolas" pitchFamily="34" charset="-120"/>
              </a:rPr>
              <a:t>style.css</a:t>
            </a:r>
            <a:endParaRPr lang="en-US" sz="1200" dirty="0"/>
          </a:p>
        </p:txBody>
      </p:sp>
      <p:sp>
        <p:nvSpPr>
          <p:cNvPr id="19" name="Text 17"/>
          <p:cNvSpPr txBox="1"/>
          <p:nvPr/>
        </p:nvSpPr>
        <p:spPr>
          <a:xfrm>
            <a:off x="6748272" y="23134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1</a:t>
            </a:r>
            <a:endParaRPr lang="en-US" sz="1400" dirty="0"/>
          </a:p>
        </p:txBody>
      </p:sp>
      <p:sp>
        <p:nvSpPr>
          <p:cNvPr id="20" name="Text 18"/>
          <p:cNvSpPr txBox="1"/>
          <p:nvPr/>
        </p:nvSpPr>
        <p:spPr>
          <a:xfrm>
            <a:off x="7269480" y="231343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1" name="Text 19"/>
          <p:cNvSpPr txBox="1"/>
          <p:nvPr/>
        </p:nvSpPr>
        <p:spPr>
          <a:xfrm>
            <a:off x="6748272" y="26817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2</a:t>
            </a:r>
            <a:endParaRPr lang="en-US" sz="1400" dirty="0"/>
          </a:p>
        </p:txBody>
      </p:sp>
      <p:sp>
        <p:nvSpPr>
          <p:cNvPr id="22" name="Text 20"/>
          <p:cNvSpPr txBox="1"/>
          <p:nvPr/>
        </p:nvSpPr>
        <p:spPr>
          <a:xfrm>
            <a:off x="7269480" y="268173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box-sizing</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border-box</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3" name="Text 21"/>
          <p:cNvSpPr txBox="1"/>
          <p:nvPr/>
        </p:nvSpPr>
        <p:spPr>
          <a:xfrm>
            <a:off x="6748272" y="30500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3</a:t>
            </a:r>
            <a:endParaRPr lang="en-US" sz="1400" dirty="0"/>
          </a:p>
        </p:txBody>
      </p:sp>
      <p:sp>
        <p:nvSpPr>
          <p:cNvPr id="24" name="Text 22"/>
          <p:cNvSpPr txBox="1"/>
          <p:nvPr/>
        </p:nvSpPr>
        <p:spPr>
          <a:xfrm>
            <a:off x="7269480" y="305003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5" name="Text 23"/>
          <p:cNvSpPr txBox="1"/>
          <p:nvPr/>
        </p:nvSpPr>
        <p:spPr>
          <a:xfrm>
            <a:off x="6748272" y="34183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4</a:t>
            </a:r>
            <a:endParaRPr lang="en-US" sz="1400" dirty="0"/>
          </a:p>
        </p:txBody>
      </p:sp>
      <p:sp>
        <p:nvSpPr>
          <p:cNvPr id="26" name="Text 24"/>
          <p:cNvSpPr txBox="1"/>
          <p:nvPr/>
        </p:nvSpPr>
        <p:spPr>
          <a:xfrm>
            <a:off x="7269480" y="341833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.kartu</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7" name="Text 25"/>
          <p:cNvSpPr txBox="1"/>
          <p:nvPr/>
        </p:nvSpPr>
        <p:spPr>
          <a:xfrm>
            <a:off x="6748272" y="37866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5</a:t>
            </a:r>
            <a:endParaRPr lang="en-US" sz="1400" dirty="0"/>
          </a:p>
        </p:txBody>
      </p:sp>
      <p:sp>
        <p:nvSpPr>
          <p:cNvPr id="28" name="Text 26"/>
          <p:cNvSpPr txBox="1"/>
          <p:nvPr/>
        </p:nvSpPr>
        <p:spPr>
          <a:xfrm>
            <a:off x="7269480" y="378663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padding</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24px</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9" name="Text 27"/>
          <p:cNvSpPr txBox="1"/>
          <p:nvPr/>
        </p:nvSpPr>
        <p:spPr>
          <a:xfrm>
            <a:off x="6748272" y="41549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6</a:t>
            </a:r>
            <a:endParaRPr lang="en-US" sz="1400" dirty="0"/>
          </a:p>
        </p:txBody>
      </p:sp>
      <p:sp>
        <p:nvSpPr>
          <p:cNvPr id="30" name="Text 28"/>
          <p:cNvSpPr txBox="1"/>
          <p:nvPr/>
        </p:nvSpPr>
        <p:spPr>
          <a:xfrm>
            <a:off x="7269480" y="415493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margin</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16px</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31" name="Text 29"/>
          <p:cNvSpPr txBox="1"/>
          <p:nvPr/>
        </p:nvSpPr>
        <p:spPr>
          <a:xfrm>
            <a:off x="6748272" y="45232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7</a:t>
            </a:r>
            <a:endParaRPr lang="en-US" sz="1400" dirty="0"/>
          </a:p>
        </p:txBody>
      </p:sp>
      <p:sp>
        <p:nvSpPr>
          <p:cNvPr id="32" name="Text 30"/>
          <p:cNvSpPr txBox="1"/>
          <p:nvPr/>
        </p:nvSpPr>
        <p:spPr>
          <a:xfrm>
            <a:off x="7269480" y="452323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33" name="Text 31"/>
          <p:cNvSpPr txBox="1"/>
          <p:nvPr/>
        </p:nvSpPr>
        <p:spPr>
          <a:xfrm>
            <a:off x="6583680" y="5248148"/>
            <a:ext cx="4846320" cy="1097280"/>
          </a:xfrm>
          <a:prstGeom prst="rect">
            <a:avLst/>
          </a:prstGeom>
          <a:noFill/>
          <a:ln/>
        </p:spPr>
        <p:txBody>
          <a:bodyPr wrap="square" lIns="0" tIns="0" rIns="0" bIns="0" rtlCol="0" anchor="t"/>
          <a:lstStyle/>
          <a:p>
            <a:pPr algn="l" indent="0" marL="0">
              <a:lnSpc>
                <a:spcPct val="140000"/>
              </a:lnSpc>
              <a:buNone/>
            </a:pPr>
            <a:r>
              <a:rPr lang="en-US" sz="1500" dirty="0">
                <a:solidFill>
                  <a:srgbClr val="5B6478"/>
                </a:solidFill>
                <a:latin typeface="Calibri" pitchFamily="34" charset="0"/>
                <a:ea typeface="Calibri" pitchFamily="34" charset="-122"/>
                <a:cs typeface="Calibri" pitchFamily="34" charset="-120"/>
              </a:rPr>
              <a:t>Seperti bingkai foto: content = foto, padding = jarak foto ke bingkai, border = bingkai, margin = jarak antar bingkai.</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24</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03 · CSS</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Layout modern dengan Flexbox</a:t>
            </a:r>
            <a:endParaRPr lang="en-US" sz="3800" dirty="0"/>
          </a:p>
        </p:txBody>
      </p:sp>
      <p:sp>
        <p:nvSpPr>
          <p:cNvPr id="6" name="Shape 4"/>
          <p:cNvSpPr/>
          <p:nvPr/>
        </p:nvSpPr>
        <p:spPr>
          <a:xfrm>
            <a:off x="731520" y="1737360"/>
            <a:ext cx="5303520" cy="2499868"/>
          </a:xfrm>
          <a:prstGeom prst="roundRect">
            <a:avLst>
              <a:gd name="adj" fmla="val 5121"/>
            </a:avLst>
          </a:prstGeom>
          <a:solidFill>
            <a:srgbClr val="0B1530"/>
          </a:solidFill>
          <a:ln/>
          <a:effectLst>
            <a:outerShdw sx="100000" sy="100000" kx="0" ky="0" algn="bl" rotWithShape="0" blurRad="177800" dist="38100" dir="5400000">
              <a:srgbClr val="000000">
                <a:alpha val="40000"/>
              </a:srgbClr>
            </a:outerShdw>
          </a:effectLst>
        </p:spPr>
      </p:sp>
      <p:sp>
        <p:nvSpPr>
          <p:cNvPr id="7" name="Shape 5"/>
          <p:cNvSpPr/>
          <p:nvPr/>
        </p:nvSpPr>
        <p:spPr>
          <a:xfrm>
            <a:off x="932688" y="1892808"/>
            <a:ext cx="109728" cy="109728"/>
          </a:xfrm>
          <a:prstGeom prst="ellipse">
            <a:avLst/>
          </a:prstGeom>
          <a:solidFill>
            <a:srgbClr val="E63946"/>
          </a:solidFill>
          <a:ln/>
        </p:spPr>
      </p:sp>
      <p:sp>
        <p:nvSpPr>
          <p:cNvPr id="8" name="Shape 6"/>
          <p:cNvSpPr/>
          <p:nvPr/>
        </p:nvSpPr>
        <p:spPr>
          <a:xfrm>
            <a:off x="1115568" y="1892808"/>
            <a:ext cx="109728" cy="109728"/>
          </a:xfrm>
          <a:prstGeom prst="ellipse">
            <a:avLst/>
          </a:prstGeom>
          <a:solidFill>
            <a:srgbClr val="FFC83D"/>
          </a:solidFill>
          <a:ln/>
        </p:spPr>
      </p:sp>
      <p:sp>
        <p:nvSpPr>
          <p:cNvPr id="9" name="Shape 7"/>
          <p:cNvSpPr/>
          <p:nvPr/>
        </p:nvSpPr>
        <p:spPr>
          <a:xfrm>
            <a:off x="1298448" y="1892808"/>
            <a:ext cx="109728" cy="109728"/>
          </a:xfrm>
          <a:prstGeom prst="ellipse">
            <a:avLst/>
          </a:prstGeom>
          <a:solidFill>
            <a:srgbClr val="1E9E68"/>
          </a:solidFill>
          <a:ln/>
        </p:spPr>
      </p:sp>
      <p:sp>
        <p:nvSpPr>
          <p:cNvPr id="10" name="Text 8"/>
          <p:cNvSpPr txBox="1"/>
          <p:nvPr/>
        </p:nvSpPr>
        <p:spPr>
          <a:xfrm>
            <a:off x="1645920" y="1810512"/>
            <a:ext cx="411480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Consolas" pitchFamily="34" charset="0"/>
                <a:ea typeface="Consolas" pitchFamily="34" charset="-122"/>
                <a:cs typeface="Consolas" pitchFamily="34" charset="-120"/>
              </a:rPr>
              <a:t>style.css</a:t>
            </a:r>
            <a:endParaRPr lang="en-US" sz="1200" dirty="0"/>
          </a:p>
        </p:txBody>
      </p:sp>
      <p:sp>
        <p:nvSpPr>
          <p:cNvPr id="11" name="Shape 9"/>
          <p:cNvSpPr/>
          <p:nvPr/>
        </p:nvSpPr>
        <p:spPr>
          <a:xfrm>
            <a:off x="804672" y="2636012"/>
            <a:ext cx="5157216" cy="368300"/>
          </a:xfrm>
          <a:prstGeom prst="rect">
            <a:avLst/>
          </a:prstGeom>
          <a:solidFill>
            <a:srgbClr val="FFC83D">
              <a:alpha val="16000"/>
            </a:srgbClr>
          </a:solidFill>
          <a:ln/>
        </p:spPr>
      </p:sp>
      <p:sp>
        <p:nvSpPr>
          <p:cNvPr id="12" name="Text 10"/>
          <p:cNvSpPr txBox="1"/>
          <p:nvPr/>
        </p:nvSpPr>
        <p:spPr>
          <a:xfrm>
            <a:off x="896112" y="22677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1</a:t>
            </a:r>
            <a:endParaRPr lang="en-US" sz="1400" dirty="0"/>
          </a:p>
        </p:txBody>
      </p:sp>
      <p:sp>
        <p:nvSpPr>
          <p:cNvPr id="13" name="Text 11"/>
          <p:cNvSpPr txBox="1"/>
          <p:nvPr/>
        </p:nvSpPr>
        <p:spPr>
          <a:xfrm>
            <a:off x="1417320" y="2267712"/>
            <a:ext cx="457200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nav</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14" name="Text 12"/>
          <p:cNvSpPr txBox="1"/>
          <p:nvPr/>
        </p:nvSpPr>
        <p:spPr>
          <a:xfrm>
            <a:off x="896112" y="26360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2</a:t>
            </a:r>
            <a:endParaRPr lang="en-US" sz="1400" dirty="0"/>
          </a:p>
        </p:txBody>
      </p:sp>
      <p:sp>
        <p:nvSpPr>
          <p:cNvPr id="15" name="Text 13"/>
          <p:cNvSpPr txBox="1"/>
          <p:nvPr/>
        </p:nvSpPr>
        <p:spPr>
          <a:xfrm>
            <a:off x="1417320" y="2636012"/>
            <a:ext cx="45720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display</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flex</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16" name="Text 14"/>
          <p:cNvSpPr txBox="1"/>
          <p:nvPr/>
        </p:nvSpPr>
        <p:spPr>
          <a:xfrm>
            <a:off x="896112" y="30043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3</a:t>
            </a:r>
            <a:endParaRPr lang="en-US" sz="1400" dirty="0"/>
          </a:p>
        </p:txBody>
      </p:sp>
      <p:sp>
        <p:nvSpPr>
          <p:cNvPr id="17" name="Text 15"/>
          <p:cNvSpPr txBox="1"/>
          <p:nvPr/>
        </p:nvSpPr>
        <p:spPr>
          <a:xfrm>
            <a:off x="1417320" y="3004312"/>
            <a:ext cx="45720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gap</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16px</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18" name="Text 16"/>
          <p:cNvSpPr txBox="1"/>
          <p:nvPr/>
        </p:nvSpPr>
        <p:spPr>
          <a:xfrm>
            <a:off x="896112" y="33726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4</a:t>
            </a:r>
            <a:endParaRPr lang="en-US" sz="1400" dirty="0"/>
          </a:p>
        </p:txBody>
      </p:sp>
      <p:sp>
        <p:nvSpPr>
          <p:cNvPr id="19" name="Text 17"/>
          <p:cNvSpPr txBox="1"/>
          <p:nvPr/>
        </p:nvSpPr>
        <p:spPr>
          <a:xfrm>
            <a:off x="1417320" y="3372612"/>
            <a:ext cx="45720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justify-content</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center</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0" name="Text 18"/>
          <p:cNvSpPr txBox="1"/>
          <p:nvPr/>
        </p:nvSpPr>
        <p:spPr>
          <a:xfrm>
            <a:off x="896112" y="37409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5</a:t>
            </a:r>
            <a:endParaRPr lang="en-US" sz="1400" dirty="0"/>
          </a:p>
        </p:txBody>
      </p:sp>
      <p:sp>
        <p:nvSpPr>
          <p:cNvPr id="21" name="Text 19"/>
          <p:cNvSpPr txBox="1"/>
          <p:nvPr/>
        </p:nvSpPr>
        <p:spPr>
          <a:xfrm>
            <a:off x="1417320" y="3740912"/>
            <a:ext cx="457200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2" name="Text 20"/>
          <p:cNvSpPr txBox="1"/>
          <p:nvPr/>
        </p:nvSpPr>
        <p:spPr>
          <a:xfrm>
            <a:off x="731520" y="4526280"/>
            <a:ext cx="5303520" cy="320040"/>
          </a:xfrm>
          <a:prstGeom prst="rect">
            <a:avLst/>
          </a:prstGeom>
          <a:noFill/>
          <a:ln/>
        </p:spPr>
        <p:txBody>
          <a:bodyPr wrap="square" lIns="0" tIns="0" rIns="0" bIns="0" rtlCol="0" anchor="t"/>
          <a:lstStyle/>
          <a:p>
            <a:pPr algn="l" indent="0" marL="0">
              <a:lnSpc>
                <a:spcPct val="115000"/>
              </a:lnSpc>
              <a:buNone/>
            </a:pPr>
            <a:r>
              <a:rPr lang="en-US" sz="1600" b="1" dirty="0">
                <a:solidFill>
                  <a:srgbClr val="0E1B3D"/>
                </a:solidFill>
                <a:latin typeface="Calibri" pitchFamily="34" charset="0"/>
                <a:ea typeface="Calibri" pitchFamily="34" charset="-122"/>
                <a:cs typeface="Calibri" pitchFamily="34" charset="-120"/>
              </a:rPr>
              <a:t>Grid: untuk layout dua dimensi (baris dan kolom)</a:t>
            </a:r>
            <a:endParaRPr lang="en-US" sz="1600" dirty="0"/>
          </a:p>
        </p:txBody>
      </p:sp>
      <p:sp>
        <p:nvSpPr>
          <p:cNvPr id="23" name="Shape 21"/>
          <p:cNvSpPr/>
          <p:nvPr/>
        </p:nvSpPr>
        <p:spPr>
          <a:xfrm>
            <a:off x="731520" y="4983480"/>
            <a:ext cx="5303520" cy="594360"/>
          </a:xfrm>
          <a:prstGeom prst="roundRect">
            <a:avLst>
              <a:gd name="adj" fmla="val 18462"/>
            </a:avLst>
          </a:prstGeom>
          <a:solidFill>
            <a:srgbClr val="0B1530"/>
          </a:solidFill>
          <a:ln/>
        </p:spPr>
      </p:sp>
      <p:sp>
        <p:nvSpPr>
          <p:cNvPr id="24" name="Text 22"/>
          <p:cNvSpPr txBox="1"/>
          <p:nvPr/>
        </p:nvSpPr>
        <p:spPr>
          <a:xfrm>
            <a:off x="960120" y="4983480"/>
            <a:ext cx="4937760" cy="594360"/>
          </a:xfrm>
          <a:prstGeom prst="rect">
            <a:avLst/>
          </a:prstGeom>
          <a:noFill/>
          <a:ln/>
        </p:spPr>
        <p:txBody>
          <a:bodyPr wrap="none" lIns="0" tIns="0" rIns="0" bIns="0" rtlCol="0" anchor="ctr"/>
          <a:lstStyle/>
          <a:p>
            <a:pPr algn="l" indent="0" marL="0">
              <a:lnSpc>
                <a:spcPct val="115000"/>
              </a:lnSpc>
              <a:buNone/>
            </a:pPr>
            <a:r>
              <a:rPr lang="en-US" sz="1800" dirty="0">
                <a:solidFill>
                  <a:srgbClr val="F4F6FB"/>
                </a:solidFill>
                <a:latin typeface="Consolas" pitchFamily="34" charset="0"/>
                <a:ea typeface="Consolas" pitchFamily="34" charset="-122"/>
                <a:cs typeface="Consolas" pitchFamily="34" charset="-120"/>
              </a:rPr>
              <a:t>grid-template-columns: 1fr 1fr;</a:t>
            </a:r>
            <a:endParaRPr lang="en-US" sz="1800" dirty="0"/>
          </a:p>
        </p:txBody>
      </p:sp>
      <p:sp>
        <p:nvSpPr>
          <p:cNvPr id="25" name="Shape 23"/>
          <p:cNvSpPr/>
          <p:nvPr/>
        </p:nvSpPr>
        <p:spPr>
          <a:xfrm>
            <a:off x="6583680" y="1737360"/>
            <a:ext cx="4846320" cy="1600200"/>
          </a:xfrm>
          <a:prstGeom prst="roundRect">
            <a:avLst>
              <a:gd name="adj" fmla="val 9143"/>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26" name="Text 24"/>
          <p:cNvSpPr txBox="1"/>
          <p:nvPr/>
        </p:nvSpPr>
        <p:spPr>
          <a:xfrm>
            <a:off x="6858000" y="1847088"/>
            <a:ext cx="3657600" cy="274320"/>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5B6478"/>
                </a:solidFill>
                <a:latin typeface="Calibri" pitchFamily="34" charset="0"/>
                <a:ea typeface="Calibri" pitchFamily="34" charset="-122"/>
                <a:cs typeface="Calibri" pitchFamily="34" charset="-120"/>
              </a:rPr>
              <a:t>TANPA FLEX</a:t>
            </a:r>
            <a:endParaRPr lang="en-US" sz="1100" dirty="0"/>
          </a:p>
        </p:txBody>
      </p:sp>
      <p:sp>
        <p:nvSpPr>
          <p:cNvPr id="27" name="Text 25"/>
          <p:cNvSpPr txBox="1"/>
          <p:nvPr/>
        </p:nvSpPr>
        <p:spPr>
          <a:xfrm>
            <a:off x="6858000" y="2176272"/>
            <a:ext cx="1828800" cy="320040"/>
          </a:xfrm>
          <a:prstGeom prst="rect">
            <a:avLst/>
          </a:prstGeom>
          <a:noFill/>
          <a:ln/>
        </p:spPr>
        <p:txBody>
          <a:bodyPr wrap="square" lIns="0" tIns="0" rIns="0" bIns="0" rtlCol="0" anchor="t"/>
          <a:lstStyle/>
          <a:p>
            <a:pPr algn="l" indent="0" marL="0">
              <a:lnSpc>
                <a:spcPct val="115000"/>
              </a:lnSpc>
              <a:buNone/>
            </a:pPr>
            <a:r>
              <a:rPr lang="en-US" sz="1600" dirty="0">
                <a:solidFill>
                  <a:srgbClr val="1F4FD8"/>
                </a:solidFill>
                <a:latin typeface="Calibri" pitchFamily="34" charset="0"/>
                <a:ea typeface="Calibri" pitchFamily="34" charset="-122"/>
                <a:cs typeface="Calibri" pitchFamily="34" charset="-120"/>
              </a:rPr>
              <a:t>Tentang</a:t>
            </a:r>
            <a:endParaRPr lang="en-US" sz="1600" dirty="0"/>
          </a:p>
        </p:txBody>
      </p:sp>
      <p:sp>
        <p:nvSpPr>
          <p:cNvPr id="28" name="Text 26"/>
          <p:cNvSpPr txBox="1"/>
          <p:nvPr/>
        </p:nvSpPr>
        <p:spPr>
          <a:xfrm>
            <a:off x="6858000" y="2542032"/>
            <a:ext cx="1828800" cy="320040"/>
          </a:xfrm>
          <a:prstGeom prst="rect">
            <a:avLst/>
          </a:prstGeom>
          <a:noFill/>
          <a:ln/>
        </p:spPr>
        <p:txBody>
          <a:bodyPr wrap="square" lIns="0" tIns="0" rIns="0" bIns="0" rtlCol="0" anchor="t"/>
          <a:lstStyle/>
          <a:p>
            <a:pPr algn="l" indent="0" marL="0">
              <a:lnSpc>
                <a:spcPct val="115000"/>
              </a:lnSpc>
              <a:buNone/>
            </a:pPr>
            <a:r>
              <a:rPr lang="en-US" sz="1600" dirty="0">
                <a:solidFill>
                  <a:srgbClr val="1F4FD8"/>
                </a:solidFill>
                <a:latin typeface="Calibri" pitchFamily="34" charset="0"/>
                <a:ea typeface="Calibri" pitchFamily="34" charset="-122"/>
                <a:cs typeface="Calibri" pitchFamily="34" charset="-120"/>
              </a:rPr>
              <a:t>Skill</a:t>
            </a:r>
            <a:endParaRPr lang="en-US" sz="1600" dirty="0"/>
          </a:p>
        </p:txBody>
      </p:sp>
      <p:sp>
        <p:nvSpPr>
          <p:cNvPr id="29" name="Text 27"/>
          <p:cNvSpPr txBox="1"/>
          <p:nvPr/>
        </p:nvSpPr>
        <p:spPr>
          <a:xfrm>
            <a:off x="6858000" y="2907792"/>
            <a:ext cx="1828800" cy="320040"/>
          </a:xfrm>
          <a:prstGeom prst="rect">
            <a:avLst/>
          </a:prstGeom>
          <a:noFill/>
          <a:ln/>
        </p:spPr>
        <p:txBody>
          <a:bodyPr wrap="square" lIns="0" tIns="0" rIns="0" bIns="0" rtlCol="0" anchor="t"/>
          <a:lstStyle/>
          <a:p>
            <a:pPr algn="l" indent="0" marL="0">
              <a:lnSpc>
                <a:spcPct val="115000"/>
              </a:lnSpc>
              <a:buNone/>
            </a:pPr>
            <a:r>
              <a:rPr lang="en-US" sz="1600" dirty="0">
                <a:solidFill>
                  <a:srgbClr val="1F4FD8"/>
                </a:solidFill>
                <a:latin typeface="Calibri" pitchFamily="34" charset="0"/>
                <a:ea typeface="Calibri" pitchFamily="34" charset="-122"/>
                <a:cs typeface="Calibri" pitchFamily="34" charset="-120"/>
              </a:rPr>
              <a:t>Project</a:t>
            </a:r>
            <a:endParaRPr lang="en-US" sz="1600" dirty="0"/>
          </a:p>
        </p:txBody>
      </p:sp>
      <p:sp>
        <p:nvSpPr>
          <p:cNvPr id="30" name="Shape 28"/>
          <p:cNvSpPr/>
          <p:nvPr/>
        </p:nvSpPr>
        <p:spPr>
          <a:xfrm>
            <a:off x="6583680" y="3520440"/>
            <a:ext cx="4846320" cy="1234440"/>
          </a:xfrm>
          <a:prstGeom prst="roundRect">
            <a:avLst>
              <a:gd name="adj" fmla="val 11852"/>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31" name="Text 29"/>
          <p:cNvSpPr txBox="1"/>
          <p:nvPr/>
        </p:nvSpPr>
        <p:spPr>
          <a:xfrm>
            <a:off x="6858000" y="3630168"/>
            <a:ext cx="3657600" cy="274320"/>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1F4FD8"/>
                </a:solidFill>
                <a:latin typeface="Calibri" pitchFamily="34" charset="0"/>
                <a:ea typeface="Calibri" pitchFamily="34" charset="-122"/>
                <a:cs typeface="Calibri" pitchFamily="34" charset="-120"/>
              </a:rPr>
              <a:t>DENGAN FLEX</a:t>
            </a:r>
            <a:endParaRPr lang="en-US" sz="1100" dirty="0"/>
          </a:p>
        </p:txBody>
      </p:sp>
      <p:sp>
        <p:nvSpPr>
          <p:cNvPr id="32" name="Shape 30"/>
          <p:cNvSpPr/>
          <p:nvPr/>
        </p:nvSpPr>
        <p:spPr>
          <a:xfrm>
            <a:off x="6940296" y="4023360"/>
            <a:ext cx="1280160" cy="457200"/>
          </a:xfrm>
          <a:prstGeom prst="roundRect">
            <a:avLst>
              <a:gd name="adj" fmla="val 50000"/>
            </a:avLst>
          </a:prstGeom>
          <a:solidFill>
            <a:srgbClr val="1F4FD8"/>
          </a:solidFill>
          <a:ln/>
        </p:spPr>
      </p:sp>
      <p:sp>
        <p:nvSpPr>
          <p:cNvPr id="33" name="Text 31"/>
          <p:cNvSpPr txBox="1"/>
          <p:nvPr/>
        </p:nvSpPr>
        <p:spPr>
          <a:xfrm>
            <a:off x="6940296" y="4023360"/>
            <a:ext cx="1280160" cy="45720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Tentang</a:t>
            </a:r>
            <a:endParaRPr lang="en-US" sz="1400" dirty="0"/>
          </a:p>
        </p:txBody>
      </p:sp>
      <p:sp>
        <p:nvSpPr>
          <p:cNvPr id="34" name="Shape 32"/>
          <p:cNvSpPr/>
          <p:nvPr/>
        </p:nvSpPr>
        <p:spPr>
          <a:xfrm>
            <a:off x="8366760" y="4023360"/>
            <a:ext cx="1280160" cy="457200"/>
          </a:xfrm>
          <a:prstGeom prst="roundRect">
            <a:avLst>
              <a:gd name="adj" fmla="val 50000"/>
            </a:avLst>
          </a:prstGeom>
          <a:solidFill>
            <a:srgbClr val="1F4FD8"/>
          </a:solidFill>
          <a:ln/>
        </p:spPr>
      </p:sp>
      <p:sp>
        <p:nvSpPr>
          <p:cNvPr id="35" name="Text 33"/>
          <p:cNvSpPr txBox="1"/>
          <p:nvPr/>
        </p:nvSpPr>
        <p:spPr>
          <a:xfrm>
            <a:off x="8366760" y="4023360"/>
            <a:ext cx="1280160" cy="45720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Skill</a:t>
            </a:r>
            <a:endParaRPr lang="en-US" sz="1400" dirty="0"/>
          </a:p>
        </p:txBody>
      </p:sp>
      <p:sp>
        <p:nvSpPr>
          <p:cNvPr id="36" name="Shape 34"/>
          <p:cNvSpPr/>
          <p:nvPr/>
        </p:nvSpPr>
        <p:spPr>
          <a:xfrm>
            <a:off x="9793224" y="4023360"/>
            <a:ext cx="1280160" cy="457200"/>
          </a:xfrm>
          <a:prstGeom prst="roundRect">
            <a:avLst>
              <a:gd name="adj" fmla="val 50000"/>
            </a:avLst>
          </a:prstGeom>
          <a:solidFill>
            <a:srgbClr val="1F4FD8"/>
          </a:solidFill>
          <a:ln/>
        </p:spPr>
      </p:sp>
      <p:sp>
        <p:nvSpPr>
          <p:cNvPr id="37" name="Text 35"/>
          <p:cNvSpPr txBox="1"/>
          <p:nvPr/>
        </p:nvSpPr>
        <p:spPr>
          <a:xfrm>
            <a:off x="9793224" y="4023360"/>
            <a:ext cx="1280160" cy="45720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Project</a:t>
            </a:r>
            <a:endParaRPr lang="en-US" sz="1400" dirty="0"/>
          </a:p>
        </p:txBody>
      </p:sp>
      <p:sp>
        <p:nvSpPr>
          <p:cNvPr id="38" name="Text 36"/>
          <p:cNvSpPr txBox="1"/>
          <p:nvPr/>
        </p:nvSpPr>
        <p:spPr>
          <a:xfrm>
            <a:off x="6583680" y="4983480"/>
            <a:ext cx="4846320" cy="822960"/>
          </a:xfrm>
          <a:prstGeom prst="rect">
            <a:avLst/>
          </a:prstGeom>
          <a:noFill/>
          <a:ln/>
        </p:spPr>
        <p:txBody>
          <a:bodyPr wrap="square" lIns="0" tIns="0" rIns="0" bIns="0" rtlCol="0" anchor="t"/>
          <a:lstStyle/>
          <a:p>
            <a:pPr algn="l" indent="0" marL="0">
              <a:lnSpc>
                <a:spcPct val="140000"/>
              </a:lnSpc>
              <a:buNone/>
            </a:pPr>
            <a:r>
              <a:rPr lang="en-US" sz="1500" dirty="0">
                <a:solidFill>
                  <a:srgbClr val="5B6478"/>
                </a:solidFill>
                <a:latin typeface="Calibri" pitchFamily="34" charset="0"/>
                <a:ea typeface="Calibri" pitchFamily="34" charset="-122"/>
                <a:cs typeface="Calibri" pitchFamily="34" charset="-120"/>
              </a:rPr>
              <a:t>Satu baris display: flex menyusun semua anak elemen dalam satu baris, rapi dan sejajar.</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25</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03 · CSS</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Satu web, semua layar</a:t>
            </a:r>
            <a:endParaRPr lang="en-US" sz="3800" dirty="0"/>
          </a:p>
        </p:txBody>
      </p:sp>
      <p:sp>
        <p:nvSpPr>
          <p:cNvPr id="6" name="Shape 4"/>
          <p:cNvSpPr/>
          <p:nvPr/>
        </p:nvSpPr>
        <p:spPr>
          <a:xfrm>
            <a:off x="731520" y="1645920"/>
            <a:ext cx="6583680" cy="3604768"/>
          </a:xfrm>
          <a:prstGeom prst="roundRect">
            <a:avLst>
              <a:gd name="adj" fmla="val 3551"/>
            </a:avLst>
          </a:prstGeom>
          <a:solidFill>
            <a:srgbClr val="0B1530"/>
          </a:solidFill>
          <a:ln/>
          <a:effectLst>
            <a:outerShdw sx="100000" sy="100000" kx="0" ky="0" algn="bl" rotWithShape="0" blurRad="177800" dist="38100" dir="5400000">
              <a:srgbClr val="000000">
                <a:alpha val="40000"/>
              </a:srgbClr>
            </a:outerShdw>
          </a:effectLst>
        </p:spPr>
      </p:sp>
      <p:sp>
        <p:nvSpPr>
          <p:cNvPr id="7" name="Shape 5"/>
          <p:cNvSpPr/>
          <p:nvPr/>
        </p:nvSpPr>
        <p:spPr>
          <a:xfrm>
            <a:off x="932688" y="1801368"/>
            <a:ext cx="109728" cy="109728"/>
          </a:xfrm>
          <a:prstGeom prst="ellipse">
            <a:avLst/>
          </a:prstGeom>
          <a:solidFill>
            <a:srgbClr val="E63946"/>
          </a:solidFill>
          <a:ln/>
        </p:spPr>
      </p:sp>
      <p:sp>
        <p:nvSpPr>
          <p:cNvPr id="8" name="Shape 6"/>
          <p:cNvSpPr/>
          <p:nvPr/>
        </p:nvSpPr>
        <p:spPr>
          <a:xfrm>
            <a:off x="1115568" y="1801368"/>
            <a:ext cx="109728" cy="109728"/>
          </a:xfrm>
          <a:prstGeom prst="ellipse">
            <a:avLst/>
          </a:prstGeom>
          <a:solidFill>
            <a:srgbClr val="FFC83D"/>
          </a:solidFill>
          <a:ln/>
        </p:spPr>
      </p:sp>
      <p:sp>
        <p:nvSpPr>
          <p:cNvPr id="9" name="Shape 7"/>
          <p:cNvSpPr/>
          <p:nvPr/>
        </p:nvSpPr>
        <p:spPr>
          <a:xfrm>
            <a:off x="1298448" y="1801368"/>
            <a:ext cx="109728" cy="109728"/>
          </a:xfrm>
          <a:prstGeom prst="ellipse">
            <a:avLst/>
          </a:prstGeom>
          <a:solidFill>
            <a:srgbClr val="1E9E68"/>
          </a:solidFill>
          <a:ln/>
        </p:spPr>
      </p:sp>
      <p:sp>
        <p:nvSpPr>
          <p:cNvPr id="10" name="Text 8"/>
          <p:cNvSpPr txBox="1"/>
          <p:nvPr/>
        </p:nvSpPr>
        <p:spPr>
          <a:xfrm>
            <a:off x="1645920" y="1719072"/>
            <a:ext cx="539496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Consolas" pitchFamily="34" charset="0"/>
                <a:ea typeface="Consolas" pitchFamily="34" charset="-122"/>
                <a:cs typeface="Consolas" pitchFamily="34" charset="-120"/>
              </a:rPr>
              <a:t>style.css</a:t>
            </a:r>
            <a:endParaRPr lang="en-US" sz="1200" dirty="0"/>
          </a:p>
        </p:txBody>
      </p:sp>
      <p:sp>
        <p:nvSpPr>
          <p:cNvPr id="11" name="Shape 9"/>
          <p:cNvSpPr/>
          <p:nvPr/>
        </p:nvSpPr>
        <p:spPr>
          <a:xfrm>
            <a:off x="804672" y="2544572"/>
            <a:ext cx="6437376" cy="368300"/>
          </a:xfrm>
          <a:prstGeom prst="rect">
            <a:avLst/>
          </a:prstGeom>
          <a:solidFill>
            <a:srgbClr val="FFC83D">
              <a:alpha val="16000"/>
            </a:srgbClr>
          </a:solidFill>
          <a:ln/>
        </p:spPr>
      </p:sp>
      <p:sp>
        <p:nvSpPr>
          <p:cNvPr id="12" name="Shape 10"/>
          <p:cNvSpPr/>
          <p:nvPr/>
        </p:nvSpPr>
        <p:spPr>
          <a:xfrm>
            <a:off x="804672" y="3281172"/>
            <a:ext cx="6437376" cy="368300"/>
          </a:xfrm>
          <a:prstGeom prst="rect">
            <a:avLst/>
          </a:prstGeom>
          <a:solidFill>
            <a:srgbClr val="FFC83D">
              <a:alpha val="16000"/>
            </a:srgbClr>
          </a:solidFill>
          <a:ln/>
        </p:spPr>
      </p:sp>
      <p:sp>
        <p:nvSpPr>
          <p:cNvPr id="13" name="Text 11"/>
          <p:cNvSpPr txBox="1"/>
          <p:nvPr/>
        </p:nvSpPr>
        <p:spPr>
          <a:xfrm>
            <a:off x="896112" y="217627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1</a:t>
            </a:r>
            <a:endParaRPr lang="en-US" sz="1400" dirty="0"/>
          </a:p>
        </p:txBody>
      </p:sp>
      <p:sp>
        <p:nvSpPr>
          <p:cNvPr id="14" name="Text 12"/>
          <p:cNvSpPr txBox="1"/>
          <p:nvPr/>
        </p:nvSpPr>
        <p:spPr>
          <a:xfrm>
            <a:off x="1417320" y="217627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h1</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15" name="Text 13"/>
          <p:cNvSpPr txBox="1"/>
          <p:nvPr/>
        </p:nvSpPr>
        <p:spPr>
          <a:xfrm>
            <a:off x="896112" y="254457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2</a:t>
            </a:r>
            <a:endParaRPr lang="en-US" sz="1400" dirty="0"/>
          </a:p>
        </p:txBody>
      </p:sp>
      <p:sp>
        <p:nvSpPr>
          <p:cNvPr id="16" name="Text 14"/>
          <p:cNvSpPr txBox="1"/>
          <p:nvPr/>
        </p:nvSpPr>
        <p:spPr>
          <a:xfrm>
            <a:off x="1417320" y="254457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font-size</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clamp(28px, 6vw, 48px)</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17" name="Text 15"/>
          <p:cNvSpPr txBox="1"/>
          <p:nvPr/>
        </p:nvSpPr>
        <p:spPr>
          <a:xfrm>
            <a:off x="896112" y="291287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3</a:t>
            </a:r>
            <a:endParaRPr lang="en-US" sz="1400" dirty="0"/>
          </a:p>
        </p:txBody>
      </p:sp>
      <p:sp>
        <p:nvSpPr>
          <p:cNvPr id="18" name="Text 16"/>
          <p:cNvSpPr txBox="1"/>
          <p:nvPr/>
        </p:nvSpPr>
        <p:spPr>
          <a:xfrm>
            <a:off x="1417320" y="291287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19" name="Text 17"/>
          <p:cNvSpPr txBox="1"/>
          <p:nvPr/>
        </p:nvSpPr>
        <p:spPr>
          <a:xfrm>
            <a:off x="896112" y="328117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4</a:t>
            </a:r>
            <a:endParaRPr lang="en-US" sz="1400" dirty="0"/>
          </a:p>
        </p:txBody>
      </p:sp>
      <p:sp>
        <p:nvSpPr>
          <p:cNvPr id="20" name="Text 18"/>
          <p:cNvSpPr txBox="1"/>
          <p:nvPr/>
        </p:nvSpPr>
        <p:spPr>
          <a:xfrm>
            <a:off x="1417320" y="328117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@media (min-width: 768px)</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1" name="Text 19"/>
          <p:cNvSpPr txBox="1"/>
          <p:nvPr/>
        </p:nvSpPr>
        <p:spPr>
          <a:xfrm>
            <a:off x="896112" y="364947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5</a:t>
            </a:r>
            <a:endParaRPr lang="en-US" sz="1400" dirty="0"/>
          </a:p>
        </p:txBody>
      </p:sp>
      <p:sp>
        <p:nvSpPr>
          <p:cNvPr id="22" name="Text 20"/>
          <p:cNvSpPr txBox="1"/>
          <p:nvPr/>
        </p:nvSpPr>
        <p:spPr>
          <a:xfrm>
            <a:off x="1417320" y="364947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FFD36E"/>
                </a:solidFill>
                <a:latin typeface="Consolas" pitchFamily="34" charset="0"/>
                <a:ea typeface="Consolas" pitchFamily="34" charset="-122"/>
                <a:cs typeface="Consolas" pitchFamily="34" charset="-120"/>
              </a:rPr>
              <a:t>.projects</a:t>
            </a:r>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3" name="Text 21"/>
          <p:cNvSpPr txBox="1"/>
          <p:nvPr/>
        </p:nvSpPr>
        <p:spPr>
          <a:xfrm>
            <a:off x="896112" y="401777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6</a:t>
            </a:r>
            <a:endParaRPr lang="en-US" sz="1400" dirty="0"/>
          </a:p>
        </p:txBody>
      </p:sp>
      <p:sp>
        <p:nvSpPr>
          <p:cNvPr id="24" name="Text 22"/>
          <p:cNvSpPr txBox="1"/>
          <p:nvPr/>
        </p:nvSpPr>
        <p:spPr>
          <a:xfrm>
            <a:off x="1417320" y="401777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DB4FF"/>
                </a:solidFill>
                <a:latin typeface="Consolas" pitchFamily="34" charset="0"/>
                <a:ea typeface="Consolas" pitchFamily="34" charset="-122"/>
                <a:cs typeface="Consolas" pitchFamily="34" charset="-120"/>
              </a:rPr>
              <a:t>grid-template-columns</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8FE3B0"/>
                </a:solidFill>
                <a:latin typeface="Consolas" pitchFamily="34" charset="0"/>
                <a:ea typeface="Consolas" pitchFamily="34" charset="-122"/>
                <a:cs typeface="Consolas" pitchFamily="34" charset="-120"/>
              </a:rPr>
              <a:t>1fr 1fr</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5" name="Text 23"/>
          <p:cNvSpPr txBox="1"/>
          <p:nvPr/>
        </p:nvSpPr>
        <p:spPr>
          <a:xfrm>
            <a:off x="896112" y="438607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7</a:t>
            </a:r>
            <a:endParaRPr lang="en-US" sz="1400" dirty="0"/>
          </a:p>
        </p:txBody>
      </p:sp>
      <p:sp>
        <p:nvSpPr>
          <p:cNvPr id="26" name="Text 24"/>
          <p:cNvSpPr txBox="1"/>
          <p:nvPr/>
        </p:nvSpPr>
        <p:spPr>
          <a:xfrm>
            <a:off x="1417320" y="438607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Consolas" pitchFamily="34" charset="0"/>
                <a:ea typeface="Consolas" pitchFamily="34" charset="-122"/>
                <a:cs typeface="Consolas" pitchFamily="34" charset="-120"/>
              </a:rPr>
              <a:t>  </a:t>
            </a:r>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7" name="Text 25"/>
          <p:cNvSpPr txBox="1"/>
          <p:nvPr/>
        </p:nvSpPr>
        <p:spPr>
          <a:xfrm>
            <a:off x="896112" y="475437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Consolas" pitchFamily="34" charset="0"/>
                <a:ea typeface="Consolas" pitchFamily="34" charset="-122"/>
                <a:cs typeface="Consolas" pitchFamily="34" charset="-120"/>
              </a:rPr>
              <a:t>8</a:t>
            </a:r>
            <a:endParaRPr lang="en-US" sz="1400" dirty="0"/>
          </a:p>
        </p:txBody>
      </p:sp>
      <p:sp>
        <p:nvSpPr>
          <p:cNvPr id="28" name="Text 26"/>
          <p:cNvSpPr txBox="1"/>
          <p:nvPr/>
        </p:nvSpPr>
        <p:spPr>
          <a:xfrm>
            <a:off x="1417320" y="475437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Consolas" pitchFamily="34" charset="0"/>
                <a:ea typeface="Consolas" pitchFamily="34" charset="-122"/>
                <a:cs typeface="Consolas" pitchFamily="34" charset="-120"/>
              </a:rPr>
              <a:t>}</a:t>
            </a:r>
            <a:endParaRPr lang="en-US" sz="2000" dirty="0"/>
          </a:p>
        </p:txBody>
      </p:sp>
      <p:sp>
        <p:nvSpPr>
          <p:cNvPr id="29" name="Shape 27"/>
          <p:cNvSpPr/>
          <p:nvPr/>
        </p:nvSpPr>
        <p:spPr>
          <a:xfrm>
            <a:off x="7680960" y="2011680"/>
            <a:ext cx="640080" cy="1371600"/>
          </a:xfrm>
          <a:prstGeom prst="roundRect">
            <a:avLst>
              <a:gd name="adj" fmla="val 14286"/>
            </a:avLst>
          </a:prstGeom>
          <a:solidFill>
            <a:srgbClr val="FFFFFF"/>
          </a:solidFill>
          <a:ln w="25400">
            <a:solidFill>
              <a:srgbClr val="0E1B3D"/>
            </a:solidFill>
            <a:prstDash val="solid"/>
          </a:ln>
        </p:spPr>
      </p:sp>
      <p:sp>
        <p:nvSpPr>
          <p:cNvPr id="30" name="Shape 28"/>
          <p:cNvSpPr/>
          <p:nvPr/>
        </p:nvSpPr>
        <p:spPr>
          <a:xfrm>
            <a:off x="7772400" y="2103120"/>
            <a:ext cx="457200" cy="164592"/>
          </a:xfrm>
          <a:prstGeom prst="rect">
            <a:avLst/>
          </a:prstGeom>
          <a:solidFill>
            <a:srgbClr val="0E1B3D"/>
          </a:solidFill>
          <a:ln/>
        </p:spPr>
      </p:sp>
      <p:sp>
        <p:nvSpPr>
          <p:cNvPr id="31" name="Shape 29"/>
          <p:cNvSpPr/>
          <p:nvPr/>
        </p:nvSpPr>
        <p:spPr>
          <a:xfrm>
            <a:off x="7772400" y="2377440"/>
            <a:ext cx="365760" cy="457200"/>
          </a:xfrm>
          <a:prstGeom prst="rect">
            <a:avLst/>
          </a:prstGeom>
          <a:solidFill>
            <a:srgbClr val="DCE6FF"/>
          </a:solidFill>
          <a:ln/>
        </p:spPr>
      </p:sp>
      <p:sp>
        <p:nvSpPr>
          <p:cNvPr id="32" name="Text 30"/>
          <p:cNvSpPr txBox="1"/>
          <p:nvPr/>
        </p:nvSpPr>
        <p:spPr>
          <a:xfrm>
            <a:off x="7498080" y="3520440"/>
            <a:ext cx="1005840" cy="274320"/>
          </a:xfrm>
          <a:prstGeom prst="rect">
            <a:avLst/>
          </a:prstGeom>
          <a:noFill/>
          <a:ln/>
        </p:spPr>
        <p:txBody>
          <a:bodyPr wrap="none" lIns="0" tIns="0" rIns="0" bIns="0" rtlCol="0" anchor="ctr"/>
          <a:lstStyle/>
          <a:p>
            <a:pPr algn="ctr" indent="0" marL="0">
              <a:lnSpc>
                <a:spcPct val="115000"/>
              </a:lnSpc>
              <a:buNone/>
            </a:pPr>
            <a:r>
              <a:rPr lang="en-US" sz="1300" b="1" dirty="0">
                <a:solidFill>
                  <a:srgbClr val="5B6478"/>
                </a:solidFill>
                <a:latin typeface="Consolas" pitchFamily="34" charset="0"/>
                <a:ea typeface="Consolas" pitchFamily="34" charset="-122"/>
                <a:cs typeface="Consolas" pitchFamily="34" charset="-120"/>
              </a:rPr>
              <a:t>375px</a:t>
            </a:r>
            <a:endParaRPr lang="en-US" sz="1300" dirty="0"/>
          </a:p>
        </p:txBody>
      </p:sp>
      <p:sp>
        <p:nvSpPr>
          <p:cNvPr id="33" name="Shape 31"/>
          <p:cNvSpPr/>
          <p:nvPr/>
        </p:nvSpPr>
        <p:spPr>
          <a:xfrm>
            <a:off x="8503920" y="2011680"/>
            <a:ext cx="1097280" cy="1371600"/>
          </a:xfrm>
          <a:prstGeom prst="roundRect">
            <a:avLst>
              <a:gd name="adj" fmla="val 8333"/>
            </a:avLst>
          </a:prstGeom>
          <a:solidFill>
            <a:srgbClr val="FFFFFF"/>
          </a:solidFill>
          <a:ln w="25400">
            <a:solidFill>
              <a:srgbClr val="0E1B3D"/>
            </a:solidFill>
            <a:prstDash val="solid"/>
          </a:ln>
        </p:spPr>
      </p:sp>
      <p:sp>
        <p:nvSpPr>
          <p:cNvPr id="34" name="Shape 32"/>
          <p:cNvSpPr/>
          <p:nvPr/>
        </p:nvSpPr>
        <p:spPr>
          <a:xfrm>
            <a:off x="8595360" y="2103120"/>
            <a:ext cx="914400" cy="164592"/>
          </a:xfrm>
          <a:prstGeom prst="rect">
            <a:avLst/>
          </a:prstGeom>
          <a:solidFill>
            <a:srgbClr val="0E1B3D"/>
          </a:solidFill>
          <a:ln/>
        </p:spPr>
      </p:sp>
      <p:sp>
        <p:nvSpPr>
          <p:cNvPr id="35" name="Shape 33"/>
          <p:cNvSpPr/>
          <p:nvPr/>
        </p:nvSpPr>
        <p:spPr>
          <a:xfrm>
            <a:off x="8595360" y="2377440"/>
            <a:ext cx="411480" cy="457200"/>
          </a:xfrm>
          <a:prstGeom prst="rect">
            <a:avLst/>
          </a:prstGeom>
          <a:solidFill>
            <a:srgbClr val="DCE6FF"/>
          </a:solidFill>
          <a:ln/>
        </p:spPr>
      </p:sp>
      <p:sp>
        <p:nvSpPr>
          <p:cNvPr id="36" name="Shape 34"/>
          <p:cNvSpPr/>
          <p:nvPr/>
        </p:nvSpPr>
        <p:spPr>
          <a:xfrm>
            <a:off x="9098280" y="2377440"/>
            <a:ext cx="411480" cy="457200"/>
          </a:xfrm>
          <a:prstGeom prst="rect">
            <a:avLst/>
          </a:prstGeom>
          <a:solidFill>
            <a:srgbClr val="DCE6FF"/>
          </a:solidFill>
          <a:ln/>
        </p:spPr>
      </p:sp>
      <p:sp>
        <p:nvSpPr>
          <p:cNvPr id="37" name="Text 35"/>
          <p:cNvSpPr txBox="1"/>
          <p:nvPr/>
        </p:nvSpPr>
        <p:spPr>
          <a:xfrm>
            <a:off x="8321040" y="3520440"/>
            <a:ext cx="1463040" cy="274320"/>
          </a:xfrm>
          <a:prstGeom prst="rect">
            <a:avLst/>
          </a:prstGeom>
          <a:noFill/>
          <a:ln/>
        </p:spPr>
        <p:txBody>
          <a:bodyPr wrap="none" lIns="0" tIns="0" rIns="0" bIns="0" rtlCol="0" anchor="ctr"/>
          <a:lstStyle/>
          <a:p>
            <a:pPr algn="ctr" indent="0" marL="0">
              <a:lnSpc>
                <a:spcPct val="115000"/>
              </a:lnSpc>
              <a:buNone/>
            </a:pPr>
            <a:r>
              <a:rPr lang="en-US" sz="1300" b="1" dirty="0">
                <a:solidFill>
                  <a:srgbClr val="5B6478"/>
                </a:solidFill>
                <a:latin typeface="Consolas" pitchFamily="34" charset="0"/>
                <a:ea typeface="Consolas" pitchFamily="34" charset="-122"/>
                <a:cs typeface="Consolas" pitchFamily="34" charset="-120"/>
              </a:rPr>
              <a:t>768px</a:t>
            </a:r>
            <a:endParaRPr lang="en-US" sz="1300" dirty="0"/>
          </a:p>
        </p:txBody>
      </p:sp>
      <p:sp>
        <p:nvSpPr>
          <p:cNvPr id="38" name="Shape 36"/>
          <p:cNvSpPr/>
          <p:nvPr/>
        </p:nvSpPr>
        <p:spPr>
          <a:xfrm>
            <a:off x="9784080" y="2011680"/>
            <a:ext cx="1645920" cy="1371600"/>
          </a:xfrm>
          <a:prstGeom prst="roundRect">
            <a:avLst>
              <a:gd name="adj" fmla="val 6667"/>
            </a:avLst>
          </a:prstGeom>
          <a:solidFill>
            <a:srgbClr val="FFFFFF"/>
          </a:solidFill>
          <a:ln w="25400">
            <a:solidFill>
              <a:srgbClr val="0E1B3D"/>
            </a:solidFill>
            <a:prstDash val="solid"/>
          </a:ln>
        </p:spPr>
      </p:sp>
      <p:sp>
        <p:nvSpPr>
          <p:cNvPr id="39" name="Shape 37"/>
          <p:cNvSpPr/>
          <p:nvPr/>
        </p:nvSpPr>
        <p:spPr>
          <a:xfrm>
            <a:off x="9875520" y="2103120"/>
            <a:ext cx="1463040" cy="164592"/>
          </a:xfrm>
          <a:prstGeom prst="rect">
            <a:avLst/>
          </a:prstGeom>
          <a:solidFill>
            <a:srgbClr val="0E1B3D"/>
          </a:solidFill>
          <a:ln/>
        </p:spPr>
      </p:sp>
      <p:sp>
        <p:nvSpPr>
          <p:cNvPr id="40" name="Shape 38"/>
          <p:cNvSpPr/>
          <p:nvPr/>
        </p:nvSpPr>
        <p:spPr>
          <a:xfrm>
            <a:off x="9875520" y="2377440"/>
            <a:ext cx="685800" cy="457200"/>
          </a:xfrm>
          <a:prstGeom prst="rect">
            <a:avLst/>
          </a:prstGeom>
          <a:solidFill>
            <a:srgbClr val="DCE6FF"/>
          </a:solidFill>
          <a:ln/>
        </p:spPr>
      </p:sp>
      <p:sp>
        <p:nvSpPr>
          <p:cNvPr id="41" name="Shape 39"/>
          <p:cNvSpPr/>
          <p:nvPr/>
        </p:nvSpPr>
        <p:spPr>
          <a:xfrm>
            <a:off x="10652760" y="2377440"/>
            <a:ext cx="685800" cy="457200"/>
          </a:xfrm>
          <a:prstGeom prst="rect">
            <a:avLst/>
          </a:prstGeom>
          <a:solidFill>
            <a:srgbClr val="DCE6FF"/>
          </a:solidFill>
          <a:ln/>
        </p:spPr>
      </p:sp>
      <p:sp>
        <p:nvSpPr>
          <p:cNvPr id="42" name="Text 40"/>
          <p:cNvSpPr txBox="1"/>
          <p:nvPr/>
        </p:nvSpPr>
        <p:spPr>
          <a:xfrm>
            <a:off x="9601200" y="3520440"/>
            <a:ext cx="2011680" cy="274320"/>
          </a:xfrm>
          <a:prstGeom prst="rect">
            <a:avLst/>
          </a:prstGeom>
          <a:noFill/>
          <a:ln/>
        </p:spPr>
        <p:txBody>
          <a:bodyPr wrap="none" lIns="0" tIns="0" rIns="0" bIns="0" rtlCol="0" anchor="ctr"/>
          <a:lstStyle/>
          <a:p>
            <a:pPr algn="ctr" indent="0" marL="0">
              <a:lnSpc>
                <a:spcPct val="115000"/>
              </a:lnSpc>
              <a:buNone/>
            </a:pPr>
            <a:r>
              <a:rPr lang="en-US" sz="1300" b="1" dirty="0">
                <a:solidFill>
                  <a:srgbClr val="5B6478"/>
                </a:solidFill>
                <a:latin typeface="Consolas" pitchFamily="34" charset="0"/>
                <a:ea typeface="Consolas" pitchFamily="34" charset="-122"/>
                <a:cs typeface="Consolas" pitchFamily="34" charset="-120"/>
              </a:rPr>
              <a:t>1280px</a:t>
            </a:r>
            <a:endParaRPr lang="en-US" sz="1300" dirty="0"/>
          </a:p>
        </p:txBody>
      </p:sp>
      <p:sp>
        <p:nvSpPr>
          <p:cNvPr id="43" name="Shape 41"/>
          <p:cNvSpPr/>
          <p:nvPr/>
        </p:nvSpPr>
        <p:spPr>
          <a:xfrm>
            <a:off x="7680960" y="4023360"/>
            <a:ext cx="3749040" cy="1051560"/>
          </a:xfrm>
          <a:prstGeom prst="roundRect">
            <a:avLst>
              <a:gd name="adj" fmla="val 12174"/>
            </a:avLst>
          </a:prstGeom>
          <a:solidFill>
            <a:srgbClr val="FFF3CF"/>
          </a:solidFill>
          <a:ln/>
        </p:spPr>
      </p:sp>
      <p:sp>
        <p:nvSpPr>
          <p:cNvPr id="44" name="Text 42"/>
          <p:cNvSpPr txBox="1"/>
          <p:nvPr/>
        </p:nvSpPr>
        <p:spPr>
          <a:xfrm>
            <a:off x="7863840" y="4023360"/>
            <a:ext cx="3383280" cy="1051560"/>
          </a:xfrm>
          <a:prstGeom prst="rect">
            <a:avLst/>
          </a:prstGeom>
          <a:noFill/>
          <a:ln/>
        </p:spPr>
        <p:txBody>
          <a:bodyPr wrap="square" lIns="0" tIns="0" rIns="0" bIns="0" rtlCol="0" anchor="ctr"/>
          <a:lstStyle/>
          <a:p>
            <a:pPr algn="l" indent="0" marL="0">
              <a:lnSpc>
                <a:spcPct val="135000"/>
              </a:lnSpc>
              <a:buNone/>
            </a:pPr>
            <a:r>
              <a:rPr lang="en-US" sz="1500" dirty="0">
                <a:solidFill>
                  <a:srgbClr val="0E1B3D"/>
                </a:solidFill>
                <a:latin typeface="Calibri" pitchFamily="34" charset="0"/>
                <a:ea typeface="Calibri" pitchFamily="34" charset="-122"/>
                <a:cs typeface="Calibri" pitchFamily="34" charset="-120"/>
              </a:rPr>
              <a:t>Cek di DevTools: tekan F12, lalu klik ikon ponsel (Ctrl + Shift + M).</a:t>
            </a:r>
            <a:endParaRPr lang="en-US" sz="1500" dirty="0"/>
          </a:p>
        </p:txBody>
      </p:sp>
      <p:sp>
        <p:nvSpPr>
          <p:cNvPr id="45" name="Shape 43"/>
          <p:cNvSpPr/>
          <p:nvPr/>
        </p:nvSpPr>
        <p:spPr>
          <a:xfrm>
            <a:off x="731520" y="5486400"/>
            <a:ext cx="10698480" cy="678942"/>
          </a:xfrm>
          <a:prstGeom prst="roundRect">
            <a:avLst>
              <a:gd name="adj" fmla="val 18855"/>
            </a:avLst>
          </a:prstGeom>
          <a:solidFill>
            <a:srgbClr val="0B1530"/>
          </a:solidFill>
          <a:ln/>
          <a:effectLst>
            <a:outerShdw sx="100000" sy="100000" kx="0" ky="0" algn="bl" rotWithShape="0" blurRad="177800" dist="38100" dir="5400000">
              <a:srgbClr val="000000">
                <a:alpha val="40000"/>
              </a:srgbClr>
            </a:outerShdw>
          </a:effectLst>
        </p:spPr>
      </p:sp>
      <p:sp>
        <p:nvSpPr>
          <p:cNvPr id="46" name="Text 44"/>
          <p:cNvSpPr txBox="1"/>
          <p:nvPr/>
        </p:nvSpPr>
        <p:spPr>
          <a:xfrm>
            <a:off x="1005840" y="5705856"/>
            <a:ext cx="9966960" cy="331470"/>
          </a:xfrm>
          <a:prstGeom prst="rect">
            <a:avLst/>
          </a:prstGeom>
          <a:noFill/>
          <a:ln/>
        </p:spPr>
        <p:txBody>
          <a:bodyPr wrap="none" lIns="0" tIns="0" rIns="0" bIns="0" rtlCol="0" anchor="ctr"/>
          <a:lstStyle/>
          <a:p>
            <a:pPr algn="l" indent="0" marL="0">
              <a:lnSpc>
                <a:spcPct val="115000"/>
              </a:lnSpc>
              <a:buNone/>
            </a:pPr>
            <a:r>
              <a:rPr lang="en-US" sz="1800" dirty="0">
                <a:solidFill>
                  <a:srgbClr val="C9D3EE"/>
                </a:solidFill>
                <a:latin typeface="Consolas" pitchFamily="34" charset="0"/>
                <a:ea typeface="Consolas" pitchFamily="34" charset="-122"/>
                <a:cs typeface="Consolas" pitchFamily="34" charset="-120"/>
              </a:rPr>
              <a:t>&lt;</a:t>
            </a:r>
            <a:pPr algn="l" indent="0" marL="0">
              <a:lnSpc>
                <a:spcPct val="115000"/>
              </a:lnSpc>
              <a:buNone/>
            </a:pPr>
            <a:r>
              <a:rPr lang="en-US" sz="1800" dirty="0">
                <a:solidFill>
                  <a:srgbClr val="8DB4FF"/>
                </a:solidFill>
                <a:latin typeface="Consolas" pitchFamily="34" charset="0"/>
                <a:ea typeface="Consolas" pitchFamily="34" charset="-122"/>
                <a:cs typeface="Consolas" pitchFamily="34" charset="-120"/>
              </a:rPr>
              <a:t>meta</a:t>
            </a:r>
            <a:pPr algn="l" indent="0" marL="0">
              <a:lnSpc>
                <a:spcPct val="115000"/>
              </a:lnSpc>
              <a:buNone/>
            </a:pPr>
            <a:r>
              <a:rPr lang="en-US" sz="18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1800" dirty="0">
                <a:solidFill>
                  <a:srgbClr val="FFD36E"/>
                </a:solidFill>
                <a:latin typeface="Consolas" pitchFamily="34" charset="0"/>
                <a:ea typeface="Consolas" pitchFamily="34" charset="-122"/>
                <a:cs typeface="Consolas" pitchFamily="34" charset="-120"/>
              </a:rPr>
              <a:t>name</a:t>
            </a:r>
            <a:pPr algn="l" indent="0" marL="0">
              <a:lnSpc>
                <a:spcPct val="115000"/>
              </a:lnSpc>
              <a:buNone/>
            </a:pPr>
            <a:r>
              <a:rPr lang="en-US" sz="18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1800" dirty="0">
                <a:solidFill>
                  <a:srgbClr val="8FE3B0"/>
                </a:solidFill>
                <a:latin typeface="Consolas" pitchFamily="34" charset="0"/>
                <a:ea typeface="Consolas" pitchFamily="34" charset="-122"/>
                <a:cs typeface="Consolas" pitchFamily="34" charset="-120"/>
              </a:rPr>
              <a:t>"viewport"</a:t>
            </a:r>
            <a:pPr algn="l" indent="0" marL="0">
              <a:lnSpc>
                <a:spcPct val="115000"/>
              </a:lnSpc>
              <a:buNone/>
            </a:pPr>
            <a:r>
              <a:rPr lang="en-US" sz="1800" dirty="0">
                <a:solidFill>
                  <a:srgbClr val="C9D3EE"/>
                </a:solidFill>
                <a:latin typeface="Consolas" pitchFamily="34" charset="0"/>
                <a:ea typeface="Consolas" pitchFamily="34" charset="-122"/>
                <a:cs typeface="Consolas" pitchFamily="34" charset="-120"/>
              </a:rPr>
              <a:t> </a:t>
            </a:r>
            <a:pPr algn="l" indent="0" marL="0">
              <a:lnSpc>
                <a:spcPct val="115000"/>
              </a:lnSpc>
              <a:buNone/>
            </a:pPr>
            <a:r>
              <a:rPr lang="en-US" sz="1800" dirty="0">
                <a:solidFill>
                  <a:srgbClr val="FFD36E"/>
                </a:solidFill>
                <a:latin typeface="Consolas" pitchFamily="34" charset="0"/>
                <a:ea typeface="Consolas" pitchFamily="34" charset="-122"/>
                <a:cs typeface="Consolas" pitchFamily="34" charset="-120"/>
              </a:rPr>
              <a:t>content</a:t>
            </a:r>
            <a:pPr algn="l" indent="0" marL="0">
              <a:lnSpc>
                <a:spcPct val="115000"/>
              </a:lnSpc>
              <a:buNone/>
            </a:pPr>
            <a:r>
              <a:rPr lang="en-US" sz="1800" dirty="0">
                <a:solidFill>
                  <a:srgbClr val="C9D3EE"/>
                </a:solidFill>
                <a:latin typeface="Consolas" pitchFamily="34" charset="0"/>
                <a:ea typeface="Consolas" pitchFamily="34" charset="-122"/>
                <a:cs typeface="Consolas" pitchFamily="34" charset="-120"/>
              </a:rPr>
              <a:t>=</a:t>
            </a:r>
            <a:pPr algn="l" indent="0" marL="0">
              <a:lnSpc>
                <a:spcPct val="115000"/>
              </a:lnSpc>
              <a:buNone/>
            </a:pPr>
            <a:r>
              <a:rPr lang="en-US" sz="1800" dirty="0">
                <a:solidFill>
                  <a:srgbClr val="8FE3B0"/>
                </a:solidFill>
                <a:latin typeface="Consolas" pitchFamily="34" charset="0"/>
                <a:ea typeface="Consolas" pitchFamily="34" charset="-122"/>
                <a:cs typeface="Consolas" pitchFamily="34" charset="-120"/>
              </a:rPr>
              <a:t>"width=device-width, initial-scale=1.0"</a:t>
            </a:r>
            <a:pPr algn="l" indent="0" marL="0">
              <a:lnSpc>
                <a:spcPct val="115000"/>
              </a:lnSpc>
              <a:buNone/>
            </a:pPr>
            <a:r>
              <a:rPr lang="en-US" sz="1800" dirty="0">
                <a:solidFill>
                  <a:srgbClr val="C9D3EE"/>
                </a:solidFill>
                <a:latin typeface="Consolas" pitchFamily="34" charset="0"/>
                <a:ea typeface="Consolas" pitchFamily="34" charset="-122"/>
                <a:cs typeface="Consolas" pitchFamily="34" charset="-120"/>
              </a:rPr>
              <a:t>&gt;</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26</a:t>
            </a:r>
            <a:endParaRPr lang="en-US" sz="1000" dirty="0"/>
          </a:p>
        </p:txBody>
      </p:sp>
      <p:sp>
        <p:nvSpPr>
          <p:cNvPr id="4" name="Text 2"/>
          <p:cNvSpPr txBox="1"/>
          <p:nvPr/>
        </p:nvSpPr>
        <p:spPr>
          <a:xfrm>
            <a:off x="731520" y="896112"/>
            <a:ext cx="10698480" cy="100584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Sekarang dandani profilmu</a:t>
            </a:r>
            <a:endParaRPr lang="en-US" sz="3800" dirty="0"/>
          </a:p>
        </p:txBody>
      </p:sp>
      <p:sp>
        <p:nvSpPr>
          <p:cNvPr id="5" name="Shape 3"/>
          <p:cNvSpPr/>
          <p:nvPr/>
        </p:nvSpPr>
        <p:spPr>
          <a:xfrm>
            <a:off x="731520" y="411480"/>
            <a:ext cx="2240280" cy="384048"/>
          </a:xfrm>
          <a:prstGeom prst="roundRect">
            <a:avLst>
              <a:gd name="adj" fmla="val 50000"/>
            </a:avLst>
          </a:prstGeom>
          <a:solidFill>
            <a:srgbClr val="FFC83D"/>
          </a:solidFill>
          <a:ln/>
        </p:spPr>
      </p:sp>
      <p:sp>
        <p:nvSpPr>
          <p:cNvPr id="6" name="Text 4"/>
          <p:cNvSpPr txBox="1"/>
          <p:nvPr/>
        </p:nvSpPr>
        <p:spPr>
          <a:xfrm>
            <a:off x="731520" y="411480"/>
            <a:ext cx="2240280" cy="384048"/>
          </a:xfrm>
          <a:prstGeom prst="rect">
            <a:avLst/>
          </a:prstGeom>
          <a:noFill/>
          <a:ln/>
        </p:spPr>
        <p:txBody>
          <a:bodyPr wrap="square" lIns="0" tIns="0" rIns="0" bIns="0" rtlCol="0" anchor="ctr"/>
          <a:lstStyle/>
          <a:p>
            <a:pPr algn="ctr" indent="0" marL="0">
              <a:lnSpc>
                <a:spcPct val="115000"/>
              </a:lnSpc>
              <a:buNone/>
            </a:pPr>
            <a:r>
              <a:rPr lang="en-US" sz="1300" b="1" spc="180" kern="0" dirty="0">
                <a:solidFill>
                  <a:srgbClr val="0E1B3D"/>
                </a:solidFill>
                <a:latin typeface="Calibri" pitchFamily="34" charset="0"/>
                <a:ea typeface="Calibri" pitchFamily="34" charset="-122"/>
                <a:cs typeface="Calibri" pitchFamily="34" charset="-120"/>
              </a:rPr>
              <a:t>CHECKPOINT 2</a:t>
            </a:r>
            <a:endParaRPr lang="en-US" sz="1300" dirty="0"/>
          </a:p>
        </p:txBody>
      </p:sp>
      <p:sp>
        <p:nvSpPr>
          <p:cNvPr id="7" name="Text 5"/>
          <p:cNvSpPr txBox="1"/>
          <p:nvPr/>
        </p:nvSpPr>
        <p:spPr>
          <a:xfrm>
            <a:off x="3154680" y="411480"/>
            <a:ext cx="5486400" cy="384048"/>
          </a:xfrm>
          <a:prstGeom prst="rect">
            <a:avLst/>
          </a:prstGeom>
          <a:noFill/>
          <a:ln/>
        </p:spPr>
        <p:txBody>
          <a:bodyPr wrap="square" lIns="0" tIns="0" rIns="0" bIns="0" rtlCol="0" anchor="ctr"/>
          <a:lstStyle/>
          <a:p>
            <a:pPr algn="l" indent="0" marL="0">
              <a:lnSpc>
                <a:spcPct val="115000"/>
              </a:lnSpc>
              <a:buNone/>
            </a:pPr>
            <a:r>
              <a:rPr lang="en-US" sz="1400" b="1" dirty="0">
                <a:solidFill>
                  <a:srgbClr val="5B6478"/>
                </a:solidFill>
                <a:latin typeface="Calibri" pitchFamily="34" charset="0"/>
                <a:ea typeface="Calibri" pitchFamily="34" charset="-122"/>
                <a:cs typeface="Calibri" pitchFamily="34" charset="-120"/>
              </a:rPr>
              <a:t>23 menit</a:t>
            </a:r>
            <a:endParaRPr lang="en-US" sz="1400" dirty="0"/>
          </a:p>
        </p:txBody>
      </p:sp>
      <p:sp>
        <p:nvSpPr>
          <p:cNvPr id="8" name="Shape 6"/>
          <p:cNvSpPr/>
          <p:nvPr/>
        </p:nvSpPr>
        <p:spPr>
          <a:xfrm>
            <a:off x="731520" y="1975104"/>
            <a:ext cx="329184" cy="329184"/>
          </a:xfrm>
          <a:prstGeom prst="roundRect">
            <a:avLst>
              <a:gd name="adj" fmla="val 22000"/>
            </a:avLst>
          </a:prstGeom>
          <a:ln w="22225">
            <a:solidFill>
              <a:srgbClr val="1F4FD8"/>
            </a:solidFill>
            <a:prstDash val="solid"/>
          </a:ln>
        </p:spPr>
      </p:sp>
      <p:sp>
        <p:nvSpPr>
          <p:cNvPr id="9" name="Text 7"/>
          <p:cNvSpPr txBox="1"/>
          <p:nvPr/>
        </p:nvSpPr>
        <p:spPr>
          <a:xfrm>
            <a:off x="1280160" y="1920240"/>
            <a:ext cx="5852160" cy="438912"/>
          </a:xfrm>
          <a:prstGeom prst="rect">
            <a:avLst/>
          </a:prstGeom>
          <a:noFill/>
          <a:ln/>
        </p:spPr>
        <p:txBody>
          <a:bodyPr wrap="square" lIns="0" tIns="0" rIns="0" bIns="0" rtlCol="0" anchor="ctr"/>
          <a:lstStyle/>
          <a:p>
            <a:pPr algn="l" indent="0" marL="0">
              <a:lnSpc>
                <a:spcPct val="115000"/>
              </a:lnSpc>
              <a:buNone/>
            </a:pPr>
            <a:r>
              <a:rPr lang="en-US" sz="2000" dirty="0">
                <a:solidFill>
                  <a:srgbClr val="0E1B3D"/>
                </a:solidFill>
                <a:latin typeface="Calibri" pitchFamily="34" charset="0"/>
                <a:ea typeface="Calibri" pitchFamily="34" charset="-122"/>
                <a:cs typeface="Calibri" pitchFamily="34" charset="-120"/>
              </a:rPr>
              <a:t>Warna tema lewat CSS variables</a:t>
            </a:r>
            <a:endParaRPr lang="en-US" sz="2000" dirty="0"/>
          </a:p>
        </p:txBody>
      </p:sp>
      <p:sp>
        <p:nvSpPr>
          <p:cNvPr id="10" name="Shape 8"/>
          <p:cNvSpPr/>
          <p:nvPr/>
        </p:nvSpPr>
        <p:spPr>
          <a:xfrm>
            <a:off x="731520" y="2596896"/>
            <a:ext cx="329184" cy="329184"/>
          </a:xfrm>
          <a:prstGeom prst="roundRect">
            <a:avLst>
              <a:gd name="adj" fmla="val 22000"/>
            </a:avLst>
          </a:prstGeom>
          <a:ln w="22225">
            <a:solidFill>
              <a:srgbClr val="1F4FD8"/>
            </a:solidFill>
            <a:prstDash val="solid"/>
          </a:ln>
        </p:spPr>
      </p:sp>
      <p:sp>
        <p:nvSpPr>
          <p:cNvPr id="11" name="Text 9"/>
          <p:cNvSpPr txBox="1"/>
          <p:nvPr/>
        </p:nvSpPr>
        <p:spPr>
          <a:xfrm>
            <a:off x="1280160" y="2542032"/>
            <a:ext cx="5852160" cy="438912"/>
          </a:xfrm>
          <a:prstGeom prst="rect">
            <a:avLst/>
          </a:prstGeom>
          <a:noFill/>
          <a:ln/>
        </p:spPr>
        <p:txBody>
          <a:bodyPr wrap="square" lIns="0" tIns="0" rIns="0" bIns="0" rtlCol="0" anchor="ctr"/>
          <a:lstStyle/>
          <a:p>
            <a:pPr algn="l" indent="0" marL="0">
              <a:lnSpc>
                <a:spcPct val="115000"/>
              </a:lnSpc>
              <a:buNone/>
            </a:pPr>
            <a:r>
              <a:rPr lang="en-US" sz="2000" dirty="0">
                <a:solidFill>
                  <a:srgbClr val="0E1B3D"/>
                </a:solidFill>
                <a:latin typeface="Calibri" pitchFamily="34" charset="0"/>
                <a:ea typeface="Calibri" pitchFamily="34" charset="-122"/>
                <a:cs typeface="Calibri" pitchFamily="34" charset="-120"/>
              </a:rPr>
              <a:t>Font dari Google Fonts</a:t>
            </a:r>
            <a:endParaRPr lang="en-US" sz="2000" dirty="0"/>
          </a:p>
        </p:txBody>
      </p:sp>
      <p:sp>
        <p:nvSpPr>
          <p:cNvPr id="12" name="Shape 10"/>
          <p:cNvSpPr/>
          <p:nvPr/>
        </p:nvSpPr>
        <p:spPr>
          <a:xfrm>
            <a:off x="731520" y="3218688"/>
            <a:ext cx="329184" cy="329184"/>
          </a:xfrm>
          <a:prstGeom prst="roundRect">
            <a:avLst>
              <a:gd name="adj" fmla="val 22000"/>
            </a:avLst>
          </a:prstGeom>
          <a:ln w="22225">
            <a:solidFill>
              <a:srgbClr val="1F4FD8"/>
            </a:solidFill>
            <a:prstDash val="solid"/>
          </a:ln>
        </p:spPr>
      </p:sp>
      <p:sp>
        <p:nvSpPr>
          <p:cNvPr id="13" name="Text 11"/>
          <p:cNvSpPr txBox="1"/>
          <p:nvPr/>
        </p:nvSpPr>
        <p:spPr>
          <a:xfrm>
            <a:off x="1280160" y="3163824"/>
            <a:ext cx="5852160" cy="438912"/>
          </a:xfrm>
          <a:prstGeom prst="rect">
            <a:avLst/>
          </a:prstGeom>
          <a:noFill/>
          <a:ln/>
        </p:spPr>
        <p:txBody>
          <a:bodyPr wrap="square" lIns="0" tIns="0" rIns="0" bIns="0" rtlCol="0" anchor="ctr"/>
          <a:lstStyle/>
          <a:p>
            <a:pPr algn="l" indent="0" marL="0">
              <a:lnSpc>
                <a:spcPct val="115000"/>
              </a:lnSpc>
              <a:buNone/>
            </a:pPr>
            <a:r>
              <a:rPr lang="en-US" sz="2000" dirty="0">
                <a:solidFill>
                  <a:srgbClr val="0E1B3D"/>
                </a:solidFill>
                <a:latin typeface="Calibri" pitchFamily="34" charset="0"/>
                <a:ea typeface="Calibri" pitchFamily="34" charset="-122"/>
                <a:cs typeface="Calibri" pitchFamily="34" charset="-120"/>
              </a:rPr>
              <a:t>Navbar rapi dengan flexbox</a:t>
            </a:r>
            <a:endParaRPr lang="en-US" sz="2000" dirty="0"/>
          </a:p>
        </p:txBody>
      </p:sp>
      <p:sp>
        <p:nvSpPr>
          <p:cNvPr id="14" name="Shape 12"/>
          <p:cNvSpPr/>
          <p:nvPr/>
        </p:nvSpPr>
        <p:spPr>
          <a:xfrm>
            <a:off x="731520" y="3840480"/>
            <a:ext cx="329184" cy="329184"/>
          </a:xfrm>
          <a:prstGeom prst="roundRect">
            <a:avLst>
              <a:gd name="adj" fmla="val 22000"/>
            </a:avLst>
          </a:prstGeom>
          <a:ln w="22225">
            <a:solidFill>
              <a:srgbClr val="1F4FD8"/>
            </a:solidFill>
            <a:prstDash val="solid"/>
          </a:ln>
        </p:spPr>
      </p:sp>
      <p:sp>
        <p:nvSpPr>
          <p:cNvPr id="15" name="Text 13"/>
          <p:cNvSpPr txBox="1"/>
          <p:nvPr/>
        </p:nvSpPr>
        <p:spPr>
          <a:xfrm>
            <a:off x="1280160" y="3785616"/>
            <a:ext cx="5852160" cy="438912"/>
          </a:xfrm>
          <a:prstGeom prst="rect">
            <a:avLst/>
          </a:prstGeom>
          <a:noFill/>
          <a:ln/>
        </p:spPr>
        <p:txBody>
          <a:bodyPr wrap="square" lIns="0" tIns="0" rIns="0" bIns="0" rtlCol="0" anchor="ctr"/>
          <a:lstStyle/>
          <a:p>
            <a:pPr algn="l" indent="0" marL="0">
              <a:lnSpc>
                <a:spcPct val="115000"/>
              </a:lnSpc>
              <a:buNone/>
            </a:pPr>
            <a:r>
              <a:rPr lang="en-US" sz="2000" dirty="0">
                <a:solidFill>
                  <a:srgbClr val="0E1B3D"/>
                </a:solidFill>
                <a:latin typeface="Calibri" pitchFamily="34" charset="0"/>
                <a:ea typeface="Calibri" pitchFamily="34" charset="-122"/>
                <a:cs typeface="Calibri" pitchFamily="34" charset="-120"/>
              </a:rPr>
              <a:t>Kartu project: padding dan border</a:t>
            </a:r>
            <a:endParaRPr lang="en-US" sz="2000" dirty="0"/>
          </a:p>
        </p:txBody>
      </p:sp>
      <p:sp>
        <p:nvSpPr>
          <p:cNvPr id="16" name="Shape 14"/>
          <p:cNvSpPr/>
          <p:nvPr/>
        </p:nvSpPr>
        <p:spPr>
          <a:xfrm>
            <a:off x="731520" y="4462272"/>
            <a:ext cx="329184" cy="329184"/>
          </a:xfrm>
          <a:prstGeom prst="roundRect">
            <a:avLst>
              <a:gd name="adj" fmla="val 22000"/>
            </a:avLst>
          </a:prstGeom>
          <a:ln w="22225">
            <a:solidFill>
              <a:srgbClr val="1F4FD8"/>
            </a:solidFill>
            <a:prstDash val="solid"/>
          </a:ln>
        </p:spPr>
      </p:sp>
      <p:sp>
        <p:nvSpPr>
          <p:cNvPr id="17" name="Text 15"/>
          <p:cNvSpPr txBox="1"/>
          <p:nvPr/>
        </p:nvSpPr>
        <p:spPr>
          <a:xfrm>
            <a:off x="1280160" y="4407408"/>
            <a:ext cx="5852160" cy="438912"/>
          </a:xfrm>
          <a:prstGeom prst="rect">
            <a:avLst/>
          </a:prstGeom>
          <a:noFill/>
          <a:ln/>
        </p:spPr>
        <p:txBody>
          <a:bodyPr wrap="square" lIns="0" tIns="0" rIns="0" bIns="0" rtlCol="0" anchor="ctr"/>
          <a:lstStyle/>
          <a:p>
            <a:pPr algn="l" indent="0" marL="0">
              <a:lnSpc>
                <a:spcPct val="115000"/>
              </a:lnSpc>
              <a:buNone/>
            </a:pPr>
            <a:r>
              <a:rPr lang="en-US" sz="2000" dirty="0">
                <a:solidFill>
                  <a:srgbClr val="0E1B3D"/>
                </a:solidFill>
                <a:latin typeface="Calibri" pitchFamily="34" charset="0"/>
                <a:ea typeface="Calibri" pitchFamily="34" charset="-122"/>
                <a:cs typeface="Calibri" pitchFamily="34" charset="-120"/>
              </a:rPr>
              <a:t>Tampil rapi di layar HP</a:t>
            </a:r>
            <a:endParaRPr lang="en-US" sz="2000" dirty="0"/>
          </a:p>
        </p:txBody>
      </p:sp>
      <p:sp>
        <p:nvSpPr>
          <p:cNvPr id="18" name="Shape 16"/>
          <p:cNvSpPr/>
          <p:nvPr/>
        </p:nvSpPr>
        <p:spPr>
          <a:xfrm>
            <a:off x="731520" y="5166360"/>
            <a:ext cx="1005840" cy="310896"/>
          </a:xfrm>
          <a:prstGeom prst="roundRect">
            <a:avLst>
              <a:gd name="adj" fmla="val 50000"/>
            </a:avLst>
          </a:prstGeom>
          <a:solidFill>
            <a:srgbClr val="FFC83D"/>
          </a:solidFill>
          <a:ln/>
        </p:spPr>
      </p:sp>
      <p:sp>
        <p:nvSpPr>
          <p:cNvPr id="19" name="Text 17"/>
          <p:cNvSpPr txBox="1"/>
          <p:nvPr/>
        </p:nvSpPr>
        <p:spPr>
          <a:xfrm>
            <a:off x="731520" y="5166360"/>
            <a:ext cx="1005840" cy="310896"/>
          </a:xfrm>
          <a:prstGeom prst="rect">
            <a:avLst/>
          </a:prstGeom>
          <a:noFill/>
          <a:ln/>
        </p:spPr>
        <p:txBody>
          <a:bodyPr wrap="square" lIns="0" tIns="0" rIns="0" bIns="0" rtlCol="0" anchor="ctr"/>
          <a:lstStyle/>
          <a:p>
            <a:pPr algn="ctr" indent="0" marL="0">
              <a:lnSpc>
                <a:spcPct val="115000"/>
              </a:lnSpc>
              <a:buNone/>
            </a:pPr>
            <a:r>
              <a:rPr lang="en-US" sz="1100" b="1" spc="120" kern="0" dirty="0">
                <a:solidFill>
                  <a:srgbClr val="0E1B3D"/>
                </a:solidFill>
                <a:latin typeface="Calibri" pitchFamily="34" charset="0"/>
                <a:ea typeface="Calibri" pitchFamily="34" charset="-122"/>
                <a:cs typeface="Calibri" pitchFamily="34" charset="-120"/>
              </a:rPr>
              <a:t>BONUS</a:t>
            </a:r>
            <a:endParaRPr lang="en-US" sz="1100" dirty="0"/>
          </a:p>
        </p:txBody>
      </p:sp>
      <p:sp>
        <p:nvSpPr>
          <p:cNvPr id="20" name="Text 18"/>
          <p:cNvSpPr txBox="1"/>
          <p:nvPr/>
        </p:nvSpPr>
        <p:spPr>
          <a:xfrm>
            <a:off x="1920240" y="5120640"/>
            <a:ext cx="5486400" cy="411480"/>
          </a:xfrm>
          <a:prstGeom prst="rect">
            <a:avLst/>
          </a:prstGeom>
          <a:noFill/>
          <a:ln/>
        </p:spPr>
        <p:txBody>
          <a:bodyPr wrap="none" lIns="0" tIns="0" rIns="0" bIns="0" rtlCol="0" anchor="ctr"/>
          <a:lstStyle/>
          <a:p>
            <a:pPr algn="l" indent="0" marL="0">
              <a:lnSpc>
                <a:spcPct val="115000"/>
              </a:lnSpc>
              <a:buNone/>
            </a:pPr>
            <a:r>
              <a:rPr lang="en-US" sz="1600" b="1" dirty="0">
                <a:solidFill>
                  <a:srgbClr val="1F4FD8"/>
                </a:solidFill>
                <a:latin typeface="Consolas" pitchFamily="34" charset="0"/>
                <a:ea typeface="Consolas" pitchFamily="34" charset="-122"/>
                <a:cs typeface="Consolas" pitchFamily="34" charset="-120"/>
              </a:rPr>
              <a:t>:hover + transition</a:t>
            </a:r>
            <a:endParaRPr lang="en-US" sz="1600" dirty="0"/>
          </a:p>
        </p:txBody>
      </p:sp>
      <p:sp>
        <p:nvSpPr>
          <p:cNvPr id="21" name="Text 19"/>
          <p:cNvSpPr txBox="1"/>
          <p:nvPr/>
        </p:nvSpPr>
        <p:spPr>
          <a:xfrm>
            <a:off x="1920240" y="5577840"/>
            <a:ext cx="5486400" cy="411480"/>
          </a:xfrm>
          <a:prstGeom prst="rect">
            <a:avLst/>
          </a:prstGeom>
          <a:noFill/>
          <a:ln/>
        </p:spPr>
        <p:txBody>
          <a:bodyPr wrap="none" lIns="0" tIns="0" rIns="0" bIns="0" rtlCol="0" anchor="ctr"/>
          <a:lstStyle/>
          <a:p>
            <a:pPr algn="l" indent="0" marL="0">
              <a:lnSpc>
                <a:spcPct val="115000"/>
              </a:lnSpc>
              <a:buNone/>
            </a:pPr>
            <a:r>
              <a:rPr lang="en-US" sz="1600" b="1" dirty="0">
                <a:solidFill>
                  <a:srgbClr val="1F4FD8"/>
                </a:solidFill>
                <a:latin typeface="Consolas" pitchFamily="34" charset="0"/>
                <a:ea typeface="Consolas" pitchFamily="34" charset="-122"/>
                <a:cs typeface="Consolas" pitchFamily="34" charset="-120"/>
              </a:rPr>
              <a:t>prefers-color-scheme (dark mode)</a:t>
            </a:r>
            <a:endParaRPr lang="en-US" sz="1600" dirty="0"/>
          </a:p>
        </p:txBody>
      </p:sp>
      <p:sp>
        <p:nvSpPr>
          <p:cNvPr id="22" name="Shape 20"/>
          <p:cNvSpPr/>
          <p:nvPr/>
        </p:nvSpPr>
        <p:spPr>
          <a:xfrm>
            <a:off x="7315200" y="1828800"/>
            <a:ext cx="4114800" cy="3657600"/>
          </a:xfrm>
          <a:prstGeom prst="roundRect">
            <a:avLst>
              <a:gd name="adj" fmla="val 4000"/>
            </a:avLst>
          </a:prstGeom>
          <a:solidFill>
            <a:srgbClr val="FFFFFF"/>
          </a:solidFill>
          <a:ln w="15875">
            <a:solidFill>
              <a:srgbClr val="D5DAE6"/>
            </a:solidFill>
            <a:prstDash val="solid"/>
          </a:ln>
          <a:effectLst>
            <a:outerShdw sx="100000" sy="100000" kx="0" ky="0" algn="bl" rotWithShape="0" blurRad="177800" dist="38100" dir="5400000">
              <a:srgbClr val="7A8299">
                <a:alpha val="18000"/>
              </a:srgbClr>
            </a:outerShdw>
          </a:effectLst>
        </p:spPr>
      </p:sp>
      <p:sp>
        <p:nvSpPr>
          <p:cNvPr id="23" name="Shape 21"/>
          <p:cNvSpPr/>
          <p:nvPr/>
        </p:nvSpPr>
        <p:spPr>
          <a:xfrm>
            <a:off x="7333488" y="1847088"/>
            <a:ext cx="4078224" cy="384048"/>
          </a:xfrm>
          <a:prstGeom prst="roundRect">
            <a:avLst>
              <a:gd name="adj" fmla="val 33333"/>
            </a:avLst>
          </a:prstGeom>
          <a:solidFill>
            <a:srgbClr val="EEF1F7"/>
          </a:solidFill>
          <a:ln/>
        </p:spPr>
      </p:sp>
      <p:sp>
        <p:nvSpPr>
          <p:cNvPr id="24" name="Shape 22"/>
          <p:cNvSpPr/>
          <p:nvPr/>
        </p:nvSpPr>
        <p:spPr>
          <a:xfrm>
            <a:off x="7333488" y="2029968"/>
            <a:ext cx="4078224" cy="201168"/>
          </a:xfrm>
          <a:prstGeom prst="rect">
            <a:avLst/>
          </a:prstGeom>
          <a:solidFill>
            <a:srgbClr val="EEF1F7"/>
          </a:solidFill>
          <a:ln/>
        </p:spPr>
      </p:sp>
      <p:sp>
        <p:nvSpPr>
          <p:cNvPr id="25" name="Shape 23"/>
          <p:cNvSpPr/>
          <p:nvPr/>
        </p:nvSpPr>
        <p:spPr>
          <a:xfrm>
            <a:off x="7498080" y="1965960"/>
            <a:ext cx="100584" cy="100584"/>
          </a:xfrm>
          <a:prstGeom prst="ellipse">
            <a:avLst/>
          </a:prstGeom>
          <a:solidFill>
            <a:srgbClr val="E63946"/>
          </a:solidFill>
          <a:ln/>
        </p:spPr>
      </p:sp>
      <p:sp>
        <p:nvSpPr>
          <p:cNvPr id="26" name="Shape 24"/>
          <p:cNvSpPr/>
          <p:nvPr/>
        </p:nvSpPr>
        <p:spPr>
          <a:xfrm>
            <a:off x="7671816" y="1965960"/>
            <a:ext cx="100584" cy="100584"/>
          </a:xfrm>
          <a:prstGeom prst="ellipse">
            <a:avLst/>
          </a:prstGeom>
          <a:solidFill>
            <a:srgbClr val="FFC83D"/>
          </a:solidFill>
          <a:ln/>
        </p:spPr>
      </p:sp>
      <p:sp>
        <p:nvSpPr>
          <p:cNvPr id="27" name="Shape 25"/>
          <p:cNvSpPr/>
          <p:nvPr/>
        </p:nvSpPr>
        <p:spPr>
          <a:xfrm>
            <a:off x="7845552" y="1965960"/>
            <a:ext cx="100584" cy="100584"/>
          </a:xfrm>
          <a:prstGeom prst="ellipse">
            <a:avLst/>
          </a:prstGeom>
          <a:solidFill>
            <a:srgbClr val="1E9E68"/>
          </a:solidFill>
          <a:ln/>
        </p:spPr>
      </p:sp>
      <p:sp>
        <p:nvSpPr>
          <p:cNvPr id="28" name="Shape 26"/>
          <p:cNvSpPr/>
          <p:nvPr/>
        </p:nvSpPr>
        <p:spPr>
          <a:xfrm>
            <a:off x="8183880" y="1911096"/>
            <a:ext cx="3017520" cy="237744"/>
          </a:xfrm>
          <a:prstGeom prst="roundRect">
            <a:avLst>
              <a:gd name="adj" fmla="val 50000"/>
            </a:avLst>
          </a:prstGeom>
          <a:solidFill>
            <a:srgbClr val="FFFFFF"/>
          </a:solidFill>
          <a:ln/>
        </p:spPr>
      </p:sp>
      <p:sp>
        <p:nvSpPr>
          <p:cNvPr id="29" name="Text 27"/>
          <p:cNvSpPr txBox="1"/>
          <p:nvPr/>
        </p:nvSpPr>
        <p:spPr>
          <a:xfrm>
            <a:off x="8321040" y="1911096"/>
            <a:ext cx="27432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Calibri" pitchFamily="34" charset="0"/>
                <a:ea typeface="Calibri" pitchFamily="34" charset="-122"/>
                <a:cs typeface="Calibri" pitchFamily="34" charset="-120"/>
              </a:rPr>
              <a:t>localhost:5500</a:t>
            </a:r>
            <a:endParaRPr lang="en-US" sz="1100" dirty="0"/>
          </a:p>
        </p:txBody>
      </p:sp>
      <p:sp>
        <p:nvSpPr>
          <p:cNvPr id="30" name="Shape 28"/>
          <p:cNvSpPr/>
          <p:nvPr/>
        </p:nvSpPr>
        <p:spPr>
          <a:xfrm>
            <a:off x="7333488" y="2231136"/>
            <a:ext cx="4078224" cy="3218688"/>
          </a:xfrm>
          <a:prstGeom prst="rect">
            <a:avLst/>
          </a:prstGeom>
          <a:solidFill>
            <a:srgbClr val="FAF8F4"/>
          </a:solidFill>
          <a:ln/>
        </p:spPr>
      </p:sp>
      <p:sp>
        <p:nvSpPr>
          <p:cNvPr id="31" name="Shape 29"/>
          <p:cNvSpPr/>
          <p:nvPr/>
        </p:nvSpPr>
        <p:spPr>
          <a:xfrm>
            <a:off x="7333488" y="2231136"/>
            <a:ext cx="4078224" cy="1120140"/>
          </a:xfrm>
          <a:prstGeom prst="rect">
            <a:avLst/>
          </a:prstGeom>
          <a:solidFill>
            <a:srgbClr val="0E1B3D"/>
          </a:solidFill>
          <a:ln/>
        </p:spPr>
      </p:sp>
      <p:sp>
        <p:nvSpPr>
          <p:cNvPr id="32" name="Text 30"/>
          <p:cNvSpPr txBox="1"/>
          <p:nvPr/>
        </p:nvSpPr>
        <p:spPr>
          <a:xfrm>
            <a:off x="7602322" y="2410358"/>
            <a:ext cx="3540557" cy="403250"/>
          </a:xfrm>
          <a:prstGeom prst="rect">
            <a:avLst/>
          </a:prstGeom>
          <a:noFill/>
          <a:ln/>
        </p:spPr>
        <p:txBody>
          <a:bodyPr wrap="square" lIns="0" tIns="0" rIns="0" bIns="0" rtlCol="0" anchor="t"/>
          <a:lstStyle/>
          <a:p>
            <a:pPr algn="l" indent="0" marL="0">
              <a:lnSpc>
                <a:spcPct val="115000"/>
              </a:lnSpc>
              <a:buNone/>
            </a:pPr>
            <a:r>
              <a:rPr lang="en-US" sz="2352" b="1" dirty="0">
                <a:solidFill>
                  <a:srgbClr val="FFFFFF"/>
                </a:solidFill>
                <a:latin typeface="Calibri" pitchFamily="34" charset="0"/>
                <a:ea typeface="Calibri" pitchFamily="34" charset="-122"/>
                <a:cs typeface="Calibri" pitchFamily="34" charset="-120"/>
              </a:rPr>
              <a:t>Alya Putri</a:t>
            </a:r>
            <a:endParaRPr lang="en-US" sz="2352" dirty="0"/>
          </a:p>
        </p:txBody>
      </p:sp>
      <p:sp>
        <p:nvSpPr>
          <p:cNvPr id="33" name="Text 31"/>
          <p:cNvSpPr txBox="1"/>
          <p:nvPr/>
        </p:nvSpPr>
        <p:spPr>
          <a:xfrm>
            <a:off x="7602322" y="2786725"/>
            <a:ext cx="3540557" cy="224028"/>
          </a:xfrm>
          <a:prstGeom prst="rect">
            <a:avLst/>
          </a:prstGeom>
          <a:noFill/>
          <a:ln/>
        </p:spPr>
        <p:txBody>
          <a:bodyPr wrap="square" lIns="0" tIns="0" rIns="0" bIns="0" rtlCol="0" anchor="t"/>
          <a:lstStyle/>
          <a:p>
            <a:pPr algn="l" indent="0" marL="0">
              <a:lnSpc>
                <a:spcPct val="115000"/>
              </a:lnSpc>
              <a:buNone/>
            </a:pPr>
            <a:r>
              <a:rPr lang="en-US" sz="1176" dirty="0">
                <a:solidFill>
                  <a:srgbClr val="FFC83D"/>
                </a:solidFill>
                <a:latin typeface="Calibri" pitchFamily="34" charset="0"/>
                <a:ea typeface="Calibri" pitchFamily="34" charset="-122"/>
                <a:cs typeface="Calibri" pitchFamily="34" charset="-120"/>
              </a:rPr>
              <a:t>Siswa SMA · Calon Web Developer</a:t>
            </a:r>
            <a:endParaRPr lang="en-US" sz="1176" dirty="0"/>
          </a:p>
        </p:txBody>
      </p:sp>
      <p:sp>
        <p:nvSpPr>
          <p:cNvPr id="34" name="Shape 32"/>
          <p:cNvSpPr/>
          <p:nvPr/>
        </p:nvSpPr>
        <p:spPr>
          <a:xfrm>
            <a:off x="7602322" y="3064520"/>
            <a:ext cx="761695" cy="215067"/>
          </a:xfrm>
          <a:prstGeom prst="roundRect">
            <a:avLst>
              <a:gd name="adj" fmla="val 50000"/>
            </a:avLst>
          </a:prstGeom>
          <a:solidFill>
            <a:srgbClr val="17285A"/>
          </a:solidFill>
          <a:ln/>
        </p:spPr>
      </p:sp>
      <p:sp>
        <p:nvSpPr>
          <p:cNvPr id="35" name="Text 33"/>
          <p:cNvSpPr txBox="1"/>
          <p:nvPr/>
        </p:nvSpPr>
        <p:spPr>
          <a:xfrm>
            <a:off x="7602322" y="3064520"/>
            <a:ext cx="761695" cy="215067"/>
          </a:xfrm>
          <a:prstGeom prst="rect">
            <a:avLst/>
          </a:prstGeom>
          <a:noFill/>
          <a:ln/>
        </p:spPr>
        <p:txBody>
          <a:bodyPr wrap="square" lIns="0" tIns="0" rIns="0" bIns="0" rtlCol="0" anchor="ctr"/>
          <a:lstStyle/>
          <a:p>
            <a:pPr algn="ctr" indent="0" marL="0">
              <a:lnSpc>
                <a:spcPct val="115000"/>
              </a:lnSpc>
              <a:buNone/>
            </a:pPr>
            <a:r>
              <a:rPr lang="en-US" sz="980" b="1" dirty="0">
                <a:solidFill>
                  <a:srgbClr val="F4F6FB"/>
                </a:solidFill>
                <a:latin typeface="Calibri" pitchFamily="34" charset="0"/>
                <a:ea typeface="Calibri" pitchFamily="34" charset="-122"/>
                <a:cs typeface="Calibri" pitchFamily="34" charset="-120"/>
              </a:rPr>
              <a:t>Tentang</a:t>
            </a:r>
            <a:endParaRPr lang="en-US" sz="980" dirty="0"/>
          </a:p>
        </p:txBody>
      </p:sp>
      <p:sp>
        <p:nvSpPr>
          <p:cNvPr id="36" name="Shape 34"/>
          <p:cNvSpPr/>
          <p:nvPr/>
        </p:nvSpPr>
        <p:spPr>
          <a:xfrm>
            <a:off x="8453628" y="3064520"/>
            <a:ext cx="761695" cy="215067"/>
          </a:xfrm>
          <a:prstGeom prst="roundRect">
            <a:avLst>
              <a:gd name="adj" fmla="val 50000"/>
            </a:avLst>
          </a:prstGeom>
          <a:solidFill>
            <a:srgbClr val="17285A"/>
          </a:solidFill>
          <a:ln/>
        </p:spPr>
      </p:sp>
      <p:sp>
        <p:nvSpPr>
          <p:cNvPr id="37" name="Text 35"/>
          <p:cNvSpPr txBox="1"/>
          <p:nvPr/>
        </p:nvSpPr>
        <p:spPr>
          <a:xfrm>
            <a:off x="8453628" y="3064520"/>
            <a:ext cx="761695" cy="215067"/>
          </a:xfrm>
          <a:prstGeom prst="rect">
            <a:avLst/>
          </a:prstGeom>
          <a:noFill/>
          <a:ln/>
        </p:spPr>
        <p:txBody>
          <a:bodyPr wrap="square" lIns="0" tIns="0" rIns="0" bIns="0" rtlCol="0" anchor="ctr"/>
          <a:lstStyle/>
          <a:p>
            <a:pPr algn="ctr" indent="0" marL="0">
              <a:lnSpc>
                <a:spcPct val="115000"/>
              </a:lnSpc>
              <a:buNone/>
            </a:pPr>
            <a:r>
              <a:rPr lang="en-US" sz="980" b="1" dirty="0">
                <a:solidFill>
                  <a:srgbClr val="F4F6FB"/>
                </a:solidFill>
                <a:latin typeface="Calibri" pitchFamily="34" charset="0"/>
                <a:ea typeface="Calibri" pitchFamily="34" charset="-122"/>
                <a:cs typeface="Calibri" pitchFamily="34" charset="-120"/>
              </a:rPr>
              <a:t>Skill</a:t>
            </a:r>
            <a:endParaRPr lang="en-US" sz="980" dirty="0"/>
          </a:p>
        </p:txBody>
      </p:sp>
      <p:sp>
        <p:nvSpPr>
          <p:cNvPr id="38" name="Shape 36"/>
          <p:cNvSpPr/>
          <p:nvPr/>
        </p:nvSpPr>
        <p:spPr>
          <a:xfrm>
            <a:off x="9304934" y="3064520"/>
            <a:ext cx="761695" cy="215067"/>
          </a:xfrm>
          <a:prstGeom prst="roundRect">
            <a:avLst>
              <a:gd name="adj" fmla="val 50000"/>
            </a:avLst>
          </a:prstGeom>
          <a:solidFill>
            <a:srgbClr val="17285A"/>
          </a:solidFill>
          <a:ln/>
        </p:spPr>
      </p:sp>
      <p:sp>
        <p:nvSpPr>
          <p:cNvPr id="39" name="Text 37"/>
          <p:cNvSpPr txBox="1"/>
          <p:nvPr/>
        </p:nvSpPr>
        <p:spPr>
          <a:xfrm>
            <a:off x="9304934" y="3064520"/>
            <a:ext cx="761695" cy="215067"/>
          </a:xfrm>
          <a:prstGeom prst="rect">
            <a:avLst/>
          </a:prstGeom>
          <a:noFill/>
          <a:ln/>
        </p:spPr>
        <p:txBody>
          <a:bodyPr wrap="square" lIns="0" tIns="0" rIns="0" bIns="0" rtlCol="0" anchor="ctr"/>
          <a:lstStyle/>
          <a:p>
            <a:pPr algn="ctr" indent="0" marL="0">
              <a:lnSpc>
                <a:spcPct val="115000"/>
              </a:lnSpc>
              <a:buNone/>
            </a:pPr>
            <a:r>
              <a:rPr lang="en-US" sz="980" b="1" dirty="0">
                <a:solidFill>
                  <a:srgbClr val="F4F6FB"/>
                </a:solidFill>
                <a:latin typeface="Calibri" pitchFamily="34" charset="0"/>
                <a:ea typeface="Calibri" pitchFamily="34" charset="-122"/>
                <a:cs typeface="Calibri" pitchFamily="34" charset="-120"/>
              </a:rPr>
              <a:t>Project</a:t>
            </a:r>
            <a:endParaRPr lang="en-US" sz="980" dirty="0"/>
          </a:p>
        </p:txBody>
      </p:sp>
      <p:sp>
        <p:nvSpPr>
          <p:cNvPr id="40" name="Shape 38"/>
          <p:cNvSpPr/>
          <p:nvPr/>
        </p:nvSpPr>
        <p:spPr>
          <a:xfrm>
            <a:off x="10156241" y="3064520"/>
            <a:ext cx="761695" cy="215067"/>
          </a:xfrm>
          <a:prstGeom prst="roundRect">
            <a:avLst>
              <a:gd name="adj" fmla="val 50000"/>
            </a:avLst>
          </a:prstGeom>
          <a:solidFill>
            <a:srgbClr val="17285A"/>
          </a:solidFill>
          <a:ln/>
        </p:spPr>
      </p:sp>
      <p:sp>
        <p:nvSpPr>
          <p:cNvPr id="41" name="Text 39"/>
          <p:cNvSpPr txBox="1"/>
          <p:nvPr/>
        </p:nvSpPr>
        <p:spPr>
          <a:xfrm>
            <a:off x="10156241" y="3064520"/>
            <a:ext cx="761695" cy="215067"/>
          </a:xfrm>
          <a:prstGeom prst="rect">
            <a:avLst/>
          </a:prstGeom>
          <a:noFill/>
          <a:ln/>
        </p:spPr>
        <p:txBody>
          <a:bodyPr wrap="square" lIns="0" tIns="0" rIns="0" bIns="0" rtlCol="0" anchor="ctr"/>
          <a:lstStyle/>
          <a:p>
            <a:pPr algn="ctr" indent="0" marL="0">
              <a:lnSpc>
                <a:spcPct val="115000"/>
              </a:lnSpc>
              <a:buNone/>
            </a:pPr>
            <a:r>
              <a:rPr lang="en-US" sz="980" b="1" dirty="0">
                <a:solidFill>
                  <a:srgbClr val="F4F6FB"/>
                </a:solidFill>
                <a:latin typeface="Calibri" pitchFamily="34" charset="0"/>
                <a:ea typeface="Calibri" pitchFamily="34" charset="-122"/>
                <a:cs typeface="Calibri" pitchFamily="34" charset="-120"/>
              </a:rPr>
              <a:t>Kontak</a:t>
            </a:r>
            <a:endParaRPr lang="en-US" sz="980" dirty="0"/>
          </a:p>
        </p:txBody>
      </p:sp>
      <p:sp>
        <p:nvSpPr>
          <p:cNvPr id="42" name="Shape 40"/>
          <p:cNvSpPr/>
          <p:nvPr/>
        </p:nvSpPr>
        <p:spPr>
          <a:xfrm>
            <a:off x="7602322" y="3620110"/>
            <a:ext cx="1635862" cy="985723"/>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43" name="Text 41"/>
          <p:cNvSpPr txBox="1"/>
          <p:nvPr/>
        </p:nvSpPr>
        <p:spPr>
          <a:xfrm>
            <a:off x="7736738" y="3745565"/>
            <a:ext cx="1367028" cy="224028"/>
          </a:xfrm>
          <a:prstGeom prst="rect">
            <a:avLst/>
          </a:prstGeom>
          <a:noFill/>
          <a:ln/>
        </p:spPr>
        <p:txBody>
          <a:bodyPr wrap="square" lIns="0" tIns="0" rIns="0" bIns="0" rtlCol="0" anchor="t"/>
          <a:lstStyle/>
          <a:p>
            <a:pPr algn="l" indent="0" marL="0">
              <a:lnSpc>
                <a:spcPct val="115000"/>
              </a:lnSpc>
              <a:buNone/>
            </a:pPr>
            <a:r>
              <a:rPr lang="en-US" sz="1176" b="1" dirty="0">
                <a:solidFill>
                  <a:srgbClr val="0E1B3D"/>
                </a:solidFill>
                <a:latin typeface="Calibri" pitchFamily="34" charset="0"/>
                <a:ea typeface="Calibri" pitchFamily="34" charset="-122"/>
                <a:cs typeface="Calibri" pitchFamily="34" charset="-120"/>
              </a:rPr>
              <a:t>Profil Pribadi</a:t>
            </a:r>
            <a:endParaRPr lang="en-US" sz="1176" dirty="0"/>
          </a:p>
        </p:txBody>
      </p:sp>
      <p:sp>
        <p:nvSpPr>
          <p:cNvPr id="44" name="Shape 42"/>
          <p:cNvSpPr/>
          <p:nvPr/>
        </p:nvSpPr>
        <p:spPr>
          <a:xfrm>
            <a:off x="7736738" y="4068166"/>
            <a:ext cx="1367028" cy="62728"/>
          </a:xfrm>
          <a:prstGeom prst="rect">
            <a:avLst/>
          </a:prstGeom>
          <a:solidFill>
            <a:srgbClr val="E3DFD6"/>
          </a:solidFill>
          <a:ln/>
        </p:spPr>
      </p:sp>
      <p:sp>
        <p:nvSpPr>
          <p:cNvPr id="45" name="Shape 43"/>
          <p:cNvSpPr/>
          <p:nvPr/>
        </p:nvSpPr>
        <p:spPr>
          <a:xfrm>
            <a:off x="7736738" y="4229466"/>
            <a:ext cx="888568" cy="62728"/>
          </a:xfrm>
          <a:prstGeom prst="rect">
            <a:avLst/>
          </a:prstGeom>
          <a:solidFill>
            <a:srgbClr val="E3DFD6"/>
          </a:solidFill>
          <a:ln/>
        </p:spPr>
      </p:sp>
      <p:sp>
        <p:nvSpPr>
          <p:cNvPr id="46" name="Shape 44"/>
          <p:cNvSpPr/>
          <p:nvPr/>
        </p:nvSpPr>
        <p:spPr>
          <a:xfrm>
            <a:off x="9507017" y="3620110"/>
            <a:ext cx="1635862" cy="985723"/>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47" name="Text 45"/>
          <p:cNvSpPr txBox="1"/>
          <p:nvPr/>
        </p:nvSpPr>
        <p:spPr>
          <a:xfrm>
            <a:off x="9641434" y="3745565"/>
            <a:ext cx="1367028" cy="224028"/>
          </a:xfrm>
          <a:prstGeom prst="rect">
            <a:avLst/>
          </a:prstGeom>
          <a:noFill/>
          <a:ln/>
        </p:spPr>
        <p:txBody>
          <a:bodyPr wrap="square" lIns="0" tIns="0" rIns="0" bIns="0" rtlCol="0" anchor="t"/>
          <a:lstStyle/>
          <a:p>
            <a:pPr algn="l" indent="0" marL="0">
              <a:lnSpc>
                <a:spcPct val="115000"/>
              </a:lnSpc>
              <a:buNone/>
            </a:pPr>
            <a:r>
              <a:rPr lang="en-US" sz="1176" b="1" dirty="0">
                <a:solidFill>
                  <a:srgbClr val="0E1B3D"/>
                </a:solidFill>
                <a:latin typeface="Calibri" pitchFamily="34" charset="0"/>
                <a:ea typeface="Calibri" pitchFamily="34" charset="-122"/>
                <a:cs typeface="Calibri" pitchFamily="34" charset="-120"/>
              </a:rPr>
              <a:t>Cuaca Hari Ini</a:t>
            </a:r>
            <a:endParaRPr lang="en-US" sz="1176" dirty="0"/>
          </a:p>
        </p:txBody>
      </p:sp>
      <p:sp>
        <p:nvSpPr>
          <p:cNvPr id="48" name="Shape 46"/>
          <p:cNvSpPr/>
          <p:nvPr/>
        </p:nvSpPr>
        <p:spPr>
          <a:xfrm>
            <a:off x="9641434" y="4068166"/>
            <a:ext cx="1367028" cy="62728"/>
          </a:xfrm>
          <a:prstGeom prst="rect">
            <a:avLst/>
          </a:prstGeom>
          <a:solidFill>
            <a:srgbClr val="E3DFD6"/>
          </a:solidFill>
          <a:ln/>
        </p:spPr>
      </p:sp>
      <p:sp>
        <p:nvSpPr>
          <p:cNvPr id="49" name="Shape 47"/>
          <p:cNvSpPr/>
          <p:nvPr/>
        </p:nvSpPr>
        <p:spPr>
          <a:xfrm>
            <a:off x="9641434" y="4229466"/>
            <a:ext cx="888568" cy="62728"/>
          </a:xfrm>
          <a:prstGeom prst="rect">
            <a:avLst/>
          </a:prstGeom>
          <a:solidFill>
            <a:srgbClr val="E3DFD6"/>
          </a:solidFill>
          <a:ln/>
        </p:spPr>
      </p:sp>
      <p:sp>
        <p:nvSpPr>
          <p:cNvPr id="50" name="Shape 48"/>
          <p:cNvSpPr/>
          <p:nvPr/>
        </p:nvSpPr>
        <p:spPr>
          <a:xfrm>
            <a:off x="7602322" y="4874666"/>
            <a:ext cx="672084" cy="232989"/>
          </a:xfrm>
          <a:prstGeom prst="roundRect">
            <a:avLst>
              <a:gd name="adj" fmla="val 50000"/>
            </a:avLst>
          </a:prstGeom>
          <a:solidFill>
            <a:srgbClr val="DCE6FF"/>
          </a:solidFill>
          <a:ln/>
        </p:spPr>
      </p:sp>
      <p:sp>
        <p:nvSpPr>
          <p:cNvPr id="51" name="Text 49"/>
          <p:cNvSpPr txBox="1"/>
          <p:nvPr/>
        </p:nvSpPr>
        <p:spPr>
          <a:xfrm>
            <a:off x="7602322" y="4874666"/>
            <a:ext cx="672084" cy="232989"/>
          </a:xfrm>
          <a:prstGeom prst="rect">
            <a:avLst/>
          </a:prstGeom>
          <a:noFill/>
          <a:ln/>
        </p:spPr>
        <p:txBody>
          <a:bodyPr wrap="square" lIns="0" tIns="0" rIns="0" bIns="0" rtlCol="0" anchor="ctr"/>
          <a:lstStyle/>
          <a:p>
            <a:pPr algn="ctr" indent="0" marL="0">
              <a:lnSpc>
                <a:spcPct val="115000"/>
              </a:lnSpc>
              <a:buNone/>
            </a:pPr>
            <a:r>
              <a:rPr lang="en-US" sz="980" b="1" dirty="0">
                <a:solidFill>
                  <a:srgbClr val="1F4FD8"/>
                </a:solidFill>
                <a:latin typeface="Calibri" pitchFamily="34" charset="0"/>
                <a:ea typeface="Calibri" pitchFamily="34" charset="-122"/>
                <a:cs typeface="Calibri" pitchFamily="34" charset="-120"/>
              </a:rPr>
              <a:t>HTML</a:t>
            </a:r>
            <a:endParaRPr lang="en-US" sz="980" dirty="0"/>
          </a:p>
        </p:txBody>
      </p:sp>
      <p:sp>
        <p:nvSpPr>
          <p:cNvPr id="52" name="Shape 50"/>
          <p:cNvSpPr/>
          <p:nvPr/>
        </p:nvSpPr>
        <p:spPr>
          <a:xfrm>
            <a:off x="8364017" y="4874666"/>
            <a:ext cx="672084" cy="232989"/>
          </a:xfrm>
          <a:prstGeom prst="roundRect">
            <a:avLst>
              <a:gd name="adj" fmla="val 50000"/>
            </a:avLst>
          </a:prstGeom>
          <a:solidFill>
            <a:srgbClr val="DCE6FF"/>
          </a:solidFill>
          <a:ln/>
        </p:spPr>
      </p:sp>
      <p:sp>
        <p:nvSpPr>
          <p:cNvPr id="53" name="Text 51"/>
          <p:cNvSpPr txBox="1"/>
          <p:nvPr/>
        </p:nvSpPr>
        <p:spPr>
          <a:xfrm>
            <a:off x="8364017" y="4874666"/>
            <a:ext cx="672084" cy="232989"/>
          </a:xfrm>
          <a:prstGeom prst="rect">
            <a:avLst/>
          </a:prstGeom>
          <a:noFill/>
          <a:ln/>
        </p:spPr>
        <p:txBody>
          <a:bodyPr wrap="square" lIns="0" tIns="0" rIns="0" bIns="0" rtlCol="0" anchor="ctr"/>
          <a:lstStyle/>
          <a:p>
            <a:pPr algn="ctr" indent="0" marL="0">
              <a:lnSpc>
                <a:spcPct val="115000"/>
              </a:lnSpc>
              <a:buNone/>
            </a:pPr>
            <a:r>
              <a:rPr lang="en-US" sz="980" b="1" dirty="0">
                <a:solidFill>
                  <a:srgbClr val="1F4FD8"/>
                </a:solidFill>
                <a:latin typeface="Calibri" pitchFamily="34" charset="0"/>
                <a:ea typeface="Calibri" pitchFamily="34" charset="-122"/>
                <a:cs typeface="Calibri" pitchFamily="34" charset="-120"/>
              </a:rPr>
              <a:t>CSS</a:t>
            </a:r>
            <a:endParaRPr lang="en-US" sz="980" dirty="0"/>
          </a:p>
        </p:txBody>
      </p:sp>
      <p:sp>
        <p:nvSpPr>
          <p:cNvPr id="54" name="Shape 52"/>
          <p:cNvSpPr/>
          <p:nvPr/>
        </p:nvSpPr>
        <p:spPr>
          <a:xfrm>
            <a:off x="9125712" y="4874666"/>
            <a:ext cx="672084" cy="232989"/>
          </a:xfrm>
          <a:prstGeom prst="roundRect">
            <a:avLst>
              <a:gd name="adj" fmla="val 50000"/>
            </a:avLst>
          </a:prstGeom>
          <a:solidFill>
            <a:srgbClr val="DCE6FF"/>
          </a:solidFill>
          <a:ln/>
        </p:spPr>
      </p:sp>
      <p:sp>
        <p:nvSpPr>
          <p:cNvPr id="55" name="Text 53"/>
          <p:cNvSpPr txBox="1"/>
          <p:nvPr/>
        </p:nvSpPr>
        <p:spPr>
          <a:xfrm>
            <a:off x="9125712" y="4874666"/>
            <a:ext cx="672084" cy="232989"/>
          </a:xfrm>
          <a:prstGeom prst="rect">
            <a:avLst/>
          </a:prstGeom>
          <a:noFill/>
          <a:ln/>
        </p:spPr>
        <p:txBody>
          <a:bodyPr wrap="square" lIns="0" tIns="0" rIns="0" bIns="0" rtlCol="0" anchor="ctr"/>
          <a:lstStyle/>
          <a:p>
            <a:pPr algn="ctr" indent="0" marL="0">
              <a:lnSpc>
                <a:spcPct val="115000"/>
              </a:lnSpc>
              <a:buNone/>
            </a:pPr>
            <a:r>
              <a:rPr lang="en-US" sz="980" b="1" dirty="0">
                <a:solidFill>
                  <a:srgbClr val="1F4FD8"/>
                </a:solidFill>
                <a:latin typeface="Calibri" pitchFamily="34" charset="0"/>
                <a:ea typeface="Calibri" pitchFamily="34" charset="-122"/>
                <a:cs typeface="Calibri" pitchFamily="34" charset="-120"/>
              </a:rPr>
              <a:t>Git</a:t>
            </a:r>
            <a:endParaRPr lang="en-US" sz="980" dirty="0"/>
          </a:p>
        </p:txBody>
      </p:sp>
      <p:sp>
        <p:nvSpPr>
          <p:cNvPr id="56" name="Text 54"/>
          <p:cNvSpPr txBox="1"/>
          <p:nvPr/>
        </p:nvSpPr>
        <p:spPr>
          <a:xfrm>
            <a:off x="7315200" y="5669280"/>
            <a:ext cx="4114800" cy="457200"/>
          </a:xfrm>
          <a:prstGeom prst="rect">
            <a:avLst/>
          </a:prstGeom>
          <a:noFill/>
          <a:ln/>
        </p:spPr>
        <p:txBody>
          <a:bodyPr wrap="square" lIns="0" tIns="0" rIns="0" bIns="0" rtlCol="0" anchor="t"/>
          <a:lstStyle/>
          <a:p>
            <a:pPr algn="l" indent="0" marL="0">
              <a:lnSpc>
                <a:spcPct val="115000"/>
              </a:lnSpc>
              <a:buNone/>
            </a:pPr>
            <a:r>
              <a:rPr lang="en-US" sz="1400" dirty="0">
                <a:solidFill>
                  <a:srgbClr val="5B6478"/>
                </a:solidFill>
                <a:latin typeface="Calibri" pitchFamily="34" charset="0"/>
                <a:ea typeface="Calibri" pitchFamily="34" charset="-122"/>
                <a:cs typeface="Calibri" pitchFamily="34" charset="-120"/>
              </a:rPr>
              <a:t>Targetmu: seperti ini, tapi dengan gayamu sendiri.</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6F7FA8"/>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6F7FA8"/>
                </a:solidFill>
                <a:latin typeface="Calibri" pitchFamily="34" charset="0"/>
                <a:ea typeface="Calibri" pitchFamily="34" charset="-122"/>
                <a:cs typeface="Calibri" pitchFamily="34" charset="-120"/>
              </a:rPr>
              <a:t>27</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FFC83D"/>
                </a:solidFill>
                <a:latin typeface="Calibri" pitchFamily="34" charset="0"/>
                <a:ea typeface="Calibri" pitchFamily="34" charset="-122"/>
                <a:cs typeface="Calibri" pitchFamily="34" charset="-120"/>
              </a:rPr>
              <a:t>04 · PROYEK &amp; PUBLISH</a:t>
            </a:r>
            <a:endParaRPr lang="en-US" sz="1200" dirty="0"/>
          </a:p>
        </p:txBody>
      </p:sp>
      <p:sp>
        <p:nvSpPr>
          <p:cNvPr id="5" name="Text 3"/>
          <p:cNvSpPr txBox="1"/>
          <p:nvPr/>
        </p:nvSpPr>
        <p:spPr>
          <a:xfrm>
            <a:off x="731520" y="804672"/>
            <a:ext cx="10698480" cy="1005840"/>
          </a:xfrm>
          <a:prstGeom prst="rect">
            <a:avLst/>
          </a:prstGeom>
          <a:noFill/>
          <a:ln/>
        </p:spPr>
        <p:txBody>
          <a:bodyPr wrap="square" lIns="0" tIns="0" rIns="0" bIns="0" rtlCol="0" anchor="t"/>
          <a:lstStyle/>
          <a:p>
            <a:pPr algn="l" indent="0" marL="0">
              <a:lnSpc>
                <a:spcPct val="108000"/>
              </a:lnSpc>
              <a:buNone/>
            </a:pPr>
            <a:r>
              <a:rPr lang="en-US" sz="3800" b="1" dirty="0">
                <a:solidFill>
                  <a:srgbClr val="F4F6FB"/>
                </a:solidFill>
                <a:latin typeface="Calibri" pitchFamily="34" charset="0"/>
                <a:ea typeface="Calibri" pitchFamily="34" charset="-122"/>
                <a:cs typeface="Calibri" pitchFamily="34" charset="-120"/>
              </a:rPr>
              <a:t>Debugging 101: lima kesalahan umum</a:t>
            </a:r>
            <a:endParaRPr lang="en-US" sz="3800" dirty="0"/>
          </a:p>
        </p:txBody>
      </p:sp>
      <p:sp>
        <p:nvSpPr>
          <p:cNvPr id="6" name="Text 4"/>
          <p:cNvSpPr txBox="1"/>
          <p:nvPr/>
        </p:nvSpPr>
        <p:spPr>
          <a:xfrm>
            <a:off x="731520" y="1783080"/>
            <a:ext cx="4572000" cy="228600"/>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A9B6D6"/>
                </a:solidFill>
                <a:latin typeface="Calibri" pitchFamily="34" charset="0"/>
                <a:ea typeface="Calibri" pitchFamily="34" charset="-122"/>
                <a:cs typeface="Calibri" pitchFamily="34" charset="-120"/>
              </a:rPr>
              <a:t>KESALAHAN</a:t>
            </a:r>
            <a:endParaRPr lang="en-US" sz="1100" dirty="0"/>
          </a:p>
        </p:txBody>
      </p:sp>
      <p:sp>
        <p:nvSpPr>
          <p:cNvPr id="7" name="Text 5"/>
          <p:cNvSpPr txBox="1"/>
          <p:nvPr/>
        </p:nvSpPr>
        <p:spPr>
          <a:xfrm>
            <a:off x="6583680" y="1783080"/>
            <a:ext cx="4572000" cy="228600"/>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A9B6D6"/>
                </a:solidFill>
                <a:latin typeface="Calibri" pitchFamily="34" charset="0"/>
                <a:ea typeface="Calibri" pitchFamily="34" charset="-122"/>
                <a:cs typeface="Calibri" pitchFamily="34" charset="-120"/>
              </a:rPr>
              <a:t>GEJALA</a:t>
            </a:r>
            <a:endParaRPr lang="en-US" sz="1100" dirty="0"/>
          </a:p>
        </p:txBody>
      </p:sp>
      <p:sp>
        <p:nvSpPr>
          <p:cNvPr id="8" name="Shape 6"/>
          <p:cNvSpPr/>
          <p:nvPr/>
        </p:nvSpPr>
        <p:spPr>
          <a:xfrm>
            <a:off x="731520" y="2103120"/>
            <a:ext cx="10698480" cy="0"/>
          </a:xfrm>
          <a:prstGeom prst="line">
            <a:avLst/>
          </a:prstGeom>
          <a:noFill/>
          <a:ln w="12700">
            <a:solidFill>
              <a:srgbClr val="2A3C6E"/>
            </a:solidFill>
            <a:prstDash val="solid"/>
          </a:ln>
        </p:spPr>
      </p:sp>
      <p:sp>
        <p:nvSpPr>
          <p:cNvPr id="9" name="Text 7"/>
          <p:cNvSpPr txBox="1"/>
          <p:nvPr/>
        </p:nvSpPr>
        <p:spPr>
          <a:xfrm>
            <a:off x="731520" y="2176272"/>
            <a:ext cx="5669280" cy="329184"/>
          </a:xfrm>
          <a:prstGeom prst="rect">
            <a:avLst/>
          </a:prstGeom>
          <a:noFill/>
          <a:ln/>
        </p:spPr>
        <p:txBody>
          <a:bodyPr wrap="none" lIns="0" tIns="0" rIns="0" bIns="0" rtlCol="0" anchor="ctr"/>
          <a:lstStyle/>
          <a:p>
            <a:pPr algn="l" indent="0" marL="0">
              <a:lnSpc>
                <a:spcPct val="115000"/>
              </a:lnSpc>
              <a:buNone/>
            </a:pPr>
            <a:r>
              <a:rPr lang="en-US" sz="1700" b="1" dirty="0">
                <a:solidFill>
                  <a:srgbClr val="FFC83D"/>
                </a:solidFill>
                <a:latin typeface="Consolas" pitchFamily="34" charset="0"/>
                <a:ea typeface="Consolas" pitchFamily="34" charset="-122"/>
                <a:cs typeface="Consolas" pitchFamily="34" charset="-120"/>
              </a:rPr>
              <a:t>&lt;p&gt;Halo</a:t>
            </a:r>
            <a:endParaRPr lang="en-US" sz="1700" dirty="0"/>
          </a:p>
        </p:txBody>
      </p:sp>
      <p:sp>
        <p:nvSpPr>
          <p:cNvPr id="10" name="Text 8"/>
          <p:cNvSpPr txBox="1"/>
          <p:nvPr/>
        </p:nvSpPr>
        <p:spPr>
          <a:xfrm>
            <a:off x="731520" y="2505456"/>
            <a:ext cx="5669280" cy="256032"/>
          </a:xfrm>
          <a:prstGeom prst="rect">
            <a:avLst/>
          </a:prstGeom>
          <a:noFill/>
          <a:ln/>
        </p:spPr>
        <p:txBody>
          <a:bodyPr wrap="square" lIns="0" tIns="0" rIns="0" bIns="0" rtlCol="0" anchor="t"/>
          <a:lstStyle/>
          <a:p>
            <a:pPr algn="l" indent="0" marL="0">
              <a:lnSpc>
                <a:spcPct val="115000"/>
              </a:lnSpc>
              <a:buNone/>
            </a:pPr>
            <a:r>
              <a:rPr lang="en-US" sz="1400" dirty="0">
                <a:solidFill>
                  <a:srgbClr val="A9B6D6"/>
                </a:solidFill>
                <a:latin typeface="Calibri" pitchFamily="34" charset="0"/>
                <a:ea typeface="Calibri" pitchFamily="34" charset="-122"/>
                <a:cs typeface="Calibri" pitchFamily="34" charset="-120"/>
              </a:rPr>
              <a:t>Tag tidak ditutup</a:t>
            </a:r>
            <a:endParaRPr lang="en-US" sz="1400" dirty="0"/>
          </a:p>
        </p:txBody>
      </p:sp>
      <p:sp>
        <p:nvSpPr>
          <p:cNvPr id="11" name="Text 9"/>
          <p:cNvSpPr txBox="1"/>
          <p:nvPr/>
        </p:nvSpPr>
        <p:spPr>
          <a:xfrm>
            <a:off x="6583680" y="2148840"/>
            <a:ext cx="4846320" cy="621792"/>
          </a:xfrm>
          <a:prstGeom prst="rect">
            <a:avLst/>
          </a:prstGeom>
          <a:noFill/>
          <a:ln/>
        </p:spPr>
        <p:txBody>
          <a:bodyPr wrap="square" lIns="0" tIns="0" rIns="0" bIns="0" rtlCol="0" anchor="ctr"/>
          <a:lstStyle/>
          <a:p>
            <a:pPr algn="l" indent="0" marL="0">
              <a:lnSpc>
                <a:spcPct val="115000"/>
              </a:lnSpc>
              <a:buNone/>
            </a:pPr>
            <a:r>
              <a:rPr lang="en-US" sz="1800" dirty="0">
                <a:solidFill>
                  <a:srgbClr val="FFFFFF"/>
                </a:solidFill>
                <a:latin typeface="Calibri" pitchFamily="34" charset="0"/>
                <a:ea typeface="Calibri" pitchFamily="34" charset="-122"/>
                <a:cs typeface="Calibri" pitchFamily="34" charset="-120"/>
              </a:rPr>
              <a:t>Teks setelahnya ikut berubah</a:t>
            </a:r>
            <a:endParaRPr lang="en-US" sz="1800" dirty="0"/>
          </a:p>
        </p:txBody>
      </p:sp>
      <p:sp>
        <p:nvSpPr>
          <p:cNvPr id="12" name="Shape 10"/>
          <p:cNvSpPr/>
          <p:nvPr/>
        </p:nvSpPr>
        <p:spPr>
          <a:xfrm>
            <a:off x="731520" y="2816352"/>
            <a:ext cx="10698480" cy="0"/>
          </a:xfrm>
          <a:prstGeom prst="line">
            <a:avLst/>
          </a:prstGeom>
          <a:noFill/>
          <a:ln w="12700">
            <a:solidFill>
              <a:srgbClr val="2A3C6E"/>
            </a:solidFill>
            <a:prstDash val="solid"/>
          </a:ln>
        </p:spPr>
      </p:sp>
      <p:sp>
        <p:nvSpPr>
          <p:cNvPr id="13" name="Text 11"/>
          <p:cNvSpPr txBox="1"/>
          <p:nvPr/>
        </p:nvSpPr>
        <p:spPr>
          <a:xfrm>
            <a:off x="731520" y="2889504"/>
            <a:ext cx="5669280" cy="329184"/>
          </a:xfrm>
          <a:prstGeom prst="rect">
            <a:avLst/>
          </a:prstGeom>
          <a:noFill/>
          <a:ln/>
        </p:spPr>
        <p:txBody>
          <a:bodyPr wrap="none" lIns="0" tIns="0" rIns="0" bIns="0" rtlCol="0" anchor="ctr"/>
          <a:lstStyle/>
          <a:p>
            <a:pPr algn="l" indent="0" marL="0">
              <a:lnSpc>
                <a:spcPct val="115000"/>
              </a:lnSpc>
              <a:buNone/>
            </a:pPr>
            <a:r>
              <a:rPr lang="en-US" sz="1700" b="1" dirty="0">
                <a:solidFill>
                  <a:srgbClr val="FFC83D"/>
                </a:solidFill>
                <a:latin typeface="Consolas" pitchFamily="34" charset="0"/>
                <a:ea typeface="Consolas" pitchFamily="34" charset="-122"/>
                <a:cs typeface="Consolas" pitchFamily="34" charset="-120"/>
              </a:rPr>
              <a:t>img/foto.JPG</a:t>
            </a:r>
            <a:endParaRPr lang="en-US" sz="1700" dirty="0"/>
          </a:p>
        </p:txBody>
      </p:sp>
      <p:sp>
        <p:nvSpPr>
          <p:cNvPr id="14" name="Text 12"/>
          <p:cNvSpPr txBox="1"/>
          <p:nvPr/>
        </p:nvSpPr>
        <p:spPr>
          <a:xfrm>
            <a:off x="731520" y="3218688"/>
            <a:ext cx="5669280" cy="256032"/>
          </a:xfrm>
          <a:prstGeom prst="rect">
            <a:avLst/>
          </a:prstGeom>
          <a:noFill/>
          <a:ln/>
        </p:spPr>
        <p:txBody>
          <a:bodyPr wrap="square" lIns="0" tIns="0" rIns="0" bIns="0" rtlCol="0" anchor="t"/>
          <a:lstStyle/>
          <a:p>
            <a:pPr algn="l" indent="0" marL="0">
              <a:lnSpc>
                <a:spcPct val="115000"/>
              </a:lnSpc>
              <a:buNone/>
            </a:pPr>
            <a:r>
              <a:rPr lang="en-US" sz="1400" dirty="0">
                <a:solidFill>
                  <a:srgbClr val="A9B6D6"/>
                </a:solidFill>
                <a:latin typeface="Calibri" pitchFamily="34" charset="0"/>
                <a:ea typeface="Calibri" pitchFamily="34" charset="-122"/>
                <a:cs typeface="Calibri" pitchFamily="34" charset="-120"/>
              </a:rPr>
              <a:t>Nama file tidak persis</a:t>
            </a:r>
            <a:endParaRPr lang="en-US" sz="1400" dirty="0"/>
          </a:p>
        </p:txBody>
      </p:sp>
      <p:sp>
        <p:nvSpPr>
          <p:cNvPr id="15" name="Text 13"/>
          <p:cNvSpPr txBox="1"/>
          <p:nvPr/>
        </p:nvSpPr>
        <p:spPr>
          <a:xfrm>
            <a:off x="6583680" y="2862072"/>
            <a:ext cx="4846320" cy="621792"/>
          </a:xfrm>
          <a:prstGeom prst="rect">
            <a:avLst/>
          </a:prstGeom>
          <a:noFill/>
          <a:ln/>
        </p:spPr>
        <p:txBody>
          <a:bodyPr wrap="square" lIns="0" tIns="0" rIns="0" bIns="0" rtlCol="0" anchor="ctr"/>
          <a:lstStyle/>
          <a:p>
            <a:pPr algn="l" indent="0" marL="0">
              <a:lnSpc>
                <a:spcPct val="115000"/>
              </a:lnSpc>
              <a:buNone/>
            </a:pPr>
            <a:r>
              <a:rPr lang="en-US" sz="1800" dirty="0">
                <a:solidFill>
                  <a:srgbClr val="FFFFFF"/>
                </a:solidFill>
                <a:latin typeface="Calibri" pitchFamily="34" charset="0"/>
                <a:ea typeface="Calibri" pitchFamily="34" charset="-122"/>
                <a:cs typeface="Calibri" pitchFamily="34" charset="-120"/>
              </a:rPr>
              <a:t>Gambar rusak, muncul ikon patah</a:t>
            </a:r>
            <a:endParaRPr lang="en-US" sz="1800" dirty="0"/>
          </a:p>
        </p:txBody>
      </p:sp>
      <p:sp>
        <p:nvSpPr>
          <p:cNvPr id="16" name="Shape 14"/>
          <p:cNvSpPr/>
          <p:nvPr/>
        </p:nvSpPr>
        <p:spPr>
          <a:xfrm>
            <a:off x="731520" y="3529584"/>
            <a:ext cx="10698480" cy="0"/>
          </a:xfrm>
          <a:prstGeom prst="line">
            <a:avLst/>
          </a:prstGeom>
          <a:noFill/>
          <a:ln w="12700">
            <a:solidFill>
              <a:srgbClr val="2A3C6E"/>
            </a:solidFill>
            <a:prstDash val="solid"/>
          </a:ln>
        </p:spPr>
      </p:sp>
      <p:sp>
        <p:nvSpPr>
          <p:cNvPr id="17" name="Text 15"/>
          <p:cNvSpPr txBox="1"/>
          <p:nvPr/>
        </p:nvSpPr>
        <p:spPr>
          <a:xfrm>
            <a:off x="731520" y="3602736"/>
            <a:ext cx="5669280" cy="329184"/>
          </a:xfrm>
          <a:prstGeom prst="rect">
            <a:avLst/>
          </a:prstGeom>
          <a:noFill/>
          <a:ln/>
        </p:spPr>
        <p:txBody>
          <a:bodyPr wrap="none" lIns="0" tIns="0" rIns="0" bIns="0" rtlCol="0" anchor="ctr"/>
          <a:lstStyle/>
          <a:p>
            <a:pPr algn="l" indent="0" marL="0">
              <a:lnSpc>
                <a:spcPct val="115000"/>
              </a:lnSpc>
              <a:buNone/>
            </a:pPr>
            <a:r>
              <a:rPr lang="en-US" sz="1700" b="1" dirty="0">
                <a:solidFill>
                  <a:srgbClr val="FFC83D"/>
                </a:solidFill>
                <a:latin typeface="Consolas" pitchFamily="34" charset="0"/>
                <a:ea typeface="Consolas" pitchFamily="34" charset="-122"/>
                <a:cs typeface="Consolas" pitchFamily="34" charset="-120"/>
              </a:rPr>
              <a:t>class="kartuu"</a:t>
            </a:r>
            <a:endParaRPr lang="en-US" sz="1700" dirty="0"/>
          </a:p>
        </p:txBody>
      </p:sp>
      <p:sp>
        <p:nvSpPr>
          <p:cNvPr id="18" name="Text 16"/>
          <p:cNvSpPr txBox="1"/>
          <p:nvPr/>
        </p:nvSpPr>
        <p:spPr>
          <a:xfrm>
            <a:off x="731520" y="3931920"/>
            <a:ext cx="5669280" cy="256032"/>
          </a:xfrm>
          <a:prstGeom prst="rect">
            <a:avLst/>
          </a:prstGeom>
          <a:noFill/>
          <a:ln/>
        </p:spPr>
        <p:txBody>
          <a:bodyPr wrap="square" lIns="0" tIns="0" rIns="0" bIns="0" rtlCol="0" anchor="t"/>
          <a:lstStyle/>
          <a:p>
            <a:pPr algn="l" indent="0" marL="0">
              <a:lnSpc>
                <a:spcPct val="115000"/>
              </a:lnSpc>
              <a:buNone/>
            </a:pPr>
            <a:r>
              <a:rPr lang="en-US" sz="1400" dirty="0">
                <a:solidFill>
                  <a:srgbClr val="A9B6D6"/>
                </a:solidFill>
                <a:latin typeface="Calibri" pitchFamily="34" charset="0"/>
                <a:ea typeface="Calibri" pitchFamily="34" charset="-122"/>
                <a:cs typeface="Calibri" pitchFamily="34" charset="-120"/>
              </a:rPr>
              <a:t>Typo nama class</a:t>
            </a:r>
            <a:endParaRPr lang="en-US" sz="1400" dirty="0"/>
          </a:p>
        </p:txBody>
      </p:sp>
      <p:sp>
        <p:nvSpPr>
          <p:cNvPr id="19" name="Text 17"/>
          <p:cNvSpPr txBox="1"/>
          <p:nvPr/>
        </p:nvSpPr>
        <p:spPr>
          <a:xfrm>
            <a:off x="6583680" y="3575304"/>
            <a:ext cx="4846320" cy="621792"/>
          </a:xfrm>
          <a:prstGeom prst="rect">
            <a:avLst/>
          </a:prstGeom>
          <a:noFill/>
          <a:ln/>
        </p:spPr>
        <p:txBody>
          <a:bodyPr wrap="square" lIns="0" tIns="0" rIns="0" bIns="0" rtlCol="0" anchor="ctr"/>
          <a:lstStyle/>
          <a:p>
            <a:pPr algn="l" indent="0" marL="0">
              <a:lnSpc>
                <a:spcPct val="115000"/>
              </a:lnSpc>
              <a:buNone/>
            </a:pPr>
            <a:r>
              <a:rPr lang="en-US" sz="1800" dirty="0">
                <a:solidFill>
                  <a:srgbClr val="FFFFFF"/>
                </a:solidFill>
                <a:latin typeface="Calibri" pitchFamily="34" charset="0"/>
                <a:ea typeface="Calibri" pitchFamily="34" charset="-122"/>
                <a:cs typeface="Calibri" pitchFamily="34" charset="-120"/>
              </a:rPr>
              <a:t>Style tidak muncul</a:t>
            </a:r>
            <a:endParaRPr lang="en-US" sz="1800" dirty="0"/>
          </a:p>
        </p:txBody>
      </p:sp>
      <p:sp>
        <p:nvSpPr>
          <p:cNvPr id="20" name="Shape 18"/>
          <p:cNvSpPr/>
          <p:nvPr/>
        </p:nvSpPr>
        <p:spPr>
          <a:xfrm>
            <a:off x="731520" y="4242816"/>
            <a:ext cx="10698480" cy="0"/>
          </a:xfrm>
          <a:prstGeom prst="line">
            <a:avLst/>
          </a:prstGeom>
          <a:noFill/>
          <a:ln w="12700">
            <a:solidFill>
              <a:srgbClr val="2A3C6E"/>
            </a:solidFill>
            <a:prstDash val="solid"/>
          </a:ln>
        </p:spPr>
      </p:sp>
      <p:sp>
        <p:nvSpPr>
          <p:cNvPr id="21" name="Text 19"/>
          <p:cNvSpPr txBox="1"/>
          <p:nvPr/>
        </p:nvSpPr>
        <p:spPr>
          <a:xfrm>
            <a:off x="731520" y="4315968"/>
            <a:ext cx="5669280" cy="329184"/>
          </a:xfrm>
          <a:prstGeom prst="rect">
            <a:avLst/>
          </a:prstGeom>
          <a:noFill/>
          <a:ln/>
        </p:spPr>
        <p:txBody>
          <a:bodyPr wrap="none" lIns="0" tIns="0" rIns="0" bIns="0" rtlCol="0" anchor="ctr"/>
          <a:lstStyle/>
          <a:p>
            <a:pPr algn="l" indent="0" marL="0">
              <a:lnSpc>
                <a:spcPct val="115000"/>
              </a:lnSpc>
              <a:buNone/>
            </a:pPr>
            <a:r>
              <a:rPr lang="en-US" sz="1700" b="1" dirty="0">
                <a:solidFill>
                  <a:srgbClr val="FFC83D"/>
                </a:solidFill>
                <a:latin typeface="Consolas" pitchFamily="34" charset="0"/>
                <a:ea typeface="Consolas" pitchFamily="34" charset="-122"/>
                <a:cs typeface="Consolas" pitchFamily="34" charset="-120"/>
              </a:rPr>
              <a:t>&lt;link rel="stylesheet"&gt;</a:t>
            </a:r>
            <a:endParaRPr lang="en-US" sz="1700" dirty="0"/>
          </a:p>
        </p:txBody>
      </p:sp>
      <p:sp>
        <p:nvSpPr>
          <p:cNvPr id="22" name="Text 20"/>
          <p:cNvSpPr txBox="1"/>
          <p:nvPr/>
        </p:nvSpPr>
        <p:spPr>
          <a:xfrm>
            <a:off x="731520" y="4645152"/>
            <a:ext cx="5669280" cy="256032"/>
          </a:xfrm>
          <a:prstGeom prst="rect">
            <a:avLst/>
          </a:prstGeom>
          <a:noFill/>
          <a:ln/>
        </p:spPr>
        <p:txBody>
          <a:bodyPr wrap="square" lIns="0" tIns="0" rIns="0" bIns="0" rtlCol="0" anchor="t"/>
          <a:lstStyle/>
          <a:p>
            <a:pPr algn="l" indent="0" marL="0">
              <a:lnSpc>
                <a:spcPct val="115000"/>
              </a:lnSpc>
              <a:buNone/>
            </a:pPr>
            <a:r>
              <a:rPr lang="en-US" sz="1400" dirty="0">
                <a:solidFill>
                  <a:srgbClr val="A9B6D6"/>
                </a:solidFill>
                <a:latin typeface="Calibri" pitchFamily="34" charset="0"/>
                <a:ea typeface="Calibri" pitchFamily="34" charset="-122"/>
                <a:cs typeface="Calibri" pitchFamily="34" charset="-120"/>
              </a:rPr>
              <a:t>Link CSS hilang atau salah</a:t>
            </a:r>
            <a:endParaRPr lang="en-US" sz="1400" dirty="0"/>
          </a:p>
        </p:txBody>
      </p:sp>
      <p:sp>
        <p:nvSpPr>
          <p:cNvPr id="23" name="Text 21"/>
          <p:cNvSpPr txBox="1"/>
          <p:nvPr/>
        </p:nvSpPr>
        <p:spPr>
          <a:xfrm>
            <a:off x="6583680" y="4288536"/>
            <a:ext cx="4846320" cy="621792"/>
          </a:xfrm>
          <a:prstGeom prst="rect">
            <a:avLst/>
          </a:prstGeom>
          <a:noFill/>
          <a:ln/>
        </p:spPr>
        <p:txBody>
          <a:bodyPr wrap="square" lIns="0" tIns="0" rIns="0" bIns="0" rtlCol="0" anchor="ctr"/>
          <a:lstStyle/>
          <a:p>
            <a:pPr algn="l" indent="0" marL="0">
              <a:lnSpc>
                <a:spcPct val="115000"/>
              </a:lnSpc>
              <a:buNone/>
            </a:pPr>
            <a:r>
              <a:rPr lang="en-US" sz="1800" dirty="0">
                <a:solidFill>
                  <a:srgbClr val="FFFFFF"/>
                </a:solidFill>
                <a:latin typeface="Calibri" pitchFamily="34" charset="0"/>
                <a:ea typeface="Calibri" pitchFamily="34" charset="-122"/>
                <a:cs typeface="Calibri" pitchFamily="34" charset="-120"/>
              </a:rPr>
              <a:t>Halaman kembali polos</a:t>
            </a:r>
            <a:endParaRPr lang="en-US" sz="1800" dirty="0"/>
          </a:p>
        </p:txBody>
      </p:sp>
      <p:sp>
        <p:nvSpPr>
          <p:cNvPr id="24" name="Shape 22"/>
          <p:cNvSpPr/>
          <p:nvPr/>
        </p:nvSpPr>
        <p:spPr>
          <a:xfrm>
            <a:off x="731520" y="4956048"/>
            <a:ext cx="10698480" cy="0"/>
          </a:xfrm>
          <a:prstGeom prst="line">
            <a:avLst/>
          </a:prstGeom>
          <a:noFill/>
          <a:ln w="12700">
            <a:solidFill>
              <a:srgbClr val="2A3C6E"/>
            </a:solidFill>
            <a:prstDash val="solid"/>
          </a:ln>
        </p:spPr>
      </p:sp>
      <p:sp>
        <p:nvSpPr>
          <p:cNvPr id="25" name="Text 23"/>
          <p:cNvSpPr txBox="1"/>
          <p:nvPr/>
        </p:nvSpPr>
        <p:spPr>
          <a:xfrm>
            <a:off x="731520" y="5029200"/>
            <a:ext cx="5669280" cy="329184"/>
          </a:xfrm>
          <a:prstGeom prst="rect">
            <a:avLst/>
          </a:prstGeom>
          <a:noFill/>
          <a:ln/>
        </p:spPr>
        <p:txBody>
          <a:bodyPr wrap="none" lIns="0" tIns="0" rIns="0" bIns="0" rtlCol="0" anchor="ctr"/>
          <a:lstStyle/>
          <a:p>
            <a:pPr algn="l" indent="0" marL="0">
              <a:lnSpc>
                <a:spcPct val="115000"/>
              </a:lnSpc>
              <a:buNone/>
            </a:pPr>
            <a:r>
              <a:rPr lang="en-US" sz="1700" b="1" dirty="0">
                <a:solidFill>
                  <a:srgbClr val="FFC83D"/>
                </a:solidFill>
                <a:latin typeface="Consolas" pitchFamily="34" charset="0"/>
                <a:ea typeface="Consolas" pitchFamily="34" charset="-122"/>
                <a:cs typeface="Consolas" pitchFamily="34" charset="-120"/>
              </a:rPr>
              <a:t>h1 { color: red;</a:t>
            </a:r>
            <a:endParaRPr lang="en-US" sz="1700" dirty="0"/>
          </a:p>
        </p:txBody>
      </p:sp>
      <p:sp>
        <p:nvSpPr>
          <p:cNvPr id="26" name="Text 24"/>
          <p:cNvSpPr txBox="1"/>
          <p:nvPr/>
        </p:nvSpPr>
        <p:spPr>
          <a:xfrm>
            <a:off x="731520" y="5358384"/>
            <a:ext cx="5669280" cy="256032"/>
          </a:xfrm>
          <a:prstGeom prst="rect">
            <a:avLst/>
          </a:prstGeom>
          <a:noFill/>
          <a:ln/>
        </p:spPr>
        <p:txBody>
          <a:bodyPr wrap="square" lIns="0" tIns="0" rIns="0" bIns="0" rtlCol="0" anchor="t"/>
          <a:lstStyle/>
          <a:p>
            <a:pPr algn="l" indent="0" marL="0">
              <a:lnSpc>
                <a:spcPct val="115000"/>
              </a:lnSpc>
              <a:buNone/>
            </a:pPr>
            <a:r>
              <a:rPr lang="en-US" sz="1400" dirty="0">
                <a:solidFill>
                  <a:srgbClr val="A9B6D6"/>
                </a:solidFill>
                <a:latin typeface="Calibri" pitchFamily="34" charset="0"/>
                <a:ea typeface="Calibri" pitchFamily="34" charset="-122"/>
                <a:cs typeface="Calibri" pitchFamily="34" charset="-120"/>
              </a:rPr>
              <a:t>Kurung } tidak ditutup</a:t>
            </a:r>
            <a:endParaRPr lang="en-US" sz="1400" dirty="0"/>
          </a:p>
        </p:txBody>
      </p:sp>
      <p:sp>
        <p:nvSpPr>
          <p:cNvPr id="27" name="Text 25"/>
          <p:cNvSpPr txBox="1"/>
          <p:nvPr/>
        </p:nvSpPr>
        <p:spPr>
          <a:xfrm>
            <a:off x="6583680" y="5001768"/>
            <a:ext cx="4846320" cy="621792"/>
          </a:xfrm>
          <a:prstGeom prst="rect">
            <a:avLst/>
          </a:prstGeom>
          <a:noFill/>
          <a:ln/>
        </p:spPr>
        <p:txBody>
          <a:bodyPr wrap="square" lIns="0" tIns="0" rIns="0" bIns="0" rtlCol="0" anchor="ctr"/>
          <a:lstStyle/>
          <a:p>
            <a:pPr algn="l" indent="0" marL="0">
              <a:lnSpc>
                <a:spcPct val="115000"/>
              </a:lnSpc>
              <a:buNone/>
            </a:pPr>
            <a:r>
              <a:rPr lang="en-US" sz="1800" dirty="0">
                <a:solidFill>
                  <a:srgbClr val="FFFFFF"/>
                </a:solidFill>
                <a:latin typeface="Calibri" pitchFamily="34" charset="0"/>
                <a:ea typeface="Calibri" pitchFamily="34" charset="-122"/>
                <a:cs typeface="Calibri" pitchFamily="34" charset="-120"/>
              </a:rPr>
              <a:t>Style setelahnya hilang</a:t>
            </a:r>
            <a:endParaRPr lang="en-US" sz="1800" dirty="0"/>
          </a:p>
        </p:txBody>
      </p:sp>
      <p:sp>
        <p:nvSpPr>
          <p:cNvPr id="28" name="Text 26"/>
          <p:cNvSpPr txBox="1"/>
          <p:nvPr/>
        </p:nvSpPr>
        <p:spPr>
          <a:xfrm>
            <a:off x="731520" y="5806440"/>
            <a:ext cx="10698480" cy="457200"/>
          </a:xfrm>
          <a:prstGeom prst="rect">
            <a:avLst/>
          </a:prstGeom>
          <a:noFill/>
          <a:ln/>
        </p:spPr>
        <p:txBody>
          <a:bodyPr wrap="square" lIns="0" tIns="0" rIns="0" bIns="0" rtlCol="0" anchor="ctr"/>
          <a:lstStyle/>
          <a:p>
            <a:pPr algn="l" indent="0" marL="0">
              <a:lnSpc>
                <a:spcPct val="115000"/>
              </a:lnSpc>
              <a:buNone/>
            </a:pPr>
            <a:r>
              <a:rPr lang="en-US" sz="1800" b="1" dirty="0">
                <a:solidFill>
                  <a:srgbClr val="FFC83D"/>
                </a:solidFill>
                <a:latin typeface="Calibri" pitchFamily="34" charset="0"/>
                <a:ea typeface="Calibri" pitchFamily="34" charset="-122"/>
                <a:cs typeface="Calibri" pitchFamily="34" charset="-120"/>
              </a:rPr>
              <a:t>Cara cek: tekan F12, buka Console atau Elements, lalu baca pesannya pelan-pelan.</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28</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04 · PROYEK &amp; PUBLISH</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AI itu tutor, bukan joki</a:t>
            </a:r>
            <a:endParaRPr lang="en-US" sz="3800" dirty="0"/>
          </a:p>
        </p:txBody>
      </p:sp>
      <p:sp>
        <p:nvSpPr>
          <p:cNvPr id="6" name="Shape 4"/>
          <p:cNvSpPr/>
          <p:nvPr/>
        </p:nvSpPr>
        <p:spPr>
          <a:xfrm>
            <a:off x="731520" y="1783080"/>
            <a:ext cx="3429000" cy="2606040"/>
          </a:xfrm>
          <a:prstGeom prst="roundRect">
            <a:avLst>
              <a:gd name="adj" fmla="val 7018"/>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7" name="Text 5"/>
          <p:cNvSpPr txBox="1"/>
          <p:nvPr/>
        </p:nvSpPr>
        <p:spPr>
          <a:xfrm>
            <a:off x="1005840" y="2011680"/>
            <a:ext cx="2926080" cy="274320"/>
          </a:xfrm>
          <a:prstGeom prst="rect">
            <a:avLst/>
          </a:prstGeom>
          <a:noFill/>
          <a:ln/>
        </p:spPr>
        <p:txBody>
          <a:bodyPr wrap="square" lIns="0" tIns="0" rIns="0" bIns="0" rtlCol="0" anchor="t"/>
          <a:lstStyle/>
          <a:p>
            <a:pPr algn="l" indent="0" marL="0">
              <a:lnSpc>
                <a:spcPct val="115000"/>
              </a:lnSpc>
              <a:buNone/>
            </a:pPr>
            <a:r>
              <a:rPr lang="en-US" sz="1100" b="1" spc="140" kern="0" dirty="0">
                <a:solidFill>
                  <a:srgbClr val="1F4FD8"/>
                </a:solidFill>
                <a:latin typeface="Calibri" pitchFamily="34" charset="0"/>
                <a:ea typeface="Calibri" pitchFamily="34" charset="-122"/>
                <a:cs typeface="Calibri" pitchFamily="34" charset="-120"/>
              </a:rPr>
              <a:t>PROMPT 1  ·  MEMAHAMI</a:t>
            </a:r>
            <a:endParaRPr lang="en-US" sz="1100" dirty="0"/>
          </a:p>
        </p:txBody>
      </p:sp>
      <p:sp>
        <p:nvSpPr>
          <p:cNvPr id="8" name="Text 6"/>
          <p:cNvSpPr txBox="1"/>
          <p:nvPr/>
        </p:nvSpPr>
        <p:spPr>
          <a:xfrm>
            <a:off x="1005840" y="2468880"/>
            <a:ext cx="2926080" cy="1737360"/>
          </a:xfrm>
          <a:prstGeom prst="rect">
            <a:avLst/>
          </a:prstGeom>
          <a:noFill/>
          <a:ln/>
        </p:spPr>
        <p:txBody>
          <a:bodyPr wrap="square" lIns="0" tIns="0" rIns="0" bIns="0" rtlCol="0" anchor="t"/>
          <a:lstStyle/>
          <a:p>
            <a:pPr algn="l" indent="0" marL="0">
              <a:lnSpc>
                <a:spcPct val="140000"/>
              </a:lnSpc>
              <a:buNone/>
            </a:pPr>
            <a:r>
              <a:rPr lang="en-US" sz="1800" i="1" dirty="0">
                <a:solidFill>
                  <a:srgbClr val="0E1B3D"/>
                </a:solidFill>
                <a:latin typeface="Calibri" pitchFamily="34" charset="0"/>
                <a:ea typeface="Calibri" pitchFamily="34" charset="-122"/>
                <a:cs typeface="Calibri" pitchFamily="34" charset="-120"/>
              </a:rPr>
              <a:t>Jelaskan kode ini baris per baris:</a:t>
            </a:r>
            <a:endParaRPr lang="en-US" sz="1800" dirty="0"/>
          </a:p>
          <a:p>
            <a:pPr algn="l" indent="0" marL="0">
              <a:lnSpc>
                <a:spcPct val="140000"/>
              </a:lnSpc>
              <a:buNone/>
            </a:pPr>
            <a:r>
              <a:rPr lang="en-US" sz="1800" i="1" dirty="0">
                <a:solidFill>
                  <a:srgbClr val="0E1B3D"/>
                </a:solidFill>
                <a:latin typeface="Calibri" pitchFamily="34" charset="0"/>
                <a:ea typeface="Calibri" pitchFamily="34" charset="-122"/>
                <a:cs typeface="Calibri" pitchFamily="34" charset="-120"/>
              </a:rPr>
              <a:t>[tempel kodemu]</a:t>
            </a:r>
            <a:endParaRPr lang="en-US" sz="1800" dirty="0"/>
          </a:p>
        </p:txBody>
      </p:sp>
      <p:sp>
        <p:nvSpPr>
          <p:cNvPr id="9" name="Shape 7"/>
          <p:cNvSpPr/>
          <p:nvPr/>
        </p:nvSpPr>
        <p:spPr>
          <a:xfrm>
            <a:off x="4361688" y="1783080"/>
            <a:ext cx="3429000" cy="2606040"/>
          </a:xfrm>
          <a:prstGeom prst="roundRect">
            <a:avLst>
              <a:gd name="adj" fmla="val 7018"/>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10" name="Text 8"/>
          <p:cNvSpPr txBox="1"/>
          <p:nvPr/>
        </p:nvSpPr>
        <p:spPr>
          <a:xfrm>
            <a:off x="4636008" y="2011680"/>
            <a:ext cx="2926080" cy="274320"/>
          </a:xfrm>
          <a:prstGeom prst="rect">
            <a:avLst/>
          </a:prstGeom>
          <a:noFill/>
          <a:ln/>
        </p:spPr>
        <p:txBody>
          <a:bodyPr wrap="square" lIns="0" tIns="0" rIns="0" bIns="0" rtlCol="0" anchor="t"/>
          <a:lstStyle/>
          <a:p>
            <a:pPr algn="l" indent="0" marL="0">
              <a:lnSpc>
                <a:spcPct val="115000"/>
              </a:lnSpc>
              <a:buNone/>
            </a:pPr>
            <a:r>
              <a:rPr lang="en-US" sz="1100" b="1" spc="140" kern="0" dirty="0">
                <a:solidFill>
                  <a:srgbClr val="1F4FD8"/>
                </a:solidFill>
                <a:latin typeface="Calibri" pitchFamily="34" charset="0"/>
                <a:ea typeface="Calibri" pitchFamily="34" charset="-122"/>
                <a:cs typeface="Calibri" pitchFamily="34" charset="-120"/>
              </a:rPr>
              <a:t>PROMPT 2  ·  MENCARI ERROR</a:t>
            </a:r>
            <a:endParaRPr lang="en-US" sz="1100" dirty="0"/>
          </a:p>
        </p:txBody>
      </p:sp>
      <p:sp>
        <p:nvSpPr>
          <p:cNvPr id="11" name="Text 9"/>
          <p:cNvSpPr txBox="1"/>
          <p:nvPr/>
        </p:nvSpPr>
        <p:spPr>
          <a:xfrm>
            <a:off x="4636008" y="2468880"/>
            <a:ext cx="2926080" cy="1737360"/>
          </a:xfrm>
          <a:prstGeom prst="rect">
            <a:avLst/>
          </a:prstGeom>
          <a:noFill/>
          <a:ln/>
        </p:spPr>
        <p:txBody>
          <a:bodyPr wrap="square" lIns="0" tIns="0" rIns="0" bIns="0" rtlCol="0" anchor="t"/>
          <a:lstStyle/>
          <a:p>
            <a:pPr algn="l" indent="0" marL="0">
              <a:lnSpc>
                <a:spcPct val="140000"/>
              </a:lnSpc>
              <a:buNone/>
            </a:pPr>
            <a:r>
              <a:rPr lang="en-US" sz="1800" i="1" dirty="0">
                <a:solidFill>
                  <a:srgbClr val="0E1B3D"/>
                </a:solidFill>
                <a:latin typeface="Calibri" pitchFamily="34" charset="0"/>
                <a:ea typeface="Calibri" pitchFamily="34" charset="-122"/>
                <a:cs typeface="Calibri" pitchFamily="34" charset="-120"/>
              </a:rPr>
              <a:t>Kenapa gambarku tidak muncul?</a:t>
            </a:r>
            <a:endParaRPr lang="en-US" sz="1800" dirty="0"/>
          </a:p>
          <a:p>
            <a:pPr algn="l" indent="0" marL="0">
              <a:lnSpc>
                <a:spcPct val="140000"/>
              </a:lnSpc>
              <a:buNone/>
            </a:pPr>
            <a:r>
              <a:rPr lang="en-US" sz="1800" i="1" dirty="0">
                <a:solidFill>
                  <a:srgbClr val="0E1B3D"/>
                </a:solidFill>
                <a:latin typeface="Calibri" pitchFamily="34" charset="0"/>
                <a:ea typeface="Calibri" pitchFamily="34" charset="-122"/>
                <a:cs typeface="Calibri" pitchFamily="34" charset="-120"/>
              </a:rPr>
              <a:t>Ini kodeku: [tempel kodemu]</a:t>
            </a:r>
            <a:endParaRPr lang="en-US" sz="1800" dirty="0"/>
          </a:p>
        </p:txBody>
      </p:sp>
      <p:sp>
        <p:nvSpPr>
          <p:cNvPr id="12" name="Shape 10"/>
          <p:cNvSpPr/>
          <p:nvPr/>
        </p:nvSpPr>
        <p:spPr>
          <a:xfrm>
            <a:off x="7991856" y="1783080"/>
            <a:ext cx="3429000" cy="2606040"/>
          </a:xfrm>
          <a:prstGeom prst="roundRect">
            <a:avLst>
              <a:gd name="adj" fmla="val 7018"/>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13" name="Text 11"/>
          <p:cNvSpPr txBox="1"/>
          <p:nvPr/>
        </p:nvSpPr>
        <p:spPr>
          <a:xfrm>
            <a:off x="8266176" y="2011680"/>
            <a:ext cx="2926080" cy="274320"/>
          </a:xfrm>
          <a:prstGeom prst="rect">
            <a:avLst/>
          </a:prstGeom>
          <a:noFill/>
          <a:ln/>
        </p:spPr>
        <p:txBody>
          <a:bodyPr wrap="square" lIns="0" tIns="0" rIns="0" bIns="0" rtlCol="0" anchor="t"/>
          <a:lstStyle/>
          <a:p>
            <a:pPr algn="l" indent="0" marL="0">
              <a:lnSpc>
                <a:spcPct val="115000"/>
              </a:lnSpc>
              <a:buNone/>
            </a:pPr>
            <a:r>
              <a:rPr lang="en-US" sz="1100" b="1" spc="140" kern="0" dirty="0">
                <a:solidFill>
                  <a:srgbClr val="1F4FD8"/>
                </a:solidFill>
                <a:latin typeface="Calibri" pitchFamily="34" charset="0"/>
                <a:ea typeface="Calibri" pitchFamily="34" charset="-122"/>
                <a:cs typeface="Calibri" pitchFamily="34" charset="-120"/>
              </a:rPr>
              <a:t>PROMPT 3  ·  MENCARI IDE</a:t>
            </a:r>
            <a:endParaRPr lang="en-US" sz="1100" dirty="0"/>
          </a:p>
        </p:txBody>
      </p:sp>
      <p:sp>
        <p:nvSpPr>
          <p:cNvPr id="14" name="Text 12"/>
          <p:cNvSpPr txBox="1"/>
          <p:nvPr/>
        </p:nvSpPr>
        <p:spPr>
          <a:xfrm>
            <a:off x="8266176" y="2468880"/>
            <a:ext cx="2926080" cy="1737360"/>
          </a:xfrm>
          <a:prstGeom prst="rect">
            <a:avLst/>
          </a:prstGeom>
          <a:noFill/>
          <a:ln/>
        </p:spPr>
        <p:txBody>
          <a:bodyPr wrap="square" lIns="0" tIns="0" rIns="0" bIns="0" rtlCol="0" anchor="t"/>
          <a:lstStyle/>
          <a:p>
            <a:pPr algn="l" indent="0" marL="0">
              <a:lnSpc>
                <a:spcPct val="140000"/>
              </a:lnSpc>
              <a:buNone/>
            </a:pPr>
            <a:r>
              <a:rPr lang="en-US" sz="1800" i="1" dirty="0">
                <a:solidFill>
                  <a:srgbClr val="0E1B3D"/>
                </a:solidFill>
                <a:latin typeface="Calibri" pitchFamily="34" charset="0"/>
                <a:ea typeface="Calibri" pitchFamily="34" charset="-122"/>
                <a:cs typeface="Calibri" pitchFamily="34" charset="-120"/>
              </a:rPr>
              <a:t>Beri 3 ide mempercantik halaman profil. Jangan tuliskan kodenya.</a:t>
            </a:r>
            <a:endParaRPr lang="en-US" sz="1800" dirty="0"/>
          </a:p>
        </p:txBody>
      </p:sp>
      <p:sp>
        <p:nvSpPr>
          <p:cNvPr id="15" name="Shape 13"/>
          <p:cNvSpPr/>
          <p:nvPr/>
        </p:nvSpPr>
        <p:spPr>
          <a:xfrm>
            <a:off x="731520" y="4663440"/>
            <a:ext cx="10698480" cy="1463040"/>
          </a:xfrm>
          <a:prstGeom prst="roundRect">
            <a:avLst>
              <a:gd name="adj" fmla="val 12500"/>
            </a:avLst>
          </a:prstGeom>
          <a:solidFill>
            <a:srgbClr val="0E1B3D"/>
          </a:solidFill>
          <a:ln/>
        </p:spPr>
      </p:sp>
      <p:sp>
        <p:nvSpPr>
          <p:cNvPr id="16" name="Text 14"/>
          <p:cNvSpPr txBox="1"/>
          <p:nvPr/>
        </p:nvSpPr>
        <p:spPr>
          <a:xfrm>
            <a:off x="1143000" y="4846320"/>
            <a:ext cx="9875520" cy="548640"/>
          </a:xfrm>
          <a:prstGeom prst="rect">
            <a:avLst/>
          </a:prstGeom>
          <a:noFill/>
          <a:ln/>
        </p:spPr>
        <p:txBody>
          <a:bodyPr wrap="square" lIns="0" tIns="0" rIns="0" bIns="0" rtlCol="0" anchor="ctr"/>
          <a:lstStyle/>
          <a:p>
            <a:pPr algn="l" indent="0" marL="0">
              <a:lnSpc>
                <a:spcPct val="115000"/>
              </a:lnSpc>
              <a:buNone/>
            </a:pPr>
            <a:r>
              <a:rPr lang="en-US" sz="2800" b="1" dirty="0">
                <a:solidFill>
                  <a:srgbClr val="FFC83D"/>
                </a:solidFill>
                <a:latin typeface="Calibri" pitchFamily="34" charset="0"/>
                <a:ea typeface="Calibri" pitchFamily="34" charset="-122"/>
                <a:cs typeface="Calibri" pitchFamily="34" charset="-120"/>
              </a:rPr>
              <a:t>Aturan emas: kamu yang mengetik dulu.</a:t>
            </a:r>
            <a:endParaRPr lang="en-US" sz="2800" dirty="0"/>
          </a:p>
        </p:txBody>
      </p:sp>
      <p:sp>
        <p:nvSpPr>
          <p:cNvPr id="17" name="Text 15"/>
          <p:cNvSpPr txBox="1"/>
          <p:nvPr/>
        </p:nvSpPr>
        <p:spPr>
          <a:xfrm>
            <a:off x="1143000" y="5440680"/>
            <a:ext cx="9875520" cy="548640"/>
          </a:xfrm>
          <a:prstGeom prst="rect">
            <a:avLst/>
          </a:prstGeom>
          <a:noFill/>
          <a:ln/>
        </p:spPr>
        <p:txBody>
          <a:bodyPr wrap="square" lIns="0" tIns="0" rIns="0" bIns="0" rtlCol="0" anchor="ctr"/>
          <a:lstStyle/>
          <a:p>
            <a:pPr algn="l" indent="0" marL="0">
              <a:lnSpc>
                <a:spcPct val="115000"/>
              </a:lnSpc>
              <a:buNone/>
            </a:pPr>
            <a:r>
              <a:rPr lang="en-US" sz="1700" dirty="0">
                <a:solidFill>
                  <a:srgbClr val="F4F6FB"/>
                </a:solidFill>
                <a:latin typeface="Calibri" pitchFamily="34" charset="0"/>
                <a:ea typeface="Calibri" pitchFamily="34" charset="-122"/>
                <a:cs typeface="Calibri" pitchFamily="34" charset="-120"/>
              </a:rPr>
              <a:t>Menyalin tanpa paham = tidak belajar. Pakai AI untuk bertanya, bukan untuk menyalin jawaban.</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6F7FA8"/>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6F7FA8"/>
                </a:solidFill>
                <a:latin typeface="Calibri" pitchFamily="34" charset="0"/>
                <a:ea typeface="Calibri" pitchFamily="34" charset="-122"/>
                <a:cs typeface="Calibri" pitchFamily="34" charset="-120"/>
              </a:rPr>
              <a:t>29</a:t>
            </a:r>
            <a:endParaRPr lang="en-US" sz="1000" dirty="0"/>
          </a:p>
        </p:txBody>
      </p:sp>
      <p:sp>
        <p:nvSpPr>
          <p:cNvPr id="4" name="Shape 2"/>
          <p:cNvSpPr/>
          <p:nvPr/>
        </p:nvSpPr>
        <p:spPr>
          <a:xfrm>
            <a:off x="731520" y="411480"/>
            <a:ext cx="2240280" cy="384048"/>
          </a:xfrm>
          <a:prstGeom prst="roundRect">
            <a:avLst>
              <a:gd name="adj" fmla="val 50000"/>
            </a:avLst>
          </a:prstGeom>
          <a:solidFill>
            <a:srgbClr val="FFC83D"/>
          </a:solidFill>
          <a:ln/>
        </p:spPr>
      </p:sp>
      <p:sp>
        <p:nvSpPr>
          <p:cNvPr id="5" name="Text 3"/>
          <p:cNvSpPr txBox="1"/>
          <p:nvPr/>
        </p:nvSpPr>
        <p:spPr>
          <a:xfrm>
            <a:off x="731520" y="411480"/>
            <a:ext cx="2240280" cy="384048"/>
          </a:xfrm>
          <a:prstGeom prst="rect">
            <a:avLst/>
          </a:prstGeom>
          <a:noFill/>
          <a:ln/>
        </p:spPr>
        <p:txBody>
          <a:bodyPr wrap="square" lIns="0" tIns="0" rIns="0" bIns="0" rtlCol="0" anchor="ctr"/>
          <a:lstStyle/>
          <a:p>
            <a:pPr algn="ctr" indent="0" marL="0">
              <a:lnSpc>
                <a:spcPct val="115000"/>
              </a:lnSpc>
              <a:buNone/>
            </a:pPr>
            <a:r>
              <a:rPr lang="en-US" sz="1300" b="1" spc="180" kern="0" dirty="0">
                <a:solidFill>
                  <a:srgbClr val="0E1B3D"/>
                </a:solidFill>
                <a:latin typeface="Calibri" pitchFamily="34" charset="0"/>
                <a:ea typeface="Calibri" pitchFamily="34" charset="-122"/>
                <a:cs typeface="Calibri" pitchFamily="34" charset="-120"/>
              </a:rPr>
              <a:t>CHECKPOINT 3</a:t>
            </a:r>
            <a:endParaRPr lang="en-US" sz="1300" dirty="0"/>
          </a:p>
        </p:txBody>
      </p:sp>
      <p:sp>
        <p:nvSpPr>
          <p:cNvPr id="6" name="Text 4"/>
          <p:cNvSpPr txBox="1"/>
          <p:nvPr/>
        </p:nvSpPr>
        <p:spPr>
          <a:xfrm>
            <a:off x="731520" y="1097280"/>
            <a:ext cx="5486400" cy="822960"/>
          </a:xfrm>
          <a:prstGeom prst="rect">
            <a:avLst/>
          </a:prstGeom>
          <a:noFill/>
          <a:ln/>
        </p:spPr>
        <p:txBody>
          <a:bodyPr wrap="square" lIns="0" tIns="0" rIns="0" bIns="0" rtlCol="0" anchor="t"/>
          <a:lstStyle/>
          <a:p>
            <a:pPr algn="l" indent="0" marL="0">
              <a:lnSpc>
                <a:spcPct val="115000"/>
              </a:lnSpc>
              <a:buNone/>
            </a:pPr>
            <a:r>
              <a:rPr lang="en-US" sz="4400" b="1" dirty="0">
                <a:solidFill>
                  <a:srgbClr val="FFFFFF"/>
                </a:solidFill>
                <a:latin typeface="Calibri" pitchFamily="34" charset="0"/>
                <a:ea typeface="Calibri" pitchFamily="34" charset="-122"/>
                <a:cs typeface="Calibri" pitchFamily="34" charset="-120"/>
              </a:rPr>
              <a:t>Sprint akhir</a:t>
            </a:r>
            <a:endParaRPr lang="en-US" sz="4400" dirty="0"/>
          </a:p>
        </p:txBody>
      </p:sp>
      <p:sp>
        <p:nvSpPr>
          <p:cNvPr id="7" name="Text 5"/>
          <p:cNvSpPr txBox="1"/>
          <p:nvPr/>
        </p:nvSpPr>
        <p:spPr>
          <a:xfrm>
            <a:off x="731520" y="2148840"/>
            <a:ext cx="5852160" cy="2011680"/>
          </a:xfrm>
          <a:prstGeom prst="rect">
            <a:avLst/>
          </a:prstGeom>
          <a:noFill/>
          <a:ln/>
        </p:spPr>
        <p:txBody>
          <a:bodyPr wrap="none" lIns="0" tIns="0" rIns="0" bIns="0" rtlCol="0" anchor="ctr"/>
          <a:lstStyle/>
          <a:p>
            <a:pPr algn="l" indent="0" marL="0">
              <a:lnSpc>
                <a:spcPct val="115000"/>
              </a:lnSpc>
              <a:buNone/>
            </a:pPr>
            <a:r>
              <a:rPr lang="en-US" sz="13000" b="1" dirty="0">
                <a:solidFill>
                  <a:srgbClr val="FFC83D"/>
                </a:solidFill>
                <a:latin typeface="Consolas" pitchFamily="34" charset="0"/>
                <a:ea typeface="Consolas" pitchFamily="34" charset="-122"/>
                <a:cs typeface="Consolas" pitchFamily="34" charset="-120"/>
              </a:rPr>
              <a:t>20:00</a:t>
            </a:r>
            <a:endParaRPr lang="en-US" sz="13000" dirty="0"/>
          </a:p>
        </p:txBody>
      </p:sp>
      <p:sp>
        <p:nvSpPr>
          <p:cNvPr id="8" name="Text 6"/>
          <p:cNvSpPr txBox="1"/>
          <p:nvPr/>
        </p:nvSpPr>
        <p:spPr>
          <a:xfrm>
            <a:off x="731520" y="4297680"/>
            <a:ext cx="5303520" cy="731520"/>
          </a:xfrm>
          <a:prstGeom prst="rect">
            <a:avLst/>
          </a:prstGeom>
          <a:noFill/>
          <a:ln/>
        </p:spPr>
        <p:txBody>
          <a:bodyPr wrap="square" lIns="0" tIns="0" rIns="0" bIns="0" rtlCol="0" anchor="t"/>
          <a:lstStyle/>
          <a:p>
            <a:pPr algn="l" indent="0" marL="0">
              <a:lnSpc>
                <a:spcPct val="135000"/>
              </a:lnSpc>
              <a:buNone/>
            </a:pPr>
            <a:r>
              <a:rPr lang="en-US" sz="1900" dirty="0">
                <a:solidFill>
                  <a:srgbClr val="A9B6D6"/>
                </a:solidFill>
                <a:latin typeface="Calibri" pitchFamily="34" charset="0"/>
                <a:ea typeface="Calibri" pitchFamily="34" charset="-122"/>
                <a:cs typeface="Calibri" pitchFamily="34" charset="-120"/>
              </a:rPr>
              <a:t>menit untuk merampungkan profilmu dan membuatnya jadi milikmu.</a:t>
            </a:r>
            <a:endParaRPr lang="en-US" sz="1900" dirty="0"/>
          </a:p>
        </p:txBody>
      </p:sp>
      <p:sp>
        <p:nvSpPr>
          <p:cNvPr id="9" name="Shape 7"/>
          <p:cNvSpPr/>
          <p:nvPr/>
        </p:nvSpPr>
        <p:spPr>
          <a:xfrm>
            <a:off x="6675120" y="1188720"/>
            <a:ext cx="4754880" cy="4846320"/>
          </a:xfrm>
          <a:prstGeom prst="roundRect">
            <a:avLst>
              <a:gd name="adj" fmla="val 3846"/>
            </a:avLst>
          </a:prstGeom>
          <a:solidFill>
            <a:srgbClr val="17285A"/>
          </a:solidFill>
          <a:ln w="12700">
            <a:solidFill>
              <a:srgbClr val="2A3C6E"/>
            </a:solidFill>
            <a:prstDash val="solid"/>
          </a:ln>
        </p:spPr>
      </p:sp>
      <p:sp>
        <p:nvSpPr>
          <p:cNvPr id="10" name="Text 8"/>
          <p:cNvSpPr txBox="1"/>
          <p:nvPr/>
        </p:nvSpPr>
        <p:spPr>
          <a:xfrm>
            <a:off x="7040880" y="1463040"/>
            <a:ext cx="4114800" cy="457200"/>
          </a:xfrm>
          <a:prstGeom prst="rect">
            <a:avLst/>
          </a:prstGeom>
          <a:noFill/>
          <a:ln/>
        </p:spPr>
        <p:txBody>
          <a:bodyPr wrap="square" lIns="0" tIns="0" rIns="0" bIns="0" rtlCol="0" anchor="t"/>
          <a:lstStyle/>
          <a:p>
            <a:pPr algn="l" indent="0" marL="0">
              <a:lnSpc>
                <a:spcPct val="115000"/>
              </a:lnSpc>
              <a:buNone/>
            </a:pPr>
            <a:r>
              <a:rPr lang="en-US" sz="2200" b="1" dirty="0">
                <a:solidFill>
                  <a:srgbClr val="FFFFFF"/>
                </a:solidFill>
                <a:latin typeface="Calibri" pitchFamily="34" charset="0"/>
                <a:ea typeface="Calibri" pitchFamily="34" charset="-122"/>
                <a:cs typeface="Calibri" pitchFamily="34" charset="-120"/>
              </a:rPr>
              <a:t>Rubrik mandiri</a:t>
            </a:r>
            <a:endParaRPr lang="en-US" sz="2200" dirty="0"/>
          </a:p>
        </p:txBody>
      </p:sp>
      <p:sp>
        <p:nvSpPr>
          <p:cNvPr id="11" name="Shape 9"/>
          <p:cNvSpPr/>
          <p:nvPr/>
        </p:nvSpPr>
        <p:spPr>
          <a:xfrm>
            <a:off x="7040880" y="2404872"/>
            <a:ext cx="365760" cy="365760"/>
          </a:xfrm>
          <a:prstGeom prst="roundRect">
            <a:avLst>
              <a:gd name="adj" fmla="val 22000"/>
            </a:avLst>
          </a:prstGeom>
          <a:ln w="22225">
            <a:solidFill>
              <a:srgbClr val="FFC83D"/>
            </a:solidFill>
            <a:prstDash val="solid"/>
          </a:ln>
        </p:spPr>
      </p:sp>
      <p:sp>
        <p:nvSpPr>
          <p:cNvPr id="12" name="Text 10"/>
          <p:cNvSpPr txBox="1"/>
          <p:nvPr/>
        </p:nvSpPr>
        <p:spPr>
          <a:xfrm>
            <a:off x="7635240" y="2331720"/>
            <a:ext cx="3566160" cy="548640"/>
          </a:xfrm>
          <a:prstGeom prst="rect">
            <a:avLst/>
          </a:prstGeom>
          <a:noFill/>
          <a:ln/>
        </p:spPr>
        <p:txBody>
          <a:bodyPr wrap="square" lIns="0" tIns="0" rIns="0" bIns="0" rtlCol="0" anchor="ctr"/>
          <a:lstStyle/>
          <a:p>
            <a:pPr algn="l" indent="0" marL="0">
              <a:lnSpc>
                <a:spcPct val="125000"/>
              </a:lnSpc>
              <a:buNone/>
            </a:pPr>
            <a:r>
              <a:rPr lang="en-US" sz="1800" dirty="0">
                <a:solidFill>
                  <a:srgbClr val="FFFFFF"/>
                </a:solidFill>
                <a:latin typeface="Calibri" pitchFamily="34" charset="0"/>
                <a:ea typeface="Calibri" pitchFamily="34" charset="-122"/>
                <a:cs typeface="Calibri" pitchFamily="34" charset="-120"/>
              </a:rPr>
              <a:t>Struktur lengkap (7 bagian)</a:t>
            </a:r>
            <a:endParaRPr lang="en-US" sz="1800" dirty="0"/>
          </a:p>
        </p:txBody>
      </p:sp>
      <p:sp>
        <p:nvSpPr>
          <p:cNvPr id="13" name="Shape 11"/>
          <p:cNvSpPr/>
          <p:nvPr/>
        </p:nvSpPr>
        <p:spPr>
          <a:xfrm>
            <a:off x="7040880" y="3273552"/>
            <a:ext cx="365760" cy="365760"/>
          </a:xfrm>
          <a:prstGeom prst="roundRect">
            <a:avLst>
              <a:gd name="adj" fmla="val 22000"/>
            </a:avLst>
          </a:prstGeom>
          <a:ln w="22225">
            <a:solidFill>
              <a:srgbClr val="FFC83D"/>
            </a:solidFill>
            <a:prstDash val="solid"/>
          </a:ln>
        </p:spPr>
      </p:sp>
      <p:sp>
        <p:nvSpPr>
          <p:cNvPr id="14" name="Text 12"/>
          <p:cNvSpPr txBox="1"/>
          <p:nvPr/>
        </p:nvSpPr>
        <p:spPr>
          <a:xfrm>
            <a:off x="7635240" y="3200400"/>
            <a:ext cx="3566160" cy="548640"/>
          </a:xfrm>
          <a:prstGeom prst="rect">
            <a:avLst/>
          </a:prstGeom>
          <a:noFill/>
          <a:ln/>
        </p:spPr>
        <p:txBody>
          <a:bodyPr wrap="square" lIns="0" tIns="0" rIns="0" bIns="0" rtlCol="0" anchor="ctr"/>
          <a:lstStyle/>
          <a:p>
            <a:pPr algn="l" indent="0" marL="0">
              <a:lnSpc>
                <a:spcPct val="125000"/>
              </a:lnSpc>
              <a:buNone/>
            </a:pPr>
            <a:r>
              <a:rPr lang="en-US" sz="1800" dirty="0">
                <a:solidFill>
                  <a:srgbClr val="FFFFFF"/>
                </a:solidFill>
                <a:latin typeface="Calibri" pitchFamily="34" charset="0"/>
                <a:ea typeface="Calibri" pitchFamily="34" charset="-122"/>
                <a:cs typeface="Calibri" pitchFamily="34" charset="-120"/>
              </a:rPr>
              <a:t>Tampilan konsisten: warna dan font</a:t>
            </a:r>
            <a:endParaRPr lang="en-US" sz="1800" dirty="0"/>
          </a:p>
        </p:txBody>
      </p:sp>
      <p:sp>
        <p:nvSpPr>
          <p:cNvPr id="15" name="Shape 13"/>
          <p:cNvSpPr/>
          <p:nvPr/>
        </p:nvSpPr>
        <p:spPr>
          <a:xfrm>
            <a:off x="7040880" y="4142232"/>
            <a:ext cx="365760" cy="365760"/>
          </a:xfrm>
          <a:prstGeom prst="roundRect">
            <a:avLst>
              <a:gd name="adj" fmla="val 22000"/>
            </a:avLst>
          </a:prstGeom>
          <a:ln w="22225">
            <a:solidFill>
              <a:srgbClr val="FFC83D"/>
            </a:solidFill>
            <a:prstDash val="solid"/>
          </a:ln>
        </p:spPr>
      </p:sp>
      <p:sp>
        <p:nvSpPr>
          <p:cNvPr id="16" name="Text 14"/>
          <p:cNvSpPr txBox="1"/>
          <p:nvPr/>
        </p:nvSpPr>
        <p:spPr>
          <a:xfrm>
            <a:off x="7635240" y="4069080"/>
            <a:ext cx="3566160" cy="548640"/>
          </a:xfrm>
          <a:prstGeom prst="rect">
            <a:avLst/>
          </a:prstGeom>
          <a:noFill/>
          <a:ln/>
        </p:spPr>
        <p:txBody>
          <a:bodyPr wrap="square" lIns="0" tIns="0" rIns="0" bIns="0" rtlCol="0" anchor="ctr"/>
          <a:lstStyle/>
          <a:p>
            <a:pPr algn="l" indent="0" marL="0">
              <a:lnSpc>
                <a:spcPct val="125000"/>
              </a:lnSpc>
              <a:buNone/>
            </a:pPr>
            <a:r>
              <a:rPr lang="en-US" sz="1800" dirty="0">
                <a:solidFill>
                  <a:srgbClr val="FFFFFF"/>
                </a:solidFill>
                <a:latin typeface="Calibri" pitchFamily="34" charset="0"/>
                <a:ea typeface="Calibri" pitchFamily="34" charset="-122"/>
                <a:cs typeface="Calibri" pitchFamily="34" charset="-120"/>
              </a:rPr>
              <a:t>Rapi di layar HP</a:t>
            </a:r>
            <a:endParaRPr lang="en-US" sz="1800" dirty="0"/>
          </a:p>
        </p:txBody>
      </p:sp>
      <p:sp>
        <p:nvSpPr>
          <p:cNvPr id="17" name="Shape 15"/>
          <p:cNvSpPr/>
          <p:nvPr/>
        </p:nvSpPr>
        <p:spPr>
          <a:xfrm>
            <a:off x="7040880" y="5010912"/>
            <a:ext cx="365760" cy="365760"/>
          </a:xfrm>
          <a:prstGeom prst="roundRect">
            <a:avLst>
              <a:gd name="adj" fmla="val 22000"/>
            </a:avLst>
          </a:prstGeom>
          <a:ln w="22225">
            <a:solidFill>
              <a:srgbClr val="FFC83D"/>
            </a:solidFill>
            <a:prstDash val="solid"/>
          </a:ln>
        </p:spPr>
      </p:sp>
      <p:sp>
        <p:nvSpPr>
          <p:cNvPr id="18" name="Text 16"/>
          <p:cNvSpPr txBox="1"/>
          <p:nvPr/>
        </p:nvSpPr>
        <p:spPr>
          <a:xfrm>
            <a:off x="7635240" y="4937760"/>
            <a:ext cx="3566160" cy="548640"/>
          </a:xfrm>
          <a:prstGeom prst="rect">
            <a:avLst/>
          </a:prstGeom>
          <a:noFill/>
          <a:ln/>
        </p:spPr>
        <p:txBody>
          <a:bodyPr wrap="square" lIns="0" tIns="0" rIns="0" bIns="0" rtlCol="0" anchor="ctr"/>
          <a:lstStyle/>
          <a:p>
            <a:pPr algn="l" indent="0" marL="0">
              <a:lnSpc>
                <a:spcPct val="125000"/>
              </a:lnSpc>
              <a:buNone/>
            </a:pPr>
            <a:r>
              <a:rPr lang="en-US" sz="1800" dirty="0">
                <a:solidFill>
                  <a:srgbClr val="FFFFFF"/>
                </a:solidFill>
                <a:latin typeface="Calibri" pitchFamily="34" charset="0"/>
                <a:ea typeface="Calibri" pitchFamily="34" charset="-122"/>
                <a:cs typeface="Calibri" pitchFamily="34" charset="-120"/>
              </a:rPr>
              <a:t>Ada fotomu dan identitasmu</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30</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04 · PROYEK &amp; PUBLISH</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Dari komputermu ke dunia</a:t>
            </a:r>
            <a:endParaRPr lang="en-US" sz="3800" dirty="0"/>
          </a:p>
        </p:txBody>
      </p:sp>
      <p:sp>
        <p:nvSpPr>
          <p:cNvPr id="6" name="Shape 4"/>
          <p:cNvSpPr/>
          <p:nvPr/>
        </p:nvSpPr>
        <p:spPr>
          <a:xfrm>
            <a:off x="731520" y="1828800"/>
            <a:ext cx="502920" cy="502920"/>
          </a:xfrm>
          <a:prstGeom prst="ellipse">
            <a:avLst/>
          </a:prstGeom>
          <a:solidFill>
            <a:srgbClr val="FFC83D"/>
          </a:solidFill>
          <a:ln/>
        </p:spPr>
      </p:sp>
      <p:sp>
        <p:nvSpPr>
          <p:cNvPr id="7" name="Text 5"/>
          <p:cNvSpPr txBox="1"/>
          <p:nvPr/>
        </p:nvSpPr>
        <p:spPr>
          <a:xfrm>
            <a:off x="731520" y="1828800"/>
            <a:ext cx="502920" cy="502920"/>
          </a:xfrm>
          <a:prstGeom prst="rect">
            <a:avLst/>
          </a:prstGeom>
          <a:noFill/>
          <a:ln/>
        </p:spPr>
        <p:txBody>
          <a:bodyPr wrap="square" lIns="0" tIns="0" rIns="0" bIns="0" rtlCol="0" anchor="ctr"/>
          <a:lstStyle/>
          <a:p>
            <a:pPr algn="ctr" indent="0" marL="0">
              <a:lnSpc>
                <a:spcPct val="115000"/>
              </a:lnSpc>
              <a:buNone/>
            </a:pPr>
            <a:r>
              <a:rPr lang="en-US" sz="1800" b="1" dirty="0">
                <a:solidFill>
                  <a:srgbClr val="0E1B3D"/>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1463040" y="1783080"/>
            <a:ext cx="5394960" cy="594360"/>
          </a:xfrm>
          <a:prstGeom prst="rect">
            <a:avLst/>
          </a:prstGeom>
          <a:noFill/>
          <a:ln/>
        </p:spPr>
        <p:txBody>
          <a:bodyPr wrap="square" lIns="0" tIns="0" rIns="0" bIns="0" rtlCol="0" anchor="ctr"/>
          <a:lstStyle/>
          <a:p>
            <a:pPr algn="l" indent="0" marL="0">
              <a:lnSpc>
                <a:spcPct val="125000"/>
              </a:lnSpc>
              <a:buNone/>
            </a:pPr>
            <a:r>
              <a:rPr lang="en-US" sz="1900" dirty="0">
                <a:solidFill>
                  <a:srgbClr val="0E1B3D"/>
                </a:solidFill>
                <a:latin typeface="Calibri" pitchFamily="34" charset="0"/>
                <a:ea typeface="Calibri" pitchFamily="34" charset="-122"/>
                <a:cs typeface="Calibri" pitchFamily="34" charset="-120"/>
              </a:rPr>
              <a:t>Buka netlify.com/drop di browser</a:t>
            </a:r>
            <a:endParaRPr lang="en-US" sz="1900" dirty="0"/>
          </a:p>
        </p:txBody>
      </p:sp>
      <p:sp>
        <p:nvSpPr>
          <p:cNvPr id="9" name="Shape 7"/>
          <p:cNvSpPr/>
          <p:nvPr/>
        </p:nvSpPr>
        <p:spPr>
          <a:xfrm>
            <a:off x="731520" y="2743200"/>
            <a:ext cx="502920" cy="502920"/>
          </a:xfrm>
          <a:prstGeom prst="ellipse">
            <a:avLst/>
          </a:prstGeom>
          <a:solidFill>
            <a:srgbClr val="FFC83D"/>
          </a:solidFill>
          <a:ln/>
        </p:spPr>
      </p:sp>
      <p:sp>
        <p:nvSpPr>
          <p:cNvPr id="10" name="Text 8"/>
          <p:cNvSpPr txBox="1"/>
          <p:nvPr/>
        </p:nvSpPr>
        <p:spPr>
          <a:xfrm>
            <a:off x="731520" y="2743200"/>
            <a:ext cx="502920" cy="502920"/>
          </a:xfrm>
          <a:prstGeom prst="rect">
            <a:avLst/>
          </a:prstGeom>
          <a:noFill/>
          <a:ln/>
        </p:spPr>
        <p:txBody>
          <a:bodyPr wrap="square" lIns="0" tIns="0" rIns="0" bIns="0" rtlCol="0" anchor="ctr"/>
          <a:lstStyle/>
          <a:p>
            <a:pPr algn="ctr" indent="0" marL="0">
              <a:lnSpc>
                <a:spcPct val="115000"/>
              </a:lnSpc>
              <a:buNone/>
            </a:pPr>
            <a:r>
              <a:rPr lang="en-US" sz="1800" b="1" dirty="0">
                <a:solidFill>
                  <a:srgbClr val="0E1B3D"/>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463040" y="2697480"/>
            <a:ext cx="5394960" cy="594360"/>
          </a:xfrm>
          <a:prstGeom prst="rect">
            <a:avLst/>
          </a:prstGeom>
          <a:noFill/>
          <a:ln/>
        </p:spPr>
        <p:txBody>
          <a:bodyPr wrap="square" lIns="0" tIns="0" rIns="0" bIns="0" rtlCol="0" anchor="ctr"/>
          <a:lstStyle/>
          <a:p>
            <a:pPr algn="l" indent="0" marL="0">
              <a:lnSpc>
                <a:spcPct val="125000"/>
              </a:lnSpc>
              <a:buNone/>
            </a:pPr>
            <a:r>
              <a:rPr lang="en-US" sz="1900" dirty="0">
                <a:solidFill>
                  <a:srgbClr val="0E1B3D"/>
                </a:solidFill>
                <a:latin typeface="Calibri" pitchFamily="34" charset="0"/>
                <a:ea typeface="Calibri" pitchFamily="34" charset="-122"/>
                <a:cs typeface="Calibri" pitchFamily="34" charset="-120"/>
              </a:rPr>
              <a:t>Seret folder portfolio ke halaman itu</a:t>
            </a:r>
            <a:endParaRPr lang="en-US" sz="1900" dirty="0"/>
          </a:p>
        </p:txBody>
      </p:sp>
      <p:sp>
        <p:nvSpPr>
          <p:cNvPr id="12" name="Shape 10"/>
          <p:cNvSpPr/>
          <p:nvPr/>
        </p:nvSpPr>
        <p:spPr>
          <a:xfrm>
            <a:off x="731520" y="3657600"/>
            <a:ext cx="502920" cy="502920"/>
          </a:xfrm>
          <a:prstGeom prst="ellipse">
            <a:avLst/>
          </a:prstGeom>
          <a:solidFill>
            <a:srgbClr val="FFC83D"/>
          </a:solidFill>
          <a:ln/>
        </p:spPr>
      </p:sp>
      <p:sp>
        <p:nvSpPr>
          <p:cNvPr id="13" name="Text 11"/>
          <p:cNvSpPr txBox="1"/>
          <p:nvPr/>
        </p:nvSpPr>
        <p:spPr>
          <a:xfrm>
            <a:off x="731520" y="3657600"/>
            <a:ext cx="502920" cy="502920"/>
          </a:xfrm>
          <a:prstGeom prst="rect">
            <a:avLst/>
          </a:prstGeom>
          <a:noFill/>
          <a:ln/>
        </p:spPr>
        <p:txBody>
          <a:bodyPr wrap="square" lIns="0" tIns="0" rIns="0" bIns="0" rtlCol="0" anchor="ctr"/>
          <a:lstStyle/>
          <a:p>
            <a:pPr algn="ctr" indent="0" marL="0">
              <a:lnSpc>
                <a:spcPct val="115000"/>
              </a:lnSpc>
              <a:buNone/>
            </a:pPr>
            <a:r>
              <a:rPr lang="en-US" sz="1800" b="1" dirty="0">
                <a:solidFill>
                  <a:srgbClr val="0E1B3D"/>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1463040" y="3611880"/>
            <a:ext cx="5394960" cy="594360"/>
          </a:xfrm>
          <a:prstGeom prst="rect">
            <a:avLst/>
          </a:prstGeom>
          <a:noFill/>
          <a:ln/>
        </p:spPr>
        <p:txBody>
          <a:bodyPr wrap="square" lIns="0" tIns="0" rIns="0" bIns="0" rtlCol="0" anchor="ctr"/>
          <a:lstStyle/>
          <a:p>
            <a:pPr algn="l" indent="0" marL="0">
              <a:lnSpc>
                <a:spcPct val="125000"/>
              </a:lnSpc>
              <a:buNone/>
            </a:pPr>
            <a:r>
              <a:rPr lang="en-US" sz="1900" dirty="0">
                <a:solidFill>
                  <a:srgbClr val="0E1B3D"/>
                </a:solidFill>
                <a:latin typeface="Calibri" pitchFamily="34" charset="0"/>
                <a:ea typeface="Calibri" pitchFamily="34" charset="-122"/>
                <a:cs typeface="Calibri" pitchFamily="34" charset="-120"/>
              </a:rPr>
              <a:t>Klaim situs (akun gratis) agar link tidak kedaluwarsa</a:t>
            </a:r>
            <a:endParaRPr lang="en-US" sz="1900" dirty="0"/>
          </a:p>
        </p:txBody>
      </p:sp>
      <p:sp>
        <p:nvSpPr>
          <p:cNvPr id="15" name="Shape 13"/>
          <p:cNvSpPr/>
          <p:nvPr/>
        </p:nvSpPr>
        <p:spPr>
          <a:xfrm>
            <a:off x="731520" y="4617720"/>
            <a:ext cx="3657600" cy="347472"/>
          </a:xfrm>
          <a:prstGeom prst="roundRect">
            <a:avLst>
              <a:gd name="adj" fmla="val 50000"/>
            </a:avLst>
          </a:prstGeom>
          <a:solidFill>
            <a:srgbClr val="DCE6FF"/>
          </a:solidFill>
          <a:ln/>
        </p:spPr>
      </p:sp>
      <p:sp>
        <p:nvSpPr>
          <p:cNvPr id="16" name="Text 14"/>
          <p:cNvSpPr txBox="1"/>
          <p:nvPr/>
        </p:nvSpPr>
        <p:spPr>
          <a:xfrm>
            <a:off x="731520" y="4617720"/>
            <a:ext cx="3657600" cy="347472"/>
          </a:xfrm>
          <a:prstGeom prst="rect">
            <a:avLst/>
          </a:prstGeom>
          <a:noFill/>
          <a:ln/>
        </p:spPr>
        <p:txBody>
          <a:bodyPr wrap="square" lIns="0" tIns="0" rIns="0" bIns="0" rtlCol="0" anchor="ctr"/>
          <a:lstStyle/>
          <a:p>
            <a:pPr algn="ctr" indent="0" marL="0">
              <a:lnSpc>
                <a:spcPct val="115000"/>
              </a:lnSpc>
              <a:buNone/>
            </a:pPr>
            <a:r>
              <a:rPr lang="en-US" sz="1300" b="1" spc="50" kern="0" dirty="0">
                <a:solidFill>
                  <a:srgbClr val="1F4FD8"/>
                </a:solidFill>
                <a:latin typeface="Calibri" pitchFamily="34" charset="0"/>
                <a:ea typeface="Calibri" pitchFamily="34" charset="-122"/>
                <a:cs typeface="Calibri" pitchFamily="34" charset="-120"/>
              </a:rPr>
              <a:t>Alternatif: GitHub Pages</a:t>
            </a:r>
            <a:endParaRPr lang="en-US" sz="1300" dirty="0"/>
          </a:p>
        </p:txBody>
      </p:sp>
      <p:sp>
        <p:nvSpPr>
          <p:cNvPr id="17" name="Shape 15"/>
          <p:cNvSpPr/>
          <p:nvPr/>
        </p:nvSpPr>
        <p:spPr>
          <a:xfrm>
            <a:off x="731520" y="5212080"/>
            <a:ext cx="5943600" cy="868680"/>
          </a:xfrm>
          <a:prstGeom prst="roundRect">
            <a:avLst>
              <a:gd name="adj" fmla="val 14737"/>
            </a:avLst>
          </a:prstGeom>
          <a:solidFill>
            <a:srgbClr val="FFF3CF"/>
          </a:solidFill>
          <a:ln/>
        </p:spPr>
      </p:sp>
      <p:sp>
        <p:nvSpPr>
          <p:cNvPr id="18" name="Text 16"/>
          <p:cNvSpPr txBox="1"/>
          <p:nvPr/>
        </p:nvSpPr>
        <p:spPr>
          <a:xfrm>
            <a:off x="960120" y="5212080"/>
            <a:ext cx="5486400" cy="868680"/>
          </a:xfrm>
          <a:prstGeom prst="rect">
            <a:avLst/>
          </a:prstGeom>
          <a:noFill/>
          <a:ln/>
        </p:spPr>
        <p:txBody>
          <a:bodyPr wrap="square" lIns="0" tIns="0" rIns="0" bIns="0" rtlCol="0" anchor="ctr"/>
          <a:lstStyle/>
          <a:p>
            <a:pPr algn="l" indent="0" marL="0">
              <a:lnSpc>
                <a:spcPct val="135000"/>
              </a:lnSpc>
              <a:buNone/>
            </a:pPr>
            <a:r>
              <a:rPr lang="en-US" sz="1500" dirty="0">
                <a:solidFill>
                  <a:srgbClr val="0E1B3D"/>
                </a:solidFill>
                <a:latin typeface="Calibri" pitchFamily="34" charset="0"/>
                <a:ea typeface="Calibri" pitchFamily="34" charset="-122"/>
                <a:cs typeface="Calibri" pitchFamily="34" charset="-120"/>
              </a:rPr>
              <a:t>Internet bermasalah? Tidak apa-apa. Tunjukkan hasil lokal sekarang, tayangkan di rumah.</a:t>
            </a:r>
            <a:endParaRPr lang="en-US" sz="1500" dirty="0"/>
          </a:p>
        </p:txBody>
      </p:sp>
      <p:sp>
        <p:nvSpPr>
          <p:cNvPr id="19" name="Shape 17"/>
          <p:cNvSpPr/>
          <p:nvPr/>
        </p:nvSpPr>
        <p:spPr>
          <a:xfrm>
            <a:off x="7315200" y="1783080"/>
            <a:ext cx="4114800" cy="3108960"/>
          </a:xfrm>
          <a:prstGeom prst="roundRect">
            <a:avLst>
              <a:gd name="adj" fmla="val 4706"/>
            </a:avLst>
          </a:prstGeom>
          <a:solidFill>
            <a:srgbClr val="FFFFFF"/>
          </a:solidFill>
          <a:ln w="15875">
            <a:solidFill>
              <a:srgbClr val="D5DAE6"/>
            </a:solidFill>
            <a:prstDash val="solid"/>
          </a:ln>
          <a:effectLst>
            <a:outerShdw sx="100000" sy="100000" kx="0" ky="0" algn="bl" rotWithShape="0" blurRad="177800" dist="38100" dir="5400000">
              <a:srgbClr val="7A8299">
                <a:alpha val="18000"/>
              </a:srgbClr>
            </a:outerShdw>
          </a:effectLst>
        </p:spPr>
      </p:sp>
      <p:sp>
        <p:nvSpPr>
          <p:cNvPr id="20" name="Shape 18"/>
          <p:cNvSpPr/>
          <p:nvPr/>
        </p:nvSpPr>
        <p:spPr>
          <a:xfrm>
            <a:off x="7333488" y="1801368"/>
            <a:ext cx="4078224" cy="384048"/>
          </a:xfrm>
          <a:prstGeom prst="roundRect">
            <a:avLst>
              <a:gd name="adj" fmla="val 33333"/>
            </a:avLst>
          </a:prstGeom>
          <a:solidFill>
            <a:srgbClr val="EEF1F7"/>
          </a:solidFill>
          <a:ln/>
        </p:spPr>
      </p:sp>
      <p:sp>
        <p:nvSpPr>
          <p:cNvPr id="21" name="Shape 19"/>
          <p:cNvSpPr/>
          <p:nvPr/>
        </p:nvSpPr>
        <p:spPr>
          <a:xfrm>
            <a:off x="7333488" y="1984248"/>
            <a:ext cx="4078224" cy="201168"/>
          </a:xfrm>
          <a:prstGeom prst="rect">
            <a:avLst/>
          </a:prstGeom>
          <a:solidFill>
            <a:srgbClr val="EEF1F7"/>
          </a:solidFill>
          <a:ln/>
        </p:spPr>
      </p:sp>
      <p:sp>
        <p:nvSpPr>
          <p:cNvPr id="22" name="Shape 20"/>
          <p:cNvSpPr/>
          <p:nvPr/>
        </p:nvSpPr>
        <p:spPr>
          <a:xfrm>
            <a:off x="7498080" y="1920240"/>
            <a:ext cx="100584" cy="100584"/>
          </a:xfrm>
          <a:prstGeom prst="ellipse">
            <a:avLst/>
          </a:prstGeom>
          <a:solidFill>
            <a:srgbClr val="E63946"/>
          </a:solidFill>
          <a:ln/>
        </p:spPr>
      </p:sp>
      <p:sp>
        <p:nvSpPr>
          <p:cNvPr id="23" name="Shape 21"/>
          <p:cNvSpPr/>
          <p:nvPr/>
        </p:nvSpPr>
        <p:spPr>
          <a:xfrm>
            <a:off x="7671816" y="1920240"/>
            <a:ext cx="100584" cy="100584"/>
          </a:xfrm>
          <a:prstGeom prst="ellipse">
            <a:avLst/>
          </a:prstGeom>
          <a:solidFill>
            <a:srgbClr val="FFC83D"/>
          </a:solidFill>
          <a:ln/>
        </p:spPr>
      </p:sp>
      <p:sp>
        <p:nvSpPr>
          <p:cNvPr id="24" name="Shape 22"/>
          <p:cNvSpPr/>
          <p:nvPr/>
        </p:nvSpPr>
        <p:spPr>
          <a:xfrm>
            <a:off x="7845552" y="1920240"/>
            <a:ext cx="100584" cy="100584"/>
          </a:xfrm>
          <a:prstGeom prst="ellipse">
            <a:avLst/>
          </a:prstGeom>
          <a:solidFill>
            <a:srgbClr val="1E9E68"/>
          </a:solidFill>
          <a:ln/>
        </p:spPr>
      </p:sp>
      <p:sp>
        <p:nvSpPr>
          <p:cNvPr id="25" name="Shape 23"/>
          <p:cNvSpPr/>
          <p:nvPr/>
        </p:nvSpPr>
        <p:spPr>
          <a:xfrm>
            <a:off x="8183880" y="1865376"/>
            <a:ext cx="3017520" cy="237744"/>
          </a:xfrm>
          <a:prstGeom prst="roundRect">
            <a:avLst>
              <a:gd name="adj" fmla="val 50000"/>
            </a:avLst>
          </a:prstGeom>
          <a:solidFill>
            <a:srgbClr val="FFFFFF"/>
          </a:solidFill>
          <a:ln/>
        </p:spPr>
      </p:sp>
      <p:sp>
        <p:nvSpPr>
          <p:cNvPr id="26" name="Text 24"/>
          <p:cNvSpPr txBox="1"/>
          <p:nvPr/>
        </p:nvSpPr>
        <p:spPr>
          <a:xfrm>
            <a:off x="8321040" y="1865376"/>
            <a:ext cx="27432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Calibri" pitchFamily="34" charset="0"/>
                <a:ea typeface="Calibri" pitchFamily="34" charset="-122"/>
                <a:cs typeface="Calibri" pitchFamily="34" charset="-120"/>
              </a:rPr>
              <a:t>alya-putri.netlify.app</a:t>
            </a:r>
            <a:endParaRPr lang="en-US" sz="1100" dirty="0"/>
          </a:p>
        </p:txBody>
      </p:sp>
      <p:sp>
        <p:nvSpPr>
          <p:cNvPr id="27" name="Shape 25"/>
          <p:cNvSpPr/>
          <p:nvPr/>
        </p:nvSpPr>
        <p:spPr>
          <a:xfrm>
            <a:off x="7333488" y="2185416"/>
            <a:ext cx="4078224" cy="2670048"/>
          </a:xfrm>
          <a:prstGeom prst="rect">
            <a:avLst/>
          </a:prstGeom>
          <a:solidFill>
            <a:srgbClr val="FAF8F4"/>
          </a:solidFill>
          <a:ln/>
        </p:spPr>
      </p:sp>
      <p:sp>
        <p:nvSpPr>
          <p:cNvPr id="28" name="Shape 26"/>
          <p:cNvSpPr/>
          <p:nvPr/>
        </p:nvSpPr>
        <p:spPr>
          <a:xfrm>
            <a:off x="7333488" y="2185416"/>
            <a:ext cx="4078224" cy="971550"/>
          </a:xfrm>
          <a:prstGeom prst="rect">
            <a:avLst/>
          </a:prstGeom>
          <a:solidFill>
            <a:srgbClr val="0E1B3D"/>
          </a:solidFill>
          <a:ln/>
        </p:spPr>
      </p:sp>
      <p:sp>
        <p:nvSpPr>
          <p:cNvPr id="29" name="Text 27"/>
          <p:cNvSpPr txBox="1"/>
          <p:nvPr/>
        </p:nvSpPr>
        <p:spPr>
          <a:xfrm>
            <a:off x="7566660" y="2340864"/>
            <a:ext cx="3611880" cy="349758"/>
          </a:xfrm>
          <a:prstGeom prst="rect">
            <a:avLst/>
          </a:prstGeom>
          <a:noFill/>
          <a:ln/>
        </p:spPr>
        <p:txBody>
          <a:bodyPr wrap="square" lIns="0" tIns="0" rIns="0" bIns="0" rtlCol="0" anchor="t"/>
          <a:lstStyle/>
          <a:p>
            <a:pPr algn="l" indent="0" marL="0">
              <a:lnSpc>
                <a:spcPct val="115000"/>
              </a:lnSpc>
              <a:buNone/>
            </a:pPr>
            <a:r>
              <a:rPr lang="en-US" sz="2040" b="1" dirty="0">
                <a:solidFill>
                  <a:srgbClr val="FFFFFF"/>
                </a:solidFill>
                <a:latin typeface="Calibri" pitchFamily="34" charset="0"/>
                <a:ea typeface="Calibri" pitchFamily="34" charset="-122"/>
                <a:cs typeface="Calibri" pitchFamily="34" charset="-120"/>
              </a:rPr>
              <a:t>Alya Putri</a:t>
            </a:r>
            <a:endParaRPr lang="en-US" sz="2040" dirty="0"/>
          </a:p>
        </p:txBody>
      </p:sp>
      <p:sp>
        <p:nvSpPr>
          <p:cNvPr id="30" name="Text 28"/>
          <p:cNvSpPr txBox="1"/>
          <p:nvPr/>
        </p:nvSpPr>
        <p:spPr>
          <a:xfrm>
            <a:off x="7566660" y="2667305"/>
            <a:ext cx="3611880" cy="194310"/>
          </a:xfrm>
          <a:prstGeom prst="rect">
            <a:avLst/>
          </a:prstGeom>
          <a:noFill/>
          <a:ln/>
        </p:spPr>
        <p:txBody>
          <a:bodyPr wrap="square" lIns="0" tIns="0" rIns="0" bIns="0" rtlCol="0" anchor="t"/>
          <a:lstStyle/>
          <a:p>
            <a:pPr algn="l" indent="0" marL="0">
              <a:lnSpc>
                <a:spcPct val="115000"/>
              </a:lnSpc>
              <a:buNone/>
            </a:pPr>
            <a:r>
              <a:rPr lang="en-US" sz="1020" dirty="0">
                <a:solidFill>
                  <a:srgbClr val="FFC83D"/>
                </a:solidFill>
                <a:latin typeface="Calibri" pitchFamily="34" charset="0"/>
                <a:ea typeface="Calibri" pitchFamily="34" charset="-122"/>
                <a:cs typeface="Calibri" pitchFamily="34" charset="-120"/>
              </a:rPr>
              <a:t>Siswa SMA · Calon Web Developer</a:t>
            </a:r>
            <a:endParaRPr lang="en-US" sz="1020" dirty="0"/>
          </a:p>
        </p:txBody>
      </p:sp>
      <p:sp>
        <p:nvSpPr>
          <p:cNvPr id="31" name="Shape 29"/>
          <p:cNvSpPr/>
          <p:nvPr/>
        </p:nvSpPr>
        <p:spPr>
          <a:xfrm>
            <a:off x="7566660" y="2908249"/>
            <a:ext cx="660654" cy="186538"/>
          </a:xfrm>
          <a:prstGeom prst="roundRect">
            <a:avLst>
              <a:gd name="adj" fmla="val 50000"/>
            </a:avLst>
          </a:prstGeom>
          <a:solidFill>
            <a:srgbClr val="17285A"/>
          </a:solidFill>
          <a:ln/>
        </p:spPr>
      </p:sp>
      <p:sp>
        <p:nvSpPr>
          <p:cNvPr id="32" name="Text 30"/>
          <p:cNvSpPr txBox="1"/>
          <p:nvPr/>
        </p:nvSpPr>
        <p:spPr>
          <a:xfrm>
            <a:off x="7566660" y="2908249"/>
            <a:ext cx="660654" cy="186538"/>
          </a:xfrm>
          <a:prstGeom prst="rect">
            <a:avLst/>
          </a:prstGeom>
          <a:noFill/>
          <a:ln/>
        </p:spPr>
        <p:txBody>
          <a:bodyPr wrap="square" lIns="0" tIns="0" rIns="0" bIns="0" rtlCol="0" anchor="ctr"/>
          <a:lstStyle/>
          <a:p>
            <a:pPr algn="ctr" indent="0" marL="0">
              <a:lnSpc>
                <a:spcPct val="115000"/>
              </a:lnSpc>
              <a:buNone/>
            </a:pPr>
            <a:r>
              <a:rPr lang="en-US" sz="850" b="1" dirty="0">
                <a:solidFill>
                  <a:srgbClr val="F4F6FB"/>
                </a:solidFill>
                <a:latin typeface="Calibri" pitchFamily="34" charset="0"/>
                <a:ea typeface="Calibri" pitchFamily="34" charset="-122"/>
                <a:cs typeface="Calibri" pitchFamily="34" charset="-120"/>
              </a:rPr>
              <a:t>Tentang</a:t>
            </a:r>
            <a:endParaRPr lang="en-US" sz="850" dirty="0"/>
          </a:p>
        </p:txBody>
      </p:sp>
      <p:sp>
        <p:nvSpPr>
          <p:cNvPr id="33" name="Shape 31"/>
          <p:cNvSpPr/>
          <p:nvPr/>
        </p:nvSpPr>
        <p:spPr>
          <a:xfrm>
            <a:off x="8305038" y="2908249"/>
            <a:ext cx="660654" cy="186538"/>
          </a:xfrm>
          <a:prstGeom prst="roundRect">
            <a:avLst>
              <a:gd name="adj" fmla="val 50000"/>
            </a:avLst>
          </a:prstGeom>
          <a:solidFill>
            <a:srgbClr val="17285A"/>
          </a:solidFill>
          <a:ln/>
        </p:spPr>
      </p:sp>
      <p:sp>
        <p:nvSpPr>
          <p:cNvPr id="34" name="Text 32"/>
          <p:cNvSpPr txBox="1"/>
          <p:nvPr/>
        </p:nvSpPr>
        <p:spPr>
          <a:xfrm>
            <a:off x="8305038" y="2908249"/>
            <a:ext cx="660654" cy="186538"/>
          </a:xfrm>
          <a:prstGeom prst="rect">
            <a:avLst/>
          </a:prstGeom>
          <a:noFill/>
          <a:ln/>
        </p:spPr>
        <p:txBody>
          <a:bodyPr wrap="square" lIns="0" tIns="0" rIns="0" bIns="0" rtlCol="0" anchor="ctr"/>
          <a:lstStyle/>
          <a:p>
            <a:pPr algn="ctr" indent="0" marL="0">
              <a:lnSpc>
                <a:spcPct val="115000"/>
              </a:lnSpc>
              <a:buNone/>
            </a:pPr>
            <a:r>
              <a:rPr lang="en-US" sz="850" b="1" dirty="0">
                <a:solidFill>
                  <a:srgbClr val="F4F6FB"/>
                </a:solidFill>
                <a:latin typeface="Calibri" pitchFamily="34" charset="0"/>
                <a:ea typeface="Calibri" pitchFamily="34" charset="-122"/>
                <a:cs typeface="Calibri" pitchFamily="34" charset="-120"/>
              </a:rPr>
              <a:t>Skill</a:t>
            </a:r>
            <a:endParaRPr lang="en-US" sz="850" dirty="0"/>
          </a:p>
        </p:txBody>
      </p:sp>
      <p:sp>
        <p:nvSpPr>
          <p:cNvPr id="35" name="Shape 33"/>
          <p:cNvSpPr/>
          <p:nvPr/>
        </p:nvSpPr>
        <p:spPr>
          <a:xfrm>
            <a:off x="9043416" y="2908249"/>
            <a:ext cx="660654" cy="186538"/>
          </a:xfrm>
          <a:prstGeom prst="roundRect">
            <a:avLst>
              <a:gd name="adj" fmla="val 50000"/>
            </a:avLst>
          </a:prstGeom>
          <a:solidFill>
            <a:srgbClr val="17285A"/>
          </a:solidFill>
          <a:ln/>
        </p:spPr>
      </p:sp>
      <p:sp>
        <p:nvSpPr>
          <p:cNvPr id="36" name="Text 34"/>
          <p:cNvSpPr txBox="1"/>
          <p:nvPr/>
        </p:nvSpPr>
        <p:spPr>
          <a:xfrm>
            <a:off x="9043416" y="2908249"/>
            <a:ext cx="660654" cy="186538"/>
          </a:xfrm>
          <a:prstGeom prst="rect">
            <a:avLst/>
          </a:prstGeom>
          <a:noFill/>
          <a:ln/>
        </p:spPr>
        <p:txBody>
          <a:bodyPr wrap="square" lIns="0" tIns="0" rIns="0" bIns="0" rtlCol="0" anchor="ctr"/>
          <a:lstStyle/>
          <a:p>
            <a:pPr algn="ctr" indent="0" marL="0">
              <a:lnSpc>
                <a:spcPct val="115000"/>
              </a:lnSpc>
              <a:buNone/>
            </a:pPr>
            <a:r>
              <a:rPr lang="en-US" sz="850" b="1" dirty="0">
                <a:solidFill>
                  <a:srgbClr val="F4F6FB"/>
                </a:solidFill>
                <a:latin typeface="Calibri" pitchFamily="34" charset="0"/>
                <a:ea typeface="Calibri" pitchFamily="34" charset="-122"/>
                <a:cs typeface="Calibri" pitchFamily="34" charset="-120"/>
              </a:rPr>
              <a:t>Project</a:t>
            </a:r>
            <a:endParaRPr lang="en-US" sz="850" dirty="0"/>
          </a:p>
        </p:txBody>
      </p:sp>
      <p:sp>
        <p:nvSpPr>
          <p:cNvPr id="37" name="Shape 35"/>
          <p:cNvSpPr/>
          <p:nvPr/>
        </p:nvSpPr>
        <p:spPr>
          <a:xfrm>
            <a:off x="9781794" y="2908249"/>
            <a:ext cx="660654" cy="186538"/>
          </a:xfrm>
          <a:prstGeom prst="roundRect">
            <a:avLst>
              <a:gd name="adj" fmla="val 50000"/>
            </a:avLst>
          </a:prstGeom>
          <a:solidFill>
            <a:srgbClr val="17285A"/>
          </a:solidFill>
          <a:ln/>
        </p:spPr>
      </p:sp>
      <p:sp>
        <p:nvSpPr>
          <p:cNvPr id="38" name="Text 36"/>
          <p:cNvSpPr txBox="1"/>
          <p:nvPr/>
        </p:nvSpPr>
        <p:spPr>
          <a:xfrm>
            <a:off x="9781794" y="2908249"/>
            <a:ext cx="660654" cy="186538"/>
          </a:xfrm>
          <a:prstGeom prst="rect">
            <a:avLst/>
          </a:prstGeom>
          <a:noFill/>
          <a:ln/>
        </p:spPr>
        <p:txBody>
          <a:bodyPr wrap="square" lIns="0" tIns="0" rIns="0" bIns="0" rtlCol="0" anchor="ctr"/>
          <a:lstStyle/>
          <a:p>
            <a:pPr algn="ctr" indent="0" marL="0">
              <a:lnSpc>
                <a:spcPct val="115000"/>
              </a:lnSpc>
              <a:buNone/>
            </a:pPr>
            <a:r>
              <a:rPr lang="en-US" sz="850" b="1" dirty="0">
                <a:solidFill>
                  <a:srgbClr val="F4F6FB"/>
                </a:solidFill>
                <a:latin typeface="Calibri" pitchFamily="34" charset="0"/>
                <a:ea typeface="Calibri" pitchFamily="34" charset="-122"/>
                <a:cs typeface="Calibri" pitchFamily="34" charset="-120"/>
              </a:rPr>
              <a:t>Kontak</a:t>
            </a:r>
            <a:endParaRPr lang="en-US" sz="850" dirty="0"/>
          </a:p>
        </p:txBody>
      </p:sp>
      <p:sp>
        <p:nvSpPr>
          <p:cNvPr id="39" name="Shape 37"/>
          <p:cNvSpPr/>
          <p:nvPr/>
        </p:nvSpPr>
        <p:spPr>
          <a:xfrm>
            <a:off x="7566660" y="3390138"/>
            <a:ext cx="1689354" cy="854964"/>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40" name="Text 38"/>
          <p:cNvSpPr txBox="1"/>
          <p:nvPr/>
        </p:nvSpPr>
        <p:spPr>
          <a:xfrm>
            <a:off x="7683246" y="3498952"/>
            <a:ext cx="1456182" cy="194310"/>
          </a:xfrm>
          <a:prstGeom prst="rect">
            <a:avLst/>
          </a:prstGeom>
          <a:noFill/>
          <a:ln/>
        </p:spPr>
        <p:txBody>
          <a:bodyPr wrap="square" lIns="0" tIns="0" rIns="0" bIns="0" rtlCol="0" anchor="t"/>
          <a:lstStyle/>
          <a:p>
            <a:pPr algn="l" indent="0" marL="0">
              <a:lnSpc>
                <a:spcPct val="115000"/>
              </a:lnSpc>
              <a:buNone/>
            </a:pPr>
            <a:r>
              <a:rPr lang="en-US" sz="1020" b="1" dirty="0">
                <a:solidFill>
                  <a:srgbClr val="0E1B3D"/>
                </a:solidFill>
                <a:latin typeface="Calibri" pitchFamily="34" charset="0"/>
                <a:ea typeface="Calibri" pitchFamily="34" charset="-122"/>
                <a:cs typeface="Calibri" pitchFamily="34" charset="-120"/>
              </a:rPr>
              <a:t>Profil Pribadi</a:t>
            </a:r>
            <a:endParaRPr lang="en-US" sz="1020" dirty="0"/>
          </a:p>
        </p:txBody>
      </p:sp>
      <p:sp>
        <p:nvSpPr>
          <p:cNvPr id="41" name="Shape 39"/>
          <p:cNvSpPr/>
          <p:nvPr/>
        </p:nvSpPr>
        <p:spPr>
          <a:xfrm>
            <a:off x="7683246" y="3778758"/>
            <a:ext cx="1456182" cy="54407"/>
          </a:xfrm>
          <a:prstGeom prst="rect">
            <a:avLst/>
          </a:prstGeom>
          <a:solidFill>
            <a:srgbClr val="E3DFD6"/>
          </a:solidFill>
          <a:ln/>
        </p:spPr>
      </p:sp>
      <p:sp>
        <p:nvSpPr>
          <p:cNvPr id="42" name="Shape 40"/>
          <p:cNvSpPr/>
          <p:nvPr/>
        </p:nvSpPr>
        <p:spPr>
          <a:xfrm>
            <a:off x="7683246" y="3918661"/>
            <a:ext cx="946518" cy="54407"/>
          </a:xfrm>
          <a:prstGeom prst="rect">
            <a:avLst/>
          </a:prstGeom>
          <a:solidFill>
            <a:srgbClr val="E3DFD6"/>
          </a:solidFill>
          <a:ln/>
        </p:spPr>
      </p:sp>
      <p:sp>
        <p:nvSpPr>
          <p:cNvPr id="43" name="Shape 41"/>
          <p:cNvSpPr/>
          <p:nvPr/>
        </p:nvSpPr>
        <p:spPr>
          <a:xfrm>
            <a:off x="9489186" y="3390138"/>
            <a:ext cx="1689354" cy="854964"/>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44" name="Text 42"/>
          <p:cNvSpPr txBox="1"/>
          <p:nvPr/>
        </p:nvSpPr>
        <p:spPr>
          <a:xfrm>
            <a:off x="9605772" y="3498952"/>
            <a:ext cx="1456182" cy="194310"/>
          </a:xfrm>
          <a:prstGeom prst="rect">
            <a:avLst/>
          </a:prstGeom>
          <a:noFill/>
          <a:ln/>
        </p:spPr>
        <p:txBody>
          <a:bodyPr wrap="square" lIns="0" tIns="0" rIns="0" bIns="0" rtlCol="0" anchor="t"/>
          <a:lstStyle/>
          <a:p>
            <a:pPr algn="l" indent="0" marL="0">
              <a:lnSpc>
                <a:spcPct val="115000"/>
              </a:lnSpc>
              <a:buNone/>
            </a:pPr>
            <a:r>
              <a:rPr lang="en-US" sz="1020" b="1" dirty="0">
                <a:solidFill>
                  <a:srgbClr val="0E1B3D"/>
                </a:solidFill>
                <a:latin typeface="Calibri" pitchFamily="34" charset="0"/>
                <a:ea typeface="Calibri" pitchFamily="34" charset="-122"/>
                <a:cs typeface="Calibri" pitchFamily="34" charset="-120"/>
              </a:rPr>
              <a:t>Cuaca Hari Ini</a:t>
            </a:r>
            <a:endParaRPr lang="en-US" sz="1020" dirty="0"/>
          </a:p>
        </p:txBody>
      </p:sp>
      <p:sp>
        <p:nvSpPr>
          <p:cNvPr id="45" name="Shape 43"/>
          <p:cNvSpPr/>
          <p:nvPr/>
        </p:nvSpPr>
        <p:spPr>
          <a:xfrm>
            <a:off x="9605772" y="3778758"/>
            <a:ext cx="1456182" cy="54407"/>
          </a:xfrm>
          <a:prstGeom prst="rect">
            <a:avLst/>
          </a:prstGeom>
          <a:solidFill>
            <a:srgbClr val="E3DFD6"/>
          </a:solidFill>
          <a:ln/>
        </p:spPr>
      </p:sp>
      <p:sp>
        <p:nvSpPr>
          <p:cNvPr id="46" name="Shape 44"/>
          <p:cNvSpPr/>
          <p:nvPr/>
        </p:nvSpPr>
        <p:spPr>
          <a:xfrm>
            <a:off x="9605772" y="3918661"/>
            <a:ext cx="946518" cy="54407"/>
          </a:xfrm>
          <a:prstGeom prst="rect">
            <a:avLst/>
          </a:prstGeom>
          <a:solidFill>
            <a:srgbClr val="E3DFD6"/>
          </a:solidFill>
          <a:ln/>
        </p:spPr>
      </p:sp>
      <p:sp>
        <p:nvSpPr>
          <p:cNvPr id="47" name="Shape 45"/>
          <p:cNvSpPr/>
          <p:nvPr/>
        </p:nvSpPr>
        <p:spPr>
          <a:xfrm>
            <a:off x="7566660" y="4478274"/>
            <a:ext cx="582930" cy="202082"/>
          </a:xfrm>
          <a:prstGeom prst="roundRect">
            <a:avLst>
              <a:gd name="adj" fmla="val 50000"/>
            </a:avLst>
          </a:prstGeom>
          <a:solidFill>
            <a:srgbClr val="DCE6FF"/>
          </a:solidFill>
          <a:ln/>
        </p:spPr>
      </p:sp>
      <p:sp>
        <p:nvSpPr>
          <p:cNvPr id="48" name="Text 46"/>
          <p:cNvSpPr txBox="1"/>
          <p:nvPr/>
        </p:nvSpPr>
        <p:spPr>
          <a:xfrm>
            <a:off x="7566660" y="4478274"/>
            <a:ext cx="582930" cy="202082"/>
          </a:xfrm>
          <a:prstGeom prst="rect">
            <a:avLst/>
          </a:prstGeom>
          <a:noFill/>
          <a:ln/>
        </p:spPr>
        <p:txBody>
          <a:bodyPr wrap="square" lIns="0" tIns="0" rIns="0" bIns="0" rtlCol="0" anchor="ctr"/>
          <a:lstStyle/>
          <a:p>
            <a:pPr algn="ctr" indent="0" marL="0">
              <a:lnSpc>
                <a:spcPct val="115000"/>
              </a:lnSpc>
              <a:buNone/>
            </a:pPr>
            <a:r>
              <a:rPr lang="en-US" sz="850" b="1" dirty="0">
                <a:solidFill>
                  <a:srgbClr val="1F4FD8"/>
                </a:solidFill>
                <a:latin typeface="Calibri" pitchFamily="34" charset="0"/>
                <a:ea typeface="Calibri" pitchFamily="34" charset="-122"/>
                <a:cs typeface="Calibri" pitchFamily="34" charset="-120"/>
              </a:rPr>
              <a:t>HTML</a:t>
            </a:r>
            <a:endParaRPr lang="en-US" sz="850" dirty="0"/>
          </a:p>
        </p:txBody>
      </p:sp>
      <p:sp>
        <p:nvSpPr>
          <p:cNvPr id="49" name="Shape 47"/>
          <p:cNvSpPr/>
          <p:nvPr/>
        </p:nvSpPr>
        <p:spPr>
          <a:xfrm>
            <a:off x="8227314" y="4478274"/>
            <a:ext cx="582930" cy="202082"/>
          </a:xfrm>
          <a:prstGeom prst="roundRect">
            <a:avLst>
              <a:gd name="adj" fmla="val 50000"/>
            </a:avLst>
          </a:prstGeom>
          <a:solidFill>
            <a:srgbClr val="DCE6FF"/>
          </a:solidFill>
          <a:ln/>
        </p:spPr>
      </p:sp>
      <p:sp>
        <p:nvSpPr>
          <p:cNvPr id="50" name="Text 48"/>
          <p:cNvSpPr txBox="1"/>
          <p:nvPr/>
        </p:nvSpPr>
        <p:spPr>
          <a:xfrm>
            <a:off x="8227314" y="4478274"/>
            <a:ext cx="582930" cy="202082"/>
          </a:xfrm>
          <a:prstGeom prst="rect">
            <a:avLst/>
          </a:prstGeom>
          <a:noFill/>
          <a:ln/>
        </p:spPr>
        <p:txBody>
          <a:bodyPr wrap="square" lIns="0" tIns="0" rIns="0" bIns="0" rtlCol="0" anchor="ctr"/>
          <a:lstStyle/>
          <a:p>
            <a:pPr algn="ctr" indent="0" marL="0">
              <a:lnSpc>
                <a:spcPct val="115000"/>
              </a:lnSpc>
              <a:buNone/>
            </a:pPr>
            <a:r>
              <a:rPr lang="en-US" sz="850" b="1" dirty="0">
                <a:solidFill>
                  <a:srgbClr val="1F4FD8"/>
                </a:solidFill>
                <a:latin typeface="Calibri" pitchFamily="34" charset="0"/>
                <a:ea typeface="Calibri" pitchFamily="34" charset="-122"/>
                <a:cs typeface="Calibri" pitchFamily="34" charset="-120"/>
              </a:rPr>
              <a:t>CSS</a:t>
            </a:r>
            <a:endParaRPr lang="en-US" sz="850" dirty="0"/>
          </a:p>
        </p:txBody>
      </p:sp>
      <p:sp>
        <p:nvSpPr>
          <p:cNvPr id="51" name="Shape 49"/>
          <p:cNvSpPr/>
          <p:nvPr/>
        </p:nvSpPr>
        <p:spPr>
          <a:xfrm>
            <a:off x="8887968" y="4478274"/>
            <a:ext cx="582930" cy="202082"/>
          </a:xfrm>
          <a:prstGeom prst="roundRect">
            <a:avLst>
              <a:gd name="adj" fmla="val 50000"/>
            </a:avLst>
          </a:prstGeom>
          <a:solidFill>
            <a:srgbClr val="DCE6FF"/>
          </a:solidFill>
          <a:ln/>
        </p:spPr>
      </p:sp>
      <p:sp>
        <p:nvSpPr>
          <p:cNvPr id="52" name="Text 50"/>
          <p:cNvSpPr txBox="1"/>
          <p:nvPr/>
        </p:nvSpPr>
        <p:spPr>
          <a:xfrm>
            <a:off x="8887968" y="4478274"/>
            <a:ext cx="582930" cy="202082"/>
          </a:xfrm>
          <a:prstGeom prst="rect">
            <a:avLst/>
          </a:prstGeom>
          <a:noFill/>
          <a:ln/>
        </p:spPr>
        <p:txBody>
          <a:bodyPr wrap="square" lIns="0" tIns="0" rIns="0" bIns="0" rtlCol="0" anchor="ctr"/>
          <a:lstStyle/>
          <a:p>
            <a:pPr algn="ctr" indent="0" marL="0">
              <a:lnSpc>
                <a:spcPct val="115000"/>
              </a:lnSpc>
              <a:buNone/>
            </a:pPr>
            <a:r>
              <a:rPr lang="en-US" sz="850" b="1" dirty="0">
                <a:solidFill>
                  <a:srgbClr val="1F4FD8"/>
                </a:solidFill>
                <a:latin typeface="Calibri" pitchFamily="34" charset="0"/>
                <a:ea typeface="Calibri" pitchFamily="34" charset="-122"/>
                <a:cs typeface="Calibri" pitchFamily="34" charset="-120"/>
              </a:rPr>
              <a:t>Git</a:t>
            </a:r>
            <a:endParaRPr lang="en-US" sz="850" dirty="0"/>
          </a:p>
        </p:txBody>
      </p:sp>
      <p:sp>
        <p:nvSpPr>
          <p:cNvPr id="53" name="Shape 51"/>
          <p:cNvSpPr/>
          <p:nvPr/>
        </p:nvSpPr>
        <p:spPr>
          <a:xfrm>
            <a:off x="7315200" y="5120640"/>
            <a:ext cx="4114800" cy="457200"/>
          </a:xfrm>
          <a:prstGeom prst="roundRect">
            <a:avLst>
              <a:gd name="adj" fmla="val 50000"/>
            </a:avLst>
          </a:prstGeom>
          <a:solidFill>
            <a:srgbClr val="DCE6FF"/>
          </a:solidFill>
          <a:ln/>
        </p:spPr>
      </p:sp>
      <p:sp>
        <p:nvSpPr>
          <p:cNvPr id="54" name="Text 52"/>
          <p:cNvSpPr txBox="1"/>
          <p:nvPr/>
        </p:nvSpPr>
        <p:spPr>
          <a:xfrm>
            <a:off x="7315200" y="5120640"/>
            <a:ext cx="4114800" cy="457200"/>
          </a:xfrm>
          <a:prstGeom prst="rect">
            <a:avLst/>
          </a:prstGeom>
          <a:noFill/>
          <a:ln/>
        </p:spPr>
        <p:txBody>
          <a:bodyPr wrap="none" lIns="0" tIns="0" rIns="0" bIns="0" rtlCol="0" anchor="ctr"/>
          <a:lstStyle/>
          <a:p>
            <a:pPr algn="ctr" indent="0" marL="0">
              <a:lnSpc>
                <a:spcPct val="115000"/>
              </a:lnSpc>
              <a:buNone/>
            </a:pPr>
            <a:r>
              <a:rPr lang="en-US" sz="1600" b="1" dirty="0">
                <a:solidFill>
                  <a:srgbClr val="1F4FD8"/>
                </a:solidFill>
                <a:latin typeface="Consolas" pitchFamily="34" charset="0"/>
                <a:ea typeface="Consolas" pitchFamily="34" charset="-122"/>
                <a:cs typeface="Consolas" pitchFamily="34" charset="-120"/>
              </a:rPr>
              <a:t>alya-putri.netlify.app</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6F7FA8"/>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6F7FA8"/>
                </a:solidFill>
                <a:latin typeface="Calibri" pitchFamily="34" charset="0"/>
                <a:ea typeface="Calibri" pitchFamily="34" charset="-122"/>
                <a:cs typeface="Calibri" pitchFamily="34" charset="-120"/>
              </a:rPr>
              <a:t>31</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FFC83D"/>
                </a:solidFill>
                <a:latin typeface="Calibri" pitchFamily="34" charset="0"/>
                <a:ea typeface="Calibri" pitchFamily="34" charset="-122"/>
                <a:cs typeface="Calibri" pitchFamily="34" charset="-120"/>
              </a:rPr>
              <a:t>04 · PROYEK &amp; PUBLISH</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F4F6FB"/>
                </a:solidFill>
                <a:latin typeface="Calibri" pitchFamily="34" charset="0"/>
                <a:ea typeface="Calibri" pitchFamily="34" charset="-122"/>
                <a:cs typeface="Calibri" pitchFamily="34" charset="-120"/>
              </a:rPr>
              <a:t>Showcase: tiga karya, tiga cerita</a:t>
            </a:r>
            <a:endParaRPr lang="en-US" sz="3800" dirty="0"/>
          </a:p>
        </p:txBody>
      </p:sp>
      <p:sp>
        <p:nvSpPr>
          <p:cNvPr id="6" name="Shape 4"/>
          <p:cNvSpPr/>
          <p:nvPr/>
        </p:nvSpPr>
        <p:spPr>
          <a:xfrm>
            <a:off x="731520" y="1783080"/>
            <a:ext cx="3429000" cy="2834640"/>
          </a:xfrm>
          <a:prstGeom prst="roundRect">
            <a:avLst>
              <a:gd name="adj" fmla="val 5161"/>
            </a:avLst>
          </a:prstGeom>
          <a:solidFill>
            <a:srgbClr val="17285A"/>
          </a:solidFill>
          <a:ln w="15875">
            <a:solidFill>
              <a:srgbClr val="2A3C6E"/>
            </a:solidFill>
            <a:prstDash val="solid"/>
          </a:ln>
          <a:effectLst>
            <a:outerShdw sx="100000" sy="100000" kx="0" ky="0" algn="bl" rotWithShape="0" blurRad="177800" dist="38100" dir="5400000">
              <a:srgbClr val="000000">
                <a:alpha val="40000"/>
              </a:srgbClr>
            </a:outerShdw>
          </a:effectLst>
        </p:spPr>
      </p:sp>
      <p:sp>
        <p:nvSpPr>
          <p:cNvPr id="7" name="Shape 5"/>
          <p:cNvSpPr/>
          <p:nvPr/>
        </p:nvSpPr>
        <p:spPr>
          <a:xfrm>
            <a:off x="749808" y="1801368"/>
            <a:ext cx="3392424" cy="384048"/>
          </a:xfrm>
          <a:prstGeom prst="roundRect">
            <a:avLst>
              <a:gd name="adj" fmla="val 33333"/>
            </a:avLst>
          </a:prstGeom>
          <a:solidFill>
            <a:srgbClr val="EEF1F7"/>
          </a:solidFill>
          <a:ln/>
        </p:spPr>
      </p:sp>
      <p:sp>
        <p:nvSpPr>
          <p:cNvPr id="8" name="Shape 6"/>
          <p:cNvSpPr/>
          <p:nvPr/>
        </p:nvSpPr>
        <p:spPr>
          <a:xfrm>
            <a:off x="749808" y="1984248"/>
            <a:ext cx="3392424" cy="201168"/>
          </a:xfrm>
          <a:prstGeom prst="rect">
            <a:avLst/>
          </a:prstGeom>
          <a:solidFill>
            <a:srgbClr val="EEF1F7"/>
          </a:solidFill>
          <a:ln/>
        </p:spPr>
      </p:sp>
      <p:sp>
        <p:nvSpPr>
          <p:cNvPr id="9" name="Shape 7"/>
          <p:cNvSpPr/>
          <p:nvPr/>
        </p:nvSpPr>
        <p:spPr>
          <a:xfrm>
            <a:off x="914400" y="1920240"/>
            <a:ext cx="100584" cy="100584"/>
          </a:xfrm>
          <a:prstGeom prst="ellipse">
            <a:avLst/>
          </a:prstGeom>
          <a:solidFill>
            <a:srgbClr val="E63946"/>
          </a:solidFill>
          <a:ln/>
        </p:spPr>
      </p:sp>
      <p:sp>
        <p:nvSpPr>
          <p:cNvPr id="10" name="Shape 8"/>
          <p:cNvSpPr/>
          <p:nvPr/>
        </p:nvSpPr>
        <p:spPr>
          <a:xfrm>
            <a:off x="1088136" y="1920240"/>
            <a:ext cx="100584" cy="100584"/>
          </a:xfrm>
          <a:prstGeom prst="ellipse">
            <a:avLst/>
          </a:prstGeom>
          <a:solidFill>
            <a:srgbClr val="FFC83D"/>
          </a:solidFill>
          <a:ln/>
        </p:spPr>
      </p:sp>
      <p:sp>
        <p:nvSpPr>
          <p:cNvPr id="11" name="Shape 9"/>
          <p:cNvSpPr/>
          <p:nvPr/>
        </p:nvSpPr>
        <p:spPr>
          <a:xfrm>
            <a:off x="1261872" y="1920240"/>
            <a:ext cx="100584" cy="100584"/>
          </a:xfrm>
          <a:prstGeom prst="ellipse">
            <a:avLst/>
          </a:prstGeom>
          <a:solidFill>
            <a:srgbClr val="1E9E68"/>
          </a:solidFill>
          <a:ln/>
        </p:spPr>
      </p:sp>
      <p:sp>
        <p:nvSpPr>
          <p:cNvPr id="12" name="Shape 10"/>
          <p:cNvSpPr/>
          <p:nvPr/>
        </p:nvSpPr>
        <p:spPr>
          <a:xfrm>
            <a:off x="1600200" y="1865376"/>
            <a:ext cx="2331720" cy="237744"/>
          </a:xfrm>
          <a:prstGeom prst="roundRect">
            <a:avLst>
              <a:gd name="adj" fmla="val 50000"/>
            </a:avLst>
          </a:prstGeom>
          <a:solidFill>
            <a:srgbClr val="FFFFFF"/>
          </a:solidFill>
          <a:ln/>
        </p:spPr>
      </p:sp>
      <p:sp>
        <p:nvSpPr>
          <p:cNvPr id="13" name="Text 11"/>
          <p:cNvSpPr txBox="1"/>
          <p:nvPr/>
        </p:nvSpPr>
        <p:spPr>
          <a:xfrm>
            <a:off x="1737360" y="1865376"/>
            <a:ext cx="20574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Calibri" pitchFamily="34" charset="0"/>
                <a:ea typeface="Calibri" pitchFamily="34" charset="-122"/>
                <a:cs typeface="Calibri" pitchFamily="34" charset="-120"/>
              </a:rPr>
              <a:t>link-karyamu.netlify.app</a:t>
            </a:r>
            <a:endParaRPr lang="en-US" sz="1100" dirty="0"/>
          </a:p>
        </p:txBody>
      </p:sp>
      <p:sp>
        <p:nvSpPr>
          <p:cNvPr id="14" name="Shape 12"/>
          <p:cNvSpPr/>
          <p:nvPr/>
        </p:nvSpPr>
        <p:spPr>
          <a:xfrm>
            <a:off x="1024128" y="2459736"/>
            <a:ext cx="2843784" cy="1847088"/>
          </a:xfrm>
          <a:prstGeom prst="roundRect">
            <a:avLst>
              <a:gd name="adj" fmla="val 5941"/>
            </a:avLst>
          </a:prstGeom>
          <a:ln w="15875">
            <a:solidFill>
              <a:srgbClr val="2A3C6E"/>
            </a:solidFill>
            <a:prstDash val="dash"/>
          </a:ln>
        </p:spPr>
      </p:sp>
      <p:sp>
        <p:nvSpPr>
          <p:cNvPr id="15" name="Text 13"/>
          <p:cNvSpPr txBox="1"/>
          <p:nvPr/>
        </p:nvSpPr>
        <p:spPr>
          <a:xfrm>
            <a:off x="749808" y="2185416"/>
            <a:ext cx="3392424" cy="2395728"/>
          </a:xfrm>
          <a:prstGeom prst="rect">
            <a:avLst/>
          </a:prstGeom>
          <a:noFill/>
          <a:ln/>
        </p:spPr>
        <p:txBody>
          <a:bodyPr wrap="square" lIns="0" tIns="0" rIns="0" bIns="0" rtlCol="0" anchor="ctr"/>
          <a:lstStyle/>
          <a:p>
            <a:pPr algn="ctr" indent="0" marL="0">
              <a:lnSpc>
                <a:spcPct val="115000"/>
              </a:lnSpc>
              <a:buNone/>
            </a:pPr>
            <a:r>
              <a:rPr lang="en-US" sz="2200" b="1" dirty="0">
                <a:solidFill>
                  <a:srgbClr val="A9B6D6"/>
                </a:solidFill>
                <a:latin typeface="Calibri" pitchFamily="34" charset="0"/>
                <a:ea typeface="Calibri" pitchFamily="34" charset="-122"/>
                <a:cs typeface="Calibri" pitchFamily="34" charset="-120"/>
              </a:rPr>
              <a:t>Karya 1</a:t>
            </a:r>
            <a:endParaRPr lang="en-US" sz="2200" dirty="0"/>
          </a:p>
        </p:txBody>
      </p:sp>
      <p:sp>
        <p:nvSpPr>
          <p:cNvPr id="16" name="Shape 14"/>
          <p:cNvSpPr/>
          <p:nvPr/>
        </p:nvSpPr>
        <p:spPr>
          <a:xfrm>
            <a:off x="4361688" y="1783080"/>
            <a:ext cx="3429000" cy="2834640"/>
          </a:xfrm>
          <a:prstGeom prst="roundRect">
            <a:avLst>
              <a:gd name="adj" fmla="val 5161"/>
            </a:avLst>
          </a:prstGeom>
          <a:solidFill>
            <a:srgbClr val="17285A"/>
          </a:solidFill>
          <a:ln w="15875">
            <a:solidFill>
              <a:srgbClr val="2A3C6E"/>
            </a:solidFill>
            <a:prstDash val="solid"/>
          </a:ln>
          <a:effectLst>
            <a:outerShdw sx="100000" sy="100000" kx="0" ky="0" algn="bl" rotWithShape="0" blurRad="177800" dist="38100" dir="5400000">
              <a:srgbClr val="000000">
                <a:alpha val="40000"/>
              </a:srgbClr>
            </a:outerShdw>
          </a:effectLst>
        </p:spPr>
      </p:sp>
      <p:sp>
        <p:nvSpPr>
          <p:cNvPr id="17" name="Shape 15"/>
          <p:cNvSpPr/>
          <p:nvPr/>
        </p:nvSpPr>
        <p:spPr>
          <a:xfrm>
            <a:off x="4379976" y="1801368"/>
            <a:ext cx="3392424" cy="384048"/>
          </a:xfrm>
          <a:prstGeom prst="roundRect">
            <a:avLst>
              <a:gd name="adj" fmla="val 33333"/>
            </a:avLst>
          </a:prstGeom>
          <a:solidFill>
            <a:srgbClr val="EEF1F7"/>
          </a:solidFill>
          <a:ln/>
        </p:spPr>
      </p:sp>
      <p:sp>
        <p:nvSpPr>
          <p:cNvPr id="18" name="Shape 16"/>
          <p:cNvSpPr/>
          <p:nvPr/>
        </p:nvSpPr>
        <p:spPr>
          <a:xfrm>
            <a:off x="4379976" y="1984248"/>
            <a:ext cx="3392424" cy="201168"/>
          </a:xfrm>
          <a:prstGeom prst="rect">
            <a:avLst/>
          </a:prstGeom>
          <a:solidFill>
            <a:srgbClr val="EEF1F7"/>
          </a:solidFill>
          <a:ln/>
        </p:spPr>
      </p:sp>
      <p:sp>
        <p:nvSpPr>
          <p:cNvPr id="19" name="Shape 17"/>
          <p:cNvSpPr/>
          <p:nvPr/>
        </p:nvSpPr>
        <p:spPr>
          <a:xfrm>
            <a:off x="4544568" y="1920240"/>
            <a:ext cx="100584" cy="100584"/>
          </a:xfrm>
          <a:prstGeom prst="ellipse">
            <a:avLst/>
          </a:prstGeom>
          <a:solidFill>
            <a:srgbClr val="E63946"/>
          </a:solidFill>
          <a:ln/>
        </p:spPr>
      </p:sp>
      <p:sp>
        <p:nvSpPr>
          <p:cNvPr id="20" name="Shape 18"/>
          <p:cNvSpPr/>
          <p:nvPr/>
        </p:nvSpPr>
        <p:spPr>
          <a:xfrm>
            <a:off x="4718304" y="1920240"/>
            <a:ext cx="100584" cy="100584"/>
          </a:xfrm>
          <a:prstGeom prst="ellipse">
            <a:avLst/>
          </a:prstGeom>
          <a:solidFill>
            <a:srgbClr val="FFC83D"/>
          </a:solidFill>
          <a:ln/>
        </p:spPr>
      </p:sp>
      <p:sp>
        <p:nvSpPr>
          <p:cNvPr id="21" name="Shape 19"/>
          <p:cNvSpPr/>
          <p:nvPr/>
        </p:nvSpPr>
        <p:spPr>
          <a:xfrm>
            <a:off x="4892040" y="1920240"/>
            <a:ext cx="100584" cy="100584"/>
          </a:xfrm>
          <a:prstGeom prst="ellipse">
            <a:avLst/>
          </a:prstGeom>
          <a:solidFill>
            <a:srgbClr val="1E9E68"/>
          </a:solidFill>
          <a:ln/>
        </p:spPr>
      </p:sp>
      <p:sp>
        <p:nvSpPr>
          <p:cNvPr id="22" name="Shape 20"/>
          <p:cNvSpPr/>
          <p:nvPr/>
        </p:nvSpPr>
        <p:spPr>
          <a:xfrm>
            <a:off x="5230368" y="1865376"/>
            <a:ext cx="2331720" cy="237744"/>
          </a:xfrm>
          <a:prstGeom prst="roundRect">
            <a:avLst>
              <a:gd name="adj" fmla="val 50000"/>
            </a:avLst>
          </a:prstGeom>
          <a:solidFill>
            <a:srgbClr val="FFFFFF"/>
          </a:solidFill>
          <a:ln/>
        </p:spPr>
      </p:sp>
      <p:sp>
        <p:nvSpPr>
          <p:cNvPr id="23" name="Text 21"/>
          <p:cNvSpPr txBox="1"/>
          <p:nvPr/>
        </p:nvSpPr>
        <p:spPr>
          <a:xfrm>
            <a:off x="5367528" y="1865376"/>
            <a:ext cx="20574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Calibri" pitchFamily="34" charset="0"/>
                <a:ea typeface="Calibri" pitchFamily="34" charset="-122"/>
                <a:cs typeface="Calibri" pitchFamily="34" charset="-120"/>
              </a:rPr>
              <a:t>link-karyamu.netlify.app</a:t>
            </a:r>
            <a:endParaRPr lang="en-US" sz="1100" dirty="0"/>
          </a:p>
        </p:txBody>
      </p:sp>
      <p:sp>
        <p:nvSpPr>
          <p:cNvPr id="24" name="Shape 22"/>
          <p:cNvSpPr/>
          <p:nvPr/>
        </p:nvSpPr>
        <p:spPr>
          <a:xfrm>
            <a:off x="4654296" y="2459736"/>
            <a:ext cx="2843784" cy="1847088"/>
          </a:xfrm>
          <a:prstGeom prst="roundRect">
            <a:avLst>
              <a:gd name="adj" fmla="val 5941"/>
            </a:avLst>
          </a:prstGeom>
          <a:ln w="15875">
            <a:solidFill>
              <a:srgbClr val="2A3C6E"/>
            </a:solidFill>
            <a:prstDash val="dash"/>
          </a:ln>
        </p:spPr>
      </p:sp>
      <p:sp>
        <p:nvSpPr>
          <p:cNvPr id="25" name="Text 23"/>
          <p:cNvSpPr txBox="1"/>
          <p:nvPr/>
        </p:nvSpPr>
        <p:spPr>
          <a:xfrm>
            <a:off x="4379976" y="2185416"/>
            <a:ext cx="3392424" cy="2395728"/>
          </a:xfrm>
          <a:prstGeom prst="rect">
            <a:avLst/>
          </a:prstGeom>
          <a:noFill/>
          <a:ln/>
        </p:spPr>
        <p:txBody>
          <a:bodyPr wrap="square" lIns="0" tIns="0" rIns="0" bIns="0" rtlCol="0" anchor="ctr"/>
          <a:lstStyle/>
          <a:p>
            <a:pPr algn="ctr" indent="0" marL="0">
              <a:lnSpc>
                <a:spcPct val="115000"/>
              </a:lnSpc>
              <a:buNone/>
            </a:pPr>
            <a:r>
              <a:rPr lang="en-US" sz="2200" b="1" dirty="0">
                <a:solidFill>
                  <a:srgbClr val="A9B6D6"/>
                </a:solidFill>
                <a:latin typeface="Calibri" pitchFamily="34" charset="0"/>
                <a:ea typeface="Calibri" pitchFamily="34" charset="-122"/>
                <a:cs typeface="Calibri" pitchFamily="34" charset="-120"/>
              </a:rPr>
              <a:t>Karya 2</a:t>
            </a:r>
            <a:endParaRPr lang="en-US" sz="2200" dirty="0"/>
          </a:p>
        </p:txBody>
      </p:sp>
      <p:sp>
        <p:nvSpPr>
          <p:cNvPr id="26" name="Shape 24"/>
          <p:cNvSpPr/>
          <p:nvPr/>
        </p:nvSpPr>
        <p:spPr>
          <a:xfrm>
            <a:off x="7991856" y="1783080"/>
            <a:ext cx="3429000" cy="2834640"/>
          </a:xfrm>
          <a:prstGeom prst="roundRect">
            <a:avLst>
              <a:gd name="adj" fmla="val 5161"/>
            </a:avLst>
          </a:prstGeom>
          <a:solidFill>
            <a:srgbClr val="17285A"/>
          </a:solidFill>
          <a:ln w="15875">
            <a:solidFill>
              <a:srgbClr val="2A3C6E"/>
            </a:solidFill>
            <a:prstDash val="solid"/>
          </a:ln>
          <a:effectLst>
            <a:outerShdw sx="100000" sy="100000" kx="0" ky="0" algn="bl" rotWithShape="0" blurRad="177800" dist="38100" dir="5400000">
              <a:srgbClr val="000000">
                <a:alpha val="40000"/>
              </a:srgbClr>
            </a:outerShdw>
          </a:effectLst>
        </p:spPr>
      </p:sp>
      <p:sp>
        <p:nvSpPr>
          <p:cNvPr id="27" name="Shape 25"/>
          <p:cNvSpPr/>
          <p:nvPr/>
        </p:nvSpPr>
        <p:spPr>
          <a:xfrm>
            <a:off x="8010144" y="1801368"/>
            <a:ext cx="3392424" cy="384048"/>
          </a:xfrm>
          <a:prstGeom prst="roundRect">
            <a:avLst>
              <a:gd name="adj" fmla="val 33333"/>
            </a:avLst>
          </a:prstGeom>
          <a:solidFill>
            <a:srgbClr val="EEF1F7"/>
          </a:solidFill>
          <a:ln/>
        </p:spPr>
      </p:sp>
      <p:sp>
        <p:nvSpPr>
          <p:cNvPr id="28" name="Shape 26"/>
          <p:cNvSpPr/>
          <p:nvPr/>
        </p:nvSpPr>
        <p:spPr>
          <a:xfrm>
            <a:off x="8010144" y="1984248"/>
            <a:ext cx="3392424" cy="201168"/>
          </a:xfrm>
          <a:prstGeom prst="rect">
            <a:avLst/>
          </a:prstGeom>
          <a:solidFill>
            <a:srgbClr val="EEF1F7"/>
          </a:solidFill>
          <a:ln/>
        </p:spPr>
      </p:sp>
      <p:sp>
        <p:nvSpPr>
          <p:cNvPr id="29" name="Shape 27"/>
          <p:cNvSpPr/>
          <p:nvPr/>
        </p:nvSpPr>
        <p:spPr>
          <a:xfrm>
            <a:off x="8174736" y="1920240"/>
            <a:ext cx="100584" cy="100584"/>
          </a:xfrm>
          <a:prstGeom prst="ellipse">
            <a:avLst/>
          </a:prstGeom>
          <a:solidFill>
            <a:srgbClr val="E63946"/>
          </a:solidFill>
          <a:ln/>
        </p:spPr>
      </p:sp>
      <p:sp>
        <p:nvSpPr>
          <p:cNvPr id="30" name="Shape 28"/>
          <p:cNvSpPr/>
          <p:nvPr/>
        </p:nvSpPr>
        <p:spPr>
          <a:xfrm>
            <a:off x="8348472" y="1920240"/>
            <a:ext cx="100584" cy="100584"/>
          </a:xfrm>
          <a:prstGeom prst="ellipse">
            <a:avLst/>
          </a:prstGeom>
          <a:solidFill>
            <a:srgbClr val="FFC83D"/>
          </a:solidFill>
          <a:ln/>
        </p:spPr>
      </p:sp>
      <p:sp>
        <p:nvSpPr>
          <p:cNvPr id="31" name="Shape 29"/>
          <p:cNvSpPr/>
          <p:nvPr/>
        </p:nvSpPr>
        <p:spPr>
          <a:xfrm>
            <a:off x="8522208" y="1920240"/>
            <a:ext cx="100584" cy="100584"/>
          </a:xfrm>
          <a:prstGeom prst="ellipse">
            <a:avLst/>
          </a:prstGeom>
          <a:solidFill>
            <a:srgbClr val="1E9E68"/>
          </a:solidFill>
          <a:ln/>
        </p:spPr>
      </p:sp>
      <p:sp>
        <p:nvSpPr>
          <p:cNvPr id="32" name="Shape 30"/>
          <p:cNvSpPr/>
          <p:nvPr/>
        </p:nvSpPr>
        <p:spPr>
          <a:xfrm>
            <a:off x="8860536" y="1865376"/>
            <a:ext cx="2331720" cy="237744"/>
          </a:xfrm>
          <a:prstGeom prst="roundRect">
            <a:avLst>
              <a:gd name="adj" fmla="val 50000"/>
            </a:avLst>
          </a:prstGeom>
          <a:solidFill>
            <a:srgbClr val="FFFFFF"/>
          </a:solidFill>
          <a:ln/>
        </p:spPr>
      </p:sp>
      <p:sp>
        <p:nvSpPr>
          <p:cNvPr id="33" name="Text 31"/>
          <p:cNvSpPr txBox="1"/>
          <p:nvPr/>
        </p:nvSpPr>
        <p:spPr>
          <a:xfrm>
            <a:off x="8997696" y="1865376"/>
            <a:ext cx="20574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Calibri" pitchFamily="34" charset="0"/>
                <a:ea typeface="Calibri" pitchFamily="34" charset="-122"/>
                <a:cs typeface="Calibri" pitchFamily="34" charset="-120"/>
              </a:rPr>
              <a:t>link-karyamu.netlify.app</a:t>
            </a:r>
            <a:endParaRPr lang="en-US" sz="1100" dirty="0"/>
          </a:p>
        </p:txBody>
      </p:sp>
      <p:sp>
        <p:nvSpPr>
          <p:cNvPr id="34" name="Shape 32"/>
          <p:cNvSpPr/>
          <p:nvPr/>
        </p:nvSpPr>
        <p:spPr>
          <a:xfrm>
            <a:off x="8284464" y="2459736"/>
            <a:ext cx="2843784" cy="1847088"/>
          </a:xfrm>
          <a:prstGeom prst="roundRect">
            <a:avLst>
              <a:gd name="adj" fmla="val 5941"/>
            </a:avLst>
          </a:prstGeom>
          <a:ln w="15875">
            <a:solidFill>
              <a:srgbClr val="2A3C6E"/>
            </a:solidFill>
            <a:prstDash val="dash"/>
          </a:ln>
        </p:spPr>
      </p:sp>
      <p:sp>
        <p:nvSpPr>
          <p:cNvPr id="35" name="Text 33"/>
          <p:cNvSpPr txBox="1"/>
          <p:nvPr/>
        </p:nvSpPr>
        <p:spPr>
          <a:xfrm>
            <a:off x="8010144" y="2185416"/>
            <a:ext cx="3392424" cy="2395728"/>
          </a:xfrm>
          <a:prstGeom prst="rect">
            <a:avLst/>
          </a:prstGeom>
          <a:noFill/>
          <a:ln/>
        </p:spPr>
        <p:txBody>
          <a:bodyPr wrap="square" lIns="0" tIns="0" rIns="0" bIns="0" rtlCol="0" anchor="ctr"/>
          <a:lstStyle/>
          <a:p>
            <a:pPr algn="ctr" indent="0" marL="0">
              <a:lnSpc>
                <a:spcPct val="115000"/>
              </a:lnSpc>
              <a:buNone/>
            </a:pPr>
            <a:r>
              <a:rPr lang="en-US" sz="2200" b="1" dirty="0">
                <a:solidFill>
                  <a:srgbClr val="A9B6D6"/>
                </a:solidFill>
                <a:latin typeface="Calibri" pitchFamily="34" charset="0"/>
                <a:ea typeface="Calibri" pitchFamily="34" charset="-122"/>
                <a:cs typeface="Calibri" pitchFamily="34" charset="-120"/>
              </a:rPr>
              <a:t>Karya 3</a:t>
            </a:r>
            <a:endParaRPr lang="en-US" sz="2200" dirty="0"/>
          </a:p>
        </p:txBody>
      </p:sp>
      <p:sp>
        <p:nvSpPr>
          <p:cNvPr id="36" name="Text 34"/>
          <p:cNvSpPr txBox="1"/>
          <p:nvPr/>
        </p:nvSpPr>
        <p:spPr>
          <a:xfrm>
            <a:off x="731520" y="4846320"/>
            <a:ext cx="3429000" cy="274320"/>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FFC83D"/>
                </a:solidFill>
                <a:latin typeface="Calibri" pitchFamily="34" charset="0"/>
                <a:ea typeface="Calibri" pitchFamily="34" charset="-122"/>
                <a:cs typeface="Calibri" pitchFamily="34" charset="-120"/>
              </a:rPr>
              <a:t>CERITAKAN</a:t>
            </a:r>
            <a:endParaRPr lang="en-US" sz="1100" dirty="0"/>
          </a:p>
        </p:txBody>
      </p:sp>
      <p:sp>
        <p:nvSpPr>
          <p:cNvPr id="37" name="Text 35"/>
          <p:cNvSpPr txBox="1"/>
          <p:nvPr/>
        </p:nvSpPr>
        <p:spPr>
          <a:xfrm>
            <a:off x="731520" y="5166360"/>
            <a:ext cx="3429000" cy="822960"/>
          </a:xfrm>
          <a:prstGeom prst="rect">
            <a:avLst/>
          </a:prstGeom>
          <a:noFill/>
          <a:ln/>
        </p:spPr>
        <p:txBody>
          <a:bodyPr wrap="square" lIns="0" tIns="0" rIns="0" bIns="0" rtlCol="0" anchor="t"/>
          <a:lstStyle/>
          <a:p>
            <a:pPr algn="l" indent="0" marL="0">
              <a:lnSpc>
                <a:spcPct val="130000"/>
              </a:lnSpc>
              <a:buNone/>
            </a:pPr>
            <a:r>
              <a:rPr lang="en-US" sz="1900" dirty="0">
                <a:solidFill>
                  <a:srgbClr val="FFFFFF"/>
                </a:solidFill>
                <a:latin typeface="Calibri" pitchFamily="34" charset="0"/>
                <a:ea typeface="Calibri" pitchFamily="34" charset="-122"/>
                <a:cs typeface="Calibri" pitchFamily="34" charset="-120"/>
              </a:rPr>
              <a:t>Bagian yang paling kamu suka</a:t>
            </a:r>
            <a:endParaRPr lang="en-US" sz="1900" dirty="0"/>
          </a:p>
        </p:txBody>
      </p:sp>
      <p:sp>
        <p:nvSpPr>
          <p:cNvPr id="38" name="Text 36"/>
          <p:cNvSpPr txBox="1"/>
          <p:nvPr/>
        </p:nvSpPr>
        <p:spPr>
          <a:xfrm>
            <a:off x="4361688" y="4846320"/>
            <a:ext cx="3429000" cy="274320"/>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FFC83D"/>
                </a:solidFill>
                <a:latin typeface="Calibri" pitchFamily="34" charset="0"/>
                <a:ea typeface="Calibri" pitchFamily="34" charset="-122"/>
                <a:cs typeface="Calibri" pitchFamily="34" charset="-120"/>
              </a:rPr>
              <a:t>CERITAKAN</a:t>
            </a:r>
            <a:endParaRPr lang="en-US" sz="1100" dirty="0"/>
          </a:p>
        </p:txBody>
      </p:sp>
      <p:sp>
        <p:nvSpPr>
          <p:cNvPr id="39" name="Text 37"/>
          <p:cNvSpPr txBox="1"/>
          <p:nvPr/>
        </p:nvSpPr>
        <p:spPr>
          <a:xfrm>
            <a:off x="4361688" y="5166360"/>
            <a:ext cx="3429000" cy="822960"/>
          </a:xfrm>
          <a:prstGeom prst="rect">
            <a:avLst/>
          </a:prstGeom>
          <a:noFill/>
          <a:ln/>
        </p:spPr>
        <p:txBody>
          <a:bodyPr wrap="square" lIns="0" tIns="0" rIns="0" bIns="0" rtlCol="0" anchor="t"/>
          <a:lstStyle/>
          <a:p>
            <a:pPr algn="l" indent="0" marL="0">
              <a:lnSpc>
                <a:spcPct val="130000"/>
              </a:lnSpc>
              <a:buNone/>
            </a:pPr>
            <a:r>
              <a:rPr lang="en-US" sz="1900" dirty="0">
                <a:solidFill>
                  <a:srgbClr val="FFFFFF"/>
                </a:solidFill>
                <a:latin typeface="Calibri" pitchFamily="34" charset="0"/>
                <a:ea typeface="Calibri" pitchFamily="34" charset="-122"/>
                <a:cs typeface="Calibri" pitchFamily="34" charset="-120"/>
              </a:rPr>
              <a:t>Kesalahan paling lucu hari ini</a:t>
            </a:r>
            <a:endParaRPr lang="en-US" sz="1900" dirty="0"/>
          </a:p>
        </p:txBody>
      </p:sp>
      <p:sp>
        <p:nvSpPr>
          <p:cNvPr id="40" name="Text 38"/>
          <p:cNvSpPr txBox="1"/>
          <p:nvPr/>
        </p:nvSpPr>
        <p:spPr>
          <a:xfrm>
            <a:off x="7991856" y="4846320"/>
            <a:ext cx="3429000" cy="274320"/>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FFC83D"/>
                </a:solidFill>
                <a:latin typeface="Calibri" pitchFamily="34" charset="0"/>
                <a:ea typeface="Calibri" pitchFamily="34" charset="-122"/>
                <a:cs typeface="Calibri" pitchFamily="34" charset="-120"/>
              </a:rPr>
              <a:t>CERITAKAN</a:t>
            </a:r>
            <a:endParaRPr lang="en-US" sz="1100" dirty="0"/>
          </a:p>
        </p:txBody>
      </p:sp>
      <p:sp>
        <p:nvSpPr>
          <p:cNvPr id="41" name="Text 39"/>
          <p:cNvSpPr txBox="1"/>
          <p:nvPr/>
        </p:nvSpPr>
        <p:spPr>
          <a:xfrm>
            <a:off x="7991856" y="5166360"/>
            <a:ext cx="3429000" cy="822960"/>
          </a:xfrm>
          <a:prstGeom prst="rect">
            <a:avLst/>
          </a:prstGeom>
          <a:noFill/>
          <a:ln/>
        </p:spPr>
        <p:txBody>
          <a:bodyPr wrap="square" lIns="0" tIns="0" rIns="0" bIns="0" rtlCol="0" anchor="t"/>
          <a:lstStyle/>
          <a:p>
            <a:pPr algn="l" indent="0" marL="0">
              <a:lnSpc>
                <a:spcPct val="130000"/>
              </a:lnSpc>
              <a:buNone/>
            </a:pPr>
            <a:r>
              <a:rPr lang="en-US" sz="1900" dirty="0">
                <a:solidFill>
                  <a:srgbClr val="FFFFFF"/>
                </a:solidFill>
                <a:latin typeface="Calibri" pitchFamily="34" charset="0"/>
                <a:ea typeface="Calibri" pitchFamily="34" charset="-122"/>
                <a:cs typeface="Calibri" pitchFamily="34" charset="-120"/>
              </a:rPr>
              <a:t>Satu hal baru yang kamu pelajari</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9AA1B2"/>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9AA1B2"/>
                </a:solidFill>
                <a:latin typeface="Calibri" pitchFamily="34" charset="0"/>
                <a:ea typeface="Calibri" pitchFamily="34" charset="-122"/>
                <a:cs typeface="Calibri" pitchFamily="34" charset="-120"/>
              </a:rPr>
              <a:t>32</a:t>
            </a:r>
            <a:endParaRPr lang="en-US" sz="1000" dirty="0"/>
          </a:p>
        </p:txBody>
      </p:sp>
      <p:sp>
        <p:nvSpPr>
          <p:cNvPr id="4" name="Text 2"/>
          <p:cNvSpPr txBox="1"/>
          <p:nvPr/>
        </p:nvSpPr>
        <p:spPr>
          <a:xfrm>
            <a:off x="731520" y="502920"/>
            <a:ext cx="8229600" cy="237744"/>
          </a:xfrm>
          <a:prstGeom prst="rect">
            <a:avLst/>
          </a:prstGeom>
          <a:noFill/>
          <a:ln/>
        </p:spPr>
        <p:txBody>
          <a:bodyPr wrap="square" lIns="0" tIns="0" rIns="0" bIns="0" rtlCol="0" anchor="ctr"/>
          <a:lstStyle/>
          <a:p>
            <a:pPr algn="l" indent="0" marL="0">
              <a:lnSpc>
                <a:spcPct val="115000"/>
              </a:lnSpc>
              <a:buNone/>
            </a:pPr>
            <a:r>
              <a:rPr lang="en-US" sz="1200" b="1" spc="220" kern="0" dirty="0">
                <a:solidFill>
                  <a:srgbClr val="1F4FD8"/>
                </a:solidFill>
                <a:latin typeface="Calibri" pitchFamily="34" charset="0"/>
                <a:ea typeface="Calibri" pitchFamily="34" charset="-122"/>
                <a:cs typeface="Calibri" pitchFamily="34" charset="-120"/>
              </a:rPr>
              <a:t>04 · PROYEK &amp; PUBLISH</a:t>
            </a:r>
            <a:endParaRPr lang="en-US" sz="1200" dirty="0"/>
          </a:p>
        </p:txBody>
      </p:sp>
      <p:sp>
        <p:nvSpPr>
          <p:cNvPr id="5" name="Text 3"/>
          <p:cNvSpPr txBox="1"/>
          <p:nvPr/>
        </p:nvSpPr>
        <p:spPr>
          <a:xfrm>
            <a:off x="731520" y="804672"/>
            <a:ext cx="10698480" cy="640080"/>
          </a:xfrm>
          <a:prstGeom prst="rect">
            <a:avLst/>
          </a:prstGeom>
          <a:noFill/>
          <a:ln/>
        </p:spPr>
        <p:txBody>
          <a:bodyPr wrap="square" lIns="0" tIns="0" rIns="0" bIns="0" rtlCol="0" anchor="t"/>
          <a:lstStyle/>
          <a:p>
            <a:pPr algn="l" indent="0" marL="0">
              <a:lnSpc>
                <a:spcPct val="108000"/>
              </a:lnSpc>
              <a:buNone/>
            </a:pPr>
            <a:r>
              <a:rPr lang="en-US" sz="3800" b="1" dirty="0">
                <a:solidFill>
                  <a:srgbClr val="0E1B3D"/>
                </a:solidFill>
                <a:latin typeface="Calibri" pitchFamily="34" charset="0"/>
                <a:ea typeface="Calibri" pitchFamily="34" charset="-122"/>
                <a:cs typeface="Calibri" pitchFamily="34" charset="-120"/>
              </a:rPr>
              <a:t>Setelah hari ini, ke mana?</a:t>
            </a:r>
            <a:endParaRPr lang="en-US" sz="3800" dirty="0"/>
          </a:p>
        </p:txBody>
      </p:sp>
      <p:sp>
        <p:nvSpPr>
          <p:cNvPr id="6" name="Shape 4"/>
          <p:cNvSpPr/>
          <p:nvPr/>
        </p:nvSpPr>
        <p:spPr>
          <a:xfrm>
            <a:off x="731520" y="3063240"/>
            <a:ext cx="10698480" cy="0"/>
          </a:xfrm>
          <a:prstGeom prst="line">
            <a:avLst/>
          </a:prstGeom>
          <a:noFill/>
          <a:ln w="25400">
            <a:solidFill>
              <a:srgbClr val="0E1B3D"/>
            </a:solidFill>
            <a:prstDash val="solid"/>
          </a:ln>
        </p:spPr>
      </p:sp>
      <p:sp>
        <p:nvSpPr>
          <p:cNvPr id="7" name="Shape 5"/>
          <p:cNvSpPr/>
          <p:nvPr/>
        </p:nvSpPr>
        <p:spPr>
          <a:xfrm>
            <a:off x="731520" y="2898648"/>
            <a:ext cx="329184" cy="329184"/>
          </a:xfrm>
          <a:prstGeom prst="ellipse">
            <a:avLst/>
          </a:prstGeom>
          <a:solidFill>
            <a:srgbClr val="1F4FD8"/>
          </a:solidFill>
          <a:ln w="31750">
            <a:solidFill>
              <a:srgbClr val="1F4FD8"/>
            </a:solidFill>
            <a:prstDash val="solid"/>
          </a:ln>
        </p:spPr>
      </p:sp>
      <p:sp>
        <p:nvSpPr>
          <p:cNvPr id="8" name="Text 6"/>
          <p:cNvSpPr txBox="1"/>
          <p:nvPr/>
        </p:nvSpPr>
        <p:spPr>
          <a:xfrm>
            <a:off x="731520" y="2148840"/>
            <a:ext cx="2560320" cy="274320"/>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1F4FD8"/>
                </a:solidFill>
                <a:latin typeface="Calibri" pitchFamily="34" charset="0"/>
                <a:ea typeface="Calibri" pitchFamily="34" charset="-122"/>
                <a:cs typeface="Calibri" pitchFamily="34" charset="-120"/>
              </a:rPr>
              <a:t>SEKARANG</a:t>
            </a:r>
            <a:endParaRPr lang="en-US" sz="1100" dirty="0"/>
          </a:p>
        </p:txBody>
      </p:sp>
      <p:sp>
        <p:nvSpPr>
          <p:cNvPr id="9" name="Text 7"/>
          <p:cNvSpPr txBox="1"/>
          <p:nvPr/>
        </p:nvSpPr>
        <p:spPr>
          <a:xfrm>
            <a:off x="731520" y="3520440"/>
            <a:ext cx="2560320" cy="457200"/>
          </a:xfrm>
          <a:prstGeom prst="rect">
            <a:avLst/>
          </a:prstGeom>
          <a:noFill/>
          <a:ln/>
        </p:spPr>
        <p:txBody>
          <a:bodyPr wrap="square" lIns="0" tIns="0" rIns="0" bIns="0" rtlCol="0" anchor="t"/>
          <a:lstStyle/>
          <a:p>
            <a:pPr algn="l" indent="0" marL="0">
              <a:lnSpc>
                <a:spcPct val="115000"/>
              </a:lnSpc>
              <a:buNone/>
            </a:pPr>
            <a:r>
              <a:rPr lang="en-US" sz="2200" b="1" dirty="0">
                <a:solidFill>
                  <a:srgbClr val="0E1B3D"/>
                </a:solidFill>
                <a:latin typeface="Calibri" pitchFamily="34" charset="0"/>
                <a:ea typeface="Calibri" pitchFamily="34" charset="-122"/>
                <a:cs typeface="Calibri" pitchFamily="34" charset="-120"/>
              </a:rPr>
              <a:t>HTML + CSS</a:t>
            </a:r>
            <a:endParaRPr lang="en-US" sz="2200" dirty="0"/>
          </a:p>
        </p:txBody>
      </p:sp>
      <p:sp>
        <p:nvSpPr>
          <p:cNvPr id="10" name="Text 8"/>
          <p:cNvSpPr txBox="1"/>
          <p:nvPr/>
        </p:nvSpPr>
        <p:spPr>
          <a:xfrm>
            <a:off x="731520" y="4023360"/>
            <a:ext cx="2468880" cy="73152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Calibri" pitchFamily="34" charset="0"/>
                <a:ea typeface="Calibri" pitchFamily="34" charset="-122"/>
                <a:cs typeface="Calibri" pitchFamily="34" charset="-120"/>
              </a:rPr>
              <a:t>Sudah kamu kuasai dasarnya</a:t>
            </a:r>
            <a:endParaRPr lang="en-US" sz="1600" dirty="0"/>
          </a:p>
        </p:txBody>
      </p:sp>
      <p:sp>
        <p:nvSpPr>
          <p:cNvPr id="11" name="Shape 9"/>
          <p:cNvSpPr/>
          <p:nvPr/>
        </p:nvSpPr>
        <p:spPr>
          <a:xfrm>
            <a:off x="3474720" y="2898648"/>
            <a:ext cx="329184" cy="329184"/>
          </a:xfrm>
          <a:prstGeom prst="ellipse">
            <a:avLst/>
          </a:prstGeom>
          <a:solidFill>
            <a:srgbClr val="FAF8F4"/>
          </a:solidFill>
          <a:ln w="31750">
            <a:solidFill>
              <a:srgbClr val="1F4FD8"/>
            </a:solidFill>
            <a:prstDash val="solid"/>
          </a:ln>
        </p:spPr>
      </p:sp>
      <p:sp>
        <p:nvSpPr>
          <p:cNvPr id="12" name="Text 10"/>
          <p:cNvSpPr txBox="1"/>
          <p:nvPr/>
        </p:nvSpPr>
        <p:spPr>
          <a:xfrm>
            <a:off x="3474720" y="2148840"/>
            <a:ext cx="2560320" cy="274320"/>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5B6478"/>
                </a:solidFill>
                <a:latin typeface="Calibri" pitchFamily="34" charset="0"/>
                <a:ea typeface="Calibri" pitchFamily="34" charset="-122"/>
                <a:cs typeface="Calibri" pitchFamily="34" charset="-120"/>
              </a:rPr>
              <a:t>LANGKAH 2</a:t>
            </a:r>
            <a:endParaRPr lang="en-US" sz="1100" dirty="0"/>
          </a:p>
        </p:txBody>
      </p:sp>
      <p:sp>
        <p:nvSpPr>
          <p:cNvPr id="13" name="Text 11"/>
          <p:cNvSpPr txBox="1"/>
          <p:nvPr/>
        </p:nvSpPr>
        <p:spPr>
          <a:xfrm>
            <a:off x="3474720" y="3520440"/>
            <a:ext cx="2560320" cy="457200"/>
          </a:xfrm>
          <a:prstGeom prst="rect">
            <a:avLst/>
          </a:prstGeom>
          <a:noFill/>
          <a:ln/>
        </p:spPr>
        <p:txBody>
          <a:bodyPr wrap="square" lIns="0" tIns="0" rIns="0" bIns="0" rtlCol="0" anchor="t"/>
          <a:lstStyle/>
          <a:p>
            <a:pPr algn="l" indent="0" marL="0">
              <a:lnSpc>
                <a:spcPct val="115000"/>
              </a:lnSpc>
              <a:buNone/>
            </a:pPr>
            <a:r>
              <a:rPr lang="en-US" sz="2200" b="1" dirty="0">
                <a:solidFill>
                  <a:srgbClr val="0E1B3D"/>
                </a:solidFill>
                <a:latin typeface="Calibri" pitchFamily="34" charset="0"/>
                <a:ea typeface="Calibri" pitchFamily="34" charset="-122"/>
                <a:cs typeface="Calibri" pitchFamily="34" charset="-120"/>
              </a:rPr>
              <a:t>JavaScript</a:t>
            </a:r>
            <a:endParaRPr lang="en-US" sz="2200" dirty="0"/>
          </a:p>
        </p:txBody>
      </p:sp>
      <p:sp>
        <p:nvSpPr>
          <p:cNvPr id="14" name="Text 12"/>
          <p:cNvSpPr txBox="1"/>
          <p:nvPr/>
        </p:nvSpPr>
        <p:spPr>
          <a:xfrm>
            <a:off x="3474720" y="4023360"/>
            <a:ext cx="2468880" cy="73152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Calibri" pitchFamily="34" charset="0"/>
                <a:ea typeface="Calibri" pitchFamily="34" charset="-122"/>
                <a:cs typeface="Calibri" pitchFamily="34" charset="-120"/>
              </a:rPr>
              <a:t>Membuat halaman bereaksi</a:t>
            </a:r>
            <a:endParaRPr lang="en-US" sz="1600" dirty="0"/>
          </a:p>
        </p:txBody>
      </p:sp>
      <p:sp>
        <p:nvSpPr>
          <p:cNvPr id="15" name="Shape 13"/>
          <p:cNvSpPr/>
          <p:nvPr/>
        </p:nvSpPr>
        <p:spPr>
          <a:xfrm>
            <a:off x="6217920" y="2898648"/>
            <a:ext cx="329184" cy="329184"/>
          </a:xfrm>
          <a:prstGeom prst="ellipse">
            <a:avLst/>
          </a:prstGeom>
          <a:solidFill>
            <a:srgbClr val="FAF8F4"/>
          </a:solidFill>
          <a:ln w="31750">
            <a:solidFill>
              <a:srgbClr val="1F4FD8"/>
            </a:solidFill>
            <a:prstDash val="solid"/>
          </a:ln>
        </p:spPr>
      </p:sp>
      <p:sp>
        <p:nvSpPr>
          <p:cNvPr id="16" name="Text 14"/>
          <p:cNvSpPr txBox="1"/>
          <p:nvPr/>
        </p:nvSpPr>
        <p:spPr>
          <a:xfrm>
            <a:off x="6217920" y="2148840"/>
            <a:ext cx="2560320" cy="274320"/>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5B6478"/>
                </a:solidFill>
                <a:latin typeface="Calibri" pitchFamily="34" charset="0"/>
                <a:ea typeface="Calibri" pitchFamily="34" charset="-122"/>
                <a:cs typeface="Calibri" pitchFamily="34" charset="-120"/>
              </a:rPr>
              <a:t>LANGKAH 3</a:t>
            </a:r>
            <a:endParaRPr lang="en-US" sz="1100" dirty="0"/>
          </a:p>
        </p:txBody>
      </p:sp>
      <p:sp>
        <p:nvSpPr>
          <p:cNvPr id="17" name="Text 15"/>
          <p:cNvSpPr txBox="1"/>
          <p:nvPr/>
        </p:nvSpPr>
        <p:spPr>
          <a:xfrm>
            <a:off x="6217920" y="3520440"/>
            <a:ext cx="2560320" cy="457200"/>
          </a:xfrm>
          <a:prstGeom prst="rect">
            <a:avLst/>
          </a:prstGeom>
          <a:noFill/>
          <a:ln/>
        </p:spPr>
        <p:txBody>
          <a:bodyPr wrap="square" lIns="0" tIns="0" rIns="0" bIns="0" rtlCol="0" anchor="t"/>
          <a:lstStyle/>
          <a:p>
            <a:pPr algn="l" indent="0" marL="0">
              <a:lnSpc>
                <a:spcPct val="115000"/>
              </a:lnSpc>
              <a:buNone/>
            </a:pPr>
            <a:r>
              <a:rPr lang="en-US" sz="2200" b="1" dirty="0">
                <a:solidFill>
                  <a:srgbClr val="0E1B3D"/>
                </a:solidFill>
                <a:latin typeface="Calibri" pitchFamily="34" charset="0"/>
                <a:ea typeface="Calibri" pitchFamily="34" charset="-122"/>
                <a:cs typeface="Calibri" pitchFamily="34" charset="-120"/>
              </a:rPr>
              <a:t>Git &amp; GitHub</a:t>
            </a:r>
            <a:endParaRPr lang="en-US" sz="2200" dirty="0"/>
          </a:p>
        </p:txBody>
      </p:sp>
      <p:sp>
        <p:nvSpPr>
          <p:cNvPr id="18" name="Text 16"/>
          <p:cNvSpPr txBox="1"/>
          <p:nvPr/>
        </p:nvSpPr>
        <p:spPr>
          <a:xfrm>
            <a:off x="6217920" y="4023360"/>
            <a:ext cx="2468880" cy="73152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Calibri" pitchFamily="34" charset="0"/>
                <a:ea typeface="Calibri" pitchFamily="34" charset="-122"/>
                <a:cs typeface="Calibri" pitchFamily="34" charset="-120"/>
              </a:rPr>
              <a:t>Menyimpan dan membagikan kode</a:t>
            </a:r>
            <a:endParaRPr lang="en-US" sz="1600" dirty="0"/>
          </a:p>
        </p:txBody>
      </p:sp>
      <p:sp>
        <p:nvSpPr>
          <p:cNvPr id="19" name="Shape 17"/>
          <p:cNvSpPr/>
          <p:nvPr/>
        </p:nvSpPr>
        <p:spPr>
          <a:xfrm>
            <a:off x="8961120" y="2898648"/>
            <a:ext cx="329184" cy="329184"/>
          </a:xfrm>
          <a:prstGeom prst="ellipse">
            <a:avLst/>
          </a:prstGeom>
          <a:solidFill>
            <a:srgbClr val="FAF8F4"/>
          </a:solidFill>
          <a:ln w="31750">
            <a:solidFill>
              <a:srgbClr val="1F4FD8"/>
            </a:solidFill>
            <a:prstDash val="solid"/>
          </a:ln>
        </p:spPr>
      </p:sp>
      <p:sp>
        <p:nvSpPr>
          <p:cNvPr id="20" name="Text 18"/>
          <p:cNvSpPr txBox="1"/>
          <p:nvPr/>
        </p:nvSpPr>
        <p:spPr>
          <a:xfrm>
            <a:off x="8961120" y="2148840"/>
            <a:ext cx="2560320" cy="274320"/>
          </a:xfrm>
          <a:prstGeom prst="rect">
            <a:avLst/>
          </a:prstGeom>
          <a:noFill/>
          <a:ln/>
        </p:spPr>
        <p:txBody>
          <a:bodyPr wrap="square" lIns="0" tIns="0" rIns="0" bIns="0" rtlCol="0" anchor="t"/>
          <a:lstStyle/>
          <a:p>
            <a:pPr algn="l" indent="0" marL="0">
              <a:lnSpc>
                <a:spcPct val="115000"/>
              </a:lnSpc>
              <a:buNone/>
            </a:pPr>
            <a:r>
              <a:rPr lang="en-US" sz="1100" b="1" spc="180" kern="0" dirty="0">
                <a:solidFill>
                  <a:srgbClr val="5B6478"/>
                </a:solidFill>
                <a:latin typeface="Calibri" pitchFamily="34" charset="0"/>
                <a:ea typeface="Calibri" pitchFamily="34" charset="-122"/>
                <a:cs typeface="Calibri" pitchFamily="34" charset="-120"/>
              </a:rPr>
              <a:t>LANJUTAN</a:t>
            </a:r>
            <a:endParaRPr lang="en-US" sz="1100" dirty="0"/>
          </a:p>
        </p:txBody>
      </p:sp>
      <p:sp>
        <p:nvSpPr>
          <p:cNvPr id="21" name="Text 19"/>
          <p:cNvSpPr txBox="1"/>
          <p:nvPr/>
        </p:nvSpPr>
        <p:spPr>
          <a:xfrm>
            <a:off x="8961120" y="3520440"/>
            <a:ext cx="2560320" cy="457200"/>
          </a:xfrm>
          <a:prstGeom prst="rect">
            <a:avLst/>
          </a:prstGeom>
          <a:noFill/>
          <a:ln/>
        </p:spPr>
        <p:txBody>
          <a:bodyPr wrap="square" lIns="0" tIns="0" rIns="0" bIns="0" rtlCol="0" anchor="t"/>
          <a:lstStyle/>
          <a:p>
            <a:pPr algn="l" indent="0" marL="0">
              <a:lnSpc>
                <a:spcPct val="115000"/>
              </a:lnSpc>
              <a:buNone/>
            </a:pPr>
            <a:r>
              <a:rPr lang="en-US" sz="2200" b="1" dirty="0">
                <a:solidFill>
                  <a:srgbClr val="0E1B3D"/>
                </a:solidFill>
                <a:latin typeface="Calibri" pitchFamily="34" charset="0"/>
                <a:ea typeface="Calibri" pitchFamily="34" charset="-122"/>
                <a:cs typeface="Calibri" pitchFamily="34" charset="-120"/>
              </a:rPr>
              <a:t>Framework</a:t>
            </a:r>
            <a:endParaRPr lang="en-US" sz="2200" dirty="0"/>
          </a:p>
        </p:txBody>
      </p:sp>
      <p:sp>
        <p:nvSpPr>
          <p:cNvPr id="22" name="Text 20"/>
          <p:cNvSpPr txBox="1"/>
          <p:nvPr/>
        </p:nvSpPr>
        <p:spPr>
          <a:xfrm>
            <a:off x="8961120" y="4023360"/>
            <a:ext cx="2468880" cy="73152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Calibri" pitchFamily="34" charset="0"/>
                <a:ea typeface="Calibri" pitchFamily="34" charset="-122"/>
                <a:cs typeface="Calibri" pitchFamily="34" charset="-120"/>
              </a:rPr>
              <a:t>Misalnya Laravel</a:t>
            </a:r>
            <a:endParaRPr lang="en-US" sz="1600" dirty="0"/>
          </a:p>
        </p:txBody>
      </p:sp>
      <p:sp>
        <p:nvSpPr>
          <p:cNvPr id="23" name="Text 21"/>
          <p:cNvSpPr txBox="1"/>
          <p:nvPr/>
        </p:nvSpPr>
        <p:spPr>
          <a:xfrm>
            <a:off x="731520" y="5029200"/>
            <a:ext cx="10698480" cy="365760"/>
          </a:xfrm>
          <a:prstGeom prst="rect">
            <a:avLst/>
          </a:prstGeom>
          <a:noFill/>
          <a:ln/>
        </p:spPr>
        <p:txBody>
          <a:bodyPr wrap="square" lIns="0" tIns="0" rIns="0" bIns="0" rtlCol="0" anchor="t"/>
          <a:lstStyle/>
          <a:p>
            <a:pPr algn="l" indent="0" marL="0">
              <a:lnSpc>
                <a:spcPct val="115000"/>
              </a:lnSpc>
              <a:buNone/>
            </a:pPr>
            <a:r>
              <a:rPr lang="en-US" sz="1600" b="1" dirty="0">
                <a:solidFill>
                  <a:srgbClr val="0E1B3D"/>
                </a:solidFill>
                <a:latin typeface="Calibri" pitchFamily="34" charset="0"/>
                <a:ea typeface="Calibri" pitchFamily="34" charset="-122"/>
                <a:cs typeface="Calibri" pitchFamily="34" charset="-120"/>
              </a:rPr>
              <a:t>Belajar gratis:  MDN Web Docs  ·  freeCodeCamp  ·  web.dev/learn</a:t>
            </a:r>
            <a:endParaRPr lang="en-US" sz="1600" dirty="0"/>
          </a:p>
        </p:txBody>
      </p:sp>
      <p:sp>
        <p:nvSpPr>
          <p:cNvPr id="24" name="Shape 22"/>
          <p:cNvSpPr/>
          <p:nvPr/>
        </p:nvSpPr>
        <p:spPr>
          <a:xfrm>
            <a:off x="731520" y="5532120"/>
            <a:ext cx="7498080" cy="594360"/>
          </a:xfrm>
          <a:prstGeom prst="roundRect">
            <a:avLst>
              <a:gd name="adj" fmla="val 24615"/>
            </a:avLst>
          </a:prstGeom>
          <a:solidFill>
            <a:srgbClr val="FFF3CF"/>
          </a:solidFill>
          <a:ln/>
        </p:spPr>
      </p:sp>
      <p:sp>
        <p:nvSpPr>
          <p:cNvPr id="25" name="Text 23"/>
          <p:cNvSpPr txBox="1"/>
          <p:nvPr/>
        </p:nvSpPr>
        <p:spPr>
          <a:xfrm>
            <a:off x="1005840" y="5532120"/>
            <a:ext cx="7040880" cy="594360"/>
          </a:xfrm>
          <a:prstGeom prst="rect">
            <a:avLst/>
          </a:prstGeom>
          <a:noFill/>
          <a:ln/>
        </p:spPr>
        <p:txBody>
          <a:bodyPr wrap="square" lIns="0" tIns="0" rIns="0" bIns="0" rtlCol="0" anchor="ctr"/>
          <a:lstStyle/>
          <a:p>
            <a:pPr algn="l" indent="0" marL="0">
              <a:lnSpc>
                <a:spcPct val="115000"/>
              </a:lnSpc>
              <a:buNone/>
            </a:pPr>
            <a:r>
              <a:rPr lang="en-US" sz="1700" b="1" dirty="0">
                <a:solidFill>
                  <a:srgbClr val="0E1B3D"/>
                </a:solidFill>
                <a:latin typeface="Calibri" pitchFamily="34" charset="0"/>
                <a:ea typeface="Calibri" pitchFamily="34" charset="-122"/>
                <a:cs typeface="Calibri" pitchFamily="34" charset="-120"/>
              </a:rPr>
              <a:t>Kakak-kakak mahasiswa di Sesi 2 membahas Laravel.</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731520" y="6419088"/>
            <a:ext cx="7315200" cy="182880"/>
          </a:xfrm>
          <a:prstGeom prst="rect">
            <a:avLst/>
          </a:prstGeom>
          <a:noFill/>
          <a:ln/>
        </p:spPr>
        <p:txBody>
          <a:bodyPr wrap="square" lIns="0" tIns="0" rIns="0" bIns="0" rtlCol="0" anchor="ctr"/>
          <a:lstStyle/>
          <a:p>
            <a:pPr algn="l" indent="0" marL="0">
              <a:lnSpc>
                <a:spcPct val="115000"/>
              </a:lnSpc>
              <a:buNone/>
            </a:pPr>
            <a:r>
              <a:rPr lang="en-US" sz="1000" b="1" spc="140" kern="0" dirty="0">
                <a:solidFill>
                  <a:srgbClr val="6F7FA8"/>
                </a:solidFill>
                <a:latin typeface="Calibri" pitchFamily="34" charset="0"/>
                <a:ea typeface="Calibri" pitchFamily="34" charset="-122"/>
                <a:cs typeface="Calibri" pitchFamily="34" charset="-120"/>
              </a:rPr>
              <a:t>SI FEST 2026  ·  SESI 1  ·  UNLOCK YOUR POTENTIAL THROUGH WEB TECHNOLOGY</a:t>
            </a:r>
            <a:endParaRPr lang="en-US" sz="1000" dirty="0"/>
          </a:p>
        </p:txBody>
      </p:sp>
      <p:sp>
        <p:nvSpPr>
          <p:cNvPr id="3" name="Text 1"/>
          <p:cNvSpPr txBox="1"/>
          <p:nvPr/>
        </p:nvSpPr>
        <p:spPr>
          <a:xfrm>
            <a:off x="10545775" y="6419088"/>
            <a:ext cx="914400" cy="182880"/>
          </a:xfrm>
          <a:prstGeom prst="rect">
            <a:avLst/>
          </a:prstGeom>
          <a:noFill/>
          <a:ln/>
        </p:spPr>
        <p:txBody>
          <a:bodyPr wrap="square" lIns="0" tIns="0" rIns="0" bIns="0" rtlCol="0" anchor="ctr"/>
          <a:lstStyle/>
          <a:p>
            <a:pPr algn="r" indent="0" marL="0">
              <a:lnSpc>
                <a:spcPct val="115000"/>
              </a:lnSpc>
              <a:buNone/>
            </a:pPr>
            <a:r>
              <a:rPr lang="en-US" sz="1000" b="1" dirty="0">
                <a:solidFill>
                  <a:srgbClr val="6F7FA8"/>
                </a:solidFill>
                <a:latin typeface="Calibri" pitchFamily="34" charset="0"/>
                <a:ea typeface="Calibri" pitchFamily="34" charset="-122"/>
                <a:cs typeface="Calibri" pitchFamily="34" charset="-120"/>
              </a:rPr>
              <a:t>33</a:t>
            </a:r>
            <a:endParaRPr lang="en-US" sz="1000" dirty="0"/>
          </a:p>
        </p:txBody>
      </p:sp>
      <p:sp>
        <p:nvSpPr>
          <p:cNvPr id="4" name="Shape 2"/>
          <p:cNvSpPr/>
          <p:nvPr/>
        </p:nvSpPr>
        <p:spPr>
          <a:xfrm>
            <a:off x="731520" y="502920"/>
            <a:ext cx="1645920" cy="566928"/>
          </a:xfrm>
          <a:prstGeom prst="roundRect">
            <a:avLst>
              <a:gd name="adj" fmla="val 16129"/>
            </a:avLst>
          </a:prstGeom>
          <a:ln w="15875">
            <a:solidFill>
              <a:srgbClr val="2A3C6E"/>
            </a:solidFill>
            <a:prstDash val="dash"/>
          </a:ln>
        </p:spPr>
      </p:sp>
      <p:sp>
        <p:nvSpPr>
          <p:cNvPr id="5" name="Text 3"/>
          <p:cNvSpPr txBox="1"/>
          <p:nvPr/>
        </p:nvSpPr>
        <p:spPr>
          <a:xfrm>
            <a:off x="731520" y="502920"/>
            <a:ext cx="1645920" cy="566928"/>
          </a:xfrm>
          <a:prstGeom prst="rect">
            <a:avLst/>
          </a:prstGeom>
          <a:noFill/>
          <a:ln/>
        </p:spPr>
        <p:txBody>
          <a:bodyPr wrap="square" lIns="0" tIns="0" rIns="0" bIns="0" rtlCol="0" anchor="ctr"/>
          <a:lstStyle/>
          <a:p>
            <a:pPr algn="ctr" indent="0" marL="0">
              <a:lnSpc>
                <a:spcPct val="115000"/>
              </a:lnSpc>
              <a:buNone/>
            </a:pPr>
            <a:r>
              <a:rPr lang="en-US" sz="1100" b="1" spc="150" kern="0" dirty="0">
                <a:solidFill>
                  <a:srgbClr val="A9B6D6"/>
                </a:solidFill>
                <a:latin typeface="Calibri" pitchFamily="34" charset="0"/>
                <a:ea typeface="Calibri" pitchFamily="34" charset="-122"/>
                <a:cs typeface="Calibri" pitchFamily="34" charset="-120"/>
              </a:rPr>
              <a:t>LOGO HIMASI</a:t>
            </a:r>
            <a:endParaRPr lang="en-US" sz="1100" dirty="0"/>
          </a:p>
        </p:txBody>
      </p:sp>
      <p:sp>
        <p:nvSpPr>
          <p:cNvPr id="6" name="Shape 4"/>
          <p:cNvSpPr/>
          <p:nvPr/>
        </p:nvSpPr>
        <p:spPr>
          <a:xfrm>
            <a:off x="2514600" y="502920"/>
            <a:ext cx="1645920" cy="566928"/>
          </a:xfrm>
          <a:prstGeom prst="roundRect">
            <a:avLst>
              <a:gd name="adj" fmla="val 16129"/>
            </a:avLst>
          </a:prstGeom>
          <a:ln w="15875">
            <a:solidFill>
              <a:srgbClr val="2A3C6E"/>
            </a:solidFill>
            <a:prstDash val="dash"/>
          </a:ln>
        </p:spPr>
      </p:sp>
      <p:sp>
        <p:nvSpPr>
          <p:cNvPr id="7" name="Text 5"/>
          <p:cNvSpPr txBox="1"/>
          <p:nvPr/>
        </p:nvSpPr>
        <p:spPr>
          <a:xfrm>
            <a:off x="2514600" y="502920"/>
            <a:ext cx="1645920" cy="566928"/>
          </a:xfrm>
          <a:prstGeom prst="rect">
            <a:avLst/>
          </a:prstGeom>
          <a:noFill/>
          <a:ln/>
        </p:spPr>
        <p:txBody>
          <a:bodyPr wrap="square" lIns="0" tIns="0" rIns="0" bIns="0" rtlCol="0" anchor="ctr"/>
          <a:lstStyle/>
          <a:p>
            <a:pPr algn="ctr" indent="0" marL="0">
              <a:lnSpc>
                <a:spcPct val="115000"/>
              </a:lnSpc>
              <a:buNone/>
            </a:pPr>
            <a:r>
              <a:rPr lang="en-US" sz="1100" b="1" spc="150" kern="0" dirty="0">
                <a:solidFill>
                  <a:srgbClr val="A9B6D6"/>
                </a:solidFill>
                <a:latin typeface="Calibri" pitchFamily="34" charset="0"/>
                <a:ea typeface="Calibri" pitchFamily="34" charset="-122"/>
                <a:cs typeface="Calibri" pitchFamily="34" charset="-120"/>
              </a:rPr>
              <a:t>LOGO BLU</a:t>
            </a:r>
            <a:endParaRPr lang="en-US" sz="1100" dirty="0"/>
          </a:p>
        </p:txBody>
      </p:sp>
      <p:sp>
        <p:nvSpPr>
          <p:cNvPr id="8" name="Text 6"/>
          <p:cNvSpPr txBox="1"/>
          <p:nvPr/>
        </p:nvSpPr>
        <p:spPr>
          <a:xfrm>
            <a:off x="731520" y="1737360"/>
            <a:ext cx="8686800" cy="1463040"/>
          </a:xfrm>
          <a:prstGeom prst="rect">
            <a:avLst/>
          </a:prstGeom>
          <a:noFill/>
          <a:ln/>
        </p:spPr>
        <p:txBody>
          <a:bodyPr wrap="square" lIns="0" tIns="0" rIns="0" bIns="0" rtlCol="0" anchor="t"/>
          <a:lstStyle/>
          <a:p>
            <a:pPr algn="l" indent="0" marL="0">
              <a:lnSpc>
                <a:spcPct val="115000"/>
              </a:lnSpc>
              <a:buNone/>
            </a:pPr>
            <a:r>
              <a:rPr lang="en-US" sz="8000" b="1" dirty="0">
                <a:solidFill>
                  <a:srgbClr val="FFFFFF"/>
                </a:solidFill>
                <a:latin typeface="Calibri" pitchFamily="34" charset="0"/>
                <a:ea typeface="Calibri" pitchFamily="34" charset="-122"/>
                <a:cs typeface="Calibri" pitchFamily="34" charset="-120"/>
              </a:rPr>
              <a:t>Terima kasih.</a:t>
            </a:r>
            <a:endParaRPr lang="en-US" sz="8000" dirty="0"/>
          </a:p>
        </p:txBody>
      </p:sp>
      <p:sp>
        <p:nvSpPr>
          <p:cNvPr id="9" name="Text 7"/>
          <p:cNvSpPr txBox="1"/>
          <p:nvPr/>
        </p:nvSpPr>
        <p:spPr>
          <a:xfrm>
            <a:off x="731520" y="3246120"/>
            <a:ext cx="8686800" cy="822960"/>
          </a:xfrm>
          <a:prstGeom prst="rect">
            <a:avLst/>
          </a:prstGeom>
          <a:noFill/>
          <a:ln/>
        </p:spPr>
        <p:txBody>
          <a:bodyPr wrap="square" lIns="0" tIns="0" rIns="0" bIns="0" rtlCol="0" anchor="t"/>
          <a:lstStyle/>
          <a:p>
            <a:pPr algn="l" indent="0" marL="0">
              <a:lnSpc>
                <a:spcPct val="115000"/>
              </a:lnSpc>
              <a:buNone/>
            </a:pPr>
            <a:r>
              <a:rPr lang="en-US" sz="3600" b="1" dirty="0">
                <a:solidFill>
                  <a:srgbClr val="FFC83D"/>
                </a:solidFill>
                <a:latin typeface="Calibri" pitchFamily="34" charset="0"/>
                <a:ea typeface="Calibri" pitchFamily="34" charset="-122"/>
                <a:cs typeface="Calibri" pitchFamily="34" charset="-120"/>
              </a:rPr>
              <a:t>Sekarang giliranmu membangun.</a:t>
            </a:r>
            <a:endParaRPr lang="en-US" sz="3600" dirty="0"/>
          </a:p>
        </p:txBody>
      </p:sp>
      <p:sp>
        <p:nvSpPr>
          <p:cNvPr id="10" name="Shape 8"/>
          <p:cNvSpPr/>
          <p:nvPr/>
        </p:nvSpPr>
        <p:spPr>
          <a:xfrm>
            <a:off x="731520" y="4434840"/>
            <a:ext cx="1463040" cy="384048"/>
          </a:xfrm>
          <a:prstGeom prst="roundRect">
            <a:avLst>
              <a:gd name="adj" fmla="val 50000"/>
            </a:avLst>
          </a:prstGeom>
          <a:solidFill>
            <a:srgbClr val="FFC83D"/>
          </a:solidFill>
          <a:ln/>
        </p:spPr>
      </p:sp>
      <p:sp>
        <p:nvSpPr>
          <p:cNvPr id="11" name="Text 9"/>
          <p:cNvSpPr txBox="1"/>
          <p:nvPr/>
        </p:nvSpPr>
        <p:spPr>
          <a:xfrm>
            <a:off x="731520" y="4434840"/>
            <a:ext cx="1463040" cy="384048"/>
          </a:xfrm>
          <a:prstGeom prst="rect">
            <a:avLst/>
          </a:prstGeom>
          <a:noFill/>
          <a:ln/>
        </p:spPr>
        <p:txBody>
          <a:bodyPr wrap="square" lIns="0" tIns="0" rIns="0" bIns="0" rtlCol="0" anchor="ctr"/>
          <a:lstStyle/>
          <a:p>
            <a:pPr algn="ctr" indent="0" marL="0">
              <a:lnSpc>
                <a:spcPct val="115000"/>
              </a:lnSpc>
              <a:buNone/>
            </a:pPr>
            <a:r>
              <a:rPr lang="en-US" sz="1400" b="1" spc="120" kern="0" dirty="0">
                <a:solidFill>
                  <a:srgbClr val="0E1B3D"/>
                </a:solidFill>
                <a:latin typeface="Calibri" pitchFamily="34" charset="0"/>
                <a:ea typeface="Calibri" pitchFamily="34" charset="-122"/>
                <a:cs typeface="Calibri" pitchFamily="34" charset="-120"/>
              </a:rPr>
              <a:t>Q &amp; A</a:t>
            </a:r>
            <a:endParaRPr lang="en-US" sz="1400" dirty="0"/>
          </a:p>
        </p:txBody>
      </p:sp>
      <p:sp>
        <p:nvSpPr>
          <p:cNvPr id="12" name="Text 10"/>
          <p:cNvSpPr txBox="1"/>
          <p:nvPr/>
        </p:nvSpPr>
        <p:spPr>
          <a:xfrm>
            <a:off x="731520" y="5120640"/>
            <a:ext cx="7315200" cy="320040"/>
          </a:xfrm>
          <a:prstGeom prst="rect">
            <a:avLst/>
          </a:prstGeom>
          <a:noFill/>
          <a:ln/>
        </p:spPr>
        <p:txBody>
          <a:bodyPr wrap="square" lIns="0" tIns="0" rIns="0" bIns="0" rtlCol="0" anchor="t"/>
          <a:lstStyle/>
          <a:p>
            <a:pPr algn="l" indent="0" marL="0">
              <a:lnSpc>
                <a:spcPct val="115000"/>
              </a:lnSpc>
              <a:buNone/>
            </a:pPr>
            <a:r>
              <a:rPr lang="en-US" sz="1700" dirty="0">
                <a:solidFill>
                  <a:srgbClr val="A9B6D6"/>
                </a:solidFill>
                <a:latin typeface="Calibri" pitchFamily="34" charset="0"/>
                <a:ea typeface="Calibri" pitchFamily="34" charset="-122"/>
                <a:cs typeface="Calibri" pitchFamily="34" charset="-120"/>
              </a:rPr>
              <a:t>[@akun_pemateri]   ·   [email pemateri]</a:t>
            </a:r>
            <a:endParaRPr lang="en-US" sz="1700" dirty="0"/>
          </a:p>
        </p:txBody>
      </p:sp>
      <p:sp>
        <p:nvSpPr>
          <p:cNvPr id="13" name="Text 11"/>
          <p:cNvSpPr txBox="1"/>
          <p:nvPr/>
        </p:nvSpPr>
        <p:spPr>
          <a:xfrm>
            <a:off x="731520" y="5532120"/>
            <a:ext cx="8229600" cy="320040"/>
          </a:xfrm>
          <a:prstGeom prst="rect">
            <a:avLst/>
          </a:prstGeom>
          <a:noFill/>
          <a:ln/>
        </p:spPr>
        <p:txBody>
          <a:bodyPr wrap="square" lIns="0" tIns="0" rIns="0" bIns="0" rtlCol="0" anchor="t"/>
          <a:lstStyle/>
          <a:p>
            <a:pPr algn="l" indent="0" marL="0">
              <a:lnSpc>
                <a:spcPct val="115000"/>
              </a:lnSpc>
              <a:buNone/>
            </a:pPr>
            <a:r>
              <a:rPr lang="en-US" sz="1400" dirty="0">
                <a:solidFill>
                  <a:srgbClr val="A9B6D6"/>
                </a:solidFill>
                <a:latin typeface="Calibri" pitchFamily="34" charset="0"/>
                <a:ea typeface="Calibri" pitchFamily="34" charset="-122"/>
                <a:cs typeface="Calibri" pitchFamily="34" charset="-120"/>
              </a:rPr>
              <a:t>HIMASI Budi Luhur University  ·  SI FEST 2026  ·  Diving Deep Into Technology</a:t>
            </a:r>
            <a:endParaRPr lang="en-US" sz="1400" dirty="0"/>
          </a:p>
        </p:txBody>
      </p:sp>
      <p:sp>
        <p:nvSpPr>
          <p:cNvPr id="14" name="Shape 12"/>
          <p:cNvSpPr/>
          <p:nvPr/>
        </p:nvSpPr>
        <p:spPr>
          <a:xfrm>
            <a:off x="8229600" y="2011680"/>
            <a:ext cx="3931920" cy="2926080"/>
          </a:xfrm>
          <a:prstGeom prst="roundRect">
            <a:avLst>
              <a:gd name="adj" fmla="val 5000"/>
            </a:avLst>
          </a:prstGeom>
          <a:solidFill>
            <a:srgbClr val="FFFFFF"/>
          </a:solidFill>
          <a:ln w="15875">
            <a:solidFill>
              <a:srgbClr val="2A3C6E"/>
            </a:solidFill>
            <a:prstDash val="solid"/>
          </a:ln>
          <a:effectLst>
            <a:outerShdw sx="100000" sy="100000" kx="0" ky="0" algn="bl" rotWithShape="0" blurRad="177800" dist="38100" dir="5400000">
              <a:srgbClr val="000000">
                <a:alpha val="40000"/>
              </a:srgbClr>
            </a:outerShdw>
          </a:effectLst>
        </p:spPr>
      </p:sp>
      <p:sp>
        <p:nvSpPr>
          <p:cNvPr id="15" name="Shape 13"/>
          <p:cNvSpPr/>
          <p:nvPr/>
        </p:nvSpPr>
        <p:spPr>
          <a:xfrm>
            <a:off x="8247888" y="2029968"/>
            <a:ext cx="3895344" cy="384048"/>
          </a:xfrm>
          <a:prstGeom prst="roundRect">
            <a:avLst>
              <a:gd name="adj" fmla="val 33333"/>
            </a:avLst>
          </a:prstGeom>
          <a:solidFill>
            <a:srgbClr val="EEF1F7"/>
          </a:solidFill>
          <a:ln/>
        </p:spPr>
      </p:sp>
      <p:sp>
        <p:nvSpPr>
          <p:cNvPr id="16" name="Shape 14"/>
          <p:cNvSpPr/>
          <p:nvPr/>
        </p:nvSpPr>
        <p:spPr>
          <a:xfrm>
            <a:off x="8247888" y="2212848"/>
            <a:ext cx="3895344" cy="201168"/>
          </a:xfrm>
          <a:prstGeom prst="rect">
            <a:avLst/>
          </a:prstGeom>
          <a:solidFill>
            <a:srgbClr val="EEF1F7"/>
          </a:solidFill>
          <a:ln/>
        </p:spPr>
      </p:sp>
      <p:sp>
        <p:nvSpPr>
          <p:cNvPr id="17" name="Shape 15"/>
          <p:cNvSpPr/>
          <p:nvPr/>
        </p:nvSpPr>
        <p:spPr>
          <a:xfrm>
            <a:off x="8412480" y="2148840"/>
            <a:ext cx="100584" cy="100584"/>
          </a:xfrm>
          <a:prstGeom prst="ellipse">
            <a:avLst/>
          </a:prstGeom>
          <a:solidFill>
            <a:srgbClr val="E63946"/>
          </a:solidFill>
          <a:ln/>
        </p:spPr>
      </p:sp>
      <p:sp>
        <p:nvSpPr>
          <p:cNvPr id="18" name="Shape 16"/>
          <p:cNvSpPr/>
          <p:nvPr/>
        </p:nvSpPr>
        <p:spPr>
          <a:xfrm>
            <a:off x="8586216" y="2148840"/>
            <a:ext cx="100584" cy="100584"/>
          </a:xfrm>
          <a:prstGeom prst="ellipse">
            <a:avLst/>
          </a:prstGeom>
          <a:solidFill>
            <a:srgbClr val="FFC83D"/>
          </a:solidFill>
          <a:ln/>
        </p:spPr>
      </p:sp>
      <p:sp>
        <p:nvSpPr>
          <p:cNvPr id="19" name="Shape 17"/>
          <p:cNvSpPr/>
          <p:nvPr/>
        </p:nvSpPr>
        <p:spPr>
          <a:xfrm>
            <a:off x="8759952" y="2148840"/>
            <a:ext cx="100584" cy="100584"/>
          </a:xfrm>
          <a:prstGeom prst="ellipse">
            <a:avLst/>
          </a:prstGeom>
          <a:solidFill>
            <a:srgbClr val="1E9E68"/>
          </a:solidFill>
          <a:ln/>
        </p:spPr>
      </p:sp>
      <p:sp>
        <p:nvSpPr>
          <p:cNvPr id="20" name="Shape 18"/>
          <p:cNvSpPr/>
          <p:nvPr/>
        </p:nvSpPr>
        <p:spPr>
          <a:xfrm>
            <a:off x="9098280" y="2093976"/>
            <a:ext cx="2834640" cy="237744"/>
          </a:xfrm>
          <a:prstGeom prst="roundRect">
            <a:avLst>
              <a:gd name="adj" fmla="val 50000"/>
            </a:avLst>
          </a:prstGeom>
          <a:solidFill>
            <a:srgbClr val="FFFFFF"/>
          </a:solidFill>
          <a:ln/>
        </p:spPr>
      </p:sp>
      <p:sp>
        <p:nvSpPr>
          <p:cNvPr id="21" name="Text 19"/>
          <p:cNvSpPr txBox="1"/>
          <p:nvPr/>
        </p:nvSpPr>
        <p:spPr>
          <a:xfrm>
            <a:off x="9235440" y="2093976"/>
            <a:ext cx="256032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Calibri" pitchFamily="34" charset="0"/>
                <a:ea typeface="Calibri" pitchFamily="34" charset="-122"/>
                <a:cs typeface="Calibri" pitchFamily="34" charset="-120"/>
              </a:rPr>
              <a:t>portofolio-pertamaku.netlify.app</a:t>
            </a:r>
            <a:endParaRPr lang="en-US" sz="1100" dirty="0"/>
          </a:p>
        </p:txBody>
      </p:sp>
      <p:sp>
        <p:nvSpPr>
          <p:cNvPr id="22" name="Shape 20"/>
          <p:cNvSpPr/>
          <p:nvPr/>
        </p:nvSpPr>
        <p:spPr>
          <a:xfrm>
            <a:off x="8247888" y="2414016"/>
            <a:ext cx="3895344" cy="2487168"/>
          </a:xfrm>
          <a:prstGeom prst="rect">
            <a:avLst/>
          </a:prstGeom>
          <a:solidFill>
            <a:srgbClr val="FAF8F4"/>
          </a:solidFill>
          <a:ln/>
        </p:spPr>
      </p:sp>
      <p:sp>
        <p:nvSpPr>
          <p:cNvPr id="23" name="Shape 21"/>
          <p:cNvSpPr/>
          <p:nvPr/>
        </p:nvSpPr>
        <p:spPr>
          <a:xfrm>
            <a:off x="8247888" y="2414016"/>
            <a:ext cx="3895344" cy="914400"/>
          </a:xfrm>
          <a:prstGeom prst="rect">
            <a:avLst/>
          </a:prstGeom>
          <a:solidFill>
            <a:srgbClr val="0E1B3D"/>
          </a:solidFill>
          <a:ln/>
        </p:spPr>
      </p:sp>
      <p:sp>
        <p:nvSpPr>
          <p:cNvPr id="24" name="Text 22"/>
          <p:cNvSpPr txBox="1"/>
          <p:nvPr/>
        </p:nvSpPr>
        <p:spPr>
          <a:xfrm>
            <a:off x="8467344" y="2560320"/>
            <a:ext cx="3456432" cy="329184"/>
          </a:xfrm>
          <a:prstGeom prst="rect">
            <a:avLst/>
          </a:prstGeom>
          <a:noFill/>
          <a:ln/>
        </p:spPr>
        <p:txBody>
          <a:bodyPr wrap="square" lIns="0" tIns="0" rIns="0" bIns="0" rtlCol="0" anchor="t"/>
          <a:lstStyle/>
          <a:p>
            <a:pPr algn="l" indent="0" marL="0">
              <a:lnSpc>
                <a:spcPct val="115000"/>
              </a:lnSpc>
              <a:buNone/>
            </a:pPr>
            <a:r>
              <a:rPr lang="en-US" sz="1920" b="1" dirty="0">
                <a:solidFill>
                  <a:srgbClr val="FFFFFF"/>
                </a:solidFill>
                <a:latin typeface="Calibri" pitchFamily="34" charset="0"/>
                <a:ea typeface="Calibri" pitchFamily="34" charset="-122"/>
                <a:cs typeface="Calibri" pitchFamily="34" charset="-120"/>
              </a:rPr>
              <a:t>Alya Putri</a:t>
            </a:r>
            <a:endParaRPr lang="en-US" sz="1920" dirty="0"/>
          </a:p>
        </p:txBody>
      </p:sp>
      <p:sp>
        <p:nvSpPr>
          <p:cNvPr id="25" name="Text 23"/>
          <p:cNvSpPr txBox="1"/>
          <p:nvPr/>
        </p:nvSpPr>
        <p:spPr>
          <a:xfrm>
            <a:off x="8467344" y="2867558"/>
            <a:ext cx="3456432" cy="182880"/>
          </a:xfrm>
          <a:prstGeom prst="rect">
            <a:avLst/>
          </a:prstGeom>
          <a:noFill/>
          <a:ln/>
        </p:spPr>
        <p:txBody>
          <a:bodyPr wrap="square" lIns="0" tIns="0" rIns="0" bIns="0" rtlCol="0" anchor="t"/>
          <a:lstStyle/>
          <a:p>
            <a:pPr algn="l" indent="0" marL="0">
              <a:lnSpc>
                <a:spcPct val="115000"/>
              </a:lnSpc>
              <a:buNone/>
            </a:pPr>
            <a:r>
              <a:rPr lang="en-US" sz="960" dirty="0">
                <a:solidFill>
                  <a:srgbClr val="FFC83D"/>
                </a:solidFill>
                <a:latin typeface="Calibri" pitchFamily="34" charset="0"/>
                <a:ea typeface="Calibri" pitchFamily="34" charset="-122"/>
                <a:cs typeface="Calibri" pitchFamily="34" charset="-120"/>
              </a:rPr>
              <a:t>Siswa SMA · Calon Web Developer</a:t>
            </a:r>
            <a:endParaRPr lang="en-US" sz="960" dirty="0"/>
          </a:p>
        </p:txBody>
      </p:sp>
      <p:sp>
        <p:nvSpPr>
          <p:cNvPr id="26" name="Shape 24"/>
          <p:cNvSpPr/>
          <p:nvPr/>
        </p:nvSpPr>
        <p:spPr>
          <a:xfrm>
            <a:off x="8467344" y="3094330"/>
            <a:ext cx="621792" cy="175565"/>
          </a:xfrm>
          <a:prstGeom prst="roundRect">
            <a:avLst>
              <a:gd name="adj" fmla="val 50000"/>
            </a:avLst>
          </a:prstGeom>
          <a:solidFill>
            <a:srgbClr val="17285A"/>
          </a:solidFill>
          <a:ln/>
        </p:spPr>
      </p:sp>
      <p:sp>
        <p:nvSpPr>
          <p:cNvPr id="27" name="Text 25"/>
          <p:cNvSpPr txBox="1"/>
          <p:nvPr/>
        </p:nvSpPr>
        <p:spPr>
          <a:xfrm>
            <a:off x="8467344" y="3094330"/>
            <a:ext cx="621792" cy="175565"/>
          </a:xfrm>
          <a:prstGeom prst="rect">
            <a:avLst/>
          </a:prstGeom>
          <a:noFill/>
          <a:ln/>
        </p:spPr>
        <p:txBody>
          <a:bodyPr wrap="square" lIns="0" tIns="0" rIns="0" bIns="0" rtlCol="0" anchor="ctr"/>
          <a:lstStyle/>
          <a:p>
            <a:pPr algn="ctr" indent="0" marL="0">
              <a:lnSpc>
                <a:spcPct val="115000"/>
              </a:lnSpc>
              <a:buNone/>
            </a:pPr>
            <a:r>
              <a:rPr lang="en-US" sz="800" b="1" dirty="0">
                <a:solidFill>
                  <a:srgbClr val="F4F6FB"/>
                </a:solidFill>
                <a:latin typeface="Calibri" pitchFamily="34" charset="0"/>
                <a:ea typeface="Calibri" pitchFamily="34" charset="-122"/>
                <a:cs typeface="Calibri" pitchFamily="34" charset="-120"/>
              </a:rPr>
              <a:t>Tentang</a:t>
            </a:r>
            <a:endParaRPr lang="en-US" sz="800" dirty="0"/>
          </a:p>
        </p:txBody>
      </p:sp>
      <p:sp>
        <p:nvSpPr>
          <p:cNvPr id="28" name="Shape 26"/>
          <p:cNvSpPr/>
          <p:nvPr/>
        </p:nvSpPr>
        <p:spPr>
          <a:xfrm>
            <a:off x="9162288" y="3094330"/>
            <a:ext cx="621792" cy="175565"/>
          </a:xfrm>
          <a:prstGeom prst="roundRect">
            <a:avLst>
              <a:gd name="adj" fmla="val 50000"/>
            </a:avLst>
          </a:prstGeom>
          <a:solidFill>
            <a:srgbClr val="17285A"/>
          </a:solidFill>
          <a:ln/>
        </p:spPr>
      </p:sp>
      <p:sp>
        <p:nvSpPr>
          <p:cNvPr id="29" name="Text 27"/>
          <p:cNvSpPr txBox="1"/>
          <p:nvPr/>
        </p:nvSpPr>
        <p:spPr>
          <a:xfrm>
            <a:off x="9162288" y="3094330"/>
            <a:ext cx="621792" cy="175565"/>
          </a:xfrm>
          <a:prstGeom prst="rect">
            <a:avLst/>
          </a:prstGeom>
          <a:noFill/>
          <a:ln/>
        </p:spPr>
        <p:txBody>
          <a:bodyPr wrap="square" lIns="0" tIns="0" rIns="0" bIns="0" rtlCol="0" anchor="ctr"/>
          <a:lstStyle/>
          <a:p>
            <a:pPr algn="ctr" indent="0" marL="0">
              <a:lnSpc>
                <a:spcPct val="115000"/>
              </a:lnSpc>
              <a:buNone/>
            </a:pPr>
            <a:r>
              <a:rPr lang="en-US" sz="800" b="1" dirty="0">
                <a:solidFill>
                  <a:srgbClr val="F4F6FB"/>
                </a:solidFill>
                <a:latin typeface="Calibri" pitchFamily="34" charset="0"/>
                <a:ea typeface="Calibri" pitchFamily="34" charset="-122"/>
                <a:cs typeface="Calibri" pitchFamily="34" charset="-120"/>
              </a:rPr>
              <a:t>Skill</a:t>
            </a:r>
            <a:endParaRPr lang="en-US" sz="800" dirty="0"/>
          </a:p>
        </p:txBody>
      </p:sp>
      <p:sp>
        <p:nvSpPr>
          <p:cNvPr id="30" name="Shape 28"/>
          <p:cNvSpPr/>
          <p:nvPr/>
        </p:nvSpPr>
        <p:spPr>
          <a:xfrm>
            <a:off x="9857232" y="3094330"/>
            <a:ext cx="621792" cy="175565"/>
          </a:xfrm>
          <a:prstGeom prst="roundRect">
            <a:avLst>
              <a:gd name="adj" fmla="val 50000"/>
            </a:avLst>
          </a:prstGeom>
          <a:solidFill>
            <a:srgbClr val="17285A"/>
          </a:solidFill>
          <a:ln/>
        </p:spPr>
      </p:sp>
      <p:sp>
        <p:nvSpPr>
          <p:cNvPr id="31" name="Text 29"/>
          <p:cNvSpPr txBox="1"/>
          <p:nvPr/>
        </p:nvSpPr>
        <p:spPr>
          <a:xfrm>
            <a:off x="9857232" y="3094330"/>
            <a:ext cx="621792" cy="175565"/>
          </a:xfrm>
          <a:prstGeom prst="rect">
            <a:avLst/>
          </a:prstGeom>
          <a:noFill/>
          <a:ln/>
        </p:spPr>
        <p:txBody>
          <a:bodyPr wrap="square" lIns="0" tIns="0" rIns="0" bIns="0" rtlCol="0" anchor="ctr"/>
          <a:lstStyle/>
          <a:p>
            <a:pPr algn="ctr" indent="0" marL="0">
              <a:lnSpc>
                <a:spcPct val="115000"/>
              </a:lnSpc>
              <a:buNone/>
            </a:pPr>
            <a:r>
              <a:rPr lang="en-US" sz="800" b="1" dirty="0">
                <a:solidFill>
                  <a:srgbClr val="F4F6FB"/>
                </a:solidFill>
                <a:latin typeface="Calibri" pitchFamily="34" charset="0"/>
                <a:ea typeface="Calibri" pitchFamily="34" charset="-122"/>
                <a:cs typeface="Calibri" pitchFamily="34" charset="-120"/>
              </a:rPr>
              <a:t>Project</a:t>
            </a:r>
            <a:endParaRPr lang="en-US" sz="800" dirty="0"/>
          </a:p>
        </p:txBody>
      </p:sp>
      <p:sp>
        <p:nvSpPr>
          <p:cNvPr id="32" name="Shape 30"/>
          <p:cNvSpPr/>
          <p:nvPr/>
        </p:nvSpPr>
        <p:spPr>
          <a:xfrm>
            <a:off x="10552176" y="3094330"/>
            <a:ext cx="621792" cy="175565"/>
          </a:xfrm>
          <a:prstGeom prst="roundRect">
            <a:avLst>
              <a:gd name="adj" fmla="val 50000"/>
            </a:avLst>
          </a:prstGeom>
          <a:solidFill>
            <a:srgbClr val="17285A"/>
          </a:solidFill>
          <a:ln/>
        </p:spPr>
      </p:sp>
      <p:sp>
        <p:nvSpPr>
          <p:cNvPr id="33" name="Text 31"/>
          <p:cNvSpPr txBox="1"/>
          <p:nvPr/>
        </p:nvSpPr>
        <p:spPr>
          <a:xfrm>
            <a:off x="10552176" y="3094330"/>
            <a:ext cx="621792" cy="175565"/>
          </a:xfrm>
          <a:prstGeom prst="rect">
            <a:avLst/>
          </a:prstGeom>
          <a:noFill/>
          <a:ln/>
        </p:spPr>
        <p:txBody>
          <a:bodyPr wrap="square" lIns="0" tIns="0" rIns="0" bIns="0" rtlCol="0" anchor="ctr"/>
          <a:lstStyle/>
          <a:p>
            <a:pPr algn="ctr" indent="0" marL="0">
              <a:lnSpc>
                <a:spcPct val="115000"/>
              </a:lnSpc>
              <a:buNone/>
            </a:pPr>
            <a:r>
              <a:rPr lang="en-US" sz="800" b="1" dirty="0">
                <a:solidFill>
                  <a:srgbClr val="F4F6FB"/>
                </a:solidFill>
                <a:latin typeface="Calibri" pitchFamily="34" charset="0"/>
                <a:ea typeface="Calibri" pitchFamily="34" charset="-122"/>
                <a:cs typeface="Calibri" pitchFamily="34" charset="-120"/>
              </a:rPr>
              <a:t>Kontak</a:t>
            </a:r>
            <a:endParaRPr lang="en-US" sz="800" dirty="0"/>
          </a:p>
        </p:txBody>
      </p:sp>
      <p:sp>
        <p:nvSpPr>
          <p:cNvPr id="34" name="Shape 32"/>
          <p:cNvSpPr/>
          <p:nvPr/>
        </p:nvSpPr>
        <p:spPr>
          <a:xfrm>
            <a:off x="8467344" y="3547872"/>
            <a:ext cx="1618488" cy="804672"/>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35" name="Text 33"/>
          <p:cNvSpPr txBox="1"/>
          <p:nvPr/>
        </p:nvSpPr>
        <p:spPr>
          <a:xfrm>
            <a:off x="8577072" y="3650285"/>
            <a:ext cx="1399032" cy="182880"/>
          </a:xfrm>
          <a:prstGeom prst="rect">
            <a:avLst/>
          </a:prstGeom>
          <a:noFill/>
          <a:ln/>
        </p:spPr>
        <p:txBody>
          <a:bodyPr wrap="square" lIns="0" tIns="0" rIns="0" bIns="0" rtlCol="0" anchor="t"/>
          <a:lstStyle/>
          <a:p>
            <a:pPr algn="l" indent="0" marL="0">
              <a:lnSpc>
                <a:spcPct val="115000"/>
              </a:lnSpc>
              <a:buNone/>
            </a:pPr>
            <a:r>
              <a:rPr lang="en-US" sz="960" b="1" dirty="0">
                <a:solidFill>
                  <a:srgbClr val="0E1B3D"/>
                </a:solidFill>
                <a:latin typeface="Calibri" pitchFamily="34" charset="0"/>
                <a:ea typeface="Calibri" pitchFamily="34" charset="-122"/>
                <a:cs typeface="Calibri" pitchFamily="34" charset="-120"/>
              </a:rPr>
              <a:t>Profil Pribadi</a:t>
            </a:r>
            <a:endParaRPr lang="en-US" sz="960" dirty="0"/>
          </a:p>
        </p:txBody>
      </p:sp>
      <p:sp>
        <p:nvSpPr>
          <p:cNvPr id="36" name="Shape 34"/>
          <p:cNvSpPr/>
          <p:nvPr/>
        </p:nvSpPr>
        <p:spPr>
          <a:xfrm>
            <a:off x="8577072" y="3913632"/>
            <a:ext cx="1399032" cy="51206"/>
          </a:xfrm>
          <a:prstGeom prst="rect">
            <a:avLst/>
          </a:prstGeom>
          <a:solidFill>
            <a:srgbClr val="E3DFD6"/>
          </a:solidFill>
          <a:ln/>
        </p:spPr>
      </p:sp>
      <p:sp>
        <p:nvSpPr>
          <p:cNvPr id="37" name="Shape 35"/>
          <p:cNvSpPr/>
          <p:nvPr/>
        </p:nvSpPr>
        <p:spPr>
          <a:xfrm>
            <a:off x="8577072" y="4045306"/>
            <a:ext cx="909371" cy="51206"/>
          </a:xfrm>
          <a:prstGeom prst="rect">
            <a:avLst/>
          </a:prstGeom>
          <a:solidFill>
            <a:srgbClr val="E3DFD6"/>
          </a:solidFill>
          <a:ln/>
        </p:spPr>
      </p:sp>
      <p:sp>
        <p:nvSpPr>
          <p:cNvPr id="38" name="Shape 36"/>
          <p:cNvSpPr/>
          <p:nvPr/>
        </p:nvSpPr>
        <p:spPr>
          <a:xfrm>
            <a:off x="10305288" y="3547872"/>
            <a:ext cx="1618488" cy="804672"/>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39" name="Text 37"/>
          <p:cNvSpPr txBox="1"/>
          <p:nvPr/>
        </p:nvSpPr>
        <p:spPr>
          <a:xfrm>
            <a:off x="10415016" y="3650285"/>
            <a:ext cx="1399032" cy="182880"/>
          </a:xfrm>
          <a:prstGeom prst="rect">
            <a:avLst/>
          </a:prstGeom>
          <a:noFill/>
          <a:ln/>
        </p:spPr>
        <p:txBody>
          <a:bodyPr wrap="square" lIns="0" tIns="0" rIns="0" bIns="0" rtlCol="0" anchor="t"/>
          <a:lstStyle/>
          <a:p>
            <a:pPr algn="l" indent="0" marL="0">
              <a:lnSpc>
                <a:spcPct val="115000"/>
              </a:lnSpc>
              <a:buNone/>
            </a:pPr>
            <a:r>
              <a:rPr lang="en-US" sz="960" b="1" dirty="0">
                <a:solidFill>
                  <a:srgbClr val="0E1B3D"/>
                </a:solidFill>
                <a:latin typeface="Calibri" pitchFamily="34" charset="0"/>
                <a:ea typeface="Calibri" pitchFamily="34" charset="-122"/>
                <a:cs typeface="Calibri" pitchFamily="34" charset="-120"/>
              </a:rPr>
              <a:t>Cuaca Hari Ini</a:t>
            </a:r>
            <a:endParaRPr lang="en-US" sz="960" dirty="0"/>
          </a:p>
        </p:txBody>
      </p:sp>
      <p:sp>
        <p:nvSpPr>
          <p:cNvPr id="40" name="Shape 38"/>
          <p:cNvSpPr/>
          <p:nvPr/>
        </p:nvSpPr>
        <p:spPr>
          <a:xfrm>
            <a:off x="10415016" y="3913632"/>
            <a:ext cx="1399032" cy="51206"/>
          </a:xfrm>
          <a:prstGeom prst="rect">
            <a:avLst/>
          </a:prstGeom>
          <a:solidFill>
            <a:srgbClr val="E3DFD6"/>
          </a:solidFill>
          <a:ln/>
        </p:spPr>
      </p:sp>
      <p:sp>
        <p:nvSpPr>
          <p:cNvPr id="41" name="Shape 39"/>
          <p:cNvSpPr/>
          <p:nvPr/>
        </p:nvSpPr>
        <p:spPr>
          <a:xfrm>
            <a:off x="10415016" y="4045306"/>
            <a:ext cx="909371" cy="51206"/>
          </a:xfrm>
          <a:prstGeom prst="rect">
            <a:avLst/>
          </a:prstGeom>
          <a:solidFill>
            <a:srgbClr val="E3DFD6"/>
          </a:solidFill>
          <a:ln/>
        </p:spPr>
      </p:sp>
      <p:sp>
        <p:nvSpPr>
          <p:cNvPr id="42" name="Shape 40"/>
          <p:cNvSpPr/>
          <p:nvPr/>
        </p:nvSpPr>
        <p:spPr>
          <a:xfrm>
            <a:off x="8467344" y="4572000"/>
            <a:ext cx="548640" cy="190195"/>
          </a:xfrm>
          <a:prstGeom prst="roundRect">
            <a:avLst>
              <a:gd name="adj" fmla="val 50000"/>
            </a:avLst>
          </a:prstGeom>
          <a:solidFill>
            <a:srgbClr val="DCE6FF"/>
          </a:solidFill>
          <a:ln/>
        </p:spPr>
      </p:sp>
      <p:sp>
        <p:nvSpPr>
          <p:cNvPr id="43" name="Text 41"/>
          <p:cNvSpPr txBox="1"/>
          <p:nvPr/>
        </p:nvSpPr>
        <p:spPr>
          <a:xfrm>
            <a:off x="8467344" y="4572000"/>
            <a:ext cx="548640" cy="190195"/>
          </a:xfrm>
          <a:prstGeom prst="rect">
            <a:avLst/>
          </a:prstGeom>
          <a:noFill/>
          <a:ln/>
        </p:spPr>
        <p:txBody>
          <a:bodyPr wrap="square" lIns="0" tIns="0" rIns="0" bIns="0" rtlCol="0" anchor="ctr"/>
          <a:lstStyle/>
          <a:p>
            <a:pPr algn="ctr" indent="0" marL="0">
              <a:lnSpc>
                <a:spcPct val="115000"/>
              </a:lnSpc>
              <a:buNone/>
            </a:pPr>
            <a:r>
              <a:rPr lang="en-US" sz="800" b="1" dirty="0">
                <a:solidFill>
                  <a:srgbClr val="1F4FD8"/>
                </a:solidFill>
                <a:latin typeface="Calibri" pitchFamily="34" charset="0"/>
                <a:ea typeface="Calibri" pitchFamily="34" charset="-122"/>
                <a:cs typeface="Calibri" pitchFamily="34" charset="-120"/>
              </a:rPr>
              <a:t>HTML</a:t>
            </a:r>
            <a:endParaRPr lang="en-US" sz="800" dirty="0"/>
          </a:p>
        </p:txBody>
      </p:sp>
      <p:sp>
        <p:nvSpPr>
          <p:cNvPr id="44" name="Shape 42"/>
          <p:cNvSpPr/>
          <p:nvPr/>
        </p:nvSpPr>
        <p:spPr>
          <a:xfrm>
            <a:off x="9089136" y="4572000"/>
            <a:ext cx="548640" cy="190195"/>
          </a:xfrm>
          <a:prstGeom prst="roundRect">
            <a:avLst>
              <a:gd name="adj" fmla="val 50000"/>
            </a:avLst>
          </a:prstGeom>
          <a:solidFill>
            <a:srgbClr val="DCE6FF"/>
          </a:solidFill>
          <a:ln/>
        </p:spPr>
      </p:sp>
      <p:sp>
        <p:nvSpPr>
          <p:cNvPr id="45" name="Text 43"/>
          <p:cNvSpPr txBox="1"/>
          <p:nvPr/>
        </p:nvSpPr>
        <p:spPr>
          <a:xfrm>
            <a:off x="9089136" y="4572000"/>
            <a:ext cx="548640" cy="190195"/>
          </a:xfrm>
          <a:prstGeom prst="rect">
            <a:avLst/>
          </a:prstGeom>
          <a:noFill/>
          <a:ln/>
        </p:spPr>
        <p:txBody>
          <a:bodyPr wrap="square" lIns="0" tIns="0" rIns="0" bIns="0" rtlCol="0" anchor="ctr"/>
          <a:lstStyle/>
          <a:p>
            <a:pPr algn="ctr" indent="0" marL="0">
              <a:lnSpc>
                <a:spcPct val="115000"/>
              </a:lnSpc>
              <a:buNone/>
            </a:pPr>
            <a:r>
              <a:rPr lang="en-US" sz="800" b="1" dirty="0">
                <a:solidFill>
                  <a:srgbClr val="1F4FD8"/>
                </a:solidFill>
                <a:latin typeface="Calibri" pitchFamily="34" charset="0"/>
                <a:ea typeface="Calibri" pitchFamily="34" charset="-122"/>
                <a:cs typeface="Calibri" pitchFamily="34" charset="-120"/>
              </a:rPr>
              <a:t>CSS</a:t>
            </a:r>
            <a:endParaRPr lang="en-US" sz="800" dirty="0"/>
          </a:p>
        </p:txBody>
      </p:sp>
      <p:sp>
        <p:nvSpPr>
          <p:cNvPr id="46" name="Shape 44"/>
          <p:cNvSpPr/>
          <p:nvPr/>
        </p:nvSpPr>
        <p:spPr>
          <a:xfrm>
            <a:off x="9710928" y="4572000"/>
            <a:ext cx="548640" cy="190195"/>
          </a:xfrm>
          <a:prstGeom prst="roundRect">
            <a:avLst>
              <a:gd name="adj" fmla="val 50000"/>
            </a:avLst>
          </a:prstGeom>
          <a:solidFill>
            <a:srgbClr val="DCE6FF"/>
          </a:solidFill>
          <a:ln/>
        </p:spPr>
      </p:sp>
      <p:sp>
        <p:nvSpPr>
          <p:cNvPr id="47" name="Text 45"/>
          <p:cNvSpPr txBox="1"/>
          <p:nvPr/>
        </p:nvSpPr>
        <p:spPr>
          <a:xfrm>
            <a:off x="9710928" y="4572000"/>
            <a:ext cx="548640" cy="190195"/>
          </a:xfrm>
          <a:prstGeom prst="rect">
            <a:avLst/>
          </a:prstGeom>
          <a:noFill/>
          <a:ln/>
        </p:spPr>
        <p:txBody>
          <a:bodyPr wrap="square" lIns="0" tIns="0" rIns="0" bIns="0" rtlCol="0" anchor="ctr"/>
          <a:lstStyle/>
          <a:p>
            <a:pPr algn="ctr" indent="0" marL="0">
              <a:lnSpc>
                <a:spcPct val="115000"/>
              </a:lnSpc>
              <a:buNone/>
            </a:pPr>
            <a:r>
              <a:rPr lang="en-US" sz="800" b="1" dirty="0">
                <a:solidFill>
                  <a:srgbClr val="1F4FD8"/>
                </a:solidFill>
                <a:latin typeface="Calibri" pitchFamily="34" charset="0"/>
                <a:ea typeface="Calibri" pitchFamily="34" charset="-122"/>
                <a:cs typeface="Calibri" pitchFamily="34" charset="-120"/>
              </a:rPr>
              <a:t>Git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 FEST 2026 — Sesi 1: Unlock Your Potential Through Web Technology</dc:title>
  <dc:subject>PptxGenJS Presentation</dc:subject>
  <dc:creator>HIMASI Budi Luhur University</dc:creator>
  <cp:lastModifiedBy>HIMASI Budi Luhur University</cp:lastModifiedBy>
  <cp:revision>1</cp:revision>
  <dcterms:created xsi:type="dcterms:W3CDTF">2026-10-08T07:38:13Z</dcterms:created>
  <dcterms:modified xsi:type="dcterms:W3CDTF">2026-10-08T07:38:13Z</dcterms:modified>
</cp:coreProperties>
</file>