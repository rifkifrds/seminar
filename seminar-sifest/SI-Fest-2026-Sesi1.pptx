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an" id="{5e7a0559-9563-a99b-2693-8b555f24edeb}">
          <p14:sldIdLst>
            <p14:sldId id="256"/>
            <p14:sldId id="257"/>
            <p14:sldId id="258"/>
            <p14:sldId id="259"/>
            <p14:sldId id="260"/>
          </p14:sldIdLst>
        </p14:section>
        <p14:section name="Dasar Web" id="{0a87040a-7953-0442-2416-92e27fceacc0}">
          <p14:sldIdLst>
            <p14:sldId id="261"/>
            <p14:sldId id="262"/>
            <p14:sldId id="263"/>
            <p14:sldId id="264"/>
            <p14:sldId id="265"/>
          </p14:sldIdLst>
        </p14:section>
        <p14:section name="HTML" id="{7ee90555-785a-b5c7-dd57-fbc01af2e4cf}">
          <p14:sldIdLst>
            <p14:sldId id="266"/>
            <p14:sldId id="267"/>
            <p14:sldId id="268"/>
            <p14:sldId id="269"/>
            <p14:sldId id="270"/>
            <p14:sldId id="271"/>
            <p14:sldId id="272"/>
          </p14:sldIdLst>
        </p14:section>
        <p14:section name="CSS" id="{61758b86-bf6a-18eb-1fd8-ad9c74558f60}">
          <p14:sldIdLst>
            <p14:sldId id="273"/>
            <p14:sldId id="274"/>
            <p14:sldId id="275"/>
            <p14:sldId id="276"/>
            <p14:sldId id="277"/>
            <p14:sldId id="278"/>
            <p14:sldId id="279"/>
            <p14:sldId id="280"/>
            <p14:sldId id="281"/>
          </p14:sldIdLst>
        </p14:section>
        <p14:section name="Proyek &amp; Publish" id="{5ba8aabc-6ea6-0a75-dcec-81c2235720c5}">
          <p14:sldIdLst>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 menit (07.30 – 07.33)
NASKAH:
Selamat pagi, adik-adik! Selamat datang di SI Fest 2026. Hari ini kita punya satu tujuan: pulang membawa website buatan sendiri. Bukan template orang lain, tapi hasil ketikan kalian sendiri. Tenang, tidak perlu pengalaman sama sekali.
AKSI:
Sambut peserta. Pastikan semua PC menyala dan VS Code terbuka. Tampilkan slide ini saat peserta masuk dan duduk.
JEBAKAN UMUM:
Peserta datang bertahap. Jangan mulai materi sebelum sebagian besar sudah duduk. Cek juga apakah tulisan terbaca dari baris belakang.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 menit
NASKAH:
Perkenalkan, saya [nama]. Saya [role] di [organisasi]. [Ceritakan 1–2 kalimat: kapan pertama kali ngoding, dan apa yang bikin kamu terus belajar]. Hari ini saya temani kalian dari nol sampai website kalian bisa dibuka di internet.
AKSI:
Isi nama, role, foto, dan cerita singkat sebelum hari-H. Jangan lebih dari 3 menit.
JEBAKAN UMUM:
Cerita yang terlalu teknis membuat siswa merasa jauh. Ceritakan versi yang paling manusiawi, termasuk kesalahan pertamamu.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 menit
NASKAH:
Ini yang akan kita buat: halaman profil pribadi, isinya nama, cerita singkat, skill, project, dan kontak. Ini portofolio pertama kalian. Di akhir sesi, halaman ini punya alamat sendiri di internet.
AKSI:
Tunjukkan hasil jadi di browser sebagai demo singkat (folder starter-kit ada di laptop pemateri). Biarkan peserta melihat target mereka.
JEBAKAN UMUM:
Peserta mungkin merasa harus sehebat contoh ini. Tegaskan: ini hasil akhir, kita membangunnya pelan-pelan, selangkah demi selangkah.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 menit
NASKAH:
Kita punya hampir empat jam. Urutannya: pertama dasar web, kedua HTML untuk kerangka, istirahat, ketiga CSS untuk tampilan, terakhir kita rampungkan dan tayangkan online. Lebih dari separuh waktu kita habis untuk mengetik, bukan mendengarkan.
AKSI:
Tunjuk tiap kolom sambil menyebut jamnya. Sebutkan juga jam istirahat.
JEBAKAN UMUM:
Siswa sering tidak sadar sesi ini panjang. Sebut dari awal bahwa ada istirahat supaya energi terjaga.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8 menit
NASKAH:
Pertanyaan pertama: siapa pernah klik kanan lalu Inspect? Kedua: siapa pernah bikin website? Ketiga, yang paling penting: siapa takut salah kode hari ini? Tenang. Salah itu normal. Programmer profesional pun salah tiap hari. Bedanya, mereka tahu cara membaca pesan error lalu memperbaikinya. Itu yang kita latih hari ini.
AKSI:
Hitung kasar tangan yang naik dan catat. Tanya 2–3 siswa secara acak untuk bercerita. Pakai hasilnya untuk mengatur kecepatan.
JEBAKAN UMUM:
Jika hampir semua siswa belum pernah ngoding, pelankan tempo di bagian HTML. Jangan sampai siswa yang diam merasa tertinggal.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1 menit
NASKAH:
Bagian pertama: dasar web. Singkat saja, kurang dari 30 menit, lalu kita langsung praktik.
AKSI:
Transisi cepat ke slide berikutnya.
JEBAKAN UMUM:
Jangan berlama-lama di slide pembatas.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Waktu kalian membuka sebuah website, apa yang terjadi? Seperti memesan makanan. Browser kalian "memesan" halaman lewat internet ke sebuah komputer bernama server. Server "menyajikan" file HTML dan CSS. Browser lalu menyusunnya jadi halaman yang kalian lihat. Hari ini kita tidak butuh server sungguhan, karena ada alat bernama Live Server yang pura-pura jadi server di komputer kalian sendiri.
AKSI:
Tunjuk panah satu per satu: "memesan" lalu "menyajikan". Kalau waktu cukup, buka satu website, tekan F12, dan tunjukkan tab Network sebentar (opsional).
JEBAKAN UMUM:
Jangan masuk ke istilah DNS, HTTP, atau IP. Cukup konsep meminta dan menjawab. Untuk siswa SMA itu sudah lebih dari cukup.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Setiap website dibuat dari tiga bahan. Bayangkan sebuah rumah. HTML itu rangkanya: menentukan ada kamar apa saja. CSS itu cat dan dekorasinya: warna, huruf, tata letak. JavaScript itu listriknya: membuat rumah bisa dipakai, lampu menyala, pintu terbuka. Hari ini kita fokus ke dua yang pertama, rangka dan dekorasi. JavaScript nanti, di rumah.
AKSI:
Tunjuk kartu satu per satu. Tanya: "kalau rumah tanpa cat, kira-kira seperti apa?" Biarkan 2–3 siswa menebak. Jawabannya terlihat di slide 19.
JEBAKAN UMUM:
Siswa sering bertanya "kapan belajar JavaScript?". Jawab: itu langkah berikutnya, dan slide terakhir memuat peta belajarnya.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Kita hanya pakai tiga alat. VS Code untuk menulis kode. Live Server supaya begitu kita simpan file, browser langsung menampilkan hasilnya, tanpa perlu refresh. Dan DevTools, tombol F12, untuk mengintip kode website mana pun, termasuk website yang kalian suka. Folder portofolio kita nanti berisi index.html, style.css, dan satu folder img untuk gambar.
AKSI:
Demo: tekan F12 di website sekolah atau Google, tunjukkan tab Elements. Jelaskan bahwa kode website itu bisa dibaca siapa saja.
JEBAKAN UMUM:
Ekstensi Live Server harus sudah terpasang di PC Lab (cek sehari sebelum acara). Jika tombol "Go Live" tidak muncul di pojok kanan bawah VS Code, buka folder lewat File → Open Folder dulu.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11 menit
NASKAH:
Checkpoint pertama: siapkan proyek. Ikuti enam langkah di layar. Kalau selesai dan browser menampilkan "Hello SI Fest!", angkat tangan. Kakak-kakak panitia akan keliling membantu.
AKSI:
Live-coding bersama dari langkah 1 sampai 6 dengan layar pemateri diproyeksikan. Lalu biarkan siswa mencoba sendiri 5 menit. Panitia keliling.
Tips Emmet: ketik "!" lalu Tab untuk membuat kerangka HTML otomatis.
JEBAKAN UMUM:
1) Folder dibuat tapi tidak dibuka lewat Open Folder, jadi Live Server tidak muncul. 2) File tersimpan sebagai index.html.txt (ekstensi tersembunyi di Windows). 3) Lupa menyimpan (Ctrl+S), jadi browser tampak kosong. 4) Emmet tidak jalan: pastikan bahasa file adalah HTML (pojok kanan bawah VS Code).
SOLUSI KODE:
index.html:
&lt;!DOCTYPE html&gt;
&lt;html lang="en"&gt;
&lt;head&gt;
  &lt;meta charset="UTF-8"&gt;
  &lt;meta name="viewport" content="width=device-width, initial-scale=1.0"&gt;
  &lt;title&gt;Document&lt;/title&gt;
&lt;/head&gt;
&lt;body&gt;
  &lt;h1&gt;Hello SI Fest!&lt;/h1&gt;
&lt;/body&gt;
&lt;/html&gt;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1 menit
NASKAH:
Sekarang kita masuk ke HTML. Satu jam ke depan, kita susun kerangka halaman profil kalian.
AKSI:
Transisi cepat.
JEBAKAN UMUM:
Pastikan semua peserta sudah melewati Checkpoint 0 sebelum lanjut. Bantu yang tertinggal saat transisi.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Ini satu elemen HTML. Ada tag pembuka, yaitu p di dalam tanda kurung sudut: tanda mulai. Di dalamnya ada atribut, yaitu info tambahan, di sini class sama dengan intro. Lalu isi, tulisan Halo yang akan tampil. Terakhir tag penutup: sama dengan pembuka tapi ada garis miring, sebagai tanda selesai. Kalau kalian paham slide ini, kalian sudah paham sebagian besar HTML.
AKSI:
Ketik elemen ini langsung di VS Code dan tunjukkan hasilnya di browser. Minta siswa mengetik &lt;p&gt;Namaku ...&lt;/p&gt; dengan nama mereka sendiri.
JEBAKAN UMUM:
Kesalahan paling umum: lupa tag penutup atau lupa garis miring. Tunjukkan apa yang terjadi kalau &lt;/p&gt; dihapus: teks setelahnya ikut berantakan.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Setiap halaman HTML punya kerangka yang sama. Head itu seperti ruang mesin: berisi info di balik layar, termasuk title yang muncul di tab browser. Body itu seperti panggung: semua yang terlihat di layar ada di sini. Kita tidak perlu menghafal ini, karena VS Code bisa membuatkannya lewat tanda seru dan Tab. Yang penting kita tahu fungsinya.
AKSI:
Ganti isi title, simpan, dan tunjukkan tab browser berubah. Minta siswa mengganti title dengan nama mereka.
JEBAKAN UMUM:
Siswa menaruh tulisan di dalam head dan bingung kenapa tidak tampil. Ulangi: yang terlihat hanya yang ada di dalam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Tulisan di HTML punya tingkatan. h1 sampai h6 adalah judul, dari yang paling besar. Pakai satu h1 saja per halaman, biasanya nama atau judul utama. p untuk paragraf. strong untuk kata penting, em untuk penekanan. Perhatikan: kita memilih tag berdasarkan ARTI-nya, bukan berdasarkan tampilannya. Soal ukuran dan gaya, itu urusan CSS nanti.
AKSI:
Siswa mengetik sendiri 4 baris ini dengan nama mereka. Beri waktu 3 menit.
JEBAKAN UMUM:
Siswa memilih h1 karena ingin tulisan besar. Luruskan: ukuran bisa diatur CSS, tag dipilih menurut fungsinya.
SOLUSI KODE:
&lt;h1&gt;Alya Putri&lt;/h1&gt;
&lt;h2&gt;Tentang Saya&lt;/h2&gt;
&lt;p&gt;Aku &lt;strong&gt;suka&lt;/strong&gt; web.&lt;/p&gt;
&lt;p&gt;Aku &lt;em&gt;ingin&lt;/em&gt; belajar.&lt;/p&gt;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7 menit
NASKAH:
Dua tag yang membuat website terasa hidup: a untuk link, dan img untuk gambar. Atribut href berisi alamat tujuan. Untuk gambar, src menunjuk lokasi file gambarnya, dihitung dari index.html. Atribut alt wajib ada: ia dibacakan oleh pembaca layar untuk teman-teman tunanetra, dan tampil kalau gambar gagal dimuat. Tambahan modern: loading lazy, supaya gambar baru dimuat saat discroll.
AKSI:
Taruh satu foto di folder img, lalu ketik tag img bersama-sama. Siswa boleh memakai foto sendiri atau foto contoh yang sudah disiapkan panitia.
JEBAKAN UMUM:
Penyebab gambar rusak nomor satu: nama atau path file tidak persis sama (huruf besar/kecil, .jpg vs .jpeg). Siapkan satu foto contoh di setiap PC supaya tidak ada yang menunggu.
SOLUSI KODE:
&lt;a href="https://github.com"&gt;Lihat GitHub&lt;/a&gt;
&lt;img src="img/foto.jpg" alt="Foto Alya" loading="lazy"&gt;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Dua hal terakhir di bagian HTML. Pertama, daftar: ul untuk daftar bertitik, li untuk tiap isinya. Kedua, tag semantik: header, nav, main, section, footer. Tampilannya sama saja dengan div, tapi namanya punya arti. Google dan pembaca layar jadi tahu mana bagian atas, mana menu, mana isi utama.
AKSI:
Tunjuk gambar halaman di kanan: "halaman profil kita nanti bentuknya seperti ini". Siswa mengetik daftar skill mereka.
JEBAKAN UMUM:
Siswa membungkus semuanya dengan div karena terbiasa dari tutorial lain. Ajak mereka memilih nama tag yang paling cocok.
SOLUSI KODE:
&lt;ul&gt;
  &lt;li&gt;HTML&lt;/li&gt;
  &lt;li&gt;CSS&lt;/li&gt;
&lt;/ul&gt;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30 menit (08.50 – 09.20)
NASKAH:
Checkpoint besar pertama. Bangun kerangka halaman profil kalian pakai tujuh bagian di daftar ini. Jangan khawatir kalau tampilannya polos seperti halaman zaman dulu. Itu benar, dan di bagian CSS kita dandani. Centang tiap bagian kalau sudah selesai.
AKSI:
Beri 25 menit mengetik mandiri, panitia keliling. Di menit ke-25 tampilkan solusi di layar. Siswa yang selesai lebih cepat boleh menambah project ketiga. Setelah ini istirahat 15 menit (09.20 – 09.35).
JEBAKAN UMUM:
1) Tag tidak ditutup, jadi bagian setelahnya ikut menyatu. Cek lewat indentasi di VS Code. 2) Semua pakai div. 3) Memasang gambar sebelum folder img dibuat. 4) Link menu tidak berfungsi: href harus diawali # dan id section harus sama (href="#skill" dengan id="skill").
SOLUSI KODE:
Lihat starter-kit/index.html untuk versi lengkap. Kerangka body:
&lt;header&gt;
  &lt;h1&gt;Alya Putri&lt;/h1&gt;
  &lt;p&gt;Siswa SMA · Calon Web Developer&lt;/p&gt;
  &lt;nav&gt;
    &lt;a href="#tentang"&gt;Tentang&lt;/a&gt; &lt;a href="#skill"&gt;Skill&lt;/a&gt;
    &lt;a href="#project"&gt;Project&lt;/a&gt; &lt;a href="#kontak"&gt;Kontak&lt;/a&gt;
  &lt;/nav&gt;
&lt;/header&gt;
&lt;main&gt;
  &lt;section id="tentang"&gt; ... &lt;/section&gt;
  &lt;section id="skill"&gt; ... &lt;/section&gt;
  &lt;section id="project"&gt; ... &lt;/section&gt;
  &lt;section id="kontak"&gt; ... &lt;/section&gt;
&lt;/main&gt;
&lt;footer&gt; ... &lt;/footer&gt;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1 menit
NASKAH:
Selamat datang kembali! Kerangka sudah jadi. Sekarang kita buat halaman itu cantik.
AKSI:
Pastikan semua sudah duduk dan Live Server menyala. Buka proyek yang sama seperti sebelum istirahat.
JEBAKAN UMUM:
Beberapa PC mungkin terkunci atau mati setelah istirahat. Cek dulu, jangan langsung lanjut.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3 menit
NASKAH:
Ini halaman yang sama, dengan HTML yang persis sama. Kiri tanpa CSS, kanan dengan CSS. Semua perbedaannya, warna, huruf, susunan, datang dari satu file bernama style.css. Ingat pertanyaan saya tadi: rumah tanpa cat? Inilah jawabannya.
AKSI:
Biarkan siswa memandang slide ini 10 detik. Minta komentar: "mana yang kalian lebih suka?"
JEBAKAN UMUM:
Tidak ada. Slide ini untuk memotivasi.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CSS selalu ditulis dengan pola yang sama: selector, kurung kurawal, lalu pasangan property dan value. Selector menjawab SIAPA yang didandani. Property menjawab BAGIAN MANA yang diubah. Value menjawab DIUBAH JADI APA. Supaya CSS bekerja, kita sambungkan file style.css ke HTML lewat satu tag link di dalam head.
AKSI:
Siswa membuka style.css, mengetik aturan h1, menambah tag link di head index.html, simpan, lalu melihat namanya berubah warna dan ukuran.
JEBAKAN UMUM:
1) Lupa menambah tag link, jadi CSS tidak jalan. 2) Lupa titik koma di akhir baris. 3) Salah nama file (style.css vs styles.css). 4) Kurung { atau } tidak berpasangan.
SOLUSI KODE:
style.css:
h1 {
  color: navy;
  font-size: 40px;
}
index.html (di dalam &lt;head&gt;):
&lt;link rel="stylesheet" href="style.css"&gt;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Ada tiga cara memilih elemen. Pakai nama tag: semua paragraf. Pakai class dengan titik di depan: semua elemen yang punya class itu. Pakai id dengan tanda pagar: satu elemen saja. Pegangan untuk pemula: pakai class untuk hampir semuanya. Class fleksibel dan boleh dipakai berkali-kali.
AKSI:
Tambahkan class="kartu" ke satu article project, lalu beri gaya di CSS: .kartu { border: 1px solid #ccc; padding: 16px; }. Siswa mengikuti.
JEBAKAN UMUM:
Lupa titik di depan nama class (kartu { } bukan .kartu { }), sehingga gaya tidak muncul. Typo nama class juga sering terjadi.
SOLUSI KODE:
.kartu {
  border: 1px solid #ccc;
  padding: 16px;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NASKAH:
Warna dan huruf adalah dua hal yang paling cepat mengubah kesan website. Kita pakai variabel CSS: ibarat memberi nama pada sebuah warna. Kita tulis sekali di root, lalu pakai di mana-mana dengan var. Kalau mau ganti tema, cukup ubah satu baris. Untuk huruf, kita ambil dari Google Fonts, gratis.
AKSI:
Buka fonts.google.com, pilih Poppins (atau Plus Jakarta Sans), lalu salin tag link ke head. Siswa memilih warna favorit mereka dan menaruhnya di --biru.
JEBAKAN UMUM:
1) Lupa menyalin tag link font ke head. 2) Nama font salah ketik. 3) Tanda -- di nama variabel hilang. 4) Internet tidak ada, font tidak termuat: tampilan tetap aman dengan font cadangan sans-serif. Jelaskan fungsinya.
SOLUSI KODE:
:root {
  --biru: #1F4FD8;
}
h1 {
  color: var(--biru);
  font-family: 'Poppins', sans-serif;
}
index.html (&lt;head&gt;):
&lt;link href="https://fonts.googleapis.com/css2?family=Poppins:wght@400;700&amp;display=swap" rel="stylesheet"&gt;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Kunci memahami tata letak: setiap elemen di web adalah sebuah kotak. Dari dalam ke luar: content, lalu padding yang memberi ruang napas, lalu border, lalu margin yaitu jarak ke elemen lain. Bayangkan bingkai foto. Satu baris wajib: box-sizing border-box, supaya ukuran kotak tidak membengkak waktu kita menambah padding.
AKSI:
Di browser, buka DevTools (F12), arahkan ke satu elemen, lalu tunjukkan diagram box model berwarna di panel Computed/Styles. Siswa menambah padding dan margin ke .kartu.
JEBAKAN UMUM:
Siswa bingung beda padding dan margin. Pegangan: padding di DALAM kotak, margin di LUAR kotak.
SOLUSI KODE:
* {
  box-sizing: border-box;
}
.kartu {
  padding: 24px;
  margin: 16px;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7 menit
NASKAH:
Flexbox adalah cara modern untuk menata elemen. Tanpa flex, link menu saya menumpuk ke bawah. Dengan display flex, mereka berjajar rapi dalam satu baris. Gap mengatur jarak, justify-content mengatur posisinya. Ini dipakai di hampir semua website. Grid adalah saudaranya, dipakai kalau butuh baris dan kolom sekaligus, misalnya kartu project dua kolom.
AKSI:
Terapkan flex ke nav dan ke daftar skill. Ubah nilai justify-content (center, space-between) dan biarkan siswa melihat bedanya.
JEBAKAN UMUM:
1) Menulis display: flex di elemen yang salah (harus di induk, bukan di anak). 2) Link menu masih menumpuk karena selector nav salah ketik.
SOLUSI KODE:
nav {
  display: flex;
  gap: 16px;
  justify-content: center;
}
.skills {
  display: flex;
  flex-wrap: wrap;
  gap: 12px;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5 menit
NASKAH:
Lebih dari separuh pengunjung membuka website dari HP, jadi halaman kita harus enak dilihat di semua ukuran. Ada tiga kunci. Pertama, meta viewport di head, yang sudah dibuatkan Emmet tadi. Kedua, clamp supaya ukuran huruf menyesuaikan layar. Ketiga, media query: aturan yang baru aktif di layar yang lebar. Kita tulis untuk layar HP dulu, lalu tambahkan aturan untuk layar yang lebih besar.
AKSI:
Buka DevTools mode perangkat (Ctrl+Shift+M), geser lebar layar, lalu tunjukkan huruf mengecil/membesar dan kartu project berubah dari 1 ke 2 kolom di 768px.
JEBAKAN UMUM:
1) Tag meta viewport hilang, jadi halaman tampak kecil sekali di HP. 2) Menulis @media tanpa kurung kurawal penutup. 3) .projects belum display: grid, jadi grid-template-columns tidak berpengaruh (di starter-kit sudah ada).
SOLUSI KODE:
h1 {
  font-size: clamp(28px, 6vw, 48px);
}
.projects {
  display: grid;
  gap: 16px;
}
@media (min-width: 768px) {
  .projects {
    grid-template-columns: 1fr 1fr;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23 menit (10.12 – 10.35)
NASKAH:
Checkpoint kedua. Dandani profil kalian: atur warna lewat variabel, pakai font dari Google Fonts, rapikan menu dengan flexbox, beri kartu project padding dan border, dan pastikan rapi di layar HP. Yang cepat, kerjakan bonus: efek hover dan dark mode. Pakai gaya kalian sendiri, boleh beda dari contoh.
AKSI:
Mulai dengan 3 menit live-coding warna tema, lalu mandiri. Panitia keliling, perhatikan siswa yang diam karena biasanya mereka buntu. Di menit ke-20 tampilkan solusi starter-kit/style.css.
JEBAKAN UMUM:
1) Gaya tidak muncul: cek link CSS dan nama class. 2) Flexbox tidak berefek: display: flex harus di induk. 3) Teks hilang: warna teks sama dengan warna latar. 4) Siswa menyalin dari internet tanpa paham: minta mereka menjelaskan satu baris.
SOLUSI KODE:
Lihat starter-kit/style.css (versi lengkap, sesuai slide 20–25). Potongan bonus:
.card:hover {
  transform: translateY(-4px);
}
.card {
  transition: transform 0.2s;
}
@media (prefers-color-scheme: dark) {
  :root {
    --bg: #0E1B3D;
    --text: #F4F6FB;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4 menit
NASKAH:
Sebelum sprint akhir, saya bocorkan lima kesalahan yang hampir pasti kalian temui. Lupa menutup tag. Nama file gambar tidak persis. Salah ketik nama class. Link CSS hilang. Dan kurung kurawal tidak ditutup. Kalau halamanmu aneh, jangan panik: tekan F12, lihat pesannya, dan baca pelan-pelan. Pesan error itu bukan musuh, tapi petunjuk.
AKSI:
Tunjukkan satu error sungguhan dengan sengaja: hapus &lt;/p&gt;, tunjukkan akibatnya, lalu perbaiki bersama.
JEBAKAN UMUM:
Siswa langsung bertanya ke panitia tanpa mencoba sendiri. Ajarkan urutan: lihat pesan → cek lima daftar ini → baru bertanya.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4 menit
NASKAH:
AI itu alat belajar yang hebat kalau dipakai benar. Anggap AI sebagai guru les, bukan joki. Pakai untuk menjelaskan kode yang belum kalian paham, mencari tahu kenapa ada error, dan mencari ide. Jangan pakai untuk menulis seluruh halaman, karena kalian jadi tidak belajar apa-apa. Aturan emasnya: kamu yang mengetik dulu. Coba sendiri, baru tanya.
AKSI:
Boleh demo satu prompt singkat di layar (pakai AI apa saja yang tersedia). Maksimal 2 menit.
JEBAKAN UMUM:
Siswa yang sudah akrab dengan AI akan meminta "buatkan website profil lengkap". Arahkan: hasilnya mungkin bagus, tapi mereka tidak akan bisa memperbaikinya sendiri. Tujuan hari ini kemampuan, bukan sekadar hasil.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20 menit (10.40 – 11.00)
NASKAH:
Sprint terakhir, 20 menit. Selesaikan profilmu. Pakai daftar di kanan sebagai pegangan: ketujuh bagian sudah ada, warna dan huruf konsisten, rapi di HP, dan ada fotomu. Setelah ini kita tayangkan online, jadi pastikan halamanmu sudah layak dilihat orang.
AKSI:
Jalankan timer 20 menit di layar (stopwatch HP atau timer proyektor). Panitia keliling dan fokus ke siswa yang tertinggal. Beri peringatan di sisa 10 dan 5 menit. Pilih 3–4 sukarelawan untuk showcase sambil berkeliling.
JEBAKAN UMUM:
Siswa terjebak memoles hal kecil. Ingatkan: selesai lebih baik daripada sempurna. Siswa lain kehabisan ide: kembalikan ke daftar cek.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0 menit (opsional, tampilkan saat sprint akhir berjalan)
NASKAH:
Buat kalian yang sudah selesai lebih cepat, ini jalur lanjutannya. Di LMS HIMTI ada course Modern Web Landing Page: enam modul, murni HTML dan CSS modern. Kalian akan membuat landing page bergaya startup dengan grid, animasi halus, responsive, dan dark mode. Kerjakan sendiri, satu modul demi satu modul.
AKSI:
Tampilkan slide ini saat siswa mengerjakan sprint akhir, atau setelah ada yang selesai lebih cepat. Siswa yang belum selesai tetap fokus ke profilnya. Ganti [alamat LMS] dengan alamat LMS yang sebenarnya sebelum acara.
JEBAKAN UMUM:
Siswa yang belum selesai merasa tertinggal melihat teman melanjutkan. Tegaskan: jalur ini opsional dan boleh dikerjakan di rumah. Pastikan course sudah dipublikasikan di LMS (isAvailable true) dan siswa punya akses sebelum acara.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7 menit (11.00 – 11.07)
NASKAH:
Sekarang bagian yang ditunggu-tunggu. Buka netlify.com/drop, seret folder portfolio kalian ke halaman itu, dan dalam beberapa detik kalian mendapat link. Link itu bisa dibuka siapa saja di dunia. Supaya link tidak kedaluwarsa, klaim situsnya dengan membuat akun gratis. Kalau internet bermasalah, tidak apa-apa, tayangkan di rumah.
AKSI:
Demo di layar pemateri dulu, lalu siswa mengikuti. Siapkan cadangan: GitHub Pages (butuh akun GitHub, lebih lama, cocok dikerjakan di rumah).
[VERIFIKASI SEBELUM HARI-H] Per pengecekan terakhir, situs Netlify Drop yang tidak diklaim bersifat sementara (kemungkinan dihapus dalam waktu singkat). Uji alurnya sehari sebelum acara dan pastikan internet Lab ICT bisa membuka netlify.com.
JEBAKAN UMUM:
1) Folder yang diseret harus berisi index.html di level paling atas, bukan di subfolder. 2) Beberapa PC lab membatasi situs tertentu, uji lebih dulu. 3) Siswa belum punya email aktif untuk klaim: siapkan akun cadangan atau sarankan mendaftar di rumah.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6 menit (11.07 – 11.13)
NASKAH:
Siapa yang mau menunjukkan karyanya? Ceritakan satu hal: bagian yang paling kamu suka, kesalahan paling lucu hari ini, atau satu hal baru yang kamu pelajari. Beri tepuk tangan untuk setiap penampil.
AKSI:
Sambungkan PC sukarelawan ke proyektor, atau panitia membuka link karya mereka. 2 menit per orang. Utamakan siswa pemalu yang sudah selesai, beri dorongan.
JEBAKAN UMUM:
Siswa yang paling bagus tidak selalu mau tampil. Pilih berdasarkan keberanian, bukan kerapian. Tujuan sesi ini adalah rasa percaya 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2 menit
NASKAH:
Hari ini kalian sudah menyelesaikan langkah pertama. Langkah berikutnya: JavaScript supaya halaman bisa bereaksi, lalu Git dan GitHub untuk menyimpan kode, lalu framework. Belajar gratis di MDN, freeCodeCamp, dan web.dev/learn. Dan kakak-kakak mahasiswa di Sesi 2 hari ini membahas Laravel, salah satu framework itu.
AKSI:
Tampilkan slide, bacakan peta belajar, jangan menjelaskan detail.
JEBAKAN UMUM:
Siswa sering bertanya "harus beli kursus?". Jawab: tidak perlu, tiga sumber ini gratis dan cukup untuk waktu yang 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WAKTU: 2 menit + Q&amp;A
NASKAH:
Terima kasih, adik-adik. Hari ini kalian membuktikan satu hal: kalian bisa membuat website sendiri. Simpan linknya, bagikan ke teman dan keluarga. Dan jangan berhenti di sini. Ada pertanyaan?
AKSI:
Buka sesi tanya jawab sampai waktu habis (11.20). Ajak foto bersama. Ingatkan jadwal Sesi 2 (13.00) bagi yang ikut sebagai pendamping. Pastikan tidak ada barang tertinggal di Lab ICT.
JEBAKAN UMUM:
Pertanyaan yang sering muncul: "kuliah apa yang cocok untuk jadi web developer?", "perlu jago matematika?". Siapkan jawaban yang jujur dan menyemangati.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6F7FA8"/>
                </a:solidFill>
                <a:latin typeface="Plus Jakarta Sans" pitchFamily="34" charset="0"/>
                <a:ea typeface="Plus Jakarta Sans" pitchFamily="34" charset="-122"/>
                <a:cs typeface="Plus Jakarta Sans" pitchFamily="34" charset="-120"/>
              </a:rPr>
              <a:t>1</a:t>
            </a:r>
            <a:endParaRPr lang="en-US" sz="1100" dirty="0"/>
          </a:p>
        </p:txBody>
      </p:sp>
      <p:sp>
        <p:nvSpPr>
          <p:cNvPr id="3" name="Shape 1"/>
          <p:cNvSpPr/>
          <p:nvPr/>
        </p:nvSpPr>
        <p:spPr>
          <a:xfrm>
            <a:off x="731520" y="502920"/>
            <a:ext cx="1645920" cy="566928"/>
          </a:xfrm>
          <a:prstGeom prst="roundRect">
            <a:avLst>
              <a:gd name="adj" fmla="val 16129"/>
            </a:avLst>
          </a:prstGeom>
          <a:ln w="15875">
            <a:solidFill>
              <a:srgbClr val="2A3C6E"/>
            </a:solidFill>
            <a:prstDash val="dash"/>
          </a:ln>
        </p:spPr>
      </p:sp>
      <p:sp>
        <p:nvSpPr>
          <p:cNvPr id="4" name="Text 2"/>
          <p:cNvSpPr txBox="1"/>
          <p:nvPr/>
        </p:nvSpPr>
        <p:spPr>
          <a:xfrm>
            <a:off x="731520" y="502920"/>
            <a:ext cx="1645920"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A9B6D6"/>
                </a:solidFill>
                <a:latin typeface="Plus Jakarta Sans" pitchFamily="34" charset="0"/>
                <a:ea typeface="Plus Jakarta Sans" pitchFamily="34" charset="-122"/>
                <a:cs typeface="Plus Jakarta Sans" pitchFamily="34" charset="-120"/>
              </a:rPr>
              <a:t>LOGO HIMASI</a:t>
            </a:r>
            <a:endParaRPr lang="en-US" sz="1100" dirty="0"/>
          </a:p>
        </p:txBody>
      </p:sp>
      <p:sp>
        <p:nvSpPr>
          <p:cNvPr id="5" name="Shape 3"/>
          <p:cNvSpPr/>
          <p:nvPr/>
        </p:nvSpPr>
        <p:spPr>
          <a:xfrm>
            <a:off x="2514600" y="502920"/>
            <a:ext cx="1645920" cy="566928"/>
          </a:xfrm>
          <a:prstGeom prst="roundRect">
            <a:avLst>
              <a:gd name="adj" fmla="val 16129"/>
            </a:avLst>
          </a:prstGeom>
          <a:ln w="15875">
            <a:solidFill>
              <a:srgbClr val="2A3C6E"/>
            </a:solidFill>
            <a:prstDash val="dash"/>
          </a:ln>
        </p:spPr>
      </p:sp>
      <p:sp>
        <p:nvSpPr>
          <p:cNvPr id="6" name="Text 4"/>
          <p:cNvSpPr txBox="1"/>
          <p:nvPr/>
        </p:nvSpPr>
        <p:spPr>
          <a:xfrm>
            <a:off x="2514600" y="502920"/>
            <a:ext cx="1645920"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A9B6D6"/>
                </a:solidFill>
                <a:latin typeface="Plus Jakarta Sans" pitchFamily="34" charset="0"/>
                <a:ea typeface="Plus Jakarta Sans" pitchFamily="34" charset="-122"/>
                <a:cs typeface="Plus Jakarta Sans" pitchFamily="34" charset="-120"/>
              </a:rPr>
              <a:t>LOGO BLU</a:t>
            </a:r>
            <a:endParaRPr lang="en-US" sz="1100" dirty="0"/>
          </a:p>
        </p:txBody>
      </p:sp>
      <p:sp>
        <p:nvSpPr>
          <p:cNvPr id="7" name="Text 5"/>
          <p:cNvSpPr txBox="1"/>
          <p:nvPr/>
        </p:nvSpPr>
        <p:spPr>
          <a:xfrm>
            <a:off x="731520" y="1783080"/>
            <a:ext cx="5486400" cy="320040"/>
          </a:xfrm>
          <a:prstGeom prst="rect">
            <a:avLst/>
          </a:prstGeom>
          <a:noFill/>
          <a:ln/>
        </p:spPr>
        <p:txBody>
          <a:bodyPr wrap="square" lIns="0" tIns="0" rIns="0" bIns="0" rtlCol="0" anchor="t"/>
          <a:lstStyle/>
          <a:p>
            <a:pPr algn="l" indent="0" marL="0">
              <a:lnSpc>
                <a:spcPct val="115000"/>
              </a:lnSpc>
              <a:buNone/>
            </a:pPr>
            <a:r>
              <a:rPr lang="en-US" sz="1500" b="1" dirty="0">
                <a:solidFill>
                  <a:srgbClr val="FFC83D"/>
                </a:solidFill>
                <a:latin typeface="Plus Jakarta Sans" pitchFamily="34" charset="0"/>
                <a:ea typeface="Plus Jakarta Sans" pitchFamily="34" charset="-122"/>
                <a:cs typeface="Plus Jakarta Sans" pitchFamily="34" charset="-120"/>
              </a:rPr>
              <a:t>SI Fest 2026  ·  Sesi 1  ·  Workshop Web</a:t>
            </a:r>
            <a:endParaRPr lang="en-US" sz="1500" dirty="0"/>
          </a:p>
        </p:txBody>
      </p:sp>
      <p:sp>
        <p:nvSpPr>
          <p:cNvPr id="8" name="Text 6"/>
          <p:cNvSpPr txBox="1"/>
          <p:nvPr/>
        </p:nvSpPr>
        <p:spPr>
          <a:xfrm>
            <a:off x="731520" y="2286000"/>
            <a:ext cx="6400800" cy="2194560"/>
          </a:xfrm>
          <a:prstGeom prst="rect">
            <a:avLst/>
          </a:prstGeom>
          <a:noFill/>
          <a:ln/>
        </p:spPr>
        <p:txBody>
          <a:bodyPr wrap="square" lIns="0" tIns="0" rIns="0" bIns="0" rtlCol="0" anchor="t"/>
          <a:lstStyle/>
          <a:p>
            <a:pPr algn="l" indent="0" marL="0">
              <a:lnSpc>
                <a:spcPct val="100000"/>
              </a:lnSpc>
              <a:buNone/>
            </a:pPr>
            <a:r>
              <a:rPr lang="en-US" sz="6800" b="1" dirty="0">
                <a:solidFill>
                  <a:srgbClr val="FFFFFF"/>
                </a:solidFill>
                <a:latin typeface="Plus Jakarta Sans" pitchFamily="34" charset="0"/>
                <a:ea typeface="Plus Jakarta Sans" pitchFamily="34" charset="-122"/>
                <a:cs typeface="Plus Jakarta Sans" pitchFamily="34" charset="-120"/>
              </a:rPr>
              <a:t>Unlock Your</a:t>
            </a:r>
            <a:endParaRPr lang="en-US" sz="6800" dirty="0"/>
          </a:p>
          <a:p>
            <a:pPr algn="l" indent="0" marL="0">
              <a:lnSpc>
                <a:spcPct val="100000"/>
              </a:lnSpc>
              <a:buNone/>
            </a:pPr>
            <a:r>
              <a:rPr lang="en-US" sz="6800" b="1" dirty="0">
                <a:solidFill>
                  <a:srgbClr val="FFFFFF"/>
                </a:solidFill>
                <a:latin typeface="Plus Jakarta Sans" pitchFamily="34" charset="0"/>
                <a:ea typeface="Plus Jakarta Sans" pitchFamily="34" charset="-122"/>
                <a:cs typeface="Plus Jakarta Sans" pitchFamily="34" charset="-120"/>
              </a:rPr>
              <a:t>Potential</a:t>
            </a:r>
            <a:endParaRPr lang="en-US" sz="6800" dirty="0"/>
          </a:p>
        </p:txBody>
      </p:sp>
      <p:sp>
        <p:nvSpPr>
          <p:cNvPr id="9" name="Text 7"/>
          <p:cNvSpPr txBox="1"/>
          <p:nvPr/>
        </p:nvSpPr>
        <p:spPr>
          <a:xfrm>
            <a:off x="731520" y="4480560"/>
            <a:ext cx="6400800" cy="548640"/>
          </a:xfrm>
          <a:prstGeom prst="rect">
            <a:avLst/>
          </a:prstGeom>
          <a:noFill/>
          <a:ln/>
        </p:spPr>
        <p:txBody>
          <a:bodyPr wrap="square" lIns="0" tIns="0" rIns="0" bIns="0" rtlCol="0" anchor="t"/>
          <a:lstStyle/>
          <a:p>
            <a:pPr algn="l" indent="0" marL="0">
              <a:lnSpc>
                <a:spcPct val="115000"/>
              </a:lnSpc>
              <a:buNone/>
            </a:pPr>
            <a:r>
              <a:rPr lang="en-US" sz="2800" b="1" dirty="0">
                <a:solidFill>
                  <a:srgbClr val="FFC83D"/>
                </a:solidFill>
                <a:latin typeface="Plus Jakarta Sans" pitchFamily="34" charset="0"/>
                <a:ea typeface="Plus Jakarta Sans" pitchFamily="34" charset="-122"/>
                <a:cs typeface="Plus Jakarta Sans" pitchFamily="34" charset="-120"/>
              </a:rPr>
              <a:t>Through Web Technology</a:t>
            </a:r>
            <a:endParaRPr lang="en-US" sz="2800" dirty="0"/>
          </a:p>
        </p:txBody>
      </p:sp>
      <p:sp>
        <p:nvSpPr>
          <p:cNvPr id="10" name="Text 8"/>
          <p:cNvSpPr txBox="1"/>
          <p:nvPr/>
        </p:nvSpPr>
        <p:spPr>
          <a:xfrm>
            <a:off x="731520" y="5120640"/>
            <a:ext cx="5852160" cy="731520"/>
          </a:xfrm>
          <a:prstGeom prst="rect">
            <a:avLst/>
          </a:prstGeom>
          <a:noFill/>
          <a:ln/>
        </p:spPr>
        <p:txBody>
          <a:bodyPr wrap="square" lIns="0" tIns="0" rIns="0" bIns="0" rtlCol="0" anchor="t"/>
          <a:lstStyle/>
          <a:p>
            <a:pPr algn="l" indent="0" marL="0">
              <a:lnSpc>
                <a:spcPct val="130000"/>
              </a:lnSpc>
              <a:buNone/>
            </a:pPr>
            <a:r>
              <a:rPr lang="en-US" sz="1900" dirty="0">
                <a:solidFill>
                  <a:srgbClr val="A9B6D6"/>
                </a:solidFill>
                <a:latin typeface="Plus Jakarta Sans" pitchFamily="34" charset="0"/>
                <a:ea typeface="Plus Jakarta Sans" pitchFamily="34" charset="-122"/>
                <a:cs typeface="Plus Jakarta Sans" pitchFamily="34" charset="-120"/>
              </a:rPr>
              <a:t>Belajar membuat website pertamamu dari nol</a:t>
            </a:r>
            <a:endParaRPr lang="en-US" sz="1900" dirty="0"/>
          </a:p>
        </p:txBody>
      </p:sp>
      <p:sp>
        <p:nvSpPr>
          <p:cNvPr id="11" name="Text 9"/>
          <p:cNvSpPr txBox="1"/>
          <p:nvPr/>
        </p:nvSpPr>
        <p:spPr>
          <a:xfrm>
            <a:off x="731520" y="5989320"/>
            <a:ext cx="7315200" cy="274320"/>
          </a:xfrm>
          <a:prstGeom prst="rect">
            <a:avLst/>
          </a:prstGeom>
          <a:noFill/>
          <a:ln/>
        </p:spPr>
        <p:txBody>
          <a:bodyPr wrap="square" lIns="0" tIns="0" rIns="0" bIns="0" rtlCol="0" anchor="ctr"/>
          <a:lstStyle/>
          <a:p>
            <a:pPr algn="l" indent="0" marL="0">
              <a:lnSpc>
                <a:spcPct val="115000"/>
              </a:lnSpc>
              <a:buNone/>
            </a:pPr>
            <a:r>
              <a:rPr lang="en-US" sz="1400" dirty="0">
                <a:solidFill>
                  <a:srgbClr val="A9B6D6"/>
                </a:solidFill>
                <a:latin typeface="Plus Jakarta Sans" pitchFamily="34" charset="0"/>
                <a:ea typeface="Plus Jakarta Sans" pitchFamily="34" charset="-122"/>
                <a:cs typeface="Plus Jakarta Sans" pitchFamily="34" charset="-120"/>
              </a:rPr>
              <a:t>[Nama Pemateri]  ·  [Role · Organisasi]  ·  Sabtu, 10 Oktober 2026</a:t>
            </a:r>
            <a:endParaRPr lang="en-US" sz="1400" dirty="0"/>
          </a:p>
        </p:txBody>
      </p:sp>
      <p:sp>
        <p:nvSpPr>
          <p:cNvPr id="12" name="Shape 10"/>
          <p:cNvSpPr/>
          <p:nvPr/>
        </p:nvSpPr>
        <p:spPr>
          <a:xfrm>
            <a:off x="7223760" y="731520"/>
            <a:ext cx="4251960" cy="5394960"/>
          </a:xfrm>
          <a:prstGeom prst="roundRect">
            <a:avLst>
              <a:gd name="adj" fmla="val 6452"/>
            </a:avLst>
          </a:prstGeom>
          <a:solidFill>
            <a:srgbClr val="FAF8F4"/>
          </a:solidFill>
          <a:ln/>
        </p:spPr>
      </p:sp>
      <p:pic>
        <p:nvPicPr>
          <p:cNvPr id="13" name="Image 0" descr="C:\Dev\daily-report\Seminar\seminar-sifest\generator\assets\ill\website_setup_5hr2.png">    </p:cNvPr>
          <p:cNvPicPr>
            <a:picLocks noChangeAspect="1"/>
          </p:cNvPicPr>
          <p:nvPr/>
        </p:nvPicPr>
        <p:blipFill>
          <a:blip r:embed="rId1"/>
          <a:stretch>
            <a:fillRect/>
          </a:stretch>
        </p:blipFill>
        <p:spPr>
          <a:xfrm>
            <a:off x="7543800" y="2271557"/>
            <a:ext cx="3611880" cy="2314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2</a:t>
            </a:r>
            <a:endParaRPr lang="en-US" sz="1100" dirty="0"/>
          </a:p>
        </p:txBody>
      </p:sp>
      <p:sp>
        <p:nvSpPr>
          <p:cNvPr id="3" name="Shape 1"/>
          <p:cNvSpPr/>
          <p:nvPr/>
        </p:nvSpPr>
        <p:spPr>
          <a:xfrm>
            <a:off x="731520" y="777240"/>
            <a:ext cx="3383280" cy="4754880"/>
          </a:xfrm>
          <a:prstGeom prst="roundRect">
            <a:avLst>
              <a:gd name="adj" fmla="val 5405"/>
            </a:avLst>
          </a:prstGeom>
          <a:solidFill>
            <a:srgbClr val="EEF3FF"/>
          </a:solidFill>
          <a:ln w="19050">
            <a:solidFill>
              <a:srgbClr val="1F4FD8"/>
            </a:solidFill>
            <a:prstDash val="dash"/>
          </a:ln>
        </p:spPr>
      </p:sp>
      <p:sp>
        <p:nvSpPr>
          <p:cNvPr id="4" name="Text 2"/>
          <p:cNvSpPr txBox="1"/>
          <p:nvPr/>
        </p:nvSpPr>
        <p:spPr>
          <a:xfrm>
            <a:off x="731520" y="777240"/>
            <a:ext cx="3383280" cy="4754880"/>
          </a:xfrm>
          <a:prstGeom prst="rect">
            <a:avLst/>
          </a:prstGeom>
          <a:noFill/>
          <a:ln/>
        </p:spPr>
        <p:txBody>
          <a:bodyPr wrap="square" lIns="0" tIns="0" rIns="0" bIns="0" rtlCol="0" anchor="ctr"/>
          <a:lstStyle/>
          <a:p>
            <a:pPr algn="ctr" indent="0" marL="0">
              <a:lnSpc>
                <a:spcPct val="150000"/>
              </a:lnSpc>
              <a:buNone/>
            </a:pPr>
            <a:r>
              <a:rPr lang="en-US" sz="1400" b="1" dirty="0">
                <a:solidFill>
                  <a:srgbClr val="1F4FD8"/>
                </a:solidFill>
                <a:latin typeface="Plus Jakarta Sans" pitchFamily="34" charset="0"/>
                <a:ea typeface="Plus Jakarta Sans" pitchFamily="34" charset="-122"/>
                <a:cs typeface="Plus Jakarta Sans" pitchFamily="34" charset="-120"/>
              </a:rPr>
              <a:t>FOTO PEMATERI</a:t>
            </a:r>
            <a:endParaRPr lang="en-US" sz="1400" dirty="0"/>
          </a:p>
          <a:p>
            <a:pPr algn="ctr" indent="0" marL="0">
              <a:lnSpc>
                <a:spcPct val="150000"/>
              </a:lnSpc>
              <a:buNone/>
            </a:pPr>
            <a:r>
              <a:rPr lang="en-US" sz="1400" b="1" dirty="0">
                <a:solidFill>
                  <a:srgbClr val="1F4FD8"/>
                </a:solidFill>
                <a:latin typeface="Plus Jakarta Sans" pitchFamily="34" charset="0"/>
                <a:ea typeface="Plus Jakarta Sans" pitchFamily="34" charset="-122"/>
                <a:cs typeface="Plus Jakarta Sans" pitchFamily="34" charset="-120"/>
              </a:rPr>
              <a:t>rasio 3:4</a:t>
            </a:r>
            <a:endParaRPr lang="en-US" sz="1400" dirty="0"/>
          </a:p>
        </p:txBody>
      </p:sp>
      <p:sp>
        <p:nvSpPr>
          <p:cNvPr id="5" name="Text 3"/>
          <p:cNvSpPr txBox="1"/>
          <p:nvPr/>
        </p:nvSpPr>
        <p:spPr>
          <a:xfrm>
            <a:off x="4754880" y="914400"/>
            <a:ext cx="6675120" cy="1737360"/>
          </a:xfrm>
          <a:prstGeom prst="rect">
            <a:avLst/>
          </a:prstGeom>
          <a:noFill/>
          <a:ln/>
        </p:spPr>
        <p:txBody>
          <a:bodyPr wrap="square" lIns="0" tIns="0" rIns="0" bIns="0" rtlCol="0" anchor="t"/>
          <a:lstStyle/>
          <a:p>
            <a:pPr algn="l" indent="0" marL="0">
              <a:lnSpc>
                <a:spcPct val="105000"/>
              </a:lnSpc>
              <a:buNone/>
            </a:pPr>
            <a:r>
              <a:rPr lang="en-US" sz="5000" b="1" dirty="0">
                <a:solidFill>
                  <a:srgbClr val="0E1B3D"/>
                </a:solidFill>
                <a:latin typeface="Plus Jakarta Sans" pitchFamily="34" charset="0"/>
                <a:ea typeface="Plus Jakarta Sans" pitchFamily="34" charset="-122"/>
                <a:cs typeface="Plus Jakarta Sans" pitchFamily="34" charset="-120"/>
              </a:rPr>
              <a:t>Halo, saya</a:t>
            </a:r>
            <a:endParaRPr lang="en-US" sz="5000" dirty="0"/>
          </a:p>
          <a:p>
            <a:pPr algn="l" indent="0" marL="0">
              <a:lnSpc>
                <a:spcPct val="105000"/>
              </a:lnSpc>
              <a:buNone/>
            </a:pPr>
            <a:r>
              <a:rPr lang="en-US" sz="5000" b="1" dirty="0">
                <a:solidFill>
                  <a:srgbClr val="1F4FD8"/>
                </a:solidFill>
                <a:latin typeface="Plus Jakarta Sans" pitchFamily="34" charset="0"/>
                <a:ea typeface="Plus Jakarta Sans" pitchFamily="34" charset="-122"/>
                <a:cs typeface="Plus Jakarta Sans" pitchFamily="34" charset="-120"/>
              </a:rPr>
              <a:t>[Nama Pemateri]</a:t>
            </a:r>
            <a:endParaRPr lang="en-US" sz="5000" dirty="0"/>
          </a:p>
        </p:txBody>
      </p:sp>
      <p:sp>
        <p:nvSpPr>
          <p:cNvPr id="6" name="Text 4"/>
          <p:cNvSpPr txBox="1"/>
          <p:nvPr/>
        </p:nvSpPr>
        <p:spPr>
          <a:xfrm>
            <a:off x="4754880" y="2743200"/>
            <a:ext cx="6675120" cy="365760"/>
          </a:xfrm>
          <a:prstGeom prst="rect">
            <a:avLst/>
          </a:prstGeom>
          <a:noFill/>
          <a:ln/>
        </p:spPr>
        <p:txBody>
          <a:bodyPr wrap="square" lIns="0" tIns="0" rIns="0" bIns="0" rtlCol="0" anchor="t"/>
          <a:lstStyle/>
          <a:p>
            <a:pPr algn="l" indent="0" marL="0">
              <a:lnSpc>
                <a:spcPct val="115000"/>
              </a:lnSpc>
              <a:buNone/>
            </a:pPr>
            <a:r>
              <a:rPr lang="en-US" sz="2000" dirty="0">
                <a:solidFill>
                  <a:srgbClr val="5B6478"/>
                </a:solidFill>
                <a:latin typeface="Plus Jakarta Sans" pitchFamily="34" charset="0"/>
                <a:ea typeface="Plus Jakarta Sans" pitchFamily="34" charset="-122"/>
                <a:cs typeface="Plus Jakarta Sans" pitchFamily="34" charset="-120"/>
              </a:rPr>
              <a:t>[Role]  ·  [Organisasi]</a:t>
            </a:r>
            <a:endParaRPr lang="en-US" sz="2000" dirty="0"/>
          </a:p>
        </p:txBody>
      </p:sp>
      <p:sp>
        <p:nvSpPr>
          <p:cNvPr id="7" name="Shape 5"/>
          <p:cNvSpPr/>
          <p:nvPr/>
        </p:nvSpPr>
        <p:spPr>
          <a:xfrm>
            <a:off x="4754880" y="3566160"/>
            <a:ext cx="6675120" cy="0"/>
          </a:xfrm>
          <a:prstGeom prst="line">
            <a:avLst/>
          </a:prstGeom>
          <a:noFill/>
          <a:ln w="12700">
            <a:solidFill>
              <a:srgbClr val="E3DFD6"/>
            </a:solidFill>
            <a:prstDash val="solid"/>
          </a:ln>
        </p:spPr>
      </p:sp>
      <p:sp>
        <p:nvSpPr>
          <p:cNvPr id="8" name="Text 6"/>
          <p:cNvSpPr txBox="1"/>
          <p:nvPr/>
        </p:nvSpPr>
        <p:spPr>
          <a:xfrm>
            <a:off x="4754880" y="3675888"/>
            <a:ext cx="3657600" cy="256032"/>
          </a:xfrm>
          <a:prstGeom prst="rect">
            <a:avLst/>
          </a:prstGeom>
          <a:noFill/>
          <a:ln/>
        </p:spPr>
        <p:txBody>
          <a:bodyPr wrap="square" lIns="0" tIns="0" rIns="0" bIns="0" rtlCol="0" anchor="t"/>
          <a:lstStyle/>
          <a:p>
            <a:pPr algn="l" indent="0" marL="0">
              <a:lnSpc>
                <a:spcPct val="115000"/>
              </a:lnSpc>
              <a:buNone/>
            </a:pPr>
            <a:r>
              <a:rPr lang="en-US" sz="1400" b="1" dirty="0">
                <a:solidFill>
                  <a:srgbClr val="1F4FD8"/>
                </a:solidFill>
                <a:latin typeface="Plus Jakarta Sans" pitchFamily="34" charset="0"/>
                <a:ea typeface="Plus Jakarta Sans" pitchFamily="34" charset="-122"/>
                <a:cs typeface="Plus Jakarta Sans" pitchFamily="34" charset="-120"/>
              </a:rPr>
              <a:t>Awal mula</a:t>
            </a:r>
            <a:endParaRPr lang="en-US" sz="1400" dirty="0"/>
          </a:p>
        </p:txBody>
      </p:sp>
      <p:sp>
        <p:nvSpPr>
          <p:cNvPr id="9" name="Text 7"/>
          <p:cNvSpPr txBox="1"/>
          <p:nvPr/>
        </p:nvSpPr>
        <p:spPr>
          <a:xfrm>
            <a:off x="4754880" y="3950208"/>
            <a:ext cx="6675120" cy="365760"/>
          </a:xfrm>
          <a:prstGeom prst="rect">
            <a:avLst/>
          </a:prstGeom>
          <a:noFill/>
          <a:ln/>
        </p:spPr>
        <p:txBody>
          <a:bodyPr wrap="square" lIns="0" tIns="0" rIns="0" bIns="0" rtlCol="0" anchor="t"/>
          <a:lstStyle/>
          <a:p>
            <a:pPr algn="l" indent="0" marL="0">
              <a:lnSpc>
                <a:spcPct val="115000"/>
              </a:lnSpc>
              <a:buNone/>
            </a:pPr>
            <a:r>
              <a:rPr lang="en-US" sz="2000" dirty="0">
                <a:solidFill>
                  <a:srgbClr val="0E1B3D"/>
                </a:solidFill>
                <a:latin typeface="Plus Jakarta Sans" pitchFamily="34" charset="0"/>
                <a:ea typeface="Plus Jakarta Sans" pitchFamily="34" charset="-122"/>
                <a:cs typeface="Plus Jakarta Sans" pitchFamily="34" charset="-120"/>
              </a:rPr>
              <a:t>[Kapan dan kenapa kamu mulai ngoding]</a:t>
            </a:r>
            <a:endParaRPr lang="en-US" sz="2000" dirty="0"/>
          </a:p>
        </p:txBody>
      </p:sp>
      <p:sp>
        <p:nvSpPr>
          <p:cNvPr id="10" name="Shape 8"/>
          <p:cNvSpPr/>
          <p:nvPr/>
        </p:nvSpPr>
        <p:spPr>
          <a:xfrm>
            <a:off x="4754880" y="4434840"/>
            <a:ext cx="6675120" cy="0"/>
          </a:xfrm>
          <a:prstGeom prst="line">
            <a:avLst/>
          </a:prstGeom>
          <a:noFill/>
          <a:ln w="12700">
            <a:solidFill>
              <a:srgbClr val="E3DFD6"/>
            </a:solidFill>
            <a:prstDash val="solid"/>
          </a:ln>
        </p:spPr>
      </p:sp>
      <p:sp>
        <p:nvSpPr>
          <p:cNvPr id="11" name="Text 9"/>
          <p:cNvSpPr txBox="1"/>
          <p:nvPr/>
        </p:nvSpPr>
        <p:spPr>
          <a:xfrm>
            <a:off x="4754880" y="4544568"/>
            <a:ext cx="3657600" cy="256032"/>
          </a:xfrm>
          <a:prstGeom prst="rect">
            <a:avLst/>
          </a:prstGeom>
          <a:noFill/>
          <a:ln/>
        </p:spPr>
        <p:txBody>
          <a:bodyPr wrap="square" lIns="0" tIns="0" rIns="0" bIns="0" rtlCol="0" anchor="t"/>
          <a:lstStyle/>
          <a:p>
            <a:pPr algn="l" indent="0" marL="0">
              <a:lnSpc>
                <a:spcPct val="115000"/>
              </a:lnSpc>
              <a:buNone/>
            </a:pPr>
            <a:r>
              <a:rPr lang="en-US" sz="1400" b="1" dirty="0">
                <a:solidFill>
                  <a:srgbClr val="1F4FD8"/>
                </a:solidFill>
                <a:latin typeface="Plus Jakarta Sans" pitchFamily="34" charset="0"/>
                <a:ea typeface="Plus Jakarta Sans" pitchFamily="34" charset="-122"/>
                <a:cs typeface="Plus Jakarta Sans" pitchFamily="34" charset="-120"/>
              </a:rPr>
              <a:t>Hari ini</a:t>
            </a:r>
            <a:endParaRPr lang="en-US" sz="1400" dirty="0"/>
          </a:p>
        </p:txBody>
      </p:sp>
      <p:sp>
        <p:nvSpPr>
          <p:cNvPr id="12" name="Text 10"/>
          <p:cNvSpPr txBox="1"/>
          <p:nvPr/>
        </p:nvSpPr>
        <p:spPr>
          <a:xfrm>
            <a:off x="4754880" y="4818888"/>
            <a:ext cx="6675120" cy="365760"/>
          </a:xfrm>
          <a:prstGeom prst="rect">
            <a:avLst/>
          </a:prstGeom>
          <a:noFill/>
          <a:ln/>
        </p:spPr>
        <p:txBody>
          <a:bodyPr wrap="square" lIns="0" tIns="0" rIns="0" bIns="0" rtlCol="0" anchor="t"/>
          <a:lstStyle/>
          <a:p>
            <a:pPr algn="l" indent="0" marL="0">
              <a:lnSpc>
                <a:spcPct val="115000"/>
              </a:lnSpc>
              <a:buNone/>
            </a:pPr>
            <a:r>
              <a:rPr lang="en-US" sz="2000" dirty="0">
                <a:solidFill>
                  <a:srgbClr val="0E1B3D"/>
                </a:solidFill>
                <a:latin typeface="Plus Jakarta Sans" pitchFamily="34" charset="0"/>
                <a:ea typeface="Plus Jakarta Sans" pitchFamily="34" charset="-122"/>
                <a:cs typeface="Plus Jakarta Sans" pitchFamily="34" charset="-120"/>
              </a:rPr>
              <a:t>Kita membuat website sendiri dari nol</a:t>
            </a:r>
            <a:endParaRPr lang="en-US" sz="2000" dirty="0"/>
          </a:p>
        </p:txBody>
      </p:sp>
      <p:sp>
        <p:nvSpPr>
          <p:cNvPr id="13" name="Shape 11"/>
          <p:cNvSpPr/>
          <p:nvPr/>
        </p:nvSpPr>
        <p:spPr>
          <a:xfrm>
            <a:off x="4754880" y="5303520"/>
            <a:ext cx="6675120" cy="0"/>
          </a:xfrm>
          <a:prstGeom prst="line">
            <a:avLst/>
          </a:prstGeom>
          <a:noFill/>
          <a:ln w="12700">
            <a:solidFill>
              <a:srgbClr val="E3DFD6"/>
            </a:solidFill>
            <a:prstDash val="solid"/>
          </a:ln>
        </p:spPr>
      </p:sp>
      <p:sp>
        <p:nvSpPr>
          <p:cNvPr id="14" name="Text 12"/>
          <p:cNvSpPr txBox="1"/>
          <p:nvPr/>
        </p:nvSpPr>
        <p:spPr>
          <a:xfrm>
            <a:off x="4754880" y="5413248"/>
            <a:ext cx="3657600" cy="256032"/>
          </a:xfrm>
          <a:prstGeom prst="rect">
            <a:avLst/>
          </a:prstGeom>
          <a:noFill/>
          <a:ln/>
        </p:spPr>
        <p:txBody>
          <a:bodyPr wrap="square" lIns="0" tIns="0" rIns="0" bIns="0" rtlCol="0" anchor="t"/>
          <a:lstStyle/>
          <a:p>
            <a:pPr algn="l" indent="0" marL="0">
              <a:lnSpc>
                <a:spcPct val="115000"/>
              </a:lnSpc>
              <a:buNone/>
            </a:pPr>
            <a:r>
              <a:rPr lang="en-US" sz="1400" b="1" dirty="0">
                <a:solidFill>
                  <a:srgbClr val="1F4FD8"/>
                </a:solidFill>
                <a:latin typeface="Plus Jakarta Sans" pitchFamily="34" charset="0"/>
                <a:ea typeface="Plus Jakarta Sans" pitchFamily="34" charset="-122"/>
                <a:cs typeface="Plus Jakarta Sans" pitchFamily="34" charset="-120"/>
              </a:rPr>
              <a:t>Pesan saya</a:t>
            </a:r>
            <a:endParaRPr lang="en-US" sz="1400" dirty="0"/>
          </a:p>
        </p:txBody>
      </p:sp>
      <p:sp>
        <p:nvSpPr>
          <p:cNvPr id="15" name="Text 13"/>
          <p:cNvSpPr txBox="1"/>
          <p:nvPr/>
        </p:nvSpPr>
        <p:spPr>
          <a:xfrm>
            <a:off x="4754880" y="5687568"/>
            <a:ext cx="6675120" cy="365760"/>
          </a:xfrm>
          <a:prstGeom prst="rect">
            <a:avLst/>
          </a:prstGeom>
          <a:noFill/>
          <a:ln/>
        </p:spPr>
        <p:txBody>
          <a:bodyPr wrap="square" lIns="0" tIns="0" rIns="0" bIns="0" rtlCol="0" anchor="t"/>
          <a:lstStyle/>
          <a:p>
            <a:pPr algn="l" indent="0" marL="0">
              <a:lnSpc>
                <a:spcPct val="115000"/>
              </a:lnSpc>
              <a:buNone/>
            </a:pPr>
            <a:r>
              <a:rPr lang="en-US" sz="2000" dirty="0">
                <a:solidFill>
                  <a:srgbClr val="0E1B3D"/>
                </a:solidFill>
                <a:latin typeface="Plus Jakarta Sans" pitchFamily="34" charset="0"/>
                <a:ea typeface="Plus Jakarta Sans" pitchFamily="34" charset="-122"/>
                <a:cs typeface="Plus Jakarta Sans" pitchFamily="34" charset="-120"/>
              </a:rPr>
              <a:t>Tidak ada yang langsung jago.</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3</a:t>
            </a:r>
            <a:endParaRPr lang="en-US" sz="1100" dirty="0"/>
          </a:p>
        </p:txBody>
      </p:sp>
      <p:sp>
        <p:nvSpPr>
          <p:cNvPr id="3" name="Text 1"/>
          <p:cNvSpPr txBox="1"/>
          <p:nvPr/>
        </p:nvSpPr>
        <p:spPr>
          <a:xfrm>
            <a:off x="731520" y="1143000"/>
            <a:ext cx="6035040" cy="3474720"/>
          </a:xfrm>
          <a:prstGeom prst="rect">
            <a:avLst/>
          </a:prstGeom>
          <a:noFill/>
          <a:ln/>
        </p:spPr>
        <p:txBody>
          <a:bodyPr wrap="square" lIns="0" tIns="0" rIns="0" bIns="0" rtlCol="0" anchor="t"/>
          <a:lstStyle/>
          <a:p>
            <a:pPr algn="l" indent="0" marL="0">
              <a:lnSpc>
                <a:spcPct val="104000"/>
              </a:lnSpc>
              <a:buNone/>
            </a:pPr>
            <a:r>
              <a:rPr lang="en-US" sz="5800" b="1" dirty="0">
                <a:solidFill>
                  <a:srgbClr val="0E1B3D"/>
                </a:solidFill>
                <a:latin typeface="Plus Jakarta Sans" pitchFamily="34" charset="0"/>
                <a:ea typeface="Plus Jakarta Sans" pitchFamily="34" charset="-122"/>
                <a:cs typeface="Plus Jakarta Sans" pitchFamily="34" charset="-120"/>
              </a:rPr>
              <a:t>Jam 11.20,</a:t>
            </a:r>
            <a:endParaRPr lang="en-US" sz="5800" dirty="0"/>
          </a:p>
          <a:p>
            <a:pPr algn="l" indent="0" marL="0">
              <a:lnSpc>
                <a:spcPct val="104000"/>
              </a:lnSpc>
              <a:buNone/>
            </a:pPr>
            <a:r>
              <a:rPr lang="en-US" sz="5800" b="1" dirty="0">
                <a:solidFill>
                  <a:srgbClr val="0E1B3D"/>
                </a:solidFill>
                <a:latin typeface="Plus Jakarta Sans" pitchFamily="34" charset="0"/>
                <a:ea typeface="Plus Jakarta Sans" pitchFamily="34" charset="-122"/>
                <a:cs typeface="Plus Jakarta Sans" pitchFamily="34" charset="-120"/>
              </a:rPr>
              <a:t>kamu punya</a:t>
            </a:r>
            <a:endParaRPr lang="en-US" sz="5800" dirty="0"/>
          </a:p>
          <a:p>
            <a:pPr algn="l" indent="0" marL="0">
              <a:lnSpc>
                <a:spcPct val="104000"/>
              </a:lnSpc>
              <a:buNone/>
            </a:pPr>
            <a:r>
              <a:rPr lang="en-US" sz="5800" b="1" dirty="0">
                <a:solidFill>
                  <a:srgbClr val="1F4FD8"/>
                </a:solidFill>
                <a:latin typeface="Plus Jakarta Sans" pitchFamily="34" charset="0"/>
                <a:ea typeface="Plus Jakarta Sans" pitchFamily="34" charset="-122"/>
                <a:cs typeface="Plus Jakarta Sans" pitchFamily="34" charset="-120"/>
              </a:rPr>
              <a:t>website sendiri.</a:t>
            </a:r>
            <a:endParaRPr lang="en-US" sz="5800" dirty="0"/>
          </a:p>
        </p:txBody>
      </p:sp>
      <p:sp>
        <p:nvSpPr>
          <p:cNvPr id="4" name="Text 2"/>
          <p:cNvSpPr txBox="1"/>
          <p:nvPr/>
        </p:nvSpPr>
        <p:spPr>
          <a:xfrm>
            <a:off x="731520" y="4754880"/>
            <a:ext cx="5669280" cy="1097280"/>
          </a:xfrm>
          <a:prstGeom prst="rect">
            <a:avLst/>
          </a:prstGeom>
          <a:noFill/>
          <a:ln/>
        </p:spPr>
        <p:txBody>
          <a:bodyPr wrap="square" lIns="0" tIns="0" rIns="0" bIns="0" rtlCol="0" anchor="t"/>
          <a:lstStyle/>
          <a:p>
            <a:pPr algn="l" indent="0" marL="0">
              <a:lnSpc>
                <a:spcPct val="140000"/>
              </a:lnSpc>
              <a:buNone/>
            </a:pPr>
            <a:r>
              <a:rPr lang="en-US" sz="1900" dirty="0">
                <a:solidFill>
                  <a:srgbClr val="5B6478"/>
                </a:solidFill>
                <a:latin typeface="Plus Jakarta Sans" pitchFamily="34" charset="0"/>
                <a:ea typeface="Plus Jakarta Sans" pitchFamily="34" charset="-122"/>
                <a:cs typeface="Plus Jakarta Sans" pitchFamily="34" charset="-120"/>
              </a:rPr>
              <a:t>Lengkap dengan link yang bisa kamu kirim ke teman, keluarga, bahkan guru.</a:t>
            </a:r>
            <a:endParaRPr lang="en-US" sz="1900" dirty="0"/>
          </a:p>
        </p:txBody>
      </p:sp>
      <p:sp>
        <p:nvSpPr>
          <p:cNvPr id="5" name="Shape 3"/>
          <p:cNvSpPr/>
          <p:nvPr/>
        </p:nvSpPr>
        <p:spPr>
          <a:xfrm>
            <a:off x="6949440" y="914400"/>
            <a:ext cx="4572000" cy="4343400"/>
          </a:xfrm>
          <a:prstGeom prst="roundRect">
            <a:avLst>
              <a:gd name="adj" fmla="val 3368"/>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6" name="Shape 4"/>
          <p:cNvSpPr/>
          <p:nvPr/>
        </p:nvSpPr>
        <p:spPr>
          <a:xfrm>
            <a:off x="6967728" y="932688"/>
            <a:ext cx="4535424" cy="384048"/>
          </a:xfrm>
          <a:prstGeom prst="roundRect">
            <a:avLst>
              <a:gd name="adj" fmla="val 33333"/>
            </a:avLst>
          </a:prstGeom>
          <a:solidFill>
            <a:srgbClr val="EEF1F7"/>
          </a:solidFill>
          <a:ln/>
        </p:spPr>
      </p:sp>
      <p:sp>
        <p:nvSpPr>
          <p:cNvPr id="7" name="Shape 5"/>
          <p:cNvSpPr/>
          <p:nvPr/>
        </p:nvSpPr>
        <p:spPr>
          <a:xfrm>
            <a:off x="6967728" y="1115568"/>
            <a:ext cx="4535424" cy="201168"/>
          </a:xfrm>
          <a:prstGeom prst="rect">
            <a:avLst/>
          </a:prstGeom>
          <a:solidFill>
            <a:srgbClr val="EEF1F7"/>
          </a:solidFill>
          <a:ln/>
        </p:spPr>
      </p:sp>
      <p:sp>
        <p:nvSpPr>
          <p:cNvPr id="8" name="Shape 6"/>
          <p:cNvSpPr/>
          <p:nvPr/>
        </p:nvSpPr>
        <p:spPr>
          <a:xfrm>
            <a:off x="7132320" y="1051560"/>
            <a:ext cx="100584" cy="100584"/>
          </a:xfrm>
          <a:prstGeom prst="ellipse">
            <a:avLst/>
          </a:prstGeom>
          <a:solidFill>
            <a:srgbClr val="E63946"/>
          </a:solidFill>
          <a:ln/>
        </p:spPr>
      </p:sp>
      <p:sp>
        <p:nvSpPr>
          <p:cNvPr id="9" name="Shape 7"/>
          <p:cNvSpPr/>
          <p:nvPr/>
        </p:nvSpPr>
        <p:spPr>
          <a:xfrm>
            <a:off x="7306056" y="1051560"/>
            <a:ext cx="100584" cy="100584"/>
          </a:xfrm>
          <a:prstGeom prst="ellipse">
            <a:avLst/>
          </a:prstGeom>
          <a:solidFill>
            <a:srgbClr val="FFC83D"/>
          </a:solidFill>
          <a:ln/>
        </p:spPr>
      </p:sp>
      <p:sp>
        <p:nvSpPr>
          <p:cNvPr id="10" name="Shape 8"/>
          <p:cNvSpPr/>
          <p:nvPr/>
        </p:nvSpPr>
        <p:spPr>
          <a:xfrm>
            <a:off x="7479792" y="1051560"/>
            <a:ext cx="100584" cy="100584"/>
          </a:xfrm>
          <a:prstGeom prst="ellipse">
            <a:avLst/>
          </a:prstGeom>
          <a:solidFill>
            <a:srgbClr val="1E9E68"/>
          </a:solidFill>
          <a:ln/>
        </p:spPr>
      </p:sp>
      <p:sp>
        <p:nvSpPr>
          <p:cNvPr id="11" name="Shape 9"/>
          <p:cNvSpPr/>
          <p:nvPr/>
        </p:nvSpPr>
        <p:spPr>
          <a:xfrm>
            <a:off x="7818120" y="996696"/>
            <a:ext cx="3474720" cy="237744"/>
          </a:xfrm>
          <a:prstGeom prst="roundRect">
            <a:avLst>
              <a:gd name="adj" fmla="val 50000"/>
            </a:avLst>
          </a:prstGeom>
          <a:solidFill>
            <a:srgbClr val="FFFFFF"/>
          </a:solidFill>
          <a:ln/>
        </p:spPr>
      </p:sp>
      <p:sp>
        <p:nvSpPr>
          <p:cNvPr id="12" name="Text 10"/>
          <p:cNvSpPr txBox="1"/>
          <p:nvPr/>
        </p:nvSpPr>
        <p:spPr>
          <a:xfrm>
            <a:off x="7955280" y="996696"/>
            <a:ext cx="32004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alya-putri.netlify.app</a:t>
            </a:r>
            <a:endParaRPr lang="en-US" sz="1100" dirty="0"/>
          </a:p>
        </p:txBody>
      </p:sp>
      <p:sp>
        <p:nvSpPr>
          <p:cNvPr id="13" name="Shape 11"/>
          <p:cNvSpPr/>
          <p:nvPr/>
        </p:nvSpPr>
        <p:spPr>
          <a:xfrm>
            <a:off x="6967728" y="1316736"/>
            <a:ext cx="4535424" cy="3904488"/>
          </a:xfrm>
          <a:prstGeom prst="rect">
            <a:avLst/>
          </a:prstGeom>
          <a:solidFill>
            <a:srgbClr val="FAF8F4"/>
          </a:solidFill>
          <a:ln/>
        </p:spPr>
      </p:sp>
      <p:sp>
        <p:nvSpPr>
          <p:cNvPr id="14" name="Shape 12"/>
          <p:cNvSpPr/>
          <p:nvPr/>
        </p:nvSpPr>
        <p:spPr>
          <a:xfrm>
            <a:off x="6967728" y="1316736"/>
            <a:ext cx="4535424" cy="1314450"/>
          </a:xfrm>
          <a:prstGeom prst="rect">
            <a:avLst/>
          </a:prstGeom>
          <a:solidFill>
            <a:srgbClr val="0E1B3D"/>
          </a:solidFill>
          <a:ln/>
        </p:spPr>
      </p:sp>
      <p:sp>
        <p:nvSpPr>
          <p:cNvPr id="15" name="Text 13"/>
          <p:cNvSpPr txBox="1"/>
          <p:nvPr/>
        </p:nvSpPr>
        <p:spPr>
          <a:xfrm>
            <a:off x="7283196" y="1527048"/>
            <a:ext cx="3904488" cy="473202"/>
          </a:xfrm>
          <a:prstGeom prst="rect">
            <a:avLst/>
          </a:prstGeom>
          <a:noFill/>
          <a:ln/>
        </p:spPr>
        <p:txBody>
          <a:bodyPr wrap="square" lIns="0" tIns="0" rIns="0" bIns="0" rtlCol="0" anchor="t"/>
          <a:lstStyle/>
          <a:p>
            <a:pPr algn="l" indent="0" marL="0">
              <a:lnSpc>
                <a:spcPct val="115000"/>
              </a:lnSpc>
              <a:buNone/>
            </a:pPr>
            <a:r>
              <a:rPr lang="en-US" sz="2760" b="1" dirty="0">
                <a:solidFill>
                  <a:srgbClr val="FFFFFF"/>
                </a:solidFill>
                <a:latin typeface="Plus Jakarta Sans" pitchFamily="34" charset="0"/>
                <a:ea typeface="Plus Jakarta Sans" pitchFamily="34" charset="-122"/>
                <a:cs typeface="Plus Jakarta Sans" pitchFamily="34" charset="-120"/>
              </a:rPr>
              <a:t>Alya Putri</a:t>
            </a:r>
            <a:endParaRPr lang="en-US" sz="2760" dirty="0"/>
          </a:p>
        </p:txBody>
      </p:sp>
      <p:sp>
        <p:nvSpPr>
          <p:cNvPr id="16" name="Text 14"/>
          <p:cNvSpPr txBox="1"/>
          <p:nvPr/>
        </p:nvSpPr>
        <p:spPr>
          <a:xfrm>
            <a:off x="7283196" y="1968703"/>
            <a:ext cx="3904488" cy="262890"/>
          </a:xfrm>
          <a:prstGeom prst="rect">
            <a:avLst/>
          </a:prstGeom>
          <a:noFill/>
          <a:ln/>
        </p:spPr>
        <p:txBody>
          <a:bodyPr wrap="square" lIns="0" tIns="0" rIns="0" bIns="0" rtlCol="0" anchor="t"/>
          <a:lstStyle/>
          <a:p>
            <a:pPr algn="l" indent="0" marL="0">
              <a:lnSpc>
                <a:spcPct val="115000"/>
              </a:lnSpc>
              <a:buNone/>
            </a:pPr>
            <a:r>
              <a:rPr lang="en-US" sz="1380" dirty="0">
                <a:solidFill>
                  <a:srgbClr val="FFC83D"/>
                </a:solidFill>
                <a:latin typeface="Plus Jakarta Sans" pitchFamily="34" charset="0"/>
                <a:ea typeface="Plus Jakarta Sans" pitchFamily="34" charset="-122"/>
                <a:cs typeface="Plus Jakarta Sans" pitchFamily="34" charset="-120"/>
              </a:rPr>
              <a:t>Siswa SMA · Calon Web Developer</a:t>
            </a:r>
            <a:endParaRPr lang="en-US" sz="1380" dirty="0"/>
          </a:p>
        </p:txBody>
      </p:sp>
      <p:sp>
        <p:nvSpPr>
          <p:cNvPr id="17" name="Shape 15"/>
          <p:cNvSpPr/>
          <p:nvPr/>
        </p:nvSpPr>
        <p:spPr>
          <a:xfrm>
            <a:off x="7283196" y="2294687"/>
            <a:ext cx="893826" cy="252374"/>
          </a:xfrm>
          <a:prstGeom prst="roundRect">
            <a:avLst>
              <a:gd name="adj" fmla="val 50000"/>
            </a:avLst>
          </a:prstGeom>
          <a:solidFill>
            <a:srgbClr val="17285A"/>
          </a:solidFill>
          <a:ln/>
        </p:spPr>
      </p:sp>
      <p:sp>
        <p:nvSpPr>
          <p:cNvPr id="18" name="Text 16"/>
          <p:cNvSpPr txBox="1"/>
          <p:nvPr/>
        </p:nvSpPr>
        <p:spPr>
          <a:xfrm>
            <a:off x="7283196" y="2294687"/>
            <a:ext cx="893826" cy="252374"/>
          </a:xfrm>
          <a:prstGeom prst="rect">
            <a:avLst/>
          </a:prstGeom>
          <a:noFill/>
          <a:ln/>
        </p:spPr>
        <p:txBody>
          <a:bodyPr wrap="square" lIns="0" tIns="0" rIns="0" bIns="0" rtlCol="0" anchor="ctr"/>
          <a:lstStyle/>
          <a:p>
            <a:pPr algn="ctr" indent="0" marL="0">
              <a:lnSpc>
                <a:spcPct val="115000"/>
              </a:lnSpc>
              <a:buNone/>
            </a:pPr>
            <a:r>
              <a:rPr lang="en-US" sz="1150" b="1" dirty="0">
                <a:solidFill>
                  <a:srgbClr val="F4F6FB"/>
                </a:solidFill>
                <a:latin typeface="Plus Jakarta Sans" pitchFamily="34" charset="0"/>
                <a:ea typeface="Plus Jakarta Sans" pitchFamily="34" charset="-122"/>
                <a:cs typeface="Plus Jakarta Sans" pitchFamily="34" charset="-120"/>
              </a:rPr>
              <a:t>Tentang</a:t>
            </a:r>
            <a:endParaRPr lang="en-US" sz="1150" dirty="0"/>
          </a:p>
        </p:txBody>
      </p:sp>
      <p:sp>
        <p:nvSpPr>
          <p:cNvPr id="19" name="Shape 17"/>
          <p:cNvSpPr/>
          <p:nvPr/>
        </p:nvSpPr>
        <p:spPr>
          <a:xfrm>
            <a:off x="8282178" y="2294687"/>
            <a:ext cx="893826" cy="252374"/>
          </a:xfrm>
          <a:prstGeom prst="roundRect">
            <a:avLst>
              <a:gd name="adj" fmla="val 50000"/>
            </a:avLst>
          </a:prstGeom>
          <a:solidFill>
            <a:srgbClr val="17285A"/>
          </a:solidFill>
          <a:ln/>
        </p:spPr>
      </p:sp>
      <p:sp>
        <p:nvSpPr>
          <p:cNvPr id="20" name="Text 18"/>
          <p:cNvSpPr txBox="1"/>
          <p:nvPr/>
        </p:nvSpPr>
        <p:spPr>
          <a:xfrm>
            <a:off x="8282178" y="2294687"/>
            <a:ext cx="893826" cy="252374"/>
          </a:xfrm>
          <a:prstGeom prst="rect">
            <a:avLst/>
          </a:prstGeom>
          <a:noFill/>
          <a:ln/>
        </p:spPr>
        <p:txBody>
          <a:bodyPr wrap="square" lIns="0" tIns="0" rIns="0" bIns="0" rtlCol="0" anchor="ctr"/>
          <a:lstStyle/>
          <a:p>
            <a:pPr algn="ctr" indent="0" marL="0">
              <a:lnSpc>
                <a:spcPct val="115000"/>
              </a:lnSpc>
              <a:buNone/>
            </a:pPr>
            <a:r>
              <a:rPr lang="en-US" sz="1150" b="1" dirty="0">
                <a:solidFill>
                  <a:srgbClr val="F4F6FB"/>
                </a:solidFill>
                <a:latin typeface="Plus Jakarta Sans" pitchFamily="34" charset="0"/>
                <a:ea typeface="Plus Jakarta Sans" pitchFamily="34" charset="-122"/>
                <a:cs typeface="Plus Jakarta Sans" pitchFamily="34" charset="-120"/>
              </a:rPr>
              <a:t>Skill</a:t>
            </a:r>
            <a:endParaRPr lang="en-US" sz="1150" dirty="0"/>
          </a:p>
        </p:txBody>
      </p:sp>
      <p:sp>
        <p:nvSpPr>
          <p:cNvPr id="21" name="Shape 19"/>
          <p:cNvSpPr/>
          <p:nvPr/>
        </p:nvSpPr>
        <p:spPr>
          <a:xfrm>
            <a:off x="9281160" y="2294687"/>
            <a:ext cx="893826" cy="252374"/>
          </a:xfrm>
          <a:prstGeom prst="roundRect">
            <a:avLst>
              <a:gd name="adj" fmla="val 50000"/>
            </a:avLst>
          </a:prstGeom>
          <a:solidFill>
            <a:srgbClr val="17285A"/>
          </a:solidFill>
          <a:ln/>
        </p:spPr>
      </p:sp>
      <p:sp>
        <p:nvSpPr>
          <p:cNvPr id="22" name="Text 20"/>
          <p:cNvSpPr txBox="1"/>
          <p:nvPr/>
        </p:nvSpPr>
        <p:spPr>
          <a:xfrm>
            <a:off x="9281160" y="2294687"/>
            <a:ext cx="893826" cy="252374"/>
          </a:xfrm>
          <a:prstGeom prst="rect">
            <a:avLst/>
          </a:prstGeom>
          <a:noFill/>
          <a:ln/>
        </p:spPr>
        <p:txBody>
          <a:bodyPr wrap="square" lIns="0" tIns="0" rIns="0" bIns="0" rtlCol="0" anchor="ctr"/>
          <a:lstStyle/>
          <a:p>
            <a:pPr algn="ctr" indent="0" marL="0">
              <a:lnSpc>
                <a:spcPct val="115000"/>
              </a:lnSpc>
              <a:buNone/>
            </a:pPr>
            <a:r>
              <a:rPr lang="en-US" sz="1150" b="1" dirty="0">
                <a:solidFill>
                  <a:srgbClr val="F4F6FB"/>
                </a:solidFill>
                <a:latin typeface="Plus Jakarta Sans" pitchFamily="34" charset="0"/>
                <a:ea typeface="Plus Jakarta Sans" pitchFamily="34" charset="-122"/>
                <a:cs typeface="Plus Jakarta Sans" pitchFamily="34" charset="-120"/>
              </a:rPr>
              <a:t>Project</a:t>
            </a:r>
            <a:endParaRPr lang="en-US" sz="1150" dirty="0"/>
          </a:p>
        </p:txBody>
      </p:sp>
      <p:sp>
        <p:nvSpPr>
          <p:cNvPr id="23" name="Shape 21"/>
          <p:cNvSpPr/>
          <p:nvPr/>
        </p:nvSpPr>
        <p:spPr>
          <a:xfrm>
            <a:off x="10280142" y="2294687"/>
            <a:ext cx="893826" cy="252374"/>
          </a:xfrm>
          <a:prstGeom prst="roundRect">
            <a:avLst>
              <a:gd name="adj" fmla="val 50000"/>
            </a:avLst>
          </a:prstGeom>
          <a:solidFill>
            <a:srgbClr val="17285A"/>
          </a:solidFill>
          <a:ln/>
        </p:spPr>
      </p:sp>
      <p:sp>
        <p:nvSpPr>
          <p:cNvPr id="24" name="Text 22"/>
          <p:cNvSpPr txBox="1"/>
          <p:nvPr/>
        </p:nvSpPr>
        <p:spPr>
          <a:xfrm>
            <a:off x="10280142" y="2294687"/>
            <a:ext cx="893826" cy="252374"/>
          </a:xfrm>
          <a:prstGeom prst="rect">
            <a:avLst/>
          </a:prstGeom>
          <a:noFill/>
          <a:ln/>
        </p:spPr>
        <p:txBody>
          <a:bodyPr wrap="square" lIns="0" tIns="0" rIns="0" bIns="0" rtlCol="0" anchor="ctr"/>
          <a:lstStyle/>
          <a:p>
            <a:pPr algn="ctr" indent="0" marL="0">
              <a:lnSpc>
                <a:spcPct val="115000"/>
              </a:lnSpc>
              <a:buNone/>
            </a:pPr>
            <a:r>
              <a:rPr lang="en-US" sz="1150" b="1" dirty="0">
                <a:solidFill>
                  <a:srgbClr val="F4F6FB"/>
                </a:solidFill>
                <a:latin typeface="Plus Jakarta Sans" pitchFamily="34" charset="0"/>
                <a:ea typeface="Plus Jakarta Sans" pitchFamily="34" charset="-122"/>
                <a:cs typeface="Plus Jakarta Sans" pitchFamily="34" charset="-120"/>
              </a:rPr>
              <a:t>Kontak</a:t>
            </a:r>
            <a:endParaRPr lang="en-US" sz="1150" dirty="0"/>
          </a:p>
        </p:txBody>
      </p:sp>
      <p:sp>
        <p:nvSpPr>
          <p:cNvPr id="25" name="Shape 23"/>
          <p:cNvSpPr/>
          <p:nvPr/>
        </p:nvSpPr>
        <p:spPr>
          <a:xfrm>
            <a:off x="7283196" y="2946654"/>
            <a:ext cx="1794510" cy="1156716"/>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26" name="Text 24"/>
          <p:cNvSpPr txBox="1"/>
          <p:nvPr/>
        </p:nvSpPr>
        <p:spPr>
          <a:xfrm>
            <a:off x="7440930" y="3093872"/>
            <a:ext cx="1479042" cy="262890"/>
          </a:xfrm>
          <a:prstGeom prst="rect">
            <a:avLst/>
          </a:prstGeom>
          <a:noFill/>
          <a:ln/>
        </p:spPr>
        <p:txBody>
          <a:bodyPr wrap="square" lIns="0" tIns="0" rIns="0" bIns="0" rtlCol="0" anchor="t"/>
          <a:lstStyle/>
          <a:p>
            <a:pPr algn="l" indent="0" marL="0">
              <a:lnSpc>
                <a:spcPct val="115000"/>
              </a:lnSpc>
              <a:buNone/>
            </a:pPr>
            <a:r>
              <a:rPr lang="en-US" sz="1380" b="1" dirty="0">
                <a:solidFill>
                  <a:srgbClr val="0E1B3D"/>
                </a:solidFill>
                <a:latin typeface="Plus Jakarta Sans" pitchFamily="34" charset="0"/>
                <a:ea typeface="Plus Jakarta Sans" pitchFamily="34" charset="-122"/>
                <a:cs typeface="Plus Jakarta Sans" pitchFamily="34" charset="-120"/>
              </a:rPr>
              <a:t>Profil Pribadi</a:t>
            </a:r>
            <a:endParaRPr lang="en-US" sz="1380" dirty="0"/>
          </a:p>
        </p:txBody>
      </p:sp>
      <p:sp>
        <p:nvSpPr>
          <p:cNvPr id="27" name="Shape 25"/>
          <p:cNvSpPr/>
          <p:nvPr/>
        </p:nvSpPr>
        <p:spPr>
          <a:xfrm>
            <a:off x="7440930" y="3472434"/>
            <a:ext cx="1479042" cy="73609"/>
          </a:xfrm>
          <a:prstGeom prst="rect">
            <a:avLst/>
          </a:prstGeom>
          <a:solidFill>
            <a:srgbClr val="E3DFD6"/>
          </a:solidFill>
          <a:ln/>
        </p:spPr>
      </p:sp>
      <p:sp>
        <p:nvSpPr>
          <p:cNvPr id="28" name="Shape 26"/>
          <p:cNvSpPr/>
          <p:nvPr/>
        </p:nvSpPr>
        <p:spPr>
          <a:xfrm>
            <a:off x="7440930" y="3661715"/>
            <a:ext cx="961377" cy="73609"/>
          </a:xfrm>
          <a:prstGeom prst="rect">
            <a:avLst/>
          </a:prstGeom>
          <a:solidFill>
            <a:srgbClr val="E3DFD6"/>
          </a:solidFill>
          <a:ln/>
        </p:spPr>
      </p:sp>
      <p:sp>
        <p:nvSpPr>
          <p:cNvPr id="29" name="Shape 27"/>
          <p:cNvSpPr/>
          <p:nvPr/>
        </p:nvSpPr>
        <p:spPr>
          <a:xfrm>
            <a:off x="9393174" y="2946654"/>
            <a:ext cx="1794510" cy="1156716"/>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30" name="Text 28"/>
          <p:cNvSpPr txBox="1"/>
          <p:nvPr/>
        </p:nvSpPr>
        <p:spPr>
          <a:xfrm>
            <a:off x="9550908" y="3093872"/>
            <a:ext cx="1479042" cy="262890"/>
          </a:xfrm>
          <a:prstGeom prst="rect">
            <a:avLst/>
          </a:prstGeom>
          <a:noFill/>
          <a:ln/>
        </p:spPr>
        <p:txBody>
          <a:bodyPr wrap="square" lIns="0" tIns="0" rIns="0" bIns="0" rtlCol="0" anchor="t"/>
          <a:lstStyle/>
          <a:p>
            <a:pPr algn="l" indent="0" marL="0">
              <a:lnSpc>
                <a:spcPct val="115000"/>
              </a:lnSpc>
              <a:buNone/>
            </a:pPr>
            <a:r>
              <a:rPr lang="en-US" sz="1380" b="1" dirty="0">
                <a:solidFill>
                  <a:srgbClr val="0E1B3D"/>
                </a:solidFill>
                <a:latin typeface="Plus Jakarta Sans" pitchFamily="34" charset="0"/>
                <a:ea typeface="Plus Jakarta Sans" pitchFamily="34" charset="-122"/>
                <a:cs typeface="Plus Jakarta Sans" pitchFamily="34" charset="-120"/>
              </a:rPr>
              <a:t>Cuaca Hari Ini</a:t>
            </a:r>
            <a:endParaRPr lang="en-US" sz="1380" dirty="0"/>
          </a:p>
        </p:txBody>
      </p:sp>
      <p:sp>
        <p:nvSpPr>
          <p:cNvPr id="31" name="Shape 29"/>
          <p:cNvSpPr/>
          <p:nvPr/>
        </p:nvSpPr>
        <p:spPr>
          <a:xfrm>
            <a:off x="9550908" y="3472434"/>
            <a:ext cx="1479042" cy="73609"/>
          </a:xfrm>
          <a:prstGeom prst="rect">
            <a:avLst/>
          </a:prstGeom>
          <a:solidFill>
            <a:srgbClr val="E3DFD6"/>
          </a:solidFill>
          <a:ln/>
        </p:spPr>
      </p:sp>
      <p:sp>
        <p:nvSpPr>
          <p:cNvPr id="32" name="Shape 30"/>
          <p:cNvSpPr/>
          <p:nvPr/>
        </p:nvSpPr>
        <p:spPr>
          <a:xfrm>
            <a:off x="9550908" y="3661715"/>
            <a:ext cx="961377" cy="73609"/>
          </a:xfrm>
          <a:prstGeom prst="rect">
            <a:avLst/>
          </a:prstGeom>
          <a:solidFill>
            <a:srgbClr val="E3DFD6"/>
          </a:solidFill>
          <a:ln/>
        </p:spPr>
      </p:sp>
      <p:sp>
        <p:nvSpPr>
          <p:cNvPr id="33" name="Shape 31"/>
          <p:cNvSpPr/>
          <p:nvPr/>
        </p:nvSpPr>
        <p:spPr>
          <a:xfrm>
            <a:off x="7283196" y="4418838"/>
            <a:ext cx="788670" cy="273406"/>
          </a:xfrm>
          <a:prstGeom prst="roundRect">
            <a:avLst>
              <a:gd name="adj" fmla="val 50000"/>
            </a:avLst>
          </a:prstGeom>
          <a:solidFill>
            <a:srgbClr val="DCE6FF"/>
          </a:solidFill>
          <a:ln/>
        </p:spPr>
      </p:sp>
      <p:sp>
        <p:nvSpPr>
          <p:cNvPr id="34" name="Text 32"/>
          <p:cNvSpPr txBox="1"/>
          <p:nvPr/>
        </p:nvSpPr>
        <p:spPr>
          <a:xfrm>
            <a:off x="7283196" y="4418838"/>
            <a:ext cx="788670" cy="273406"/>
          </a:xfrm>
          <a:prstGeom prst="rect">
            <a:avLst/>
          </a:prstGeom>
          <a:noFill/>
          <a:ln/>
        </p:spPr>
        <p:txBody>
          <a:bodyPr wrap="square" lIns="0" tIns="0" rIns="0" bIns="0" rtlCol="0" anchor="ctr"/>
          <a:lstStyle/>
          <a:p>
            <a:pPr algn="ctr" indent="0" marL="0">
              <a:lnSpc>
                <a:spcPct val="115000"/>
              </a:lnSpc>
              <a:buNone/>
            </a:pPr>
            <a:r>
              <a:rPr lang="en-US" sz="1150" b="1" dirty="0">
                <a:solidFill>
                  <a:srgbClr val="1F4FD8"/>
                </a:solidFill>
                <a:latin typeface="Plus Jakarta Sans" pitchFamily="34" charset="0"/>
                <a:ea typeface="Plus Jakarta Sans" pitchFamily="34" charset="-122"/>
                <a:cs typeface="Plus Jakarta Sans" pitchFamily="34" charset="-120"/>
              </a:rPr>
              <a:t>HTML</a:t>
            </a:r>
            <a:endParaRPr lang="en-US" sz="1150" dirty="0"/>
          </a:p>
        </p:txBody>
      </p:sp>
      <p:sp>
        <p:nvSpPr>
          <p:cNvPr id="35" name="Shape 33"/>
          <p:cNvSpPr/>
          <p:nvPr/>
        </p:nvSpPr>
        <p:spPr>
          <a:xfrm>
            <a:off x="8177022" y="4418838"/>
            <a:ext cx="788670" cy="273406"/>
          </a:xfrm>
          <a:prstGeom prst="roundRect">
            <a:avLst>
              <a:gd name="adj" fmla="val 50000"/>
            </a:avLst>
          </a:prstGeom>
          <a:solidFill>
            <a:srgbClr val="DCE6FF"/>
          </a:solidFill>
          <a:ln/>
        </p:spPr>
      </p:sp>
      <p:sp>
        <p:nvSpPr>
          <p:cNvPr id="36" name="Text 34"/>
          <p:cNvSpPr txBox="1"/>
          <p:nvPr/>
        </p:nvSpPr>
        <p:spPr>
          <a:xfrm>
            <a:off x="8177022" y="4418838"/>
            <a:ext cx="788670" cy="273406"/>
          </a:xfrm>
          <a:prstGeom prst="rect">
            <a:avLst/>
          </a:prstGeom>
          <a:noFill/>
          <a:ln/>
        </p:spPr>
        <p:txBody>
          <a:bodyPr wrap="square" lIns="0" tIns="0" rIns="0" bIns="0" rtlCol="0" anchor="ctr"/>
          <a:lstStyle/>
          <a:p>
            <a:pPr algn="ctr" indent="0" marL="0">
              <a:lnSpc>
                <a:spcPct val="115000"/>
              </a:lnSpc>
              <a:buNone/>
            </a:pPr>
            <a:r>
              <a:rPr lang="en-US" sz="1150" b="1" dirty="0">
                <a:solidFill>
                  <a:srgbClr val="1F4FD8"/>
                </a:solidFill>
                <a:latin typeface="Plus Jakarta Sans" pitchFamily="34" charset="0"/>
                <a:ea typeface="Plus Jakarta Sans" pitchFamily="34" charset="-122"/>
                <a:cs typeface="Plus Jakarta Sans" pitchFamily="34" charset="-120"/>
              </a:rPr>
              <a:t>CSS</a:t>
            </a:r>
            <a:endParaRPr lang="en-US" sz="1150" dirty="0"/>
          </a:p>
        </p:txBody>
      </p:sp>
      <p:sp>
        <p:nvSpPr>
          <p:cNvPr id="37" name="Shape 35"/>
          <p:cNvSpPr/>
          <p:nvPr/>
        </p:nvSpPr>
        <p:spPr>
          <a:xfrm>
            <a:off x="9070848" y="4418838"/>
            <a:ext cx="788670" cy="273406"/>
          </a:xfrm>
          <a:prstGeom prst="roundRect">
            <a:avLst>
              <a:gd name="adj" fmla="val 50000"/>
            </a:avLst>
          </a:prstGeom>
          <a:solidFill>
            <a:srgbClr val="DCE6FF"/>
          </a:solidFill>
          <a:ln/>
        </p:spPr>
      </p:sp>
      <p:sp>
        <p:nvSpPr>
          <p:cNvPr id="38" name="Text 36"/>
          <p:cNvSpPr txBox="1"/>
          <p:nvPr/>
        </p:nvSpPr>
        <p:spPr>
          <a:xfrm>
            <a:off x="9070848" y="4418838"/>
            <a:ext cx="788670" cy="273406"/>
          </a:xfrm>
          <a:prstGeom prst="rect">
            <a:avLst/>
          </a:prstGeom>
          <a:noFill/>
          <a:ln/>
        </p:spPr>
        <p:txBody>
          <a:bodyPr wrap="square" lIns="0" tIns="0" rIns="0" bIns="0" rtlCol="0" anchor="ctr"/>
          <a:lstStyle/>
          <a:p>
            <a:pPr algn="ctr" indent="0" marL="0">
              <a:lnSpc>
                <a:spcPct val="115000"/>
              </a:lnSpc>
              <a:buNone/>
            </a:pPr>
            <a:r>
              <a:rPr lang="en-US" sz="1150" b="1" dirty="0">
                <a:solidFill>
                  <a:srgbClr val="1F4FD8"/>
                </a:solidFill>
                <a:latin typeface="Plus Jakarta Sans" pitchFamily="34" charset="0"/>
                <a:ea typeface="Plus Jakarta Sans" pitchFamily="34" charset="-122"/>
                <a:cs typeface="Plus Jakarta Sans" pitchFamily="34" charset="-120"/>
              </a:rPr>
              <a:t>Git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4</a:t>
            </a:r>
            <a:endParaRPr lang="en-US" sz="1100" dirty="0"/>
          </a:p>
        </p:txBody>
      </p:sp>
      <p:sp>
        <p:nvSpPr>
          <p:cNvPr id="3" name="Text 1"/>
          <p:cNvSpPr txBox="1"/>
          <p:nvPr/>
        </p:nvSpPr>
        <p:spPr>
          <a:xfrm>
            <a:off x="731520" y="685800"/>
            <a:ext cx="10698480" cy="91440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Empat langkah menuju website pertamamu</a:t>
            </a:r>
            <a:endParaRPr lang="en-US" sz="4000" dirty="0"/>
          </a:p>
        </p:txBody>
      </p:sp>
      <p:sp>
        <p:nvSpPr>
          <p:cNvPr id="4" name="Text 2"/>
          <p:cNvSpPr txBox="1"/>
          <p:nvPr/>
        </p:nvSpPr>
        <p:spPr>
          <a:xfrm>
            <a:off x="731520" y="2148840"/>
            <a:ext cx="2377440" cy="914400"/>
          </a:xfrm>
          <a:prstGeom prst="rect">
            <a:avLst/>
          </a:prstGeom>
          <a:noFill/>
          <a:ln/>
        </p:spPr>
        <p:txBody>
          <a:bodyPr wrap="none" lIns="0" tIns="0" rIns="0" bIns="0" rtlCol="0" anchor="t"/>
          <a:lstStyle/>
          <a:p>
            <a:pPr algn="l" indent="0" marL="0">
              <a:lnSpc>
                <a:spcPct val="115000"/>
              </a:lnSpc>
              <a:buNone/>
            </a:pPr>
            <a:r>
              <a:rPr lang="en-US" sz="6600" b="1" dirty="0">
                <a:solidFill>
                  <a:srgbClr val="1F4FD8"/>
                </a:solidFill>
                <a:latin typeface="Plus Jakarta Sans" pitchFamily="34" charset="0"/>
                <a:ea typeface="Plus Jakarta Sans" pitchFamily="34" charset="-122"/>
                <a:cs typeface="Plus Jakarta Sans" pitchFamily="34" charset="-120"/>
              </a:rPr>
              <a:t>1</a:t>
            </a:r>
            <a:endParaRPr lang="en-US" sz="6600" dirty="0"/>
          </a:p>
        </p:txBody>
      </p:sp>
      <p:sp>
        <p:nvSpPr>
          <p:cNvPr id="5" name="Shape 3"/>
          <p:cNvSpPr/>
          <p:nvPr/>
        </p:nvSpPr>
        <p:spPr>
          <a:xfrm>
            <a:off x="731520" y="3246120"/>
            <a:ext cx="2377440" cy="0"/>
          </a:xfrm>
          <a:prstGeom prst="line">
            <a:avLst/>
          </a:prstGeom>
          <a:noFill/>
          <a:ln w="19050">
            <a:solidFill>
              <a:srgbClr val="0E1B3D"/>
            </a:solidFill>
            <a:prstDash val="solid"/>
          </a:ln>
        </p:spPr>
      </p:sp>
      <p:sp>
        <p:nvSpPr>
          <p:cNvPr id="6" name="Text 4"/>
          <p:cNvSpPr txBox="1"/>
          <p:nvPr/>
        </p:nvSpPr>
        <p:spPr>
          <a:xfrm>
            <a:off x="731520" y="3429000"/>
            <a:ext cx="2468880" cy="685800"/>
          </a:xfrm>
          <a:prstGeom prst="rect">
            <a:avLst/>
          </a:prstGeom>
          <a:noFill/>
          <a:ln/>
        </p:spPr>
        <p:txBody>
          <a:bodyPr wrap="square" lIns="0" tIns="0" rIns="0" bIns="0" rtlCol="0" anchor="t"/>
          <a:lstStyle/>
          <a:p>
            <a:pPr algn="l" indent="0" marL="0">
              <a:lnSpc>
                <a:spcPct val="110000"/>
              </a:lnSpc>
              <a:buNone/>
            </a:pPr>
            <a:r>
              <a:rPr lang="en-US" sz="2200" b="1" dirty="0">
                <a:solidFill>
                  <a:srgbClr val="0E1B3D"/>
                </a:solidFill>
                <a:latin typeface="Plus Jakarta Sans" pitchFamily="34" charset="0"/>
                <a:ea typeface="Plus Jakarta Sans" pitchFamily="34" charset="-122"/>
                <a:cs typeface="Plus Jakarta Sans" pitchFamily="34" charset="-120"/>
              </a:rPr>
              <a:t>Dasar Web</a:t>
            </a:r>
            <a:endParaRPr lang="en-US" sz="2200" dirty="0"/>
          </a:p>
        </p:txBody>
      </p:sp>
      <p:sp>
        <p:nvSpPr>
          <p:cNvPr id="7" name="Text 5"/>
          <p:cNvSpPr txBox="1"/>
          <p:nvPr/>
        </p:nvSpPr>
        <p:spPr>
          <a:xfrm>
            <a:off x="731520" y="4160520"/>
            <a:ext cx="2377440" cy="100584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Plus Jakarta Sans" pitchFamily="34" charset="0"/>
                <a:ea typeface="Plus Jakarta Sans" pitchFamily="34" charset="-122"/>
                <a:cs typeface="Plus Jakarta Sans" pitchFamily="34" charset="-120"/>
              </a:rPr>
              <a:t>Cara kerja website dan alat yang kita pakai</a:t>
            </a:r>
            <a:endParaRPr lang="en-US" sz="1600" dirty="0"/>
          </a:p>
        </p:txBody>
      </p:sp>
      <p:sp>
        <p:nvSpPr>
          <p:cNvPr id="8" name="Shape 6"/>
          <p:cNvSpPr/>
          <p:nvPr/>
        </p:nvSpPr>
        <p:spPr>
          <a:xfrm>
            <a:off x="731520" y="5303520"/>
            <a:ext cx="1737360" cy="347472"/>
          </a:xfrm>
          <a:prstGeom prst="roundRect">
            <a:avLst>
              <a:gd name="adj" fmla="val 50000"/>
            </a:avLst>
          </a:prstGeom>
          <a:ln w="15875">
            <a:solidFill>
              <a:srgbClr val="E3DFD6"/>
            </a:solidFill>
            <a:prstDash val="solid"/>
          </a:ln>
        </p:spPr>
      </p:sp>
      <p:sp>
        <p:nvSpPr>
          <p:cNvPr id="9" name="Text 7"/>
          <p:cNvSpPr txBox="1"/>
          <p:nvPr/>
        </p:nvSpPr>
        <p:spPr>
          <a:xfrm>
            <a:off x="731520" y="530352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5B6478"/>
                </a:solidFill>
                <a:latin typeface="Plus Jakarta Sans" pitchFamily="34" charset="0"/>
                <a:ea typeface="Plus Jakarta Sans" pitchFamily="34" charset="-122"/>
                <a:cs typeface="Plus Jakarta Sans" pitchFamily="34" charset="-120"/>
              </a:rPr>
              <a:t>07.50 – 08.20</a:t>
            </a:r>
            <a:endParaRPr lang="en-US" sz="1200" dirty="0"/>
          </a:p>
        </p:txBody>
      </p:sp>
      <p:sp>
        <p:nvSpPr>
          <p:cNvPr id="10" name="Text 8"/>
          <p:cNvSpPr txBox="1"/>
          <p:nvPr/>
        </p:nvSpPr>
        <p:spPr>
          <a:xfrm>
            <a:off x="3410712" y="2148840"/>
            <a:ext cx="2377440" cy="914400"/>
          </a:xfrm>
          <a:prstGeom prst="rect">
            <a:avLst/>
          </a:prstGeom>
          <a:noFill/>
          <a:ln/>
        </p:spPr>
        <p:txBody>
          <a:bodyPr wrap="none" lIns="0" tIns="0" rIns="0" bIns="0" rtlCol="0" anchor="t"/>
          <a:lstStyle/>
          <a:p>
            <a:pPr algn="l" indent="0" marL="0">
              <a:lnSpc>
                <a:spcPct val="115000"/>
              </a:lnSpc>
              <a:buNone/>
            </a:pPr>
            <a:r>
              <a:rPr lang="en-US" sz="6600" b="1" dirty="0">
                <a:solidFill>
                  <a:srgbClr val="1F4FD8"/>
                </a:solidFill>
                <a:latin typeface="Plus Jakarta Sans" pitchFamily="34" charset="0"/>
                <a:ea typeface="Plus Jakarta Sans" pitchFamily="34" charset="-122"/>
                <a:cs typeface="Plus Jakarta Sans" pitchFamily="34" charset="-120"/>
              </a:rPr>
              <a:t>2</a:t>
            </a:r>
            <a:endParaRPr lang="en-US" sz="6600" dirty="0"/>
          </a:p>
        </p:txBody>
      </p:sp>
      <p:sp>
        <p:nvSpPr>
          <p:cNvPr id="11" name="Shape 9"/>
          <p:cNvSpPr/>
          <p:nvPr/>
        </p:nvSpPr>
        <p:spPr>
          <a:xfrm>
            <a:off x="3410712" y="3246120"/>
            <a:ext cx="2377440" cy="0"/>
          </a:xfrm>
          <a:prstGeom prst="line">
            <a:avLst/>
          </a:prstGeom>
          <a:noFill/>
          <a:ln w="19050">
            <a:solidFill>
              <a:srgbClr val="0E1B3D"/>
            </a:solidFill>
            <a:prstDash val="solid"/>
          </a:ln>
        </p:spPr>
      </p:sp>
      <p:sp>
        <p:nvSpPr>
          <p:cNvPr id="12" name="Text 10"/>
          <p:cNvSpPr txBox="1"/>
          <p:nvPr/>
        </p:nvSpPr>
        <p:spPr>
          <a:xfrm>
            <a:off x="3410712" y="3429000"/>
            <a:ext cx="2468880" cy="685800"/>
          </a:xfrm>
          <a:prstGeom prst="rect">
            <a:avLst/>
          </a:prstGeom>
          <a:noFill/>
          <a:ln/>
        </p:spPr>
        <p:txBody>
          <a:bodyPr wrap="square" lIns="0" tIns="0" rIns="0" bIns="0" rtlCol="0" anchor="t"/>
          <a:lstStyle/>
          <a:p>
            <a:pPr algn="l" indent="0" marL="0">
              <a:lnSpc>
                <a:spcPct val="110000"/>
              </a:lnSpc>
              <a:buNone/>
            </a:pPr>
            <a:r>
              <a:rPr lang="en-US" sz="2200" b="1" dirty="0">
                <a:solidFill>
                  <a:srgbClr val="0E1B3D"/>
                </a:solidFill>
                <a:latin typeface="Plus Jakarta Sans" pitchFamily="34" charset="0"/>
                <a:ea typeface="Plus Jakarta Sans" pitchFamily="34" charset="-122"/>
                <a:cs typeface="Plus Jakarta Sans" pitchFamily="34" charset="-120"/>
              </a:rPr>
              <a:t>HTML</a:t>
            </a:r>
            <a:endParaRPr lang="en-US" sz="2200" dirty="0"/>
          </a:p>
        </p:txBody>
      </p:sp>
      <p:sp>
        <p:nvSpPr>
          <p:cNvPr id="13" name="Text 11"/>
          <p:cNvSpPr txBox="1"/>
          <p:nvPr/>
        </p:nvSpPr>
        <p:spPr>
          <a:xfrm>
            <a:off x="3410712" y="4160520"/>
            <a:ext cx="2377440" cy="100584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Plus Jakarta Sans" pitchFamily="34" charset="0"/>
                <a:ea typeface="Plus Jakarta Sans" pitchFamily="34" charset="-122"/>
                <a:cs typeface="Plus Jakarta Sans" pitchFamily="34" charset="-120"/>
              </a:rPr>
              <a:t>Membuat kerangka halaman: tulisan, gambar, dan link</a:t>
            </a:r>
            <a:endParaRPr lang="en-US" sz="1600" dirty="0"/>
          </a:p>
        </p:txBody>
      </p:sp>
      <p:sp>
        <p:nvSpPr>
          <p:cNvPr id="14" name="Shape 12"/>
          <p:cNvSpPr/>
          <p:nvPr/>
        </p:nvSpPr>
        <p:spPr>
          <a:xfrm>
            <a:off x="3410712" y="5303520"/>
            <a:ext cx="1737360" cy="347472"/>
          </a:xfrm>
          <a:prstGeom prst="roundRect">
            <a:avLst>
              <a:gd name="adj" fmla="val 50000"/>
            </a:avLst>
          </a:prstGeom>
          <a:ln w="15875">
            <a:solidFill>
              <a:srgbClr val="E3DFD6"/>
            </a:solidFill>
            <a:prstDash val="solid"/>
          </a:ln>
        </p:spPr>
      </p:sp>
      <p:sp>
        <p:nvSpPr>
          <p:cNvPr id="15" name="Text 13"/>
          <p:cNvSpPr txBox="1"/>
          <p:nvPr/>
        </p:nvSpPr>
        <p:spPr>
          <a:xfrm>
            <a:off x="3410712" y="530352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5B6478"/>
                </a:solidFill>
                <a:latin typeface="Plus Jakarta Sans" pitchFamily="34" charset="0"/>
                <a:ea typeface="Plus Jakarta Sans" pitchFamily="34" charset="-122"/>
                <a:cs typeface="Plus Jakarta Sans" pitchFamily="34" charset="-120"/>
              </a:rPr>
              <a:t>08.20 – 09.20</a:t>
            </a:r>
            <a:endParaRPr lang="en-US" sz="1200" dirty="0"/>
          </a:p>
        </p:txBody>
      </p:sp>
      <p:sp>
        <p:nvSpPr>
          <p:cNvPr id="16" name="Text 14"/>
          <p:cNvSpPr txBox="1"/>
          <p:nvPr/>
        </p:nvSpPr>
        <p:spPr>
          <a:xfrm>
            <a:off x="6089904" y="2148840"/>
            <a:ext cx="2377440" cy="914400"/>
          </a:xfrm>
          <a:prstGeom prst="rect">
            <a:avLst/>
          </a:prstGeom>
          <a:noFill/>
          <a:ln/>
        </p:spPr>
        <p:txBody>
          <a:bodyPr wrap="none" lIns="0" tIns="0" rIns="0" bIns="0" rtlCol="0" anchor="t"/>
          <a:lstStyle/>
          <a:p>
            <a:pPr algn="l" indent="0" marL="0">
              <a:lnSpc>
                <a:spcPct val="115000"/>
              </a:lnSpc>
              <a:buNone/>
            </a:pPr>
            <a:r>
              <a:rPr lang="en-US" sz="6600" b="1" dirty="0">
                <a:solidFill>
                  <a:srgbClr val="1F4FD8"/>
                </a:solidFill>
                <a:latin typeface="Plus Jakarta Sans" pitchFamily="34" charset="0"/>
                <a:ea typeface="Plus Jakarta Sans" pitchFamily="34" charset="-122"/>
                <a:cs typeface="Plus Jakarta Sans" pitchFamily="34" charset="-120"/>
              </a:rPr>
              <a:t>3</a:t>
            </a:r>
            <a:endParaRPr lang="en-US" sz="6600" dirty="0"/>
          </a:p>
        </p:txBody>
      </p:sp>
      <p:sp>
        <p:nvSpPr>
          <p:cNvPr id="17" name="Shape 15"/>
          <p:cNvSpPr/>
          <p:nvPr/>
        </p:nvSpPr>
        <p:spPr>
          <a:xfrm>
            <a:off x="6089904" y="3246120"/>
            <a:ext cx="2377440" cy="0"/>
          </a:xfrm>
          <a:prstGeom prst="line">
            <a:avLst/>
          </a:prstGeom>
          <a:noFill/>
          <a:ln w="19050">
            <a:solidFill>
              <a:srgbClr val="0E1B3D"/>
            </a:solidFill>
            <a:prstDash val="solid"/>
          </a:ln>
        </p:spPr>
      </p:sp>
      <p:sp>
        <p:nvSpPr>
          <p:cNvPr id="18" name="Text 16"/>
          <p:cNvSpPr txBox="1"/>
          <p:nvPr/>
        </p:nvSpPr>
        <p:spPr>
          <a:xfrm>
            <a:off x="6089904" y="3429000"/>
            <a:ext cx="2468880" cy="685800"/>
          </a:xfrm>
          <a:prstGeom prst="rect">
            <a:avLst/>
          </a:prstGeom>
          <a:noFill/>
          <a:ln/>
        </p:spPr>
        <p:txBody>
          <a:bodyPr wrap="square" lIns="0" tIns="0" rIns="0" bIns="0" rtlCol="0" anchor="t"/>
          <a:lstStyle/>
          <a:p>
            <a:pPr algn="l" indent="0" marL="0">
              <a:lnSpc>
                <a:spcPct val="110000"/>
              </a:lnSpc>
              <a:buNone/>
            </a:pPr>
            <a:r>
              <a:rPr lang="en-US" sz="2200" b="1" dirty="0">
                <a:solidFill>
                  <a:srgbClr val="0E1B3D"/>
                </a:solidFill>
                <a:latin typeface="Plus Jakarta Sans" pitchFamily="34" charset="0"/>
                <a:ea typeface="Plus Jakarta Sans" pitchFamily="34" charset="-122"/>
                <a:cs typeface="Plus Jakarta Sans" pitchFamily="34" charset="-120"/>
              </a:rPr>
              <a:t>CSS</a:t>
            </a:r>
            <a:endParaRPr lang="en-US" sz="2200" dirty="0"/>
          </a:p>
        </p:txBody>
      </p:sp>
      <p:sp>
        <p:nvSpPr>
          <p:cNvPr id="19" name="Text 17"/>
          <p:cNvSpPr txBox="1"/>
          <p:nvPr/>
        </p:nvSpPr>
        <p:spPr>
          <a:xfrm>
            <a:off x="6089904" y="4160520"/>
            <a:ext cx="2377440" cy="100584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Plus Jakarta Sans" pitchFamily="34" charset="0"/>
                <a:ea typeface="Plus Jakarta Sans" pitchFamily="34" charset="-122"/>
                <a:cs typeface="Plus Jakarta Sans" pitchFamily="34" charset="-120"/>
              </a:rPr>
              <a:t>Mendandani halaman: warna, huruf, dan tata letak</a:t>
            </a:r>
            <a:endParaRPr lang="en-US" sz="1600" dirty="0"/>
          </a:p>
        </p:txBody>
      </p:sp>
      <p:sp>
        <p:nvSpPr>
          <p:cNvPr id="20" name="Shape 18"/>
          <p:cNvSpPr/>
          <p:nvPr/>
        </p:nvSpPr>
        <p:spPr>
          <a:xfrm>
            <a:off x="6089904" y="5303520"/>
            <a:ext cx="1737360" cy="347472"/>
          </a:xfrm>
          <a:prstGeom prst="roundRect">
            <a:avLst>
              <a:gd name="adj" fmla="val 50000"/>
            </a:avLst>
          </a:prstGeom>
          <a:ln w="15875">
            <a:solidFill>
              <a:srgbClr val="E3DFD6"/>
            </a:solidFill>
            <a:prstDash val="solid"/>
          </a:ln>
        </p:spPr>
      </p:sp>
      <p:sp>
        <p:nvSpPr>
          <p:cNvPr id="21" name="Text 19"/>
          <p:cNvSpPr txBox="1"/>
          <p:nvPr/>
        </p:nvSpPr>
        <p:spPr>
          <a:xfrm>
            <a:off x="6089904" y="530352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5B6478"/>
                </a:solidFill>
                <a:latin typeface="Plus Jakarta Sans" pitchFamily="34" charset="0"/>
                <a:ea typeface="Plus Jakarta Sans" pitchFamily="34" charset="-122"/>
                <a:cs typeface="Plus Jakarta Sans" pitchFamily="34" charset="-120"/>
              </a:rPr>
              <a:t>09.35 – 10.35</a:t>
            </a:r>
            <a:endParaRPr lang="en-US" sz="1200" dirty="0"/>
          </a:p>
        </p:txBody>
      </p:sp>
      <p:sp>
        <p:nvSpPr>
          <p:cNvPr id="22" name="Text 20"/>
          <p:cNvSpPr txBox="1"/>
          <p:nvPr/>
        </p:nvSpPr>
        <p:spPr>
          <a:xfrm>
            <a:off x="8769096" y="2148840"/>
            <a:ext cx="2377440" cy="914400"/>
          </a:xfrm>
          <a:prstGeom prst="rect">
            <a:avLst/>
          </a:prstGeom>
          <a:noFill/>
          <a:ln/>
        </p:spPr>
        <p:txBody>
          <a:bodyPr wrap="none" lIns="0" tIns="0" rIns="0" bIns="0" rtlCol="0" anchor="t"/>
          <a:lstStyle/>
          <a:p>
            <a:pPr algn="l" indent="0" marL="0">
              <a:lnSpc>
                <a:spcPct val="115000"/>
              </a:lnSpc>
              <a:buNone/>
            </a:pPr>
            <a:r>
              <a:rPr lang="en-US" sz="6600" b="1" dirty="0">
                <a:solidFill>
                  <a:srgbClr val="FFC83D"/>
                </a:solidFill>
                <a:latin typeface="Plus Jakarta Sans" pitchFamily="34" charset="0"/>
                <a:ea typeface="Plus Jakarta Sans" pitchFamily="34" charset="-122"/>
                <a:cs typeface="Plus Jakarta Sans" pitchFamily="34" charset="-120"/>
              </a:rPr>
              <a:t>4</a:t>
            </a:r>
            <a:endParaRPr lang="en-US" sz="6600" dirty="0"/>
          </a:p>
        </p:txBody>
      </p:sp>
      <p:sp>
        <p:nvSpPr>
          <p:cNvPr id="23" name="Shape 21"/>
          <p:cNvSpPr/>
          <p:nvPr/>
        </p:nvSpPr>
        <p:spPr>
          <a:xfrm>
            <a:off x="8769096" y="3246120"/>
            <a:ext cx="2377440" cy="0"/>
          </a:xfrm>
          <a:prstGeom prst="line">
            <a:avLst/>
          </a:prstGeom>
          <a:noFill/>
          <a:ln w="19050">
            <a:solidFill>
              <a:srgbClr val="0E1B3D"/>
            </a:solidFill>
            <a:prstDash val="solid"/>
          </a:ln>
        </p:spPr>
      </p:sp>
      <p:sp>
        <p:nvSpPr>
          <p:cNvPr id="24" name="Text 22"/>
          <p:cNvSpPr txBox="1"/>
          <p:nvPr/>
        </p:nvSpPr>
        <p:spPr>
          <a:xfrm>
            <a:off x="8769096" y="3429000"/>
            <a:ext cx="2468880" cy="685800"/>
          </a:xfrm>
          <a:prstGeom prst="rect">
            <a:avLst/>
          </a:prstGeom>
          <a:noFill/>
          <a:ln/>
        </p:spPr>
        <p:txBody>
          <a:bodyPr wrap="square" lIns="0" tIns="0" rIns="0" bIns="0" rtlCol="0" anchor="t"/>
          <a:lstStyle/>
          <a:p>
            <a:pPr algn="l" indent="0" marL="0">
              <a:lnSpc>
                <a:spcPct val="110000"/>
              </a:lnSpc>
              <a:buNone/>
            </a:pPr>
            <a:r>
              <a:rPr lang="en-US" sz="2200" b="1" dirty="0">
                <a:solidFill>
                  <a:srgbClr val="0E1B3D"/>
                </a:solidFill>
                <a:latin typeface="Plus Jakarta Sans" pitchFamily="34" charset="0"/>
                <a:ea typeface="Plus Jakarta Sans" pitchFamily="34" charset="-122"/>
                <a:cs typeface="Plus Jakarta Sans" pitchFamily="34" charset="-120"/>
              </a:rPr>
              <a:t>Selesaikan dan Publish</a:t>
            </a:r>
            <a:endParaRPr lang="en-US" sz="2200" dirty="0"/>
          </a:p>
        </p:txBody>
      </p:sp>
      <p:sp>
        <p:nvSpPr>
          <p:cNvPr id="25" name="Text 23"/>
          <p:cNvSpPr txBox="1"/>
          <p:nvPr/>
        </p:nvSpPr>
        <p:spPr>
          <a:xfrm>
            <a:off x="8769096" y="4160520"/>
            <a:ext cx="2377440" cy="100584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Plus Jakarta Sans" pitchFamily="34" charset="0"/>
                <a:ea typeface="Plus Jakarta Sans" pitchFamily="34" charset="-122"/>
                <a:cs typeface="Plus Jakarta Sans" pitchFamily="34" charset="-120"/>
              </a:rPr>
              <a:t>Rampungkan profil, tayangkan, lalu pamerkan</a:t>
            </a:r>
            <a:endParaRPr lang="en-US" sz="1600" dirty="0"/>
          </a:p>
        </p:txBody>
      </p:sp>
      <p:sp>
        <p:nvSpPr>
          <p:cNvPr id="26" name="Shape 24"/>
          <p:cNvSpPr/>
          <p:nvPr/>
        </p:nvSpPr>
        <p:spPr>
          <a:xfrm>
            <a:off x="8769096" y="5303520"/>
            <a:ext cx="1737360" cy="347472"/>
          </a:xfrm>
          <a:prstGeom prst="roundRect">
            <a:avLst>
              <a:gd name="adj" fmla="val 50000"/>
            </a:avLst>
          </a:prstGeom>
          <a:ln w="15875">
            <a:solidFill>
              <a:srgbClr val="E3DFD6"/>
            </a:solidFill>
            <a:prstDash val="solid"/>
          </a:ln>
        </p:spPr>
      </p:sp>
      <p:sp>
        <p:nvSpPr>
          <p:cNvPr id="27" name="Text 25"/>
          <p:cNvSpPr txBox="1"/>
          <p:nvPr/>
        </p:nvSpPr>
        <p:spPr>
          <a:xfrm>
            <a:off x="8769096" y="530352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5B6478"/>
                </a:solidFill>
                <a:latin typeface="Plus Jakarta Sans" pitchFamily="34" charset="0"/>
                <a:ea typeface="Plus Jakarta Sans" pitchFamily="34" charset="-122"/>
                <a:cs typeface="Plus Jakarta Sans" pitchFamily="34" charset="-120"/>
              </a:rPr>
              <a:t>10.35 – 11.20</a:t>
            </a:r>
            <a:endParaRPr lang="en-US" sz="1200" dirty="0"/>
          </a:p>
        </p:txBody>
      </p:sp>
      <p:sp>
        <p:nvSpPr>
          <p:cNvPr id="28" name="Text 26"/>
          <p:cNvSpPr txBox="1"/>
          <p:nvPr/>
        </p:nvSpPr>
        <p:spPr>
          <a:xfrm>
            <a:off x="731520" y="5897880"/>
            <a:ext cx="10515600" cy="320040"/>
          </a:xfrm>
          <a:prstGeom prst="rect">
            <a:avLst/>
          </a:prstGeom>
          <a:noFill/>
          <a:ln/>
        </p:spPr>
        <p:txBody>
          <a:bodyPr wrap="square" lIns="0" tIns="0" rIns="0" bIns="0" rtlCol="0" anchor="ctr"/>
          <a:lstStyle/>
          <a:p>
            <a:pPr algn="l" indent="0" marL="0">
              <a:lnSpc>
                <a:spcPct val="115000"/>
              </a:lnSpc>
              <a:buNone/>
            </a:pPr>
            <a:r>
              <a:rPr lang="en-US" sz="1400" dirty="0">
                <a:solidFill>
                  <a:srgbClr val="5B6478"/>
                </a:solidFill>
                <a:latin typeface="Plus Jakarta Sans" pitchFamily="34" charset="0"/>
                <a:ea typeface="Plus Jakarta Sans" pitchFamily="34" charset="-122"/>
                <a:cs typeface="Plus Jakarta Sans" pitchFamily="34" charset="-120"/>
              </a:rPr>
              <a:t>Istirahat 15 menit setelah bagian HTML (09.20 – 09.35).</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6F7FA8"/>
                </a:solidFill>
                <a:latin typeface="Plus Jakarta Sans" pitchFamily="34" charset="0"/>
                <a:ea typeface="Plus Jakarta Sans" pitchFamily="34" charset="-122"/>
                <a:cs typeface="Plus Jakarta Sans" pitchFamily="34" charset="-120"/>
              </a:rPr>
              <a:t>5</a:t>
            </a:r>
            <a:endParaRPr lang="en-US" sz="1100" dirty="0"/>
          </a:p>
        </p:txBody>
      </p:sp>
      <p:sp>
        <p:nvSpPr>
          <p:cNvPr id="3" name="Text 1"/>
          <p:cNvSpPr txBox="1"/>
          <p:nvPr/>
        </p:nvSpPr>
        <p:spPr>
          <a:xfrm>
            <a:off x="731520" y="685800"/>
            <a:ext cx="10698480" cy="914400"/>
          </a:xfrm>
          <a:prstGeom prst="rect">
            <a:avLst/>
          </a:prstGeom>
          <a:noFill/>
          <a:ln/>
        </p:spPr>
        <p:txBody>
          <a:bodyPr wrap="square" lIns="0" tIns="0" rIns="0" bIns="0" rtlCol="0" anchor="t"/>
          <a:lstStyle/>
          <a:p>
            <a:pPr algn="l" indent="0" marL="0">
              <a:lnSpc>
                <a:spcPct val="108000"/>
              </a:lnSpc>
              <a:buNone/>
            </a:pPr>
            <a:r>
              <a:rPr lang="en-US" sz="4000" b="1" dirty="0">
                <a:solidFill>
                  <a:srgbClr val="F4F6FB"/>
                </a:solidFill>
                <a:latin typeface="Plus Jakarta Sans" pitchFamily="34" charset="0"/>
                <a:ea typeface="Plus Jakarta Sans" pitchFamily="34" charset="-122"/>
                <a:cs typeface="Plus Jakarta Sans" pitchFamily="34" charset="-120"/>
              </a:rPr>
              <a:t>Angkat tangan!</a:t>
            </a:r>
            <a:endParaRPr lang="en-US" sz="4000" dirty="0"/>
          </a:p>
        </p:txBody>
      </p:sp>
      <p:sp>
        <p:nvSpPr>
          <p:cNvPr id="4" name="Text 2"/>
          <p:cNvSpPr txBox="1"/>
          <p:nvPr/>
        </p:nvSpPr>
        <p:spPr>
          <a:xfrm>
            <a:off x="731520" y="1920240"/>
            <a:ext cx="731520" cy="822960"/>
          </a:xfrm>
          <a:prstGeom prst="rect">
            <a:avLst/>
          </a:prstGeom>
          <a:noFill/>
          <a:ln/>
        </p:spPr>
        <p:txBody>
          <a:bodyPr wrap="none" lIns="0" tIns="0" rIns="0" bIns="0" rtlCol="0" anchor="ctr"/>
          <a:lstStyle/>
          <a:p>
            <a:pPr algn="l" indent="0" marL="0">
              <a:lnSpc>
                <a:spcPct val="115000"/>
              </a:lnSpc>
              <a:buNone/>
            </a:pPr>
            <a:r>
              <a:rPr lang="en-US" sz="4400" b="1" dirty="0">
                <a:solidFill>
                  <a:srgbClr val="FFC83D"/>
                </a:solidFill>
                <a:latin typeface="Plus Jakarta Sans" pitchFamily="34" charset="0"/>
                <a:ea typeface="Plus Jakarta Sans" pitchFamily="34" charset="-122"/>
                <a:cs typeface="Plus Jakarta Sans" pitchFamily="34" charset="-120"/>
              </a:rPr>
              <a:t>1</a:t>
            </a:r>
            <a:endParaRPr lang="en-US" sz="4400" dirty="0"/>
          </a:p>
        </p:txBody>
      </p:sp>
      <p:sp>
        <p:nvSpPr>
          <p:cNvPr id="5" name="Text 3"/>
          <p:cNvSpPr txBox="1"/>
          <p:nvPr/>
        </p:nvSpPr>
        <p:spPr>
          <a:xfrm>
            <a:off x="1600200" y="1920240"/>
            <a:ext cx="5394960" cy="822960"/>
          </a:xfrm>
          <a:prstGeom prst="rect">
            <a:avLst/>
          </a:prstGeom>
          <a:noFill/>
          <a:ln/>
        </p:spPr>
        <p:txBody>
          <a:bodyPr wrap="square" lIns="0" tIns="0" rIns="0" bIns="0" rtlCol="0" anchor="ctr"/>
          <a:lstStyle/>
          <a:p>
            <a:pPr algn="l" indent="0" marL="0">
              <a:lnSpc>
                <a:spcPct val="120000"/>
              </a:lnSpc>
              <a:buNone/>
            </a:pPr>
            <a:r>
              <a:rPr lang="en-US" sz="2200" b="1" dirty="0">
                <a:solidFill>
                  <a:srgbClr val="FFFFFF"/>
                </a:solidFill>
                <a:latin typeface="Plus Jakarta Sans" pitchFamily="34" charset="0"/>
                <a:ea typeface="Plus Jakarta Sans" pitchFamily="34" charset="-122"/>
                <a:cs typeface="Plus Jakarta Sans" pitchFamily="34" charset="-120"/>
              </a:rPr>
              <a:t>Siapa pernah klik kanan lalu pilih Inspect di sebuah website?</a:t>
            </a:r>
            <a:endParaRPr lang="en-US" sz="2200" dirty="0"/>
          </a:p>
        </p:txBody>
      </p:sp>
      <p:sp>
        <p:nvSpPr>
          <p:cNvPr id="6" name="Shape 4"/>
          <p:cNvSpPr/>
          <p:nvPr/>
        </p:nvSpPr>
        <p:spPr>
          <a:xfrm>
            <a:off x="731520" y="2880360"/>
            <a:ext cx="6263640" cy="0"/>
          </a:xfrm>
          <a:prstGeom prst="line">
            <a:avLst/>
          </a:prstGeom>
          <a:noFill/>
          <a:ln w="12700">
            <a:solidFill>
              <a:srgbClr val="2A3C6E"/>
            </a:solidFill>
            <a:prstDash val="solid"/>
          </a:ln>
        </p:spPr>
      </p:sp>
      <p:sp>
        <p:nvSpPr>
          <p:cNvPr id="7" name="Text 5"/>
          <p:cNvSpPr txBox="1"/>
          <p:nvPr/>
        </p:nvSpPr>
        <p:spPr>
          <a:xfrm>
            <a:off x="731520" y="3017520"/>
            <a:ext cx="731520" cy="822960"/>
          </a:xfrm>
          <a:prstGeom prst="rect">
            <a:avLst/>
          </a:prstGeom>
          <a:noFill/>
          <a:ln/>
        </p:spPr>
        <p:txBody>
          <a:bodyPr wrap="none" lIns="0" tIns="0" rIns="0" bIns="0" rtlCol="0" anchor="ctr"/>
          <a:lstStyle/>
          <a:p>
            <a:pPr algn="l" indent="0" marL="0">
              <a:lnSpc>
                <a:spcPct val="115000"/>
              </a:lnSpc>
              <a:buNone/>
            </a:pPr>
            <a:r>
              <a:rPr lang="en-US" sz="4400" b="1" dirty="0">
                <a:solidFill>
                  <a:srgbClr val="FFC83D"/>
                </a:solidFill>
                <a:latin typeface="Plus Jakarta Sans" pitchFamily="34" charset="0"/>
                <a:ea typeface="Plus Jakarta Sans" pitchFamily="34" charset="-122"/>
                <a:cs typeface="Plus Jakarta Sans" pitchFamily="34" charset="-120"/>
              </a:rPr>
              <a:t>2</a:t>
            </a:r>
            <a:endParaRPr lang="en-US" sz="4400" dirty="0"/>
          </a:p>
        </p:txBody>
      </p:sp>
      <p:sp>
        <p:nvSpPr>
          <p:cNvPr id="8" name="Text 6"/>
          <p:cNvSpPr txBox="1"/>
          <p:nvPr/>
        </p:nvSpPr>
        <p:spPr>
          <a:xfrm>
            <a:off x="1600200" y="3017520"/>
            <a:ext cx="5394960" cy="822960"/>
          </a:xfrm>
          <a:prstGeom prst="rect">
            <a:avLst/>
          </a:prstGeom>
          <a:noFill/>
          <a:ln/>
        </p:spPr>
        <p:txBody>
          <a:bodyPr wrap="square" lIns="0" tIns="0" rIns="0" bIns="0" rtlCol="0" anchor="ctr"/>
          <a:lstStyle/>
          <a:p>
            <a:pPr algn="l" indent="0" marL="0">
              <a:lnSpc>
                <a:spcPct val="120000"/>
              </a:lnSpc>
              <a:buNone/>
            </a:pPr>
            <a:r>
              <a:rPr lang="en-US" sz="2200" b="1" dirty="0">
                <a:solidFill>
                  <a:srgbClr val="FFFFFF"/>
                </a:solidFill>
                <a:latin typeface="Plus Jakarta Sans" pitchFamily="34" charset="0"/>
                <a:ea typeface="Plus Jakarta Sans" pitchFamily="34" charset="-122"/>
                <a:cs typeface="Plus Jakarta Sans" pitchFamily="34" charset="-120"/>
              </a:rPr>
              <a:t>Siapa pernah membuat website sendiri?</a:t>
            </a:r>
            <a:endParaRPr lang="en-US" sz="2200" dirty="0"/>
          </a:p>
        </p:txBody>
      </p:sp>
      <p:sp>
        <p:nvSpPr>
          <p:cNvPr id="9" name="Shape 7"/>
          <p:cNvSpPr/>
          <p:nvPr/>
        </p:nvSpPr>
        <p:spPr>
          <a:xfrm>
            <a:off x="731520" y="3977640"/>
            <a:ext cx="6263640" cy="0"/>
          </a:xfrm>
          <a:prstGeom prst="line">
            <a:avLst/>
          </a:prstGeom>
          <a:noFill/>
          <a:ln w="12700">
            <a:solidFill>
              <a:srgbClr val="2A3C6E"/>
            </a:solidFill>
            <a:prstDash val="solid"/>
          </a:ln>
        </p:spPr>
      </p:sp>
      <p:sp>
        <p:nvSpPr>
          <p:cNvPr id="10" name="Text 8"/>
          <p:cNvSpPr txBox="1"/>
          <p:nvPr/>
        </p:nvSpPr>
        <p:spPr>
          <a:xfrm>
            <a:off x="731520" y="4114800"/>
            <a:ext cx="731520" cy="822960"/>
          </a:xfrm>
          <a:prstGeom prst="rect">
            <a:avLst/>
          </a:prstGeom>
          <a:noFill/>
          <a:ln/>
        </p:spPr>
        <p:txBody>
          <a:bodyPr wrap="none" lIns="0" tIns="0" rIns="0" bIns="0" rtlCol="0" anchor="ctr"/>
          <a:lstStyle/>
          <a:p>
            <a:pPr algn="l" indent="0" marL="0">
              <a:lnSpc>
                <a:spcPct val="115000"/>
              </a:lnSpc>
              <a:buNone/>
            </a:pPr>
            <a:r>
              <a:rPr lang="en-US" sz="4400" b="1" dirty="0">
                <a:solidFill>
                  <a:srgbClr val="FFC83D"/>
                </a:solidFill>
                <a:latin typeface="Plus Jakarta Sans" pitchFamily="34" charset="0"/>
                <a:ea typeface="Plus Jakarta Sans" pitchFamily="34" charset="-122"/>
                <a:cs typeface="Plus Jakarta Sans" pitchFamily="34" charset="-120"/>
              </a:rPr>
              <a:t>3</a:t>
            </a:r>
            <a:endParaRPr lang="en-US" sz="4400" dirty="0"/>
          </a:p>
        </p:txBody>
      </p:sp>
      <p:sp>
        <p:nvSpPr>
          <p:cNvPr id="11" name="Text 9"/>
          <p:cNvSpPr txBox="1"/>
          <p:nvPr/>
        </p:nvSpPr>
        <p:spPr>
          <a:xfrm>
            <a:off x="1600200" y="4114800"/>
            <a:ext cx="5394960" cy="822960"/>
          </a:xfrm>
          <a:prstGeom prst="rect">
            <a:avLst/>
          </a:prstGeom>
          <a:noFill/>
          <a:ln/>
        </p:spPr>
        <p:txBody>
          <a:bodyPr wrap="square" lIns="0" tIns="0" rIns="0" bIns="0" rtlCol="0" anchor="ctr"/>
          <a:lstStyle/>
          <a:p>
            <a:pPr algn="l" indent="0" marL="0">
              <a:lnSpc>
                <a:spcPct val="120000"/>
              </a:lnSpc>
              <a:buNone/>
            </a:pPr>
            <a:r>
              <a:rPr lang="en-US" sz="2200" b="1" dirty="0">
                <a:solidFill>
                  <a:srgbClr val="FFFFFF"/>
                </a:solidFill>
                <a:latin typeface="Plus Jakarta Sans" pitchFamily="34" charset="0"/>
                <a:ea typeface="Plus Jakarta Sans" pitchFamily="34" charset="-122"/>
                <a:cs typeface="Plus Jakarta Sans" pitchFamily="34" charset="-120"/>
              </a:rPr>
              <a:t>Siapa takut salah kode hari ini?</a:t>
            </a:r>
            <a:endParaRPr lang="en-US" sz="2200" dirty="0"/>
          </a:p>
        </p:txBody>
      </p:sp>
      <p:sp>
        <p:nvSpPr>
          <p:cNvPr id="12" name="Shape 10"/>
          <p:cNvSpPr/>
          <p:nvPr/>
        </p:nvSpPr>
        <p:spPr>
          <a:xfrm>
            <a:off x="731520" y="5074920"/>
            <a:ext cx="6263640" cy="0"/>
          </a:xfrm>
          <a:prstGeom prst="line">
            <a:avLst/>
          </a:prstGeom>
          <a:noFill/>
          <a:ln w="12700">
            <a:solidFill>
              <a:srgbClr val="2A3C6E"/>
            </a:solidFill>
            <a:prstDash val="solid"/>
          </a:ln>
        </p:spPr>
      </p:sp>
      <p:sp>
        <p:nvSpPr>
          <p:cNvPr id="13" name="Text 11"/>
          <p:cNvSpPr txBox="1"/>
          <p:nvPr/>
        </p:nvSpPr>
        <p:spPr>
          <a:xfrm>
            <a:off x="731520" y="5349240"/>
            <a:ext cx="6309360" cy="822960"/>
          </a:xfrm>
          <a:prstGeom prst="rect">
            <a:avLst/>
          </a:prstGeom>
          <a:noFill/>
          <a:ln/>
        </p:spPr>
        <p:txBody>
          <a:bodyPr wrap="square" lIns="0" tIns="0" rIns="0" bIns="0" rtlCol="0" anchor="ctr"/>
          <a:lstStyle/>
          <a:p>
            <a:pPr algn="l" indent="0" marL="0">
              <a:lnSpc>
                <a:spcPct val="125000"/>
              </a:lnSpc>
              <a:buNone/>
            </a:pPr>
            <a:r>
              <a:rPr lang="en-US" sz="2100" b="1" dirty="0">
                <a:solidFill>
                  <a:srgbClr val="FFC83D"/>
                </a:solidFill>
                <a:latin typeface="Plus Jakarta Sans" pitchFamily="34" charset="0"/>
                <a:ea typeface="Plus Jakarta Sans" pitchFamily="34" charset="-122"/>
                <a:cs typeface="Plus Jakarta Sans" pitchFamily="34" charset="-120"/>
              </a:rPr>
              <a:t>Salah itu normal. Programmer profesional juga salah setiap hari.</a:t>
            </a:r>
            <a:endParaRPr lang="en-US" sz="2100" dirty="0"/>
          </a:p>
        </p:txBody>
      </p:sp>
      <p:sp>
        <p:nvSpPr>
          <p:cNvPr id="14" name="Shape 12"/>
          <p:cNvSpPr/>
          <p:nvPr/>
        </p:nvSpPr>
        <p:spPr>
          <a:xfrm>
            <a:off x="7498080" y="822960"/>
            <a:ext cx="3977640" cy="5029200"/>
          </a:xfrm>
          <a:prstGeom prst="roundRect">
            <a:avLst>
              <a:gd name="adj" fmla="val 6897"/>
            </a:avLst>
          </a:prstGeom>
          <a:solidFill>
            <a:srgbClr val="FAF8F4"/>
          </a:solidFill>
          <a:ln/>
        </p:spPr>
      </p:sp>
      <p:pic>
        <p:nvPicPr>
          <p:cNvPr id="15" name="Image 0" descr="C:\Dev\daily-report\Seminar\seminar-sifest\generator\assets\ill\questions_75e0.png">    </p:cNvPr>
          <p:cNvPicPr>
            <a:picLocks noChangeAspect="1"/>
          </p:cNvPicPr>
          <p:nvPr/>
        </p:nvPicPr>
        <p:blipFill>
          <a:blip r:embed="rId1"/>
          <a:stretch>
            <a:fillRect/>
          </a:stretch>
        </p:blipFill>
        <p:spPr>
          <a:xfrm>
            <a:off x="7818120" y="1946404"/>
            <a:ext cx="3337560" cy="278231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4FD8"/>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6</a:t>
            </a:r>
            <a:endParaRPr lang="en-US" sz="1100" dirty="0"/>
          </a:p>
        </p:txBody>
      </p:sp>
      <p:sp>
        <p:nvSpPr>
          <p:cNvPr id="3" name="Text 1"/>
          <p:cNvSpPr txBox="1"/>
          <p:nvPr/>
        </p:nvSpPr>
        <p:spPr>
          <a:xfrm>
            <a:off x="731520" y="2011680"/>
            <a:ext cx="5486400" cy="320040"/>
          </a:xfrm>
          <a:prstGeom prst="rect">
            <a:avLst/>
          </a:prstGeom>
          <a:noFill/>
          <a:ln/>
        </p:spPr>
        <p:txBody>
          <a:bodyPr wrap="square" lIns="0" tIns="0" rIns="0" bIns="0" rtlCol="0" anchor="t"/>
          <a:lstStyle/>
          <a:p>
            <a:pPr algn="l" indent="0" marL="0">
              <a:lnSpc>
                <a:spcPct val="115000"/>
              </a:lnSpc>
              <a:buNone/>
            </a:pPr>
            <a:r>
              <a:rPr lang="en-US" sz="1800" b="1" dirty="0">
                <a:solidFill>
                  <a:srgbClr val="FFC83D"/>
                </a:solidFill>
                <a:latin typeface="Plus Jakarta Sans" pitchFamily="34" charset="0"/>
                <a:ea typeface="Plus Jakarta Sans" pitchFamily="34" charset="-122"/>
                <a:cs typeface="Plus Jakarta Sans" pitchFamily="34" charset="-120"/>
              </a:rPr>
              <a:t>Bagian 01</a:t>
            </a:r>
            <a:endParaRPr lang="en-US" sz="1800" dirty="0"/>
          </a:p>
        </p:txBody>
      </p:sp>
      <p:sp>
        <p:nvSpPr>
          <p:cNvPr id="4" name="Text 2"/>
          <p:cNvSpPr txBox="1"/>
          <p:nvPr/>
        </p:nvSpPr>
        <p:spPr>
          <a:xfrm>
            <a:off x="731520" y="2468880"/>
            <a:ext cx="6035040" cy="1371600"/>
          </a:xfrm>
          <a:prstGeom prst="rect">
            <a:avLst/>
          </a:prstGeom>
          <a:noFill/>
          <a:ln/>
        </p:spPr>
        <p:txBody>
          <a:bodyPr wrap="square" lIns="0" tIns="0" rIns="0" bIns="0" rtlCol="0" anchor="t"/>
          <a:lstStyle/>
          <a:p>
            <a:pPr algn="l" indent="0" marL="0">
              <a:lnSpc>
                <a:spcPct val="102000"/>
              </a:lnSpc>
              <a:buNone/>
            </a:pPr>
            <a:r>
              <a:rPr lang="en-US" sz="6600" b="1" dirty="0">
                <a:solidFill>
                  <a:srgbClr val="FFFFFF"/>
                </a:solidFill>
                <a:latin typeface="Plus Jakarta Sans" pitchFamily="34" charset="0"/>
                <a:ea typeface="Plus Jakarta Sans" pitchFamily="34" charset="-122"/>
                <a:cs typeface="Plus Jakarta Sans" pitchFamily="34" charset="-120"/>
              </a:rPr>
              <a:t>Dasar Web</a:t>
            </a:r>
            <a:endParaRPr lang="en-US" sz="6600" dirty="0"/>
          </a:p>
        </p:txBody>
      </p:sp>
      <p:sp>
        <p:nvSpPr>
          <p:cNvPr id="5" name="Text 3"/>
          <p:cNvSpPr txBox="1"/>
          <p:nvPr/>
        </p:nvSpPr>
        <p:spPr>
          <a:xfrm>
            <a:off x="731520" y="4069080"/>
            <a:ext cx="5486400" cy="914400"/>
          </a:xfrm>
          <a:prstGeom prst="rect">
            <a:avLst/>
          </a:prstGeom>
          <a:noFill/>
          <a:ln/>
        </p:spPr>
        <p:txBody>
          <a:bodyPr wrap="square" lIns="0" tIns="0" rIns="0" bIns="0" rtlCol="0" anchor="t"/>
          <a:lstStyle/>
          <a:p>
            <a:pPr algn="l" indent="0" marL="0">
              <a:lnSpc>
                <a:spcPct val="130000"/>
              </a:lnSpc>
              <a:buNone/>
            </a:pPr>
            <a:r>
              <a:rPr lang="en-US" sz="2200" dirty="0">
                <a:solidFill>
                  <a:srgbClr val="DCE6FF"/>
                </a:solidFill>
                <a:latin typeface="Plus Jakarta Sans" pitchFamily="34" charset="0"/>
                <a:ea typeface="Plus Jakarta Sans" pitchFamily="34" charset="-122"/>
                <a:cs typeface="Plus Jakarta Sans" pitchFamily="34" charset="-120"/>
              </a:rPr>
              <a:t>Pahami dulu apa yang sedang kita bangun, sebelum mulai mengetik</a:t>
            </a:r>
            <a:endParaRPr lang="en-US" sz="2200" dirty="0"/>
          </a:p>
        </p:txBody>
      </p:sp>
      <p:sp>
        <p:nvSpPr>
          <p:cNvPr id="6" name="Shape 4"/>
          <p:cNvSpPr/>
          <p:nvPr/>
        </p:nvSpPr>
        <p:spPr>
          <a:xfrm>
            <a:off x="731520" y="5303520"/>
            <a:ext cx="1737360" cy="347472"/>
          </a:xfrm>
          <a:prstGeom prst="roundRect">
            <a:avLst>
              <a:gd name="adj" fmla="val 50000"/>
            </a:avLst>
          </a:prstGeom>
          <a:ln w="15875">
            <a:solidFill>
              <a:srgbClr val="2A3C6E"/>
            </a:solidFill>
            <a:prstDash val="solid"/>
          </a:ln>
        </p:spPr>
      </p:sp>
      <p:sp>
        <p:nvSpPr>
          <p:cNvPr id="7" name="Text 5"/>
          <p:cNvSpPr txBox="1"/>
          <p:nvPr/>
        </p:nvSpPr>
        <p:spPr>
          <a:xfrm>
            <a:off x="731520" y="530352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A9B6D6"/>
                </a:solidFill>
                <a:latin typeface="Plus Jakarta Sans" pitchFamily="34" charset="0"/>
                <a:ea typeface="Plus Jakarta Sans" pitchFamily="34" charset="-122"/>
                <a:cs typeface="Plus Jakarta Sans" pitchFamily="34" charset="-120"/>
              </a:rPr>
              <a:t>07.50 – 08.20</a:t>
            </a:r>
            <a:endParaRPr lang="en-US" sz="1200" dirty="0"/>
          </a:p>
        </p:txBody>
      </p:sp>
      <p:sp>
        <p:nvSpPr>
          <p:cNvPr id="8" name="Shape 6"/>
          <p:cNvSpPr/>
          <p:nvPr/>
        </p:nvSpPr>
        <p:spPr>
          <a:xfrm>
            <a:off x="7040880" y="731520"/>
            <a:ext cx="4434840" cy="5394960"/>
          </a:xfrm>
          <a:prstGeom prst="roundRect">
            <a:avLst>
              <a:gd name="adj" fmla="val 6186"/>
            </a:avLst>
          </a:prstGeom>
          <a:solidFill>
            <a:srgbClr val="FAF8F4"/>
          </a:solidFill>
          <a:ln/>
        </p:spPr>
      </p:sp>
      <p:pic>
        <p:nvPicPr>
          <p:cNvPr id="9" name="Image 0" descr="C:\Dev\daily-report\Seminar\seminar-sifest\generator\assets\ill\web_devices_ad58.png">    </p:cNvPr>
          <p:cNvPicPr>
            <a:picLocks noChangeAspect="1"/>
          </p:cNvPicPr>
          <p:nvPr/>
        </p:nvPicPr>
        <p:blipFill>
          <a:blip r:embed="rId1"/>
          <a:stretch>
            <a:fillRect/>
          </a:stretch>
        </p:blipFill>
        <p:spPr>
          <a:xfrm>
            <a:off x="7360920" y="2307821"/>
            <a:ext cx="3794760" cy="224235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7</a:t>
            </a:r>
            <a:endParaRPr lang="en-US" sz="1100" dirty="0"/>
          </a:p>
        </p:txBody>
      </p:sp>
      <p:sp>
        <p:nvSpPr>
          <p:cNvPr id="3" name="Text 1"/>
          <p:cNvSpPr txBox="1"/>
          <p:nvPr/>
        </p:nvSpPr>
        <p:spPr>
          <a:xfrm>
            <a:off x="731520" y="685800"/>
            <a:ext cx="10698480" cy="91440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Cara kerja website</a:t>
            </a:r>
            <a:endParaRPr lang="en-US" sz="4000" dirty="0"/>
          </a:p>
        </p:txBody>
      </p:sp>
      <p:sp>
        <p:nvSpPr>
          <p:cNvPr id="4" name="Shape 2"/>
          <p:cNvSpPr/>
          <p:nvPr/>
        </p:nvSpPr>
        <p:spPr>
          <a:xfrm>
            <a:off x="731520" y="1920240"/>
            <a:ext cx="2743200" cy="2148840"/>
          </a:xfrm>
          <a:prstGeom prst="roundRect">
            <a:avLst>
              <a:gd name="adj" fmla="val 851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5" name="Shape 3"/>
          <p:cNvSpPr/>
          <p:nvPr/>
        </p:nvSpPr>
        <p:spPr>
          <a:xfrm>
            <a:off x="1600200" y="2194560"/>
            <a:ext cx="1005840" cy="731520"/>
          </a:xfrm>
          <a:prstGeom prst="roundRect">
            <a:avLst>
              <a:gd name="adj" fmla="val 12500"/>
            </a:avLst>
          </a:prstGeom>
          <a:ln w="25400">
            <a:solidFill>
              <a:srgbClr val="1F4FD8"/>
            </a:solidFill>
            <a:prstDash val="solid"/>
          </a:ln>
        </p:spPr>
      </p:sp>
      <p:sp>
        <p:nvSpPr>
          <p:cNvPr id="6" name="Shape 4"/>
          <p:cNvSpPr/>
          <p:nvPr/>
        </p:nvSpPr>
        <p:spPr>
          <a:xfrm>
            <a:off x="1600200" y="2423160"/>
            <a:ext cx="1005840" cy="0"/>
          </a:xfrm>
          <a:prstGeom prst="line">
            <a:avLst/>
          </a:prstGeom>
          <a:noFill/>
          <a:ln w="25400">
            <a:solidFill>
              <a:srgbClr val="1F4FD8"/>
            </a:solidFill>
            <a:prstDash val="solid"/>
          </a:ln>
        </p:spPr>
      </p:sp>
      <p:sp>
        <p:nvSpPr>
          <p:cNvPr id="7" name="Shape 5"/>
          <p:cNvSpPr/>
          <p:nvPr/>
        </p:nvSpPr>
        <p:spPr>
          <a:xfrm>
            <a:off x="1709928" y="2286000"/>
            <a:ext cx="73152" cy="73152"/>
          </a:xfrm>
          <a:prstGeom prst="ellipse">
            <a:avLst/>
          </a:prstGeom>
          <a:solidFill>
            <a:srgbClr val="1F4FD8"/>
          </a:solidFill>
          <a:ln/>
        </p:spPr>
      </p:sp>
      <p:sp>
        <p:nvSpPr>
          <p:cNvPr id="8" name="Text 6"/>
          <p:cNvSpPr txBox="1"/>
          <p:nvPr/>
        </p:nvSpPr>
        <p:spPr>
          <a:xfrm>
            <a:off x="731520" y="3154680"/>
            <a:ext cx="274320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0E1B3D"/>
                </a:solidFill>
                <a:latin typeface="Plus Jakarta Sans" pitchFamily="34" charset="0"/>
                <a:ea typeface="Plus Jakarta Sans" pitchFamily="34" charset="-122"/>
                <a:cs typeface="Plus Jakarta Sans" pitchFamily="34" charset="-120"/>
              </a:rPr>
              <a:t>Browser-mu</a:t>
            </a:r>
            <a:endParaRPr lang="en-US" sz="2200" dirty="0"/>
          </a:p>
        </p:txBody>
      </p:sp>
      <p:sp>
        <p:nvSpPr>
          <p:cNvPr id="9" name="Text 7"/>
          <p:cNvSpPr txBox="1"/>
          <p:nvPr/>
        </p:nvSpPr>
        <p:spPr>
          <a:xfrm>
            <a:off x="868680" y="3547872"/>
            <a:ext cx="2468880" cy="365760"/>
          </a:xfrm>
          <a:prstGeom prst="rect">
            <a:avLst/>
          </a:prstGeom>
          <a:noFill/>
          <a:ln/>
        </p:spPr>
        <p:txBody>
          <a:bodyPr wrap="square" lIns="0" tIns="0" rIns="0" bIns="0" rtlCol="0" anchor="t"/>
          <a:lstStyle/>
          <a:p>
            <a:pPr algn="ctr" indent="0" marL="0">
              <a:lnSpc>
                <a:spcPct val="115000"/>
              </a:lnSpc>
              <a:buNone/>
            </a:pPr>
            <a:r>
              <a:rPr lang="en-US" sz="1400" dirty="0">
                <a:solidFill>
                  <a:srgbClr val="5B6478"/>
                </a:solidFill>
                <a:latin typeface="Plus Jakarta Sans" pitchFamily="34" charset="0"/>
                <a:ea typeface="Plus Jakarta Sans" pitchFamily="34" charset="-122"/>
                <a:cs typeface="Plus Jakarta Sans" pitchFamily="34" charset="-120"/>
              </a:rPr>
              <a:t>Chrome, Edge, Safari</a:t>
            </a:r>
            <a:endParaRPr lang="en-US" sz="1400" dirty="0"/>
          </a:p>
        </p:txBody>
      </p:sp>
      <p:sp>
        <p:nvSpPr>
          <p:cNvPr id="10" name="Shape 8"/>
          <p:cNvSpPr/>
          <p:nvPr/>
        </p:nvSpPr>
        <p:spPr>
          <a:xfrm>
            <a:off x="4727448" y="1920240"/>
            <a:ext cx="2743200" cy="2148840"/>
          </a:xfrm>
          <a:prstGeom prst="roundRect">
            <a:avLst>
              <a:gd name="adj" fmla="val 851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11" name="Shape 9"/>
          <p:cNvSpPr/>
          <p:nvPr/>
        </p:nvSpPr>
        <p:spPr>
          <a:xfrm>
            <a:off x="5687568" y="2148840"/>
            <a:ext cx="822960" cy="822960"/>
          </a:xfrm>
          <a:prstGeom prst="ellipse">
            <a:avLst/>
          </a:prstGeom>
          <a:ln w="25400">
            <a:solidFill>
              <a:srgbClr val="1F4FD8"/>
            </a:solidFill>
            <a:prstDash val="solid"/>
          </a:ln>
        </p:spPr>
      </p:sp>
      <p:sp>
        <p:nvSpPr>
          <p:cNvPr id="12" name="Shape 10"/>
          <p:cNvSpPr/>
          <p:nvPr/>
        </p:nvSpPr>
        <p:spPr>
          <a:xfrm>
            <a:off x="5916168" y="2148840"/>
            <a:ext cx="365760" cy="822960"/>
          </a:xfrm>
          <a:prstGeom prst="ellipse">
            <a:avLst/>
          </a:prstGeom>
          <a:ln w="25400">
            <a:solidFill>
              <a:srgbClr val="1F4FD8"/>
            </a:solidFill>
            <a:prstDash val="solid"/>
          </a:ln>
        </p:spPr>
      </p:sp>
      <p:sp>
        <p:nvSpPr>
          <p:cNvPr id="13" name="Shape 11"/>
          <p:cNvSpPr/>
          <p:nvPr/>
        </p:nvSpPr>
        <p:spPr>
          <a:xfrm>
            <a:off x="5687568" y="2560320"/>
            <a:ext cx="822960" cy="0"/>
          </a:xfrm>
          <a:prstGeom prst="line">
            <a:avLst/>
          </a:prstGeom>
          <a:noFill/>
          <a:ln w="25400">
            <a:solidFill>
              <a:srgbClr val="1F4FD8"/>
            </a:solidFill>
            <a:prstDash val="solid"/>
          </a:ln>
        </p:spPr>
      </p:sp>
      <p:sp>
        <p:nvSpPr>
          <p:cNvPr id="14" name="Text 12"/>
          <p:cNvSpPr txBox="1"/>
          <p:nvPr/>
        </p:nvSpPr>
        <p:spPr>
          <a:xfrm>
            <a:off x="4727448" y="3154680"/>
            <a:ext cx="274320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0E1B3D"/>
                </a:solidFill>
                <a:latin typeface="Plus Jakarta Sans" pitchFamily="34" charset="0"/>
                <a:ea typeface="Plus Jakarta Sans" pitchFamily="34" charset="-122"/>
                <a:cs typeface="Plus Jakarta Sans" pitchFamily="34" charset="-120"/>
              </a:rPr>
              <a:t>Internet</a:t>
            </a:r>
            <a:endParaRPr lang="en-US" sz="2200" dirty="0"/>
          </a:p>
        </p:txBody>
      </p:sp>
      <p:sp>
        <p:nvSpPr>
          <p:cNvPr id="15" name="Text 13"/>
          <p:cNvSpPr txBox="1"/>
          <p:nvPr/>
        </p:nvSpPr>
        <p:spPr>
          <a:xfrm>
            <a:off x="4864608" y="3547872"/>
            <a:ext cx="2468880" cy="365760"/>
          </a:xfrm>
          <a:prstGeom prst="rect">
            <a:avLst/>
          </a:prstGeom>
          <a:noFill/>
          <a:ln/>
        </p:spPr>
        <p:txBody>
          <a:bodyPr wrap="square" lIns="0" tIns="0" rIns="0" bIns="0" rtlCol="0" anchor="t"/>
          <a:lstStyle/>
          <a:p>
            <a:pPr algn="ctr" indent="0" marL="0">
              <a:lnSpc>
                <a:spcPct val="115000"/>
              </a:lnSpc>
              <a:buNone/>
            </a:pPr>
            <a:r>
              <a:rPr lang="en-US" sz="1400" dirty="0">
                <a:solidFill>
                  <a:srgbClr val="5B6478"/>
                </a:solidFill>
                <a:latin typeface="Plus Jakarta Sans" pitchFamily="34" charset="0"/>
                <a:ea typeface="Plus Jakarta Sans" pitchFamily="34" charset="-122"/>
                <a:cs typeface="Plus Jakarta Sans" pitchFamily="34" charset="-120"/>
              </a:rPr>
              <a:t>jalur penghubung</a:t>
            </a:r>
            <a:endParaRPr lang="en-US" sz="1400" dirty="0"/>
          </a:p>
        </p:txBody>
      </p:sp>
      <p:sp>
        <p:nvSpPr>
          <p:cNvPr id="16" name="Shape 14"/>
          <p:cNvSpPr/>
          <p:nvPr/>
        </p:nvSpPr>
        <p:spPr>
          <a:xfrm>
            <a:off x="8714232" y="1920240"/>
            <a:ext cx="2743200" cy="2148840"/>
          </a:xfrm>
          <a:prstGeom prst="roundRect">
            <a:avLst>
              <a:gd name="adj" fmla="val 851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17" name="Shape 15"/>
          <p:cNvSpPr/>
          <p:nvPr/>
        </p:nvSpPr>
        <p:spPr>
          <a:xfrm>
            <a:off x="9582912" y="2148840"/>
            <a:ext cx="1005840" cy="219456"/>
          </a:xfrm>
          <a:prstGeom prst="roundRect">
            <a:avLst>
              <a:gd name="adj" fmla="val 25000"/>
            </a:avLst>
          </a:prstGeom>
          <a:ln w="25400">
            <a:solidFill>
              <a:srgbClr val="1F4FD8"/>
            </a:solidFill>
            <a:prstDash val="solid"/>
          </a:ln>
        </p:spPr>
      </p:sp>
      <p:sp>
        <p:nvSpPr>
          <p:cNvPr id="18" name="Shape 16"/>
          <p:cNvSpPr/>
          <p:nvPr/>
        </p:nvSpPr>
        <p:spPr>
          <a:xfrm>
            <a:off x="10405872" y="2221992"/>
            <a:ext cx="73152" cy="73152"/>
          </a:xfrm>
          <a:prstGeom prst="ellipse">
            <a:avLst/>
          </a:prstGeom>
          <a:solidFill>
            <a:srgbClr val="1F4FD8"/>
          </a:solidFill>
          <a:ln/>
        </p:spPr>
      </p:sp>
      <p:sp>
        <p:nvSpPr>
          <p:cNvPr id="19" name="Shape 17"/>
          <p:cNvSpPr/>
          <p:nvPr/>
        </p:nvSpPr>
        <p:spPr>
          <a:xfrm>
            <a:off x="9582912" y="2423160"/>
            <a:ext cx="1005840" cy="219456"/>
          </a:xfrm>
          <a:prstGeom prst="roundRect">
            <a:avLst>
              <a:gd name="adj" fmla="val 25000"/>
            </a:avLst>
          </a:prstGeom>
          <a:ln w="25400">
            <a:solidFill>
              <a:srgbClr val="1F4FD8"/>
            </a:solidFill>
            <a:prstDash val="solid"/>
          </a:ln>
        </p:spPr>
      </p:sp>
      <p:sp>
        <p:nvSpPr>
          <p:cNvPr id="20" name="Shape 18"/>
          <p:cNvSpPr/>
          <p:nvPr/>
        </p:nvSpPr>
        <p:spPr>
          <a:xfrm>
            <a:off x="10405872" y="2496312"/>
            <a:ext cx="73152" cy="73152"/>
          </a:xfrm>
          <a:prstGeom prst="ellipse">
            <a:avLst/>
          </a:prstGeom>
          <a:solidFill>
            <a:srgbClr val="1F4FD8"/>
          </a:solidFill>
          <a:ln/>
        </p:spPr>
      </p:sp>
      <p:sp>
        <p:nvSpPr>
          <p:cNvPr id="21" name="Shape 19"/>
          <p:cNvSpPr/>
          <p:nvPr/>
        </p:nvSpPr>
        <p:spPr>
          <a:xfrm>
            <a:off x="9582912" y="2697480"/>
            <a:ext cx="1005840" cy="219456"/>
          </a:xfrm>
          <a:prstGeom prst="roundRect">
            <a:avLst>
              <a:gd name="adj" fmla="val 25000"/>
            </a:avLst>
          </a:prstGeom>
          <a:ln w="25400">
            <a:solidFill>
              <a:srgbClr val="1F4FD8"/>
            </a:solidFill>
            <a:prstDash val="solid"/>
          </a:ln>
        </p:spPr>
      </p:sp>
      <p:sp>
        <p:nvSpPr>
          <p:cNvPr id="22" name="Shape 20"/>
          <p:cNvSpPr/>
          <p:nvPr/>
        </p:nvSpPr>
        <p:spPr>
          <a:xfrm>
            <a:off x="10405872" y="2770632"/>
            <a:ext cx="73152" cy="73152"/>
          </a:xfrm>
          <a:prstGeom prst="ellipse">
            <a:avLst/>
          </a:prstGeom>
          <a:solidFill>
            <a:srgbClr val="1F4FD8"/>
          </a:solidFill>
          <a:ln/>
        </p:spPr>
      </p:sp>
      <p:sp>
        <p:nvSpPr>
          <p:cNvPr id="23" name="Text 21"/>
          <p:cNvSpPr txBox="1"/>
          <p:nvPr/>
        </p:nvSpPr>
        <p:spPr>
          <a:xfrm>
            <a:off x="8714232" y="3154680"/>
            <a:ext cx="274320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0E1B3D"/>
                </a:solidFill>
                <a:latin typeface="Plus Jakarta Sans" pitchFamily="34" charset="0"/>
                <a:ea typeface="Plus Jakarta Sans" pitchFamily="34" charset="-122"/>
                <a:cs typeface="Plus Jakarta Sans" pitchFamily="34" charset="-120"/>
              </a:rPr>
              <a:t>Server</a:t>
            </a:r>
            <a:endParaRPr lang="en-US" sz="2200" dirty="0"/>
          </a:p>
        </p:txBody>
      </p:sp>
      <p:sp>
        <p:nvSpPr>
          <p:cNvPr id="24" name="Text 22"/>
          <p:cNvSpPr txBox="1"/>
          <p:nvPr/>
        </p:nvSpPr>
        <p:spPr>
          <a:xfrm>
            <a:off x="8851392" y="3547872"/>
            <a:ext cx="2468880" cy="365760"/>
          </a:xfrm>
          <a:prstGeom prst="rect">
            <a:avLst/>
          </a:prstGeom>
          <a:noFill/>
          <a:ln/>
        </p:spPr>
        <p:txBody>
          <a:bodyPr wrap="square" lIns="0" tIns="0" rIns="0" bIns="0" rtlCol="0" anchor="t"/>
          <a:lstStyle/>
          <a:p>
            <a:pPr algn="ctr" indent="0" marL="0">
              <a:lnSpc>
                <a:spcPct val="115000"/>
              </a:lnSpc>
              <a:buNone/>
            </a:pPr>
            <a:r>
              <a:rPr lang="en-US" sz="1400" dirty="0">
                <a:solidFill>
                  <a:srgbClr val="5B6478"/>
                </a:solidFill>
                <a:latin typeface="Plus Jakarta Sans" pitchFamily="34" charset="0"/>
                <a:ea typeface="Plus Jakarta Sans" pitchFamily="34" charset="-122"/>
                <a:cs typeface="Plus Jakarta Sans" pitchFamily="34" charset="-120"/>
              </a:rPr>
              <a:t>penyimpan website</a:t>
            </a:r>
            <a:endParaRPr lang="en-US" sz="1400" dirty="0"/>
          </a:p>
        </p:txBody>
      </p:sp>
      <p:sp>
        <p:nvSpPr>
          <p:cNvPr id="25" name="Text 23"/>
          <p:cNvSpPr txBox="1"/>
          <p:nvPr/>
        </p:nvSpPr>
        <p:spPr>
          <a:xfrm>
            <a:off x="3474720" y="2331720"/>
            <a:ext cx="1252728" cy="502920"/>
          </a:xfrm>
          <a:prstGeom prst="rect">
            <a:avLst/>
          </a:prstGeom>
          <a:noFill/>
          <a:ln/>
        </p:spPr>
        <p:txBody>
          <a:bodyPr wrap="none" lIns="0" tIns="0" rIns="0" bIns="0" rtlCol="0" anchor="ctr"/>
          <a:lstStyle/>
          <a:p>
            <a:pPr algn="ctr" indent="0" marL="0">
              <a:lnSpc>
                <a:spcPct val="115000"/>
              </a:lnSpc>
              <a:buNone/>
            </a:pPr>
            <a:r>
              <a:rPr lang="en-US" sz="4000" b="1" dirty="0">
                <a:solidFill>
                  <a:srgbClr val="1F4FD8"/>
                </a:solidFill>
                <a:latin typeface="Plus Jakarta Sans" pitchFamily="34" charset="0"/>
                <a:ea typeface="Plus Jakarta Sans" pitchFamily="34" charset="-122"/>
                <a:cs typeface="Plus Jakarta Sans" pitchFamily="34" charset="-120"/>
              </a:rPr>
              <a:t>→</a:t>
            </a:r>
            <a:endParaRPr lang="en-US" sz="4000" dirty="0"/>
          </a:p>
        </p:txBody>
      </p:sp>
      <p:sp>
        <p:nvSpPr>
          <p:cNvPr id="26" name="Text 24"/>
          <p:cNvSpPr txBox="1"/>
          <p:nvPr/>
        </p:nvSpPr>
        <p:spPr>
          <a:xfrm>
            <a:off x="3474720" y="2788920"/>
            <a:ext cx="1252728" cy="228600"/>
          </a:xfrm>
          <a:prstGeom prst="rect">
            <a:avLst/>
          </a:prstGeom>
          <a:noFill/>
          <a:ln/>
        </p:spPr>
        <p:txBody>
          <a:bodyPr wrap="square" lIns="0" tIns="0" rIns="0" bIns="0" rtlCol="0" anchor="t"/>
          <a:lstStyle/>
          <a:p>
            <a:pPr algn="ctr" indent="0" marL="0">
              <a:lnSpc>
                <a:spcPct val="115000"/>
              </a:lnSpc>
              <a:buNone/>
            </a:pPr>
            <a:r>
              <a:rPr lang="en-US" sz="1300" dirty="0">
                <a:solidFill>
                  <a:srgbClr val="1F4FD8"/>
                </a:solidFill>
                <a:latin typeface="Plus Jakarta Sans" pitchFamily="34" charset="0"/>
                <a:ea typeface="Plus Jakarta Sans" pitchFamily="34" charset="-122"/>
                <a:cs typeface="Plus Jakarta Sans" pitchFamily="34" charset="-120"/>
              </a:rPr>
              <a:t>meminta</a:t>
            </a:r>
            <a:endParaRPr lang="en-US" sz="1300" dirty="0"/>
          </a:p>
        </p:txBody>
      </p:sp>
      <p:sp>
        <p:nvSpPr>
          <p:cNvPr id="27" name="Text 25"/>
          <p:cNvSpPr txBox="1"/>
          <p:nvPr/>
        </p:nvSpPr>
        <p:spPr>
          <a:xfrm>
            <a:off x="3474720" y="3063240"/>
            <a:ext cx="1252728" cy="502920"/>
          </a:xfrm>
          <a:prstGeom prst="rect">
            <a:avLst/>
          </a:prstGeom>
          <a:noFill/>
          <a:ln/>
        </p:spPr>
        <p:txBody>
          <a:bodyPr wrap="none" lIns="0" tIns="0" rIns="0" bIns="0" rtlCol="0" anchor="ctr"/>
          <a:lstStyle/>
          <a:p>
            <a:pPr algn="ctr" indent="0" marL="0">
              <a:lnSpc>
                <a:spcPct val="115000"/>
              </a:lnSpc>
              <a:buNone/>
            </a:pPr>
            <a:r>
              <a:rPr lang="en-US" sz="4000" b="1" dirty="0">
                <a:solidFill>
                  <a:srgbClr val="E63946"/>
                </a:solidFill>
                <a:latin typeface="Plus Jakarta Sans" pitchFamily="34" charset="0"/>
                <a:ea typeface="Plus Jakarta Sans" pitchFamily="34" charset="-122"/>
                <a:cs typeface="Plus Jakarta Sans" pitchFamily="34" charset="-120"/>
              </a:rPr>
              <a:t>←</a:t>
            </a:r>
            <a:endParaRPr lang="en-US" sz="4000" dirty="0"/>
          </a:p>
        </p:txBody>
      </p:sp>
      <p:sp>
        <p:nvSpPr>
          <p:cNvPr id="28" name="Text 26"/>
          <p:cNvSpPr txBox="1"/>
          <p:nvPr/>
        </p:nvSpPr>
        <p:spPr>
          <a:xfrm>
            <a:off x="3474720" y="3520440"/>
            <a:ext cx="1252728" cy="228600"/>
          </a:xfrm>
          <a:prstGeom prst="rect">
            <a:avLst/>
          </a:prstGeom>
          <a:noFill/>
          <a:ln/>
        </p:spPr>
        <p:txBody>
          <a:bodyPr wrap="square" lIns="0" tIns="0" rIns="0" bIns="0" rtlCol="0" anchor="t"/>
          <a:lstStyle/>
          <a:p>
            <a:pPr algn="ctr" indent="0" marL="0">
              <a:lnSpc>
                <a:spcPct val="115000"/>
              </a:lnSpc>
              <a:buNone/>
            </a:pPr>
            <a:r>
              <a:rPr lang="en-US" sz="1300" dirty="0">
                <a:solidFill>
                  <a:srgbClr val="E63946"/>
                </a:solidFill>
                <a:latin typeface="Plus Jakarta Sans" pitchFamily="34" charset="0"/>
                <a:ea typeface="Plus Jakarta Sans" pitchFamily="34" charset="-122"/>
                <a:cs typeface="Plus Jakarta Sans" pitchFamily="34" charset="-120"/>
              </a:rPr>
              <a:t>menjawab</a:t>
            </a:r>
            <a:endParaRPr lang="en-US" sz="1300" dirty="0"/>
          </a:p>
        </p:txBody>
      </p:sp>
      <p:sp>
        <p:nvSpPr>
          <p:cNvPr id="29" name="Text 27"/>
          <p:cNvSpPr txBox="1"/>
          <p:nvPr/>
        </p:nvSpPr>
        <p:spPr>
          <a:xfrm>
            <a:off x="7470648" y="2331720"/>
            <a:ext cx="1252728" cy="502920"/>
          </a:xfrm>
          <a:prstGeom prst="rect">
            <a:avLst/>
          </a:prstGeom>
          <a:noFill/>
          <a:ln/>
        </p:spPr>
        <p:txBody>
          <a:bodyPr wrap="none" lIns="0" tIns="0" rIns="0" bIns="0" rtlCol="0" anchor="ctr"/>
          <a:lstStyle/>
          <a:p>
            <a:pPr algn="ctr" indent="0" marL="0">
              <a:lnSpc>
                <a:spcPct val="115000"/>
              </a:lnSpc>
              <a:buNone/>
            </a:pPr>
            <a:r>
              <a:rPr lang="en-US" sz="4000" b="1" dirty="0">
                <a:solidFill>
                  <a:srgbClr val="1F4FD8"/>
                </a:solidFill>
                <a:latin typeface="Plus Jakarta Sans" pitchFamily="34" charset="0"/>
                <a:ea typeface="Plus Jakarta Sans" pitchFamily="34" charset="-122"/>
                <a:cs typeface="Plus Jakarta Sans" pitchFamily="34" charset="-120"/>
              </a:rPr>
              <a:t>→</a:t>
            </a:r>
            <a:endParaRPr lang="en-US" sz="4000" dirty="0"/>
          </a:p>
        </p:txBody>
      </p:sp>
      <p:sp>
        <p:nvSpPr>
          <p:cNvPr id="30" name="Text 28"/>
          <p:cNvSpPr txBox="1"/>
          <p:nvPr/>
        </p:nvSpPr>
        <p:spPr>
          <a:xfrm>
            <a:off x="7470648" y="2788920"/>
            <a:ext cx="1252728" cy="228600"/>
          </a:xfrm>
          <a:prstGeom prst="rect">
            <a:avLst/>
          </a:prstGeom>
          <a:noFill/>
          <a:ln/>
        </p:spPr>
        <p:txBody>
          <a:bodyPr wrap="square" lIns="0" tIns="0" rIns="0" bIns="0" rtlCol="0" anchor="t"/>
          <a:lstStyle/>
          <a:p>
            <a:pPr algn="ctr" indent="0" marL="0">
              <a:lnSpc>
                <a:spcPct val="115000"/>
              </a:lnSpc>
              <a:buNone/>
            </a:pPr>
            <a:r>
              <a:rPr lang="en-US" sz="1300" dirty="0">
                <a:solidFill>
                  <a:srgbClr val="1F4FD8"/>
                </a:solidFill>
                <a:latin typeface="Plus Jakarta Sans" pitchFamily="34" charset="0"/>
                <a:ea typeface="Plus Jakarta Sans" pitchFamily="34" charset="-122"/>
                <a:cs typeface="Plus Jakarta Sans" pitchFamily="34" charset="-120"/>
              </a:rPr>
              <a:t>meminta</a:t>
            </a:r>
            <a:endParaRPr lang="en-US" sz="1300" dirty="0"/>
          </a:p>
        </p:txBody>
      </p:sp>
      <p:sp>
        <p:nvSpPr>
          <p:cNvPr id="31" name="Text 29"/>
          <p:cNvSpPr txBox="1"/>
          <p:nvPr/>
        </p:nvSpPr>
        <p:spPr>
          <a:xfrm>
            <a:off x="7470648" y="3063240"/>
            <a:ext cx="1252728" cy="502920"/>
          </a:xfrm>
          <a:prstGeom prst="rect">
            <a:avLst/>
          </a:prstGeom>
          <a:noFill/>
          <a:ln/>
        </p:spPr>
        <p:txBody>
          <a:bodyPr wrap="none" lIns="0" tIns="0" rIns="0" bIns="0" rtlCol="0" anchor="ctr"/>
          <a:lstStyle/>
          <a:p>
            <a:pPr algn="ctr" indent="0" marL="0">
              <a:lnSpc>
                <a:spcPct val="115000"/>
              </a:lnSpc>
              <a:buNone/>
            </a:pPr>
            <a:r>
              <a:rPr lang="en-US" sz="4000" b="1" dirty="0">
                <a:solidFill>
                  <a:srgbClr val="E63946"/>
                </a:solidFill>
                <a:latin typeface="Plus Jakarta Sans" pitchFamily="34" charset="0"/>
                <a:ea typeface="Plus Jakarta Sans" pitchFamily="34" charset="-122"/>
                <a:cs typeface="Plus Jakarta Sans" pitchFamily="34" charset="-120"/>
              </a:rPr>
              <a:t>←</a:t>
            </a:r>
            <a:endParaRPr lang="en-US" sz="4000" dirty="0"/>
          </a:p>
        </p:txBody>
      </p:sp>
      <p:sp>
        <p:nvSpPr>
          <p:cNvPr id="32" name="Text 30"/>
          <p:cNvSpPr txBox="1"/>
          <p:nvPr/>
        </p:nvSpPr>
        <p:spPr>
          <a:xfrm>
            <a:off x="7470648" y="3520440"/>
            <a:ext cx="1252728" cy="228600"/>
          </a:xfrm>
          <a:prstGeom prst="rect">
            <a:avLst/>
          </a:prstGeom>
          <a:noFill/>
          <a:ln/>
        </p:spPr>
        <p:txBody>
          <a:bodyPr wrap="square" lIns="0" tIns="0" rIns="0" bIns="0" rtlCol="0" anchor="t"/>
          <a:lstStyle/>
          <a:p>
            <a:pPr algn="ctr" indent="0" marL="0">
              <a:lnSpc>
                <a:spcPct val="115000"/>
              </a:lnSpc>
              <a:buNone/>
            </a:pPr>
            <a:r>
              <a:rPr lang="en-US" sz="1300" dirty="0">
                <a:solidFill>
                  <a:srgbClr val="E63946"/>
                </a:solidFill>
                <a:latin typeface="Plus Jakarta Sans" pitchFamily="34" charset="0"/>
                <a:ea typeface="Plus Jakarta Sans" pitchFamily="34" charset="-122"/>
                <a:cs typeface="Plus Jakarta Sans" pitchFamily="34" charset="-120"/>
              </a:rPr>
              <a:t>menjawab</a:t>
            </a:r>
            <a:endParaRPr lang="en-US" sz="1300" dirty="0"/>
          </a:p>
        </p:txBody>
      </p:sp>
      <p:sp>
        <p:nvSpPr>
          <p:cNvPr id="33" name="Shape 31"/>
          <p:cNvSpPr/>
          <p:nvPr/>
        </p:nvSpPr>
        <p:spPr>
          <a:xfrm>
            <a:off x="731520" y="4434840"/>
            <a:ext cx="384048" cy="384048"/>
          </a:xfrm>
          <a:prstGeom prst="ellipse">
            <a:avLst/>
          </a:prstGeom>
          <a:solidFill>
            <a:srgbClr val="1F4FD8"/>
          </a:solidFill>
          <a:ln/>
        </p:spPr>
      </p:sp>
      <p:sp>
        <p:nvSpPr>
          <p:cNvPr id="34" name="Text 32"/>
          <p:cNvSpPr txBox="1"/>
          <p:nvPr/>
        </p:nvSpPr>
        <p:spPr>
          <a:xfrm>
            <a:off x="731520" y="4434840"/>
            <a:ext cx="384048" cy="384048"/>
          </a:xfrm>
          <a:prstGeom prst="rect">
            <a:avLst/>
          </a:prstGeom>
          <a:noFill/>
          <a:ln/>
        </p:spPr>
        <p:txBody>
          <a:bodyPr wrap="square" lIns="0" tIns="0" rIns="0" bIns="0" rtlCol="0" anchor="ctr"/>
          <a:lstStyle/>
          <a:p>
            <a:pPr algn="ctr" indent="0" marL="0">
              <a:lnSpc>
                <a:spcPct val="115000"/>
              </a:lnSpc>
              <a:buNone/>
            </a:pPr>
            <a:r>
              <a:rPr lang="en-US" sz="1500" b="1" dirty="0">
                <a:solidFill>
                  <a:srgbClr val="FFFFFF"/>
                </a:solidFill>
                <a:latin typeface="Plus Jakarta Sans" pitchFamily="34" charset="0"/>
                <a:ea typeface="Plus Jakarta Sans" pitchFamily="34" charset="-122"/>
                <a:cs typeface="Plus Jakarta Sans" pitchFamily="34" charset="-120"/>
              </a:rPr>
              <a:t>1</a:t>
            </a:r>
            <a:endParaRPr lang="en-US" sz="1500" dirty="0"/>
          </a:p>
        </p:txBody>
      </p:sp>
      <p:sp>
        <p:nvSpPr>
          <p:cNvPr id="35" name="Text 33"/>
          <p:cNvSpPr txBox="1"/>
          <p:nvPr/>
        </p:nvSpPr>
        <p:spPr>
          <a:xfrm>
            <a:off x="1261872" y="4343400"/>
            <a:ext cx="4572000" cy="594360"/>
          </a:xfrm>
          <a:prstGeom prst="rect">
            <a:avLst/>
          </a:prstGeom>
          <a:noFill/>
          <a:ln/>
        </p:spPr>
        <p:txBody>
          <a:bodyPr wrap="square" lIns="0" tIns="0" rIns="0" bIns="0" rtlCol="0" anchor="ctr"/>
          <a:lstStyle/>
          <a:p>
            <a:pPr algn="l" indent="0" marL="0">
              <a:lnSpc>
                <a:spcPct val="125000"/>
              </a:lnSpc>
              <a:buNone/>
            </a:pPr>
            <a:r>
              <a:rPr lang="en-US" sz="1700" dirty="0">
                <a:solidFill>
                  <a:srgbClr val="0E1B3D"/>
                </a:solidFill>
                <a:latin typeface="Plus Jakarta Sans" pitchFamily="34" charset="0"/>
                <a:ea typeface="Plus Jakarta Sans" pitchFamily="34" charset="-122"/>
                <a:cs typeface="Plus Jakarta Sans" pitchFamily="34" charset="-120"/>
              </a:rPr>
              <a:t>Kamu mengetik alamat website. Browser meminta halamannya.</a:t>
            </a:r>
            <a:endParaRPr lang="en-US" sz="1700" dirty="0"/>
          </a:p>
        </p:txBody>
      </p:sp>
      <p:sp>
        <p:nvSpPr>
          <p:cNvPr id="36" name="Shape 34"/>
          <p:cNvSpPr/>
          <p:nvPr/>
        </p:nvSpPr>
        <p:spPr>
          <a:xfrm>
            <a:off x="6309360" y="4434840"/>
            <a:ext cx="384048" cy="384048"/>
          </a:xfrm>
          <a:prstGeom prst="ellipse">
            <a:avLst/>
          </a:prstGeom>
          <a:solidFill>
            <a:srgbClr val="E63946"/>
          </a:solidFill>
          <a:ln/>
        </p:spPr>
      </p:sp>
      <p:sp>
        <p:nvSpPr>
          <p:cNvPr id="37" name="Text 35"/>
          <p:cNvSpPr txBox="1"/>
          <p:nvPr/>
        </p:nvSpPr>
        <p:spPr>
          <a:xfrm>
            <a:off x="6309360" y="4434840"/>
            <a:ext cx="384048" cy="384048"/>
          </a:xfrm>
          <a:prstGeom prst="rect">
            <a:avLst/>
          </a:prstGeom>
          <a:noFill/>
          <a:ln/>
        </p:spPr>
        <p:txBody>
          <a:bodyPr wrap="square" lIns="0" tIns="0" rIns="0" bIns="0" rtlCol="0" anchor="ctr"/>
          <a:lstStyle/>
          <a:p>
            <a:pPr algn="ctr" indent="0" marL="0">
              <a:lnSpc>
                <a:spcPct val="115000"/>
              </a:lnSpc>
              <a:buNone/>
            </a:pPr>
            <a:r>
              <a:rPr lang="en-US" sz="1500" b="1" dirty="0">
                <a:solidFill>
                  <a:srgbClr val="FFFFFF"/>
                </a:solidFill>
                <a:latin typeface="Plus Jakarta Sans" pitchFamily="34" charset="0"/>
                <a:ea typeface="Plus Jakarta Sans" pitchFamily="34" charset="-122"/>
                <a:cs typeface="Plus Jakarta Sans" pitchFamily="34" charset="-120"/>
              </a:rPr>
              <a:t>2</a:t>
            </a:r>
            <a:endParaRPr lang="en-US" sz="1500" dirty="0"/>
          </a:p>
        </p:txBody>
      </p:sp>
      <p:sp>
        <p:nvSpPr>
          <p:cNvPr id="38" name="Text 36"/>
          <p:cNvSpPr txBox="1"/>
          <p:nvPr/>
        </p:nvSpPr>
        <p:spPr>
          <a:xfrm>
            <a:off x="6839712" y="4343400"/>
            <a:ext cx="4572000" cy="594360"/>
          </a:xfrm>
          <a:prstGeom prst="rect">
            <a:avLst/>
          </a:prstGeom>
          <a:noFill/>
          <a:ln/>
        </p:spPr>
        <p:txBody>
          <a:bodyPr wrap="square" lIns="0" tIns="0" rIns="0" bIns="0" rtlCol="0" anchor="ctr"/>
          <a:lstStyle/>
          <a:p>
            <a:pPr algn="l" indent="0" marL="0">
              <a:lnSpc>
                <a:spcPct val="125000"/>
              </a:lnSpc>
              <a:buNone/>
            </a:pPr>
            <a:r>
              <a:rPr lang="en-US" sz="1700" dirty="0">
                <a:solidFill>
                  <a:srgbClr val="0E1B3D"/>
                </a:solidFill>
                <a:latin typeface="Plus Jakarta Sans" pitchFamily="34" charset="0"/>
                <a:ea typeface="Plus Jakarta Sans" pitchFamily="34" charset="-122"/>
                <a:cs typeface="Plus Jakarta Sans" pitchFamily="34" charset="-120"/>
              </a:rPr>
              <a:t>Server mengirim file-nya. Browser menampilkannya untukmu.</a:t>
            </a:r>
            <a:endParaRPr lang="en-US" sz="1700" dirty="0"/>
          </a:p>
        </p:txBody>
      </p:sp>
      <p:sp>
        <p:nvSpPr>
          <p:cNvPr id="39" name="Text 37"/>
          <p:cNvSpPr txBox="1"/>
          <p:nvPr/>
        </p:nvSpPr>
        <p:spPr>
          <a:xfrm>
            <a:off x="731520" y="5257800"/>
            <a:ext cx="10698480" cy="457200"/>
          </a:xfrm>
          <a:prstGeom prst="rect">
            <a:avLst/>
          </a:prstGeom>
          <a:noFill/>
          <a:ln/>
        </p:spPr>
        <p:txBody>
          <a:bodyPr wrap="square" lIns="0" tIns="0" rIns="0" bIns="0" rtlCol="0" anchor="t"/>
          <a:lstStyle/>
          <a:p>
            <a:pPr algn="l" indent="0" marL="0">
              <a:lnSpc>
                <a:spcPct val="115000"/>
              </a:lnSpc>
              <a:buNone/>
            </a:pPr>
            <a:r>
              <a:rPr lang="en-US" sz="2200" b="1" dirty="0">
                <a:solidFill>
                  <a:srgbClr val="0E1B3D"/>
                </a:solidFill>
                <a:latin typeface="Plus Jakarta Sans" pitchFamily="34" charset="0"/>
                <a:ea typeface="Plus Jakarta Sans" pitchFamily="34" charset="-122"/>
                <a:cs typeface="Plus Jakarta Sans" pitchFamily="34" charset="-120"/>
              </a:rPr>
              <a:t>Website = kumpulan file yang dikirim komputer lain (server) ke browser-mu.</a:t>
            </a:r>
            <a:endParaRPr lang="en-US" sz="2200" dirty="0"/>
          </a:p>
        </p:txBody>
      </p:sp>
      <p:sp>
        <p:nvSpPr>
          <p:cNvPr id="40" name="Text 38"/>
          <p:cNvSpPr txBox="1"/>
          <p:nvPr/>
        </p:nvSpPr>
        <p:spPr>
          <a:xfrm>
            <a:off x="731520" y="5760720"/>
            <a:ext cx="10698480" cy="320040"/>
          </a:xfrm>
          <a:prstGeom prst="rect">
            <a:avLst/>
          </a:prstGeom>
          <a:noFill/>
          <a:ln/>
        </p:spPr>
        <p:txBody>
          <a:bodyPr wrap="square" lIns="0" tIns="0" rIns="0" bIns="0" rtlCol="0" anchor="t"/>
          <a:lstStyle/>
          <a:p>
            <a:pPr algn="l" indent="0" marL="0">
              <a:lnSpc>
                <a:spcPct val="115000"/>
              </a:lnSpc>
              <a:buNone/>
            </a:pPr>
            <a:r>
              <a:rPr lang="en-US" sz="1500" dirty="0">
                <a:solidFill>
                  <a:srgbClr val="5B6478"/>
                </a:solidFill>
                <a:latin typeface="Plus Jakarta Sans" pitchFamily="34" charset="0"/>
                <a:ea typeface="Plus Jakarta Sans" pitchFamily="34" charset="-122"/>
                <a:cs typeface="Plus Jakarta Sans" pitchFamily="34" charset="-120"/>
              </a:rPr>
              <a:t>Hari ini, komputermu sendiri berpura-pura jadi server. Itu tugas Live Server.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6F7FA8"/>
                </a:solidFill>
                <a:latin typeface="Plus Jakarta Sans" pitchFamily="34" charset="0"/>
                <a:ea typeface="Plus Jakarta Sans" pitchFamily="34" charset="-122"/>
                <a:cs typeface="Plus Jakarta Sans" pitchFamily="34" charset="-120"/>
              </a:rPr>
              <a:t>8</a:t>
            </a:r>
            <a:endParaRPr lang="en-US" sz="1100" dirty="0"/>
          </a:p>
        </p:txBody>
      </p:sp>
      <p:sp>
        <p:nvSpPr>
          <p:cNvPr id="3" name="Text 1"/>
          <p:cNvSpPr txBox="1"/>
          <p:nvPr/>
        </p:nvSpPr>
        <p:spPr>
          <a:xfrm>
            <a:off x="731520" y="685800"/>
            <a:ext cx="10698480" cy="822960"/>
          </a:xfrm>
          <a:prstGeom prst="rect">
            <a:avLst/>
          </a:prstGeom>
          <a:noFill/>
          <a:ln/>
        </p:spPr>
        <p:txBody>
          <a:bodyPr wrap="square" lIns="0" tIns="0" rIns="0" bIns="0" rtlCol="0" anchor="t"/>
          <a:lstStyle/>
          <a:p>
            <a:pPr algn="l" indent="0" marL="0">
              <a:lnSpc>
                <a:spcPct val="108000"/>
              </a:lnSpc>
              <a:buNone/>
            </a:pPr>
            <a:r>
              <a:rPr lang="en-US" sz="4000" b="1" dirty="0">
                <a:solidFill>
                  <a:srgbClr val="F4F6FB"/>
                </a:solidFill>
                <a:latin typeface="Plus Jakarta Sans" pitchFamily="34" charset="0"/>
                <a:ea typeface="Plus Jakarta Sans" pitchFamily="34" charset="-122"/>
                <a:cs typeface="Plus Jakarta Sans" pitchFamily="34" charset="-120"/>
              </a:rPr>
              <a:t>Website dibuat dari tiga bahan</a:t>
            </a:r>
            <a:endParaRPr lang="en-US" sz="4000" dirty="0"/>
          </a:p>
        </p:txBody>
      </p:sp>
      <p:sp>
        <p:nvSpPr>
          <p:cNvPr id="4" name="Text 2"/>
          <p:cNvSpPr txBox="1"/>
          <p:nvPr/>
        </p:nvSpPr>
        <p:spPr>
          <a:xfrm>
            <a:off x="731520" y="1463040"/>
            <a:ext cx="10698480" cy="365760"/>
          </a:xfrm>
          <a:prstGeom prst="rect">
            <a:avLst/>
          </a:prstGeom>
          <a:noFill/>
          <a:ln/>
        </p:spPr>
        <p:txBody>
          <a:bodyPr wrap="square" lIns="0" tIns="0" rIns="0" bIns="0" rtlCol="0" anchor="t"/>
          <a:lstStyle/>
          <a:p>
            <a:pPr algn="l" indent="0" marL="0">
              <a:lnSpc>
                <a:spcPct val="115000"/>
              </a:lnSpc>
              <a:buNone/>
            </a:pPr>
            <a:r>
              <a:rPr lang="en-US" sz="1800" dirty="0">
                <a:solidFill>
                  <a:srgbClr val="A9B6D6"/>
                </a:solidFill>
                <a:latin typeface="Plus Jakarta Sans" pitchFamily="34" charset="0"/>
                <a:ea typeface="Plus Jakarta Sans" pitchFamily="34" charset="-122"/>
                <a:cs typeface="Plus Jakarta Sans" pitchFamily="34" charset="-120"/>
              </a:rPr>
              <a:t>Bayangkan sebuah rumah.</a:t>
            </a:r>
            <a:endParaRPr lang="en-US" sz="1800" dirty="0"/>
          </a:p>
        </p:txBody>
      </p:sp>
      <p:sp>
        <p:nvSpPr>
          <p:cNvPr id="5" name="Shape 3"/>
          <p:cNvSpPr/>
          <p:nvPr/>
        </p:nvSpPr>
        <p:spPr>
          <a:xfrm>
            <a:off x="731520" y="2011680"/>
            <a:ext cx="3429000" cy="4023360"/>
          </a:xfrm>
          <a:prstGeom prst="roundRect">
            <a:avLst>
              <a:gd name="adj" fmla="val 5333"/>
            </a:avLst>
          </a:prstGeom>
          <a:solidFill>
            <a:srgbClr val="17285A"/>
          </a:solidFill>
          <a:ln w="12700">
            <a:solidFill>
              <a:srgbClr val="2A3C6E"/>
            </a:solidFill>
            <a:prstDash val="solid"/>
          </a:ln>
        </p:spPr>
      </p:sp>
      <p:sp>
        <p:nvSpPr>
          <p:cNvPr id="6" name="Shape 4"/>
          <p:cNvSpPr/>
          <p:nvPr/>
        </p:nvSpPr>
        <p:spPr>
          <a:xfrm>
            <a:off x="1005840" y="2286000"/>
            <a:ext cx="1234440" cy="292608"/>
          </a:xfrm>
          <a:prstGeom prst="roundRect">
            <a:avLst>
              <a:gd name="adj" fmla="val 50000"/>
            </a:avLst>
          </a:prstGeom>
          <a:solidFill>
            <a:srgbClr val="FFC83D"/>
          </a:solidFill>
          <a:ln/>
        </p:spPr>
      </p:sp>
      <p:sp>
        <p:nvSpPr>
          <p:cNvPr id="7" name="Text 5"/>
          <p:cNvSpPr txBox="1"/>
          <p:nvPr/>
        </p:nvSpPr>
        <p:spPr>
          <a:xfrm>
            <a:off x="1005840" y="2286000"/>
            <a:ext cx="1234440" cy="292608"/>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0E1B3D"/>
                </a:solidFill>
                <a:latin typeface="Plus Jakarta Sans" pitchFamily="34" charset="0"/>
                <a:ea typeface="Plus Jakarta Sans" pitchFamily="34" charset="-122"/>
                <a:cs typeface="Plus Jakarta Sans" pitchFamily="34" charset="-120"/>
              </a:rPr>
              <a:t>HARI INI</a:t>
            </a:r>
            <a:endParaRPr lang="en-US" sz="1100" dirty="0"/>
          </a:p>
        </p:txBody>
      </p:sp>
      <p:sp>
        <p:nvSpPr>
          <p:cNvPr id="8" name="Text 6"/>
          <p:cNvSpPr txBox="1"/>
          <p:nvPr/>
        </p:nvSpPr>
        <p:spPr>
          <a:xfrm>
            <a:off x="1005840" y="2788920"/>
            <a:ext cx="2926080" cy="822960"/>
          </a:xfrm>
          <a:prstGeom prst="rect">
            <a:avLst/>
          </a:prstGeom>
          <a:noFill/>
          <a:ln/>
        </p:spPr>
        <p:txBody>
          <a:bodyPr wrap="none" lIns="0" tIns="0" rIns="0" bIns="0" rtlCol="0" anchor="ctr"/>
          <a:lstStyle/>
          <a:p>
            <a:pPr algn="l" indent="0" marL="0">
              <a:lnSpc>
                <a:spcPct val="115000"/>
              </a:lnSpc>
              <a:buNone/>
            </a:pPr>
            <a:r>
              <a:rPr lang="en-US" sz="5200" b="1" dirty="0">
                <a:solidFill>
                  <a:srgbClr val="8DB4FF"/>
                </a:solidFill>
                <a:latin typeface="JetBrains Mono" pitchFamily="34" charset="0"/>
                <a:ea typeface="JetBrains Mono" pitchFamily="34" charset="-122"/>
                <a:cs typeface="JetBrains Mono" pitchFamily="34" charset="-120"/>
              </a:rPr>
              <a:t>HTML</a:t>
            </a:r>
            <a:endParaRPr lang="en-US" sz="5200" dirty="0"/>
          </a:p>
        </p:txBody>
      </p:sp>
      <p:sp>
        <p:nvSpPr>
          <p:cNvPr id="9" name="Text 7"/>
          <p:cNvSpPr txBox="1"/>
          <p:nvPr/>
        </p:nvSpPr>
        <p:spPr>
          <a:xfrm>
            <a:off x="1005840" y="3657600"/>
            <a:ext cx="2926080" cy="457200"/>
          </a:xfrm>
          <a:prstGeom prst="rect">
            <a:avLst/>
          </a:prstGeom>
          <a:noFill/>
          <a:ln/>
        </p:spPr>
        <p:txBody>
          <a:bodyPr wrap="square" lIns="0" tIns="0" rIns="0" bIns="0" rtlCol="0" anchor="t"/>
          <a:lstStyle/>
          <a:p>
            <a:pPr algn="l" indent="0" marL="0">
              <a:lnSpc>
                <a:spcPct val="115000"/>
              </a:lnSpc>
              <a:buNone/>
            </a:pPr>
            <a:r>
              <a:rPr lang="en-US" sz="2600" b="1" dirty="0">
                <a:solidFill>
                  <a:srgbClr val="FFFFFF"/>
                </a:solidFill>
                <a:latin typeface="Plus Jakarta Sans" pitchFamily="34" charset="0"/>
                <a:ea typeface="Plus Jakarta Sans" pitchFamily="34" charset="-122"/>
                <a:cs typeface="Plus Jakarta Sans" pitchFamily="34" charset="-120"/>
              </a:rPr>
              <a:t>Kerangka</a:t>
            </a:r>
            <a:endParaRPr lang="en-US" sz="2600" dirty="0"/>
          </a:p>
        </p:txBody>
      </p:sp>
      <p:sp>
        <p:nvSpPr>
          <p:cNvPr id="10" name="Text 8"/>
          <p:cNvSpPr txBox="1"/>
          <p:nvPr/>
        </p:nvSpPr>
        <p:spPr>
          <a:xfrm>
            <a:off x="1005840" y="4160520"/>
            <a:ext cx="2926080" cy="914400"/>
          </a:xfrm>
          <a:prstGeom prst="rect">
            <a:avLst/>
          </a:prstGeom>
          <a:noFill/>
          <a:ln/>
        </p:spPr>
        <p:txBody>
          <a:bodyPr wrap="square" lIns="0" tIns="0" rIns="0" bIns="0" rtlCol="0" anchor="t"/>
          <a:lstStyle/>
          <a:p>
            <a:pPr algn="l" indent="0" marL="0">
              <a:lnSpc>
                <a:spcPct val="135000"/>
              </a:lnSpc>
              <a:buNone/>
            </a:pPr>
            <a:r>
              <a:rPr lang="en-US" sz="1600" dirty="0">
                <a:solidFill>
                  <a:srgbClr val="A9B6D6"/>
                </a:solidFill>
                <a:latin typeface="Plus Jakarta Sans" pitchFamily="34" charset="0"/>
                <a:ea typeface="Plus Jakarta Sans" pitchFamily="34" charset="-122"/>
                <a:cs typeface="Plus Jakarta Sans" pitchFamily="34" charset="-120"/>
              </a:rPr>
              <a:t>Seperti rangka rumah. Menentukan ada kamar apa saja dan di mana letaknya.</a:t>
            </a:r>
            <a:endParaRPr lang="en-US" sz="1600" dirty="0"/>
          </a:p>
        </p:txBody>
      </p:sp>
      <p:sp>
        <p:nvSpPr>
          <p:cNvPr id="11" name="Shape 9"/>
          <p:cNvSpPr/>
          <p:nvPr/>
        </p:nvSpPr>
        <p:spPr>
          <a:xfrm>
            <a:off x="1005840" y="5257800"/>
            <a:ext cx="2880360" cy="548640"/>
          </a:xfrm>
          <a:prstGeom prst="roundRect">
            <a:avLst>
              <a:gd name="adj" fmla="val 16667"/>
            </a:avLst>
          </a:prstGeom>
          <a:solidFill>
            <a:srgbClr val="0B1530"/>
          </a:solidFill>
          <a:ln/>
        </p:spPr>
      </p:sp>
      <p:sp>
        <p:nvSpPr>
          <p:cNvPr id="12" name="Text 10"/>
          <p:cNvSpPr txBox="1"/>
          <p:nvPr/>
        </p:nvSpPr>
        <p:spPr>
          <a:xfrm>
            <a:off x="1143000" y="5257800"/>
            <a:ext cx="2651760" cy="548640"/>
          </a:xfrm>
          <a:prstGeom prst="rect">
            <a:avLst/>
          </a:prstGeom>
          <a:noFill/>
          <a:ln/>
        </p:spPr>
        <p:txBody>
          <a:bodyPr wrap="none" lIns="0" tIns="0" rIns="0" bIns="0" rtlCol="0" anchor="ctr"/>
          <a:lstStyle/>
          <a:p>
            <a:pPr algn="l" indent="0" marL="0">
              <a:lnSpc>
                <a:spcPct val="115000"/>
              </a:lnSpc>
              <a:buNone/>
            </a:pPr>
            <a:r>
              <a:rPr lang="en-US" sz="1700" dirty="0">
                <a:solidFill>
                  <a:srgbClr val="F4F6FB"/>
                </a:solidFill>
                <a:latin typeface="JetBrains Mono" pitchFamily="34" charset="0"/>
                <a:ea typeface="JetBrains Mono" pitchFamily="34" charset="-122"/>
                <a:cs typeface="JetBrains Mono" pitchFamily="34" charset="-120"/>
              </a:rPr>
              <a:t>&lt;h1&gt;Halo&lt;/h1&gt;</a:t>
            </a:r>
            <a:endParaRPr lang="en-US" sz="1700" dirty="0"/>
          </a:p>
        </p:txBody>
      </p:sp>
      <p:sp>
        <p:nvSpPr>
          <p:cNvPr id="13" name="Shape 11"/>
          <p:cNvSpPr/>
          <p:nvPr/>
        </p:nvSpPr>
        <p:spPr>
          <a:xfrm>
            <a:off x="4361688" y="2011680"/>
            <a:ext cx="3429000" cy="4023360"/>
          </a:xfrm>
          <a:prstGeom prst="roundRect">
            <a:avLst>
              <a:gd name="adj" fmla="val 5333"/>
            </a:avLst>
          </a:prstGeom>
          <a:solidFill>
            <a:srgbClr val="17285A"/>
          </a:solidFill>
          <a:ln w="12700">
            <a:solidFill>
              <a:srgbClr val="2A3C6E"/>
            </a:solidFill>
            <a:prstDash val="solid"/>
          </a:ln>
        </p:spPr>
      </p:sp>
      <p:sp>
        <p:nvSpPr>
          <p:cNvPr id="14" name="Shape 12"/>
          <p:cNvSpPr/>
          <p:nvPr/>
        </p:nvSpPr>
        <p:spPr>
          <a:xfrm>
            <a:off x="4636008" y="2286000"/>
            <a:ext cx="1234440" cy="292608"/>
          </a:xfrm>
          <a:prstGeom prst="roundRect">
            <a:avLst>
              <a:gd name="adj" fmla="val 50000"/>
            </a:avLst>
          </a:prstGeom>
          <a:solidFill>
            <a:srgbClr val="FFC83D"/>
          </a:solidFill>
          <a:ln/>
        </p:spPr>
      </p:sp>
      <p:sp>
        <p:nvSpPr>
          <p:cNvPr id="15" name="Text 13"/>
          <p:cNvSpPr txBox="1"/>
          <p:nvPr/>
        </p:nvSpPr>
        <p:spPr>
          <a:xfrm>
            <a:off x="4636008" y="2286000"/>
            <a:ext cx="1234440" cy="292608"/>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0E1B3D"/>
                </a:solidFill>
                <a:latin typeface="Plus Jakarta Sans" pitchFamily="34" charset="0"/>
                <a:ea typeface="Plus Jakarta Sans" pitchFamily="34" charset="-122"/>
                <a:cs typeface="Plus Jakarta Sans" pitchFamily="34" charset="-120"/>
              </a:rPr>
              <a:t>HARI INI</a:t>
            </a:r>
            <a:endParaRPr lang="en-US" sz="1100" dirty="0"/>
          </a:p>
        </p:txBody>
      </p:sp>
      <p:sp>
        <p:nvSpPr>
          <p:cNvPr id="16" name="Text 14"/>
          <p:cNvSpPr txBox="1"/>
          <p:nvPr/>
        </p:nvSpPr>
        <p:spPr>
          <a:xfrm>
            <a:off x="4636008" y="2788920"/>
            <a:ext cx="2926080" cy="822960"/>
          </a:xfrm>
          <a:prstGeom prst="rect">
            <a:avLst/>
          </a:prstGeom>
          <a:noFill/>
          <a:ln/>
        </p:spPr>
        <p:txBody>
          <a:bodyPr wrap="none" lIns="0" tIns="0" rIns="0" bIns="0" rtlCol="0" anchor="ctr"/>
          <a:lstStyle/>
          <a:p>
            <a:pPr algn="l" indent="0" marL="0">
              <a:lnSpc>
                <a:spcPct val="115000"/>
              </a:lnSpc>
              <a:buNone/>
            </a:pPr>
            <a:r>
              <a:rPr lang="en-US" sz="5200" b="1" dirty="0">
                <a:solidFill>
                  <a:srgbClr val="FFD36E"/>
                </a:solidFill>
                <a:latin typeface="JetBrains Mono" pitchFamily="34" charset="0"/>
                <a:ea typeface="JetBrains Mono" pitchFamily="34" charset="-122"/>
                <a:cs typeface="JetBrains Mono" pitchFamily="34" charset="-120"/>
              </a:rPr>
              <a:t>CSS</a:t>
            </a:r>
            <a:endParaRPr lang="en-US" sz="5200" dirty="0"/>
          </a:p>
        </p:txBody>
      </p:sp>
      <p:sp>
        <p:nvSpPr>
          <p:cNvPr id="17" name="Text 15"/>
          <p:cNvSpPr txBox="1"/>
          <p:nvPr/>
        </p:nvSpPr>
        <p:spPr>
          <a:xfrm>
            <a:off x="4636008" y="3657600"/>
            <a:ext cx="2926080" cy="457200"/>
          </a:xfrm>
          <a:prstGeom prst="rect">
            <a:avLst/>
          </a:prstGeom>
          <a:noFill/>
          <a:ln/>
        </p:spPr>
        <p:txBody>
          <a:bodyPr wrap="square" lIns="0" tIns="0" rIns="0" bIns="0" rtlCol="0" anchor="t"/>
          <a:lstStyle/>
          <a:p>
            <a:pPr algn="l" indent="0" marL="0">
              <a:lnSpc>
                <a:spcPct val="115000"/>
              </a:lnSpc>
              <a:buNone/>
            </a:pPr>
            <a:r>
              <a:rPr lang="en-US" sz="2600" b="1" dirty="0">
                <a:solidFill>
                  <a:srgbClr val="FFFFFF"/>
                </a:solidFill>
                <a:latin typeface="Plus Jakarta Sans" pitchFamily="34" charset="0"/>
                <a:ea typeface="Plus Jakarta Sans" pitchFamily="34" charset="-122"/>
                <a:cs typeface="Plus Jakarta Sans" pitchFamily="34" charset="-120"/>
              </a:rPr>
              <a:t>Penampilan</a:t>
            </a:r>
            <a:endParaRPr lang="en-US" sz="2600" dirty="0"/>
          </a:p>
        </p:txBody>
      </p:sp>
      <p:sp>
        <p:nvSpPr>
          <p:cNvPr id="18" name="Text 16"/>
          <p:cNvSpPr txBox="1"/>
          <p:nvPr/>
        </p:nvSpPr>
        <p:spPr>
          <a:xfrm>
            <a:off x="4636008" y="4160520"/>
            <a:ext cx="2926080" cy="914400"/>
          </a:xfrm>
          <a:prstGeom prst="rect">
            <a:avLst/>
          </a:prstGeom>
          <a:noFill/>
          <a:ln/>
        </p:spPr>
        <p:txBody>
          <a:bodyPr wrap="square" lIns="0" tIns="0" rIns="0" bIns="0" rtlCol="0" anchor="t"/>
          <a:lstStyle/>
          <a:p>
            <a:pPr algn="l" indent="0" marL="0">
              <a:lnSpc>
                <a:spcPct val="135000"/>
              </a:lnSpc>
              <a:buNone/>
            </a:pPr>
            <a:r>
              <a:rPr lang="en-US" sz="1600" dirty="0">
                <a:solidFill>
                  <a:srgbClr val="A9B6D6"/>
                </a:solidFill>
                <a:latin typeface="Plus Jakarta Sans" pitchFamily="34" charset="0"/>
                <a:ea typeface="Plus Jakarta Sans" pitchFamily="34" charset="-122"/>
                <a:cs typeface="Plus Jakarta Sans" pitchFamily="34" charset="-120"/>
              </a:rPr>
              <a:t>Seperti cat dan dekorasi. Mengatur warna, huruf, dan tata letak.</a:t>
            </a:r>
            <a:endParaRPr lang="en-US" sz="1600" dirty="0"/>
          </a:p>
        </p:txBody>
      </p:sp>
      <p:sp>
        <p:nvSpPr>
          <p:cNvPr id="19" name="Shape 17"/>
          <p:cNvSpPr/>
          <p:nvPr/>
        </p:nvSpPr>
        <p:spPr>
          <a:xfrm>
            <a:off x="4636008" y="5257800"/>
            <a:ext cx="2880360" cy="548640"/>
          </a:xfrm>
          <a:prstGeom prst="roundRect">
            <a:avLst>
              <a:gd name="adj" fmla="val 16667"/>
            </a:avLst>
          </a:prstGeom>
          <a:solidFill>
            <a:srgbClr val="0B1530"/>
          </a:solidFill>
          <a:ln/>
        </p:spPr>
      </p:sp>
      <p:sp>
        <p:nvSpPr>
          <p:cNvPr id="20" name="Text 18"/>
          <p:cNvSpPr txBox="1"/>
          <p:nvPr/>
        </p:nvSpPr>
        <p:spPr>
          <a:xfrm>
            <a:off x="4773168" y="5257800"/>
            <a:ext cx="2651760" cy="548640"/>
          </a:xfrm>
          <a:prstGeom prst="rect">
            <a:avLst/>
          </a:prstGeom>
          <a:noFill/>
          <a:ln/>
        </p:spPr>
        <p:txBody>
          <a:bodyPr wrap="none" lIns="0" tIns="0" rIns="0" bIns="0" rtlCol="0" anchor="ctr"/>
          <a:lstStyle/>
          <a:p>
            <a:pPr algn="l" indent="0" marL="0">
              <a:lnSpc>
                <a:spcPct val="115000"/>
              </a:lnSpc>
              <a:buNone/>
            </a:pPr>
            <a:r>
              <a:rPr lang="en-US" sz="1700" dirty="0">
                <a:solidFill>
                  <a:srgbClr val="F4F6FB"/>
                </a:solidFill>
                <a:latin typeface="JetBrains Mono" pitchFamily="34" charset="0"/>
                <a:ea typeface="JetBrains Mono" pitchFamily="34" charset="-122"/>
                <a:cs typeface="JetBrains Mono" pitchFamily="34" charset="-120"/>
              </a:rPr>
              <a:t>h1 { color: red; }</a:t>
            </a:r>
            <a:endParaRPr lang="en-US" sz="1700" dirty="0"/>
          </a:p>
        </p:txBody>
      </p:sp>
      <p:sp>
        <p:nvSpPr>
          <p:cNvPr id="21" name="Shape 19"/>
          <p:cNvSpPr/>
          <p:nvPr/>
        </p:nvSpPr>
        <p:spPr>
          <a:xfrm>
            <a:off x="7991856" y="2011680"/>
            <a:ext cx="3429000" cy="4023360"/>
          </a:xfrm>
          <a:prstGeom prst="roundRect">
            <a:avLst>
              <a:gd name="adj" fmla="val 5333"/>
            </a:avLst>
          </a:prstGeom>
          <a:solidFill>
            <a:srgbClr val="17285A"/>
          </a:solidFill>
          <a:ln w="12700">
            <a:solidFill>
              <a:srgbClr val="2A3C6E"/>
            </a:solidFill>
            <a:prstDash val="solid"/>
          </a:ln>
        </p:spPr>
      </p:sp>
      <p:sp>
        <p:nvSpPr>
          <p:cNvPr id="22" name="Shape 20"/>
          <p:cNvSpPr/>
          <p:nvPr/>
        </p:nvSpPr>
        <p:spPr>
          <a:xfrm>
            <a:off x="8266176" y="2286000"/>
            <a:ext cx="1920240" cy="292608"/>
          </a:xfrm>
          <a:prstGeom prst="roundRect">
            <a:avLst>
              <a:gd name="adj" fmla="val 50000"/>
            </a:avLst>
          </a:prstGeom>
          <a:solidFill>
            <a:srgbClr val="2A3C6E"/>
          </a:solidFill>
          <a:ln/>
        </p:spPr>
      </p:sp>
      <p:sp>
        <p:nvSpPr>
          <p:cNvPr id="23" name="Text 21"/>
          <p:cNvSpPr txBox="1"/>
          <p:nvPr/>
        </p:nvSpPr>
        <p:spPr>
          <a:xfrm>
            <a:off x="8266176" y="2286000"/>
            <a:ext cx="1920240" cy="292608"/>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A9B6D6"/>
                </a:solidFill>
                <a:latin typeface="Plus Jakarta Sans" pitchFamily="34" charset="0"/>
                <a:ea typeface="Plus Jakarta Sans" pitchFamily="34" charset="-122"/>
                <a:cs typeface="Plus Jakarta Sans" pitchFamily="34" charset="-120"/>
              </a:rPr>
              <a:t>NANTI, DI RUMAH</a:t>
            </a:r>
            <a:endParaRPr lang="en-US" sz="1100" dirty="0"/>
          </a:p>
        </p:txBody>
      </p:sp>
      <p:sp>
        <p:nvSpPr>
          <p:cNvPr id="24" name="Text 22"/>
          <p:cNvSpPr txBox="1"/>
          <p:nvPr/>
        </p:nvSpPr>
        <p:spPr>
          <a:xfrm>
            <a:off x="8266176" y="2788920"/>
            <a:ext cx="2926080" cy="822960"/>
          </a:xfrm>
          <a:prstGeom prst="rect">
            <a:avLst/>
          </a:prstGeom>
          <a:noFill/>
          <a:ln/>
        </p:spPr>
        <p:txBody>
          <a:bodyPr wrap="none" lIns="0" tIns="0" rIns="0" bIns="0" rtlCol="0" anchor="ctr"/>
          <a:lstStyle/>
          <a:p>
            <a:pPr algn="l" indent="0" marL="0">
              <a:lnSpc>
                <a:spcPct val="115000"/>
              </a:lnSpc>
              <a:buNone/>
            </a:pPr>
            <a:r>
              <a:rPr lang="en-US" sz="5200" b="1" dirty="0">
                <a:solidFill>
                  <a:srgbClr val="7886A8"/>
                </a:solidFill>
                <a:latin typeface="JetBrains Mono" pitchFamily="34" charset="0"/>
                <a:ea typeface="JetBrains Mono" pitchFamily="34" charset="-122"/>
                <a:cs typeface="JetBrains Mono" pitchFamily="34" charset="-120"/>
              </a:rPr>
              <a:t>JS</a:t>
            </a:r>
            <a:endParaRPr lang="en-US" sz="5200" dirty="0"/>
          </a:p>
        </p:txBody>
      </p:sp>
      <p:sp>
        <p:nvSpPr>
          <p:cNvPr id="25" name="Text 23"/>
          <p:cNvSpPr txBox="1"/>
          <p:nvPr/>
        </p:nvSpPr>
        <p:spPr>
          <a:xfrm>
            <a:off x="8266176" y="3657600"/>
            <a:ext cx="2926080" cy="457200"/>
          </a:xfrm>
          <a:prstGeom prst="rect">
            <a:avLst/>
          </a:prstGeom>
          <a:noFill/>
          <a:ln/>
        </p:spPr>
        <p:txBody>
          <a:bodyPr wrap="square" lIns="0" tIns="0" rIns="0" bIns="0" rtlCol="0" anchor="t"/>
          <a:lstStyle/>
          <a:p>
            <a:pPr algn="l" indent="0" marL="0">
              <a:lnSpc>
                <a:spcPct val="115000"/>
              </a:lnSpc>
              <a:buNone/>
            </a:pPr>
            <a:r>
              <a:rPr lang="en-US" sz="2600" b="1" dirty="0">
                <a:solidFill>
                  <a:srgbClr val="A9B6D6"/>
                </a:solidFill>
                <a:latin typeface="Plus Jakarta Sans" pitchFamily="34" charset="0"/>
                <a:ea typeface="Plus Jakarta Sans" pitchFamily="34" charset="-122"/>
                <a:cs typeface="Plus Jakarta Sans" pitchFamily="34" charset="-120"/>
              </a:rPr>
              <a:t>Aksi</a:t>
            </a:r>
            <a:endParaRPr lang="en-US" sz="2600" dirty="0"/>
          </a:p>
        </p:txBody>
      </p:sp>
      <p:sp>
        <p:nvSpPr>
          <p:cNvPr id="26" name="Text 24"/>
          <p:cNvSpPr txBox="1"/>
          <p:nvPr/>
        </p:nvSpPr>
        <p:spPr>
          <a:xfrm>
            <a:off x="8266176" y="4160520"/>
            <a:ext cx="2926080" cy="914400"/>
          </a:xfrm>
          <a:prstGeom prst="rect">
            <a:avLst/>
          </a:prstGeom>
          <a:noFill/>
          <a:ln/>
        </p:spPr>
        <p:txBody>
          <a:bodyPr wrap="square" lIns="0" tIns="0" rIns="0" bIns="0" rtlCol="0" anchor="t"/>
          <a:lstStyle/>
          <a:p>
            <a:pPr algn="l" indent="0" marL="0">
              <a:lnSpc>
                <a:spcPct val="135000"/>
              </a:lnSpc>
              <a:buNone/>
            </a:pPr>
            <a:r>
              <a:rPr lang="en-US" sz="1600" dirty="0">
                <a:solidFill>
                  <a:srgbClr val="A9B6D6"/>
                </a:solidFill>
                <a:latin typeface="Plus Jakarta Sans" pitchFamily="34" charset="0"/>
                <a:ea typeface="Plus Jakarta Sans" pitchFamily="34" charset="-122"/>
                <a:cs typeface="Plus Jakarta Sans" pitchFamily="34" charset="-120"/>
              </a:rPr>
              <a:t>Seperti listrik. Membuat rumah bisa dipakai: lampu menyala, pintu terbuka.</a:t>
            </a:r>
            <a:endParaRPr lang="en-US" sz="1600" dirty="0"/>
          </a:p>
        </p:txBody>
      </p:sp>
      <p:sp>
        <p:nvSpPr>
          <p:cNvPr id="27" name="Shape 25"/>
          <p:cNvSpPr/>
          <p:nvPr/>
        </p:nvSpPr>
        <p:spPr>
          <a:xfrm>
            <a:off x="8266176" y="5257800"/>
            <a:ext cx="2880360" cy="548640"/>
          </a:xfrm>
          <a:prstGeom prst="roundRect">
            <a:avLst>
              <a:gd name="adj" fmla="val 16667"/>
            </a:avLst>
          </a:prstGeom>
          <a:solidFill>
            <a:srgbClr val="0B1530"/>
          </a:solidFill>
          <a:ln/>
        </p:spPr>
      </p:sp>
      <p:sp>
        <p:nvSpPr>
          <p:cNvPr id="28" name="Text 26"/>
          <p:cNvSpPr txBox="1"/>
          <p:nvPr/>
        </p:nvSpPr>
        <p:spPr>
          <a:xfrm>
            <a:off x="8403336" y="5257800"/>
            <a:ext cx="2651760" cy="548640"/>
          </a:xfrm>
          <a:prstGeom prst="rect">
            <a:avLst/>
          </a:prstGeom>
          <a:noFill/>
          <a:ln/>
        </p:spPr>
        <p:txBody>
          <a:bodyPr wrap="none" lIns="0" tIns="0" rIns="0" bIns="0" rtlCol="0" anchor="ctr"/>
          <a:lstStyle/>
          <a:p>
            <a:pPr algn="l" indent="0" marL="0">
              <a:lnSpc>
                <a:spcPct val="115000"/>
              </a:lnSpc>
              <a:buNone/>
            </a:pPr>
            <a:r>
              <a:rPr lang="en-US" sz="1700" dirty="0">
                <a:solidFill>
                  <a:srgbClr val="7886A8"/>
                </a:solidFill>
                <a:latin typeface="JetBrains Mono" pitchFamily="34" charset="0"/>
                <a:ea typeface="JetBrains Mono" pitchFamily="34" charset="-122"/>
                <a:cs typeface="JetBrains Mono" pitchFamily="34" charset="-120"/>
              </a:rPr>
              <a:t>alert("Halo!");</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9</a:t>
            </a:r>
            <a:endParaRPr lang="en-US" sz="1100" dirty="0"/>
          </a:p>
        </p:txBody>
      </p:sp>
      <p:sp>
        <p:nvSpPr>
          <p:cNvPr id="3" name="Text 1"/>
          <p:cNvSpPr txBox="1"/>
          <p:nvPr/>
        </p:nvSpPr>
        <p:spPr>
          <a:xfrm>
            <a:off x="731520" y="685800"/>
            <a:ext cx="10698480" cy="91440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Tiga alat yang kita pakai</a:t>
            </a:r>
            <a:endParaRPr lang="en-US" sz="4000" dirty="0"/>
          </a:p>
        </p:txBody>
      </p:sp>
      <p:sp>
        <p:nvSpPr>
          <p:cNvPr id="4" name="Shape 2"/>
          <p:cNvSpPr/>
          <p:nvPr/>
        </p:nvSpPr>
        <p:spPr>
          <a:xfrm>
            <a:off x="731520" y="1965960"/>
            <a:ext cx="640080" cy="640080"/>
          </a:xfrm>
          <a:prstGeom prst="ellipse">
            <a:avLst/>
          </a:prstGeom>
          <a:solidFill>
            <a:srgbClr val="DCE6FF"/>
          </a:solidFill>
          <a:ln/>
        </p:spPr>
      </p:sp>
      <p:sp>
        <p:nvSpPr>
          <p:cNvPr id="5" name="Text 3"/>
          <p:cNvSpPr txBox="1"/>
          <p:nvPr/>
        </p:nvSpPr>
        <p:spPr>
          <a:xfrm>
            <a:off x="731520" y="1965960"/>
            <a:ext cx="640080" cy="640080"/>
          </a:xfrm>
          <a:prstGeom prst="rect">
            <a:avLst/>
          </a:prstGeom>
          <a:noFill/>
          <a:ln/>
        </p:spPr>
        <p:txBody>
          <a:bodyPr wrap="square" lIns="0" tIns="0" rIns="0" bIns="0" rtlCol="0" anchor="ctr"/>
          <a:lstStyle/>
          <a:p>
            <a:pPr algn="ctr" indent="0" marL="0">
              <a:lnSpc>
                <a:spcPct val="115000"/>
              </a:lnSpc>
              <a:buNone/>
            </a:pPr>
            <a:r>
              <a:rPr lang="en-US" sz="2400" b="1" dirty="0">
                <a:solidFill>
                  <a:srgbClr val="1F4FD8"/>
                </a:solidFill>
                <a:latin typeface="Plus Jakarta Sans" pitchFamily="34" charset="0"/>
                <a:ea typeface="Plus Jakarta Sans" pitchFamily="34" charset="-122"/>
                <a:cs typeface="Plus Jakarta Sans" pitchFamily="34" charset="-120"/>
              </a:rPr>
              <a:t>1</a:t>
            </a:r>
            <a:endParaRPr lang="en-US" sz="2400" dirty="0"/>
          </a:p>
        </p:txBody>
      </p:sp>
      <p:sp>
        <p:nvSpPr>
          <p:cNvPr id="6" name="Text 4"/>
          <p:cNvSpPr txBox="1"/>
          <p:nvPr/>
        </p:nvSpPr>
        <p:spPr>
          <a:xfrm>
            <a:off x="1691640" y="1920240"/>
            <a:ext cx="5120640" cy="411480"/>
          </a:xfrm>
          <a:prstGeom prst="rect">
            <a:avLst/>
          </a:prstGeom>
          <a:noFill/>
          <a:ln/>
        </p:spPr>
        <p:txBody>
          <a:bodyPr wrap="square" lIns="0" tIns="0" rIns="0" bIns="0" rtlCol="0" anchor="t"/>
          <a:lstStyle/>
          <a:p>
            <a:pPr algn="l" indent="0" marL="0">
              <a:lnSpc>
                <a:spcPct val="115000"/>
              </a:lnSpc>
              <a:buNone/>
            </a:pPr>
            <a:r>
              <a:rPr lang="en-US" sz="2400" b="1" dirty="0">
                <a:solidFill>
                  <a:srgbClr val="0E1B3D"/>
                </a:solidFill>
                <a:latin typeface="Plus Jakarta Sans" pitchFamily="34" charset="0"/>
                <a:ea typeface="Plus Jakarta Sans" pitchFamily="34" charset="-122"/>
                <a:cs typeface="Plus Jakarta Sans" pitchFamily="34" charset="-120"/>
              </a:rPr>
              <a:t>VS Code</a:t>
            </a:r>
            <a:endParaRPr lang="en-US" sz="2400" dirty="0"/>
          </a:p>
        </p:txBody>
      </p:sp>
      <p:sp>
        <p:nvSpPr>
          <p:cNvPr id="7" name="Text 5"/>
          <p:cNvSpPr txBox="1"/>
          <p:nvPr/>
        </p:nvSpPr>
        <p:spPr>
          <a:xfrm>
            <a:off x="1691640" y="2359152"/>
            <a:ext cx="5212080" cy="502920"/>
          </a:xfrm>
          <a:prstGeom prst="rect">
            <a:avLst/>
          </a:prstGeom>
          <a:noFill/>
          <a:ln/>
        </p:spPr>
        <p:txBody>
          <a:bodyPr wrap="square" lIns="0" tIns="0" rIns="0" bIns="0" rtlCol="0" anchor="t"/>
          <a:lstStyle/>
          <a:p>
            <a:pPr algn="l" indent="0" marL="0">
              <a:lnSpc>
                <a:spcPct val="125000"/>
              </a:lnSpc>
              <a:buNone/>
            </a:pPr>
            <a:r>
              <a:rPr lang="en-US" sz="1600" dirty="0">
                <a:solidFill>
                  <a:srgbClr val="5B6478"/>
                </a:solidFill>
                <a:latin typeface="Plus Jakarta Sans" pitchFamily="34" charset="0"/>
                <a:ea typeface="Plus Jakarta Sans" pitchFamily="34" charset="-122"/>
                <a:cs typeface="Plus Jakarta Sans" pitchFamily="34" charset="-120"/>
              </a:rPr>
              <a:t>Tempat kita menulis kode</a:t>
            </a:r>
            <a:endParaRPr lang="en-US" sz="1600" dirty="0"/>
          </a:p>
        </p:txBody>
      </p:sp>
      <p:sp>
        <p:nvSpPr>
          <p:cNvPr id="8" name="Shape 6"/>
          <p:cNvSpPr/>
          <p:nvPr/>
        </p:nvSpPr>
        <p:spPr>
          <a:xfrm>
            <a:off x="1691640" y="2880360"/>
            <a:ext cx="2743200" cy="310896"/>
          </a:xfrm>
          <a:prstGeom prst="roundRect">
            <a:avLst>
              <a:gd name="adj" fmla="val 50000"/>
            </a:avLst>
          </a:prstGeom>
          <a:solidFill>
            <a:srgbClr val="DCE6FF"/>
          </a:solidFill>
          <a:ln/>
        </p:spPr>
      </p:sp>
      <p:sp>
        <p:nvSpPr>
          <p:cNvPr id="9" name="Text 7"/>
          <p:cNvSpPr txBox="1"/>
          <p:nvPr/>
        </p:nvSpPr>
        <p:spPr>
          <a:xfrm>
            <a:off x="1691640" y="2880360"/>
            <a:ext cx="2743200" cy="310896"/>
          </a:xfrm>
          <a:prstGeom prst="rect">
            <a:avLst/>
          </a:prstGeom>
          <a:noFill/>
          <a:ln/>
        </p:spPr>
        <p:txBody>
          <a:bodyPr wrap="square" lIns="0" tIns="0" rIns="0" bIns="0" rtlCol="0" anchor="ctr"/>
          <a:lstStyle/>
          <a:p>
            <a:pPr algn="ctr" indent="0" marL="0">
              <a:lnSpc>
                <a:spcPct val="115000"/>
              </a:lnSpc>
              <a:buNone/>
            </a:pPr>
            <a:r>
              <a:rPr lang="en-US" sz="1200" b="1" spc="40" kern="0" dirty="0">
                <a:solidFill>
                  <a:srgbClr val="1F4FD8"/>
                </a:solidFill>
                <a:latin typeface="Plus Jakarta Sans" pitchFamily="34" charset="0"/>
                <a:ea typeface="Plus Jakarta Sans" pitchFamily="34" charset="-122"/>
                <a:cs typeface="Plus Jakarta Sans" pitchFamily="34" charset="-120"/>
              </a:rPr>
              <a:t>Ctrl + S = simpan</a:t>
            </a:r>
            <a:endParaRPr lang="en-US" sz="1200" dirty="0"/>
          </a:p>
        </p:txBody>
      </p:sp>
      <p:sp>
        <p:nvSpPr>
          <p:cNvPr id="10" name="Shape 8"/>
          <p:cNvSpPr/>
          <p:nvPr/>
        </p:nvSpPr>
        <p:spPr>
          <a:xfrm>
            <a:off x="731520" y="3337560"/>
            <a:ext cx="640080" cy="640080"/>
          </a:xfrm>
          <a:prstGeom prst="ellipse">
            <a:avLst/>
          </a:prstGeom>
          <a:solidFill>
            <a:srgbClr val="DCE6FF"/>
          </a:solidFill>
          <a:ln/>
        </p:spPr>
      </p:sp>
      <p:sp>
        <p:nvSpPr>
          <p:cNvPr id="11" name="Text 9"/>
          <p:cNvSpPr txBox="1"/>
          <p:nvPr/>
        </p:nvSpPr>
        <p:spPr>
          <a:xfrm>
            <a:off x="731520" y="3337560"/>
            <a:ext cx="640080" cy="640080"/>
          </a:xfrm>
          <a:prstGeom prst="rect">
            <a:avLst/>
          </a:prstGeom>
          <a:noFill/>
          <a:ln/>
        </p:spPr>
        <p:txBody>
          <a:bodyPr wrap="square" lIns="0" tIns="0" rIns="0" bIns="0" rtlCol="0" anchor="ctr"/>
          <a:lstStyle/>
          <a:p>
            <a:pPr algn="ctr" indent="0" marL="0">
              <a:lnSpc>
                <a:spcPct val="115000"/>
              </a:lnSpc>
              <a:buNone/>
            </a:pPr>
            <a:r>
              <a:rPr lang="en-US" sz="2400" b="1" dirty="0">
                <a:solidFill>
                  <a:srgbClr val="1F4FD8"/>
                </a:solidFill>
                <a:latin typeface="Plus Jakarta Sans" pitchFamily="34" charset="0"/>
                <a:ea typeface="Plus Jakarta Sans" pitchFamily="34" charset="-122"/>
                <a:cs typeface="Plus Jakarta Sans" pitchFamily="34" charset="-120"/>
              </a:rPr>
              <a:t>2</a:t>
            </a:r>
            <a:endParaRPr lang="en-US" sz="2400" dirty="0"/>
          </a:p>
        </p:txBody>
      </p:sp>
      <p:sp>
        <p:nvSpPr>
          <p:cNvPr id="12" name="Text 10"/>
          <p:cNvSpPr txBox="1"/>
          <p:nvPr/>
        </p:nvSpPr>
        <p:spPr>
          <a:xfrm>
            <a:off x="1691640" y="3291840"/>
            <a:ext cx="5120640" cy="411480"/>
          </a:xfrm>
          <a:prstGeom prst="rect">
            <a:avLst/>
          </a:prstGeom>
          <a:noFill/>
          <a:ln/>
        </p:spPr>
        <p:txBody>
          <a:bodyPr wrap="square" lIns="0" tIns="0" rIns="0" bIns="0" rtlCol="0" anchor="t"/>
          <a:lstStyle/>
          <a:p>
            <a:pPr algn="l" indent="0" marL="0">
              <a:lnSpc>
                <a:spcPct val="115000"/>
              </a:lnSpc>
              <a:buNone/>
            </a:pPr>
            <a:r>
              <a:rPr lang="en-US" sz="2400" b="1" dirty="0">
                <a:solidFill>
                  <a:srgbClr val="0E1B3D"/>
                </a:solidFill>
                <a:latin typeface="Plus Jakarta Sans" pitchFamily="34" charset="0"/>
                <a:ea typeface="Plus Jakarta Sans" pitchFamily="34" charset="-122"/>
                <a:cs typeface="Plus Jakarta Sans" pitchFamily="34" charset="-120"/>
              </a:rPr>
              <a:t>Live Server</a:t>
            </a:r>
            <a:endParaRPr lang="en-US" sz="2400" dirty="0"/>
          </a:p>
        </p:txBody>
      </p:sp>
      <p:sp>
        <p:nvSpPr>
          <p:cNvPr id="13" name="Text 11"/>
          <p:cNvSpPr txBox="1"/>
          <p:nvPr/>
        </p:nvSpPr>
        <p:spPr>
          <a:xfrm>
            <a:off x="1691640" y="3730752"/>
            <a:ext cx="5212080" cy="502920"/>
          </a:xfrm>
          <a:prstGeom prst="rect">
            <a:avLst/>
          </a:prstGeom>
          <a:noFill/>
          <a:ln/>
        </p:spPr>
        <p:txBody>
          <a:bodyPr wrap="square" lIns="0" tIns="0" rIns="0" bIns="0" rtlCol="0" anchor="t"/>
          <a:lstStyle/>
          <a:p>
            <a:pPr algn="l" indent="0" marL="0">
              <a:lnSpc>
                <a:spcPct val="125000"/>
              </a:lnSpc>
              <a:buNone/>
            </a:pPr>
            <a:r>
              <a:rPr lang="en-US" sz="1600" dirty="0">
                <a:solidFill>
                  <a:srgbClr val="5B6478"/>
                </a:solidFill>
                <a:latin typeface="Plus Jakarta Sans" pitchFamily="34" charset="0"/>
                <a:ea typeface="Plus Jakarta Sans" pitchFamily="34" charset="-122"/>
                <a:cs typeface="Plus Jakarta Sans" pitchFamily="34" charset="-120"/>
              </a:rPr>
              <a:t>Menampilkan hasil kodemu di browser, otomatis setiap kamu simpan</a:t>
            </a:r>
            <a:endParaRPr lang="en-US" sz="1600" dirty="0"/>
          </a:p>
        </p:txBody>
      </p:sp>
      <p:sp>
        <p:nvSpPr>
          <p:cNvPr id="14" name="Shape 12"/>
          <p:cNvSpPr/>
          <p:nvPr/>
        </p:nvSpPr>
        <p:spPr>
          <a:xfrm>
            <a:off x="1691640" y="4251960"/>
            <a:ext cx="4343400" cy="310896"/>
          </a:xfrm>
          <a:prstGeom prst="roundRect">
            <a:avLst>
              <a:gd name="adj" fmla="val 50000"/>
            </a:avLst>
          </a:prstGeom>
          <a:solidFill>
            <a:srgbClr val="DCE6FF"/>
          </a:solidFill>
          <a:ln/>
        </p:spPr>
      </p:sp>
      <p:sp>
        <p:nvSpPr>
          <p:cNvPr id="15" name="Text 13"/>
          <p:cNvSpPr txBox="1"/>
          <p:nvPr/>
        </p:nvSpPr>
        <p:spPr>
          <a:xfrm>
            <a:off x="1691640" y="4251960"/>
            <a:ext cx="4343400" cy="310896"/>
          </a:xfrm>
          <a:prstGeom prst="rect">
            <a:avLst/>
          </a:prstGeom>
          <a:noFill/>
          <a:ln/>
        </p:spPr>
        <p:txBody>
          <a:bodyPr wrap="square" lIns="0" tIns="0" rIns="0" bIns="0" rtlCol="0" anchor="ctr"/>
          <a:lstStyle/>
          <a:p>
            <a:pPr algn="ctr" indent="0" marL="0">
              <a:lnSpc>
                <a:spcPct val="115000"/>
              </a:lnSpc>
              <a:buNone/>
            </a:pPr>
            <a:r>
              <a:rPr lang="en-US" sz="1200" b="1" spc="40" kern="0" dirty="0">
                <a:solidFill>
                  <a:srgbClr val="1F4FD8"/>
                </a:solidFill>
                <a:latin typeface="Plus Jakarta Sans" pitchFamily="34" charset="0"/>
                <a:ea typeface="Plus Jakarta Sans" pitchFamily="34" charset="-122"/>
                <a:cs typeface="Plus Jakarta Sans" pitchFamily="34" charset="-120"/>
              </a:rPr>
              <a:t>Klik kanan → Open with Live Server</a:t>
            </a:r>
            <a:endParaRPr lang="en-US" sz="1200" dirty="0"/>
          </a:p>
        </p:txBody>
      </p:sp>
      <p:sp>
        <p:nvSpPr>
          <p:cNvPr id="16" name="Shape 14"/>
          <p:cNvSpPr/>
          <p:nvPr/>
        </p:nvSpPr>
        <p:spPr>
          <a:xfrm>
            <a:off x="731520" y="4709160"/>
            <a:ext cx="640080" cy="640080"/>
          </a:xfrm>
          <a:prstGeom prst="ellipse">
            <a:avLst/>
          </a:prstGeom>
          <a:solidFill>
            <a:srgbClr val="DCE6FF"/>
          </a:solidFill>
          <a:ln/>
        </p:spPr>
      </p:sp>
      <p:sp>
        <p:nvSpPr>
          <p:cNvPr id="17" name="Text 15"/>
          <p:cNvSpPr txBox="1"/>
          <p:nvPr/>
        </p:nvSpPr>
        <p:spPr>
          <a:xfrm>
            <a:off x="731520" y="4709160"/>
            <a:ext cx="640080" cy="640080"/>
          </a:xfrm>
          <a:prstGeom prst="rect">
            <a:avLst/>
          </a:prstGeom>
          <a:noFill/>
          <a:ln/>
        </p:spPr>
        <p:txBody>
          <a:bodyPr wrap="square" lIns="0" tIns="0" rIns="0" bIns="0" rtlCol="0" anchor="ctr"/>
          <a:lstStyle/>
          <a:p>
            <a:pPr algn="ctr" indent="0" marL="0">
              <a:lnSpc>
                <a:spcPct val="115000"/>
              </a:lnSpc>
              <a:buNone/>
            </a:pPr>
            <a:r>
              <a:rPr lang="en-US" sz="2400" b="1" dirty="0">
                <a:solidFill>
                  <a:srgbClr val="1F4FD8"/>
                </a:solidFill>
                <a:latin typeface="Plus Jakarta Sans" pitchFamily="34" charset="0"/>
                <a:ea typeface="Plus Jakarta Sans" pitchFamily="34" charset="-122"/>
                <a:cs typeface="Plus Jakarta Sans" pitchFamily="34" charset="-120"/>
              </a:rPr>
              <a:t>3</a:t>
            </a:r>
            <a:endParaRPr lang="en-US" sz="2400" dirty="0"/>
          </a:p>
        </p:txBody>
      </p:sp>
      <p:sp>
        <p:nvSpPr>
          <p:cNvPr id="18" name="Text 16"/>
          <p:cNvSpPr txBox="1"/>
          <p:nvPr/>
        </p:nvSpPr>
        <p:spPr>
          <a:xfrm>
            <a:off x="1691640" y="4663440"/>
            <a:ext cx="5120640" cy="411480"/>
          </a:xfrm>
          <a:prstGeom prst="rect">
            <a:avLst/>
          </a:prstGeom>
          <a:noFill/>
          <a:ln/>
        </p:spPr>
        <p:txBody>
          <a:bodyPr wrap="square" lIns="0" tIns="0" rIns="0" bIns="0" rtlCol="0" anchor="t"/>
          <a:lstStyle/>
          <a:p>
            <a:pPr algn="l" indent="0" marL="0">
              <a:lnSpc>
                <a:spcPct val="115000"/>
              </a:lnSpc>
              <a:buNone/>
            </a:pPr>
            <a:r>
              <a:rPr lang="en-US" sz="2400" b="1" dirty="0">
                <a:solidFill>
                  <a:srgbClr val="0E1B3D"/>
                </a:solidFill>
                <a:latin typeface="Plus Jakarta Sans" pitchFamily="34" charset="0"/>
                <a:ea typeface="Plus Jakarta Sans" pitchFamily="34" charset="-122"/>
                <a:cs typeface="Plus Jakarta Sans" pitchFamily="34" charset="-120"/>
              </a:rPr>
              <a:t>DevTools</a:t>
            </a:r>
            <a:endParaRPr lang="en-US" sz="2400" dirty="0"/>
          </a:p>
        </p:txBody>
      </p:sp>
      <p:sp>
        <p:nvSpPr>
          <p:cNvPr id="19" name="Text 17"/>
          <p:cNvSpPr txBox="1"/>
          <p:nvPr/>
        </p:nvSpPr>
        <p:spPr>
          <a:xfrm>
            <a:off x="1691640" y="5102352"/>
            <a:ext cx="5212080" cy="502920"/>
          </a:xfrm>
          <a:prstGeom prst="rect">
            <a:avLst/>
          </a:prstGeom>
          <a:noFill/>
          <a:ln/>
        </p:spPr>
        <p:txBody>
          <a:bodyPr wrap="square" lIns="0" tIns="0" rIns="0" bIns="0" rtlCol="0" anchor="t"/>
          <a:lstStyle/>
          <a:p>
            <a:pPr algn="l" indent="0" marL="0">
              <a:lnSpc>
                <a:spcPct val="125000"/>
              </a:lnSpc>
              <a:buNone/>
            </a:pPr>
            <a:r>
              <a:rPr lang="en-US" sz="1600" dirty="0">
                <a:solidFill>
                  <a:srgbClr val="5B6478"/>
                </a:solidFill>
                <a:latin typeface="Plus Jakarta Sans" pitchFamily="34" charset="0"/>
                <a:ea typeface="Plus Jakarta Sans" pitchFamily="34" charset="-122"/>
                <a:cs typeface="Plus Jakarta Sans" pitchFamily="34" charset="-120"/>
              </a:rPr>
              <a:t>Alat untuk mengintip kode website mana saja</a:t>
            </a:r>
            <a:endParaRPr lang="en-US" sz="1600" dirty="0"/>
          </a:p>
        </p:txBody>
      </p:sp>
      <p:sp>
        <p:nvSpPr>
          <p:cNvPr id="20" name="Shape 18"/>
          <p:cNvSpPr/>
          <p:nvPr/>
        </p:nvSpPr>
        <p:spPr>
          <a:xfrm>
            <a:off x="1691640" y="5623560"/>
            <a:ext cx="2011680" cy="310896"/>
          </a:xfrm>
          <a:prstGeom prst="roundRect">
            <a:avLst>
              <a:gd name="adj" fmla="val 50000"/>
            </a:avLst>
          </a:prstGeom>
          <a:solidFill>
            <a:srgbClr val="DCE6FF"/>
          </a:solidFill>
          <a:ln/>
        </p:spPr>
      </p:sp>
      <p:sp>
        <p:nvSpPr>
          <p:cNvPr id="21" name="Text 19"/>
          <p:cNvSpPr txBox="1"/>
          <p:nvPr/>
        </p:nvSpPr>
        <p:spPr>
          <a:xfrm>
            <a:off x="1691640" y="5623560"/>
            <a:ext cx="2011680" cy="310896"/>
          </a:xfrm>
          <a:prstGeom prst="rect">
            <a:avLst/>
          </a:prstGeom>
          <a:noFill/>
          <a:ln/>
        </p:spPr>
        <p:txBody>
          <a:bodyPr wrap="square" lIns="0" tIns="0" rIns="0" bIns="0" rtlCol="0" anchor="ctr"/>
          <a:lstStyle/>
          <a:p>
            <a:pPr algn="ctr" indent="0" marL="0">
              <a:lnSpc>
                <a:spcPct val="115000"/>
              </a:lnSpc>
              <a:buNone/>
            </a:pPr>
            <a:r>
              <a:rPr lang="en-US" sz="1200" b="1" spc="40" kern="0" dirty="0">
                <a:solidFill>
                  <a:srgbClr val="1F4FD8"/>
                </a:solidFill>
                <a:latin typeface="Plus Jakarta Sans" pitchFamily="34" charset="0"/>
                <a:ea typeface="Plus Jakarta Sans" pitchFamily="34" charset="-122"/>
                <a:cs typeface="Plus Jakarta Sans" pitchFamily="34" charset="-120"/>
              </a:rPr>
              <a:t>Tekan F12</a:t>
            </a:r>
            <a:endParaRPr lang="en-US" sz="1200" dirty="0"/>
          </a:p>
        </p:txBody>
      </p:sp>
      <p:sp>
        <p:nvSpPr>
          <p:cNvPr id="22" name="Shape 20"/>
          <p:cNvSpPr/>
          <p:nvPr/>
        </p:nvSpPr>
        <p:spPr>
          <a:xfrm>
            <a:off x="7498080" y="1920240"/>
            <a:ext cx="3931920" cy="3977640"/>
          </a:xfrm>
          <a:prstGeom prst="roundRect">
            <a:avLst>
              <a:gd name="adj" fmla="val 4651"/>
            </a:avLst>
          </a:prstGeom>
          <a:solidFill>
            <a:srgbClr val="0B1530"/>
          </a:solidFill>
          <a:ln/>
          <a:effectLst>
            <a:outerShdw sx="100000" sy="100000" kx="0" ky="0" algn="bl" rotWithShape="0" blurRad="177800" dist="38100" dir="5400000">
              <a:srgbClr val="000000">
                <a:alpha val="40000"/>
              </a:srgbClr>
            </a:outerShdw>
          </a:effectLst>
        </p:spPr>
      </p:sp>
      <p:sp>
        <p:nvSpPr>
          <p:cNvPr id="23" name="Text 21"/>
          <p:cNvSpPr txBox="1"/>
          <p:nvPr/>
        </p:nvSpPr>
        <p:spPr>
          <a:xfrm>
            <a:off x="7818120" y="2148840"/>
            <a:ext cx="3291840" cy="274320"/>
          </a:xfrm>
          <a:prstGeom prst="rect">
            <a:avLst/>
          </a:prstGeom>
          <a:noFill/>
          <a:ln/>
        </p:spPr>
        <p:txBody>
          <a:bodyPr wrap="square" lIns="0" tIns="0" rIns="0" bIns="0" rtlCol="0" anchor="t"/>
          <a:lstStyle/>
          <a:p>
            <a:pPr algn="l" indent="0" marL="0">
              <a:lnSpc>
                <a:spcPct val="115000"/>
              </a:lnSpc>
              <a:buNone/>
            </a:pPr>
            <a:r>
              <a:rPr lang="en-US" sz="1400" b="1" dirty="0">
                <a:solidFill>
                  <a:srgbClr val="A9B6D6"/>
                </a:solidFill>
                <a:latin typeface="Plus Jakarta Sans" pitchFamily="34" charset="0"/>
                <a:ea typeface="Plus Jakarta Sans" pitchFamily="34" charset="-122"/>
                <a:cs typeface="Plus Jakarta Sans" pitchFamily="34" charset="-120"/>
              </a:rPr>
              <a:t>Isi folder proyekmu</a:t>
            </a:r>
            <a:endParaRPr lang="en-US" sz="1400" dirty="0"/>
          </a:p>
        </p:txBody>
      </p:sp>
      <p:sp>
        <p:nvSpPr>
          <p:cNvPr id="24" name="Text 22"/>
          <p:cNvSpPr txBox="1"/>
          <p:nvPr/>
        </p:nvSpPr>
        <p:spPr>
          <a:xfrm>
            <a:off x="7818120" y="2651760"/>
            <a:ext cx="4572000" cy="360934"/>
          </a:xfrm>
          <a:prstGeom prst="rect">
            <a:avLst/>
          </a:prstGeom>
          <a:noFill/>
          <a:ln/>
        </p:spPr>
        <p:txBody>
          <a:bodyPr wrap="none" lIns="0" tIns="0" rIns="0" bIns="0" rtlCol="0" anchor="ctr"/>
          <a:lstStyle/>
          <a:p>
            <a:pPr algn="l" indent="0" marL="0">
              <a:lnSpc>
                <a:spcPct val="115000"/>
              </a:lnSpc>
              <a:buNone/>
            </a:pPr>
            <a:r>
              <a:rPr lang="en-US" sz="2000" dirty="0">
                <a:solidFill>
                  <a:srgbClr val="FFC83D"/>
                </a:solidFill>
                <a:latin typeface="JetBrains Mono" pitchFamily="34" charset="0"/>
                <a:ea typeface="JetBrains Mono" pitchFamily="34" charset="-122"/>
                <a:cs typeface="JetBrains Mono" pitchFamily="34" charset="-120"/>
              </a:rPr>
              <a:t>▸ portfolio/</a:t>
            </a:r>
            <a:endParaRPr lang="en-US" sz="2000" dirty="0"/>
          </a:p>
        </p:txBody>
      </p:sp>
      <p:sp>
        <p:nvSpPr>
          <p:cNvPr id="25" name="Text 23"/>
          <p:cNvSpPr txBox="1"/>
          <p:nvPr/>
        </p:nvSpPr>
        <p:spPr>
          <a:xfrm>
            <a:off x="8138160" y="3012694"/>
            <a:ext cx="4572000" cy="360934"/>
          </a:xfrm>
          <a:prstGeom prst="rect">
            <a:avLst/>
          </a:prstGeom>
          <a:noFill/>
          <a:ln/>
        </p:spPr>
        <p:txBody>
          <a:bodyPr wrap="none" lIns="0" tIns="0" rIns="0" bIns="0" rtlCol="0" anchor="ctr"/>
          <a:lstStyle/>
          <a:p>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 img/</a:t>
            </a:r>
            <a:endParaRPr lang="en-US" sz="2000" dirty="0"/>
          </a:p>
        </p:txBody>
      </p:sp>
      <p:sp>
        <p:nvSpPr>
          <p:cNvPr id="26" name="Text 24"/>
          <p:cNvSpPr txBox="1"/>
          <p:nvPr/>
        </p:nvSpPr>
        <p:spPr>
          <a:xfrm>
            <a:off x="8138160" y="3373628"/>
            <a:ext cx="4572000" cy="360934"/>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index.html</a:t>
            </a:r>
            <a:endParaRPr lang="en-US" sz="2000" dirty="0"/>
          </a:p>
        </p:txBody>
      </p:sp>
      <p:sp>
        <p:nvSpPr>
          <p:cNvPr id="27" name="Text 25"/>
          <p:cNvSpPr txBox="1"/>
          <p:nvPr/>
        </p:nvSpPr>
        <p:spPr>
          <a:xfrm>
            <a:off x="8138160" y="3734562"/>
            <a:ext cx="4572000" cy="360934"/>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style.css</a:t>
            </a:r>
            <a:endParaRPr lang="en-US" sz="2000" dirty="0"/>
          </a:p>
        </p:txBody>
      </p:sp>
      <p:sp>
        <p:nvSpPr>
          <p:cNvPr id="28" name="Text 26"/>
          <p:cNvSpPr txBox="1"/>
          <p:nvPr/>
        </p:nvSpPr>
        <p:spPr>
          <a:xfrm>
            <a:off x="7818120" y="4480560"/>
            <a:ext cx="3383280" cy="1188720"/>
          </a:xfrm>
          <a:prstGeom prst="rect">
            <a:avLst/>
          </a:prstGeom>
          <a:noFill/>
          <a:ln/>
        </p:spPr>
        <p:txBody>
          <a:bodyPr wrap="square" lIns="0" tIns="0" rIns="0" bIns="0" rtlCol="0" anchor="t"/>
          <a:lstStyle/>
          <a:p>
            <a:pPr algn="l" indent="0" marL="0">
              <a:lnSpc>
                <a:spcPct val="140000"/>
              </a:lnSpc>
              <a:buNone/>
            </a:pPr>
            <a:r>
              <a:rPr lang="en-US" sz="1500" dirty="0">
                <a:solidFill>
                  <a:srgbClr val="A9B6D6"/>
                </a:solidFill>
                <a:latin typeface="Plus Jakarta Sans" pitchFamily="34" charset="0"/>
                <a:ea typeface="Plus Jakarta Sans" pitchFamily="34" charset="-122"/>
                <a:cs typeface="Plus Jakarta Sans" pitchFamily="34" charset="-120"/>
              </a:rPr>
              <a:t>Satu folder untuk satu proyek. Semua file website-mu ada di dalamnya.</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10</a:t>
            </a:r>
            <a:endParaRPr lang="en-US" sz="1100" dirty="0"/>
          </a:p>
        </p:txBody>
      </p:sp>
      <p:sp>
        <p:nvSpPr>
          <p:cNvPr id="3" name="Text 1"/>
          <p:cNvSpPr txBox="1"/>
          <p:nvPr/>
        </p:nvSpPr>
        <p:spPr>
          <a:xfrm>
            <a:off x="731520" y="896112"/>
            <a:ext cx="10698480" cy="91440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Siapkan proyekmu</a:t>
            </a:r>
            <a:endParaRPr lang="en-US" sz="4000" dirty="0"/>
          </a:p>
        </p:txBody>
      </p:sp>
      <p:sp>
        <p:nvSpPr>
          <p:cNvPr id="4" name="Shape 2"/>
          <p:cNvSpPr/>
          <p:nvPr/>
        </p:nvSpPr>
        <p:spPr>
          <a:xfrm>
            <a:off x="731520" y="411480"/>
            <a:ext cx="2240280" cy="384048"/>
          </a:xfrm>
          <a:prstGeom prst="roundRect">
            <a:avLst>
              <a:gd name="adj" fmla="val 50000"/>
            </a:avLst>
          </a:prstGeom>
          <a:solidFill>
            <a:srgbClr val="FFC83D"/>
          </a:solidFill>
          <a:ln/>
        </p:spPr>
      </p:sp>
      <p:sp>
        <p:nvSpPr>
          <p:cNvPr id="5" name="Text 3"/>
          <p:cNvSpPr txBox="1"/>
          <p:nvPr/>
        </p:nvSpPr>
        <p:spPr>
          <a:xfrm>
            <a:off x="731520" y="411480"/>
            <a:ext cx="2240280" cy="384048"/>
          </a:xfrm>
          <a:prstGeom prst="rect">
            <a:avLst/>
          </a:prstGeom>
          <a:noFill/>
          <a:ln/>
        </p:spPr>
        <p:txBody>
          <a:bodyPr wrap="square" lIns="0" tIns="0" rIns="0" bIns="0" rtlCol="0" anchor="ctr"/>
          <a:lstStyle/>
          <a:p>
            <a:pPr algn="ctr" indent="0" marL="0">
              <a:lnSpc>
                <a:spcPct val="115000"/>
              </a:lnSpc>
              <a:buNone/>
            </a:pPr>
            <a:r>
              <a:rPr lang="en-US" sz="1300" b="1" spc="180" kern="0" dirty="0">
                <a:solidFill>
                  <a:srgbClr val="0E1B3D"/>
                </a:solidFill>
                <a:latin typeface="Plus Jakarta Sans" pitchFamily="34" charset="0"/>
                <a:ea typeface="Plus Jakarta Sans" pitchFamily="34" charset="-122"/>
                <a:cs typeface="Plus Jakarta Sans" pitchFamily="34" charset="-120"/>
              </a:rPr>
              <a:t>CHECKPOINT 0</a:t>
            </a:r>
            <a:endParaRPr lang="en-US" sz="1300" dirty="0"/>
          </a:p>
        </p:txBody>
      </p:sp>
      <p:sp>
        <p:nvSpPr>
          <p:cNvPr id="6" name="Text 4"/>
          <p:cNvSpPr txBox="1"/>
          <p:nvPr/>
        </p:nvSpPr>
        <p:spPr>
          <a:xfrm>
            <a:off x="3154680" y="411480"/>
            <a:ext cx="5486400" cy="384048"/>
          </a:xfrm>
          <a:prstGeom prst="rect">
            <a:avLst/>
          </a:prstGeom>
          <a:noFill/>
          <a:ln/>
        </p:spPr>
        <p:txBody>
          <a:bodyPr wrap="square" lIns="0" tIns="0" rIns="0" bIns="0" rtlCol="0" anchor="ctr"/>
          <a:lstStyle/>
          <a:p>
            <a:pPr algn="l" indent="0" marL="0">
              <a:lnSpc>
                <a:spcPct val="115000"/>
              </a:lnSpc>
              <a:buNone/>
            </a:pPr>
            <a:r>
              <a:rPr lang="en-US" sz="1400" b="1" dirty="0">
                <a:solidFill>
                  <a:srgbClr val="5B6478"/>
                </a:solidFill>
                <a:latin typeface="Plus Jakarta Sans" pitchFamily="34" charset="0"/>
                <a:ea typeface="Plus Jakarta Sans" pitchFamily="34" charset="-122"/>
                <a:cs typeface="Plus Jakarta Sans" pitchFamily="34" charset="-120"/>
              </a:rPr>
              <a:t>11 menit</a:t>
            </a:r>
            <a:endParaRPr lang="en-US" sz="1400" dirty="0"/>
          </a:p>
        </p:txBody>
      </p:sp>
      <p:sp>
        <p:nvSpPr>
          <p:cNvPr id="7" name="Shape 5"/>
          <p:cNvSpPr/>
          <p:nvPr/>
        </p:nvSpPr>
        <p:spPr>
          <a:xfrm>
            <a:off x="731520" y="1920240"/>
            <a:ext cx="457200" cy="457200"/>
          </a:xfrm>
          <a:prstGeom prst="ellipse">
            <a:avLst/>
          </a:prstGeom>
          <a:solidFill>
            <a:srgbClr val="FFC83D"/>
          </a:solidFill>
          <a:ln/>
        </p:spPr>
      </p:sp>
      <p:sp>
        <p:nvSpPr>
          <p:cNvPr id="8" name="Text 6"/>
          <p:cNvSpPr txBox="1"/>
          <p:nvPr/>
        </p:nvSpPr>
        <p:spPr>
          <a:xfrm>
            <a:off x="731520" y="1920240"/>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Plus Jakarta Sans" pitchFamily="34" charset="0"/>
                <a:ea typeface="Plus Jakarta Sans" pitchFamily="34" charset="-122"/>
                <a:cs typeface="Plus Jakarta Sans" pitchFamily="34" charset="-120"/>
              </a:rPr>
              <a:t>1</a:t>
            </a:r>
            <a:endParaRPr lang="en-US" sz="1700" dirty="0"/>
          </a:p>
        </p:txBody>
      </p:sp>
      <p:sp>
        <p:nvSpPr>
          <p:cNvPr id="9" name="Text 7"/>
          <p:cNvSpPr txBox="1"/>
          <p:nvPr/>
        </p:nvSpPr>
        <p:spPr>
          <a:xfrm>
            <a:off x="1417320" y="1847088"/>
            <a:ext cx="5394960" cy="621792"/>
          </a:xfrm>
          <a:prstGeom prst="rect">
            <a:avLst/>
          </a:prstGeom>
          <a:noFill/>
          <a:ln/>
        </p:spPr>
        <p:txBody>
          <a:bodyPr wrap="square" lIns="0" tIns="0" rIns="0" bIns="0" rtlCol="0" anchor="ctr"/>
          <a:lstStyle/>
          <a:p>
            <a:pPr algn="l" indent="0" marL="0">
              <a:lnSpc>
                <a:spcPct val="120000"/>
              </a:lnSpc>
              <a:buNone/>
            </a:pPr>
            <a:r>
              <a:rPr lang="en-US" sz="1700" dirty="0">
                <a:solidFill>
                  <a:srgbClr val="0E1B3D"/>
                </a:solidFill>
                <a:latin typeface="Plus Jakarta Sans" pitchFamily="34" charset="0"/>
                <a:ea typeface="Plus Jakarta Sans" pitchFamily="34" charset="-122"/>
                <a:cs typeface="Plus Jakarta Sans" pitchFamily="34" charset="-120"/>
              </a:rPr>
              <a:t>Buat folder bernama portfolio di Desktop</a:t>
            </a:r>
            <a:endParaRPr lang="en-US" sz="1700" dirty="0"/>
          </a:p>
        </p:txBody>
      </p:sp>
      <p:sp>
        <p:nvSpPr>
          <p:cNvPr id="10" name="Shape 8"/>
          <p:cNvSpPr/>
          <p:nvPr/>
        </p:nvSpPr>
        <p:spPr>
          <a:xfrm>
            <a:off x="731520" y="2633472"/>
            <a:ext cx="457200" cy="457200"/>
          </a:xfrm>
          <a:prstGeom prst="ellipse">
            <a:avLst/>
          </a:prstGeom>
          <a:solidFill>
            <a:srgbClr val="FFC83D"/>
          </a:solidFill>
          <a:ln/>
        </p:spPr>
      </p:sp>
      <p:sp>
        <p:nvSpPr>
          <p:cNvPr id="11" name="Text 9"/>
          <p:cNvSpPr txBox="1"/>
          <p:nvPr/>
        </p:nvSpPr>
        <p:spPr>
          <a:xfrm>
            <a:off x="731520" y="2633472"/>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Plus Jakarta Sans" pitchFamily="34" charset="0"/>
                <a:ea typeface="Plus Jakarta Sans" pitchFamily="34" charset="-122"/>
                <a:cs typeface="Plus Jakarta Sans" pitchFamily="34" charset="-120"/>
              </a:rPr>
              <a:t>2</a:t>
            </a:r>
            <a:endParaRPr lang="en-US" sz="1700" dirty="0"/>
          </a:p>
        </p:txBody>
      </p:sp>
      <p:sp>
        <p:nvSpPr>
          <p:cNvPr id="12" name="Text 10"/>
          <p:cNvSpPr txBox="1"/>
          <p:nvPr/>
        </p:nvSpPr>
        <p:spPr>
          <a:xfrm>
            <a:off x="1417320" y="2560320"/>
            <a:ext cx="5394960" cy="621792"/>
          </a:xfrm>
          <a:prstGeom prst="rect">
            <a:avLst/>
          </a:prstGeom>
          <a:noFill/>
          <a:ln/>
        </p:spPr>
        <p:txBody>
          <a:bodyPr wrap="square" lIns="0" tIns="0" rIns="0" bIns="0" rtlCol="0" anchor="ctr"/>
          <a:lstStyle/>
          <a:p>
            <a:pPr algn="l" indent="0" marL="0">
              <a:lnSpc>
                <a:spcPct val="120000"/>
              </a:lnSpc>
              <a:buNone/>
            </a:pPr>
            <a:r>
              <a:rPr lang="en-US" sz="1700" dirty="0">
                <a:solidFill>
                  <a:srgbClr val="0E1B3D"/>
                </a:solidFill>
                <a:latin typeface="Plus Jakarta Sans" pitchFamily="34" charset="0"/>
                <a:ea typeface="Plus Jakarta Sans" pitchFamily="34" charset="-122"/>
                <a:cs typeface="Plus Jakarta Sans" pitchFamily="34" charset="-120"/>
              </a:rPr>
              <a:t>Buka VS Code, pilih File → Open Folder, lalu pilih folder itu</a:t>
            </a:r>
            <a:endParaRPr lang="en-US" sz="1700" dirty="0"/>
          </a:p>
        </p:txBody>
      </p:sp>
      <p:sp>
        <p:nvSpPr>
          <p:cNvPr id="13" name="Shape 11"/>
          <p:cNvSpPr/>
          <p:nvPr/>
        </p:nvSpPr>
        <p:spPr>
          <a:xfrm>
            <a:off x="731520" y="3346704"/>
            <a:ext cx="457200" cy="457200"/>
          </a:xfrm>
          <a:prstGeom prst="ellipse">
            <a:avLst/>
          </a:prstGeom>
          <a:solidFill>
            <a:srgbClr val="FFC83D"/>
          </a:solidFill>
          <a:ln/>
        </p:spPr>
      </p:sp>
      <p:sp>
        <p:nvSpPr>
          <p:cNvPr id="14" name="Text 12"/>
          <p:cNvSpPr txBox="1"/>
          <p:nvPr/>
        </p:nvSpPr>
        <p:spPr>
          <a:xfrm>
            <a:off x="731520" y="3346704"/>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Plus Jakarta Sans" pitchFamily="34" charset="0"/>
                <a:ea typeface="Plus Jakarta Sans" pitchFamily="34" charset="-122"/>
                <a:cs typeface="Plus Jakarta Sans" pitchFamily="34" charset="-120"/>
              </a:rPr>
              <a:t>3</a:t>
            </a:r>
            <a:endParaRPr lang="en-US" sz="1700" dirty="0"/>
          </a:p>
        </p:txBody>
      </p:sp>
      <p:sp>
        <p:nvSpPr>
          <p:cNvPr id="15" name="Text 13"/>
          <p:cNvSpPr txBox="1"/>
          <p:nvPr/>
        </p:nvSpPr>
        <p:spPr>
          <a:xfrm>
            <a:off x="1417320" y="3273552"/>
            <a:ext cx="5394960" cy="621792"/>
          </a:xfrm>
          <a:prstGeom prst="rect">
            <a:avLst/>
          </a:prstGeom>
          <a:noFill/>
          <a:ln/>
        </p:spPr>
        <p:txBody>
          <a:bodyPr wrap="square" lIns="0" tIns="0" rIns="0" bIns="0" rtlCol="0" anchor="ctr"/>
          <a:lstStyle/>
          <a:p>
            <a:pPr algn="l" indent="0" marL="0">
              <a:lnSpc>
                <a:spcPct val="120000"/>
              </a:lnSpc>
              <a:buNone/>
            </a:pPr>
            <a:r>
              <a:rPr lang="en-US" sz="1700" dirty="0">
                <a:solidFill>
                  <a:srgbClr val="0E1B3D"/>
                </a:solidFill>
                <a:latin typeface="Plus Jakarta Sans" pitchFamily="34" charset="0"/>
                <a:ea typeface="Plus Jakarta Sans" pitchFamily="34" charset="-122"/>
                <a:cs typeface="Plus Jakarta Sans" pitchFamily="34" charset="-120"/>
              </a:rPr>
              <a:t>Di dalamnya buat file index.html, file style.css, dan folder img</a:t>
            </a:r>
            <a:endParaRPr lang="en-US" sz="1700" dirty="0"/>
          </a:p>
        </p:txBody>
      </p:sp>
      <p:sp>
        <p:nvSpPr>
          <p:cNvPr id="16" name="Shape 14"/>
          <p:cNvSpPr/>
          <p:nvPr/>
        </p:nvSpPr>
        <p:spPr>
          <a:xfrm>
            <a:off x="731520" y="4059936"/>
            <a:ext cx="457200" cy="457200"/>
          </a:xfrm>
          <a:prstGeom prst="ellipse">
            <a:avLst/>
          </a:prstGeom>
          <a:solidFill>
            <a:srgbClr val="FFC83D"/>
          </a:solidFill>
          <a:ln/>
        </p:spPr>
      </p:sp>
      <p:sp>
        <p:nvSpPr>
          <p:cNvPr id="17" name="Text 15"/>
          <p:cNvSpPr txBox="1"/>
          <p:nvPr/>
        </p:nvSpPr>
        <p:spPr>
          <a:xfrm>
            <a:off x="731520" y="4059936"/>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Plus Jakarta Sans" pitchFamily="34" charset="0"/>
                <a:ea typeface="Plus Jakarta Sans" pitchFamily="34" charset="-122"/>
                <a:cs typeface="Plus Jakarta Sans" pitchFamily="34" charset="-120"/>
              </a:rPr>
              <a:t>4</a:t>
            </a:r>
            <a:endParaRPr lang="en-US" sz="1700" dirty="0"/>
          </a:p>
        </p:txBody>
      </p:sp>
      <p:sp>
        <p:nvSpPr>
          <p:cNvPr id="18" name="Text 16"/>
          <p:cNvSpPr txBox="1"/>
          <p:nvPr/>
        </p:nvSpPr>
        <p:spPr>
          <a:xfrm>
            <a:off x="1417320" y="3986784"/>
            <a:ext cx="5394960" cy="621792"/>
          </a:xfrm>
          <a:prstGeom prst="rect">
            <a:avLst/>
          </a:prstGeom>
          <a:noFill/>
          <a:ln/>
        </p:spPr>
        <p:txBody>
          <a:bodyPr wrap="square" lIns="0" tIns="0" rIns="0" bIns="0" rtlCol="0" anchor="ctr"/>
          <a:lstStyle/>
          <a:p>
            <a:pPr algn="l" indent="0" marL="0">
              <a:lnSpc>
                <a:spcPct val="120000"/>
              </a:lnSpc>
              <a:buNone/>
            </a:pPr>
            <a:r>
              <a:rPr lang="en-US" sz="1700" dirty="0">
                <a:solidFill>
                  <a:srgbClr val="0E1B3D"/>
                </a:solidFill>
                <a:latin typeface="Plus Jakarta Sans" pitchFamily="34" charset="0"/>
                <a:ea typeface="Plus Jakarta Sans" pitchFamily="34" charset="-122"/>
                <a:cs typeface="Plus Jakarta Sans" pitchFamily="34" charset="-120"/>
              </a:rPr>
              <a:t>Buka index.html, ketik tanda ! lalu tekan Tab</a:t>
            </a:r>
            <a:endParaRPr lang="en-US" sz="1700" dirty="0"/>
          </a:p>
        </p:txBody>
      </p:sp>
      <p:sp>
        <p:nvSpPr>
          <p:cNvPr id="19" name="Shape 17"/>
          <p:cNvSpPr/>
          <p:nvPr/>
        </p:nvSpPr>
        <p:spPr>
          <a:xfrm>
            <a:off x="731520" y="4773168"/>
            <a:ext cx="457200" cy="457200"/>
          </a:xfrm>
          <a:prstGeom prst="ellipse">
            <a:avLst/>
          </a:prstGeom>
          <a:solidFill>
            <a:srgbClr val="FFC83D"/>
          </a:solidFill>
          <a:ln/>
        </p:spPr>
      </p:sp>
      <p:sp>
        <p:nvSpPr>
          <p:cNvPr id="20" name="Text 18"/>
          <p:cNvSpPr txBox="1"/>
          <p:nvPr/>
        </p:nvSpPr>
        <p:spPr>
          <a:xfrm>
            <a:off x="731520" y="4773168"/>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Plus Jakarta Sans" pitchFamily="34" charset="0"/>
                <a:ea typeface="Plus Jakarta Sans" pitchFamily="34" charset="-122"/>
                <a:cs typeface="Plus Jakarta Sans" pitchFamily="34" charset="-120"/>
              </a:rPr>
              <a:t>5</a:t>
            </a:r>
            <a:endParaRPr lang="en-US" sz="1700" dirty="0"/>
          </a:p>
        </p:txBody>
      </p:sp>
      <p:sp>
        <p:nvSpPr>
          <p:cNvPr id="21" name="Text 19"/>
          <p:cNvSpPr txBox="1"/>
          <p:nvPr/>
        </p:nvSpPr>
        <p:spPr>
          <a:xfrm>
            <a:off x="1417320" y="4700016"/>
            <a:ext cx="5394960" cy="621792"/>
          </a:xfrm>
          <a:prstGeom prst="rect">
            <a:avLst/>
          </a:prstGeom>
          <a:noFill/>
          <a:ln/>
        </p:spPr>
        <p:txBody>
          <a:bodyPr wrap="square" lIns="0" tIns="0" rIns="0" bIns="0" rtlCol="0" anchor="ctr"/>
          <a:lstStyle/>
          <a:p>
            <a:pPr algn="l" indent="0" marL="0">
              <a:lnSpc>
                <a:spcPct val="120000"/>
              </a:lnSpc>
              <a:buNone/>
            </a:pPr>
            <a:r>
              <a:rPr lang="en-US" sz="1700" dirty="0">
                <a:solidFill>
                  <a:srgbClr val="0E1B3D"/>
                </a:solidFill>
                <a:latin typeface="Plus Jakarta Sans" pitchFamily="34" charset="0"/>
                <a:ea typeface="Plus Jakarta Sans" pitchFamily="34" charset="-122"/>
                <a:cs typeface="Plus Jakarta Sans" pitchFamily="34" charset="-120"/>
              </a:rPr>
              <a:t>Di dalam &lt;body&gt;, tulis: &lt;h1&gt;Hello SI Fest!&lt;/h1&gt;</a:t>
            </a:r>
            <a:endParaRPr lang="en-US" sz="1700" dirty="0"/>
          </a:p>
        </p:txBody>
      </p:sp>
      <p:sp>
        <p:nvSpPr>
          <p:cNvPr id="22" name="Shape 20"/>
          <p:cNvSpPr/>
          <p:nvPr/>
        </p:nvSpPr>
        <p:spPr>
          <a:xfrm>
            <a:off x="731520" y="5486400"/>
            <a:ext cx="457200" cy="457200"/>
          </a:xfrm>
          <a:prstGeom prst="ellipse">
            <a:avLst/>
          </a:prstGeom>
          <a:solidFill>
            <a:srgbClr val="FFC83D"/>
          </a:solidFill>
          <a:ln/>
        </p:spPr>
      </p:sp>
      <p:sp>
        <p:nvSpPr>
          <p:cNvPr id="23" name="Text 21"/>
          <p:cNvSpPr txBox="1"/>
          <p:nvPr/>
        </p:nvSpPr>
        <p:spPr>
          <a:xfrm>
            <a:off x="731520" y="5486400"/>
            <a:ext cx="457200" cy="457200"/>
          </a:xfrm>
          <a:prstGeom prst="rect">
            <a:avLst/>
          </a:prstGeom>
          <a:noFill/>
          <a:ln/>
        </p:spPr>
        <p:txBody>
          <a:bodyPr wrap="square" lIns="0" tIns="0" rIns="0" bIns="0" rtlCol="0" anchor="ctr"/>
          <a:lstStyle/>
          <a:p>
            <a:pPr algn="ctr" indent="0" marL="0">
              <a:lnSpc>
                <a:spcPct val="115000"/>
              </a:lnSpc>
              <a:buNone/>
            </a:pPr>
            <a:r>
              <a:rPr lang="en-US" sz="1700" b="1" dirty="0">
                <a:solidFill>
                  <a:srgbClr val="0E1B3D"/>
                </a:solidFill>
                <a:latin typeface="Plus Jakarta Sans" pitchFamily="34" charset="0"/>
                <a:ea typeface="Plus Jakarta Sans" pitchFamily="34" charset="-122"/>
                <a:cs typeface="Plus Jakarta Sans" pitchFamily="34" charset="-120"/>
              </a:rPr>
              <a:t>6</a:t>
            </a:r>
            <a:endParaRPr lang="en-US" sz="1700" dirty="0"/>
          </a:p>
        </p:txBody>
      </p:sp>
      <p:sp>
        <p:nvSpPr>
          <p:cNvPr id="24" name="Text 22"/>
          <p:cNvSpPr txBox="1"/>
          <p:nvPr/>
        </p:nvSpPr>
        <p:spPr>
          <a:xfrm>
            <a:off x="1417320" y="5413248"/>
            <a:ext cx="5394960" cy="621792"/>
          </a:xfrm>
          <a:prstGeom prst="rect">
            <a:avLst/>
          </a:prstGeom>
          <a:noFill/>
          <a:ln/>
        </p:spPr>
        <p:txBody>
          <a:bodyPr wrap="square" lIns="0" tIns="0" rIns="0" bIns="0" rtlCol="0" anchor="ctr"/>
          <a:lstStyle/>
          <a:p>
            <a:pPr algn="l" indent="0" marL="0">
              <a:lnSpc>
                <a:spcPct val="120000"/>
              </a:lnSpc>
              <a:buNone/>
            </a:pPr>
            <a:r>
              <a:rPr lang="en-US" sz="1700" dirty="0">
                <a:solidFill>
                  <a:srgbClr val="0E1B3D"/>
                </a:solidFill>
                <a:latin typeface="Plus Jakarta Sans" pitchFamily="34" charset="0"/>
                <a:ea typeface="Plus Jakarta Sans" pitchFamily="34" charset="-122"/>
                <a:cs typeface="Plus Jakarta Sans" pitchFamily="34" charset="-120"/>
              </a:rPr>
              <a:t>Klik kanan index.html → Open with Live Server</a:t>
            </a:r>
            <a:endParaRPr lang="en-US" sz="1700" dirty="0"/>
          </a:p>
        </p:txBody>
      </p:sp>
      <p:sp>
        <p:nvSpPr>
          <p:cNvPr id="25" name="Shape 23"/>
          <p:cNvSpPr/>
          <p:nvPr/>
        </p:nvSpPr>
        <p:spPr>
          <a:xfrm>
            <a:off x="6858000" y="1965960"/>
            <a:ext cx="4663440" cy="1763268"/>
          </a:xfrm>
          <a:prstGeom prst="roundRect">
            <a:avLst>
              <a:gd name="adj" fmla="val 7260"/>
            </a:avLst>
          </a:prstGeom>
          <a:solidFill>
            <a:srgbClr val="0B1530"/>
          </a:solidFill>
          <a:ln/>
          <a:effectLst>
            <a:outerShdw sx="100000" sy="100000" kx="0" ky="0" algn="bl" rotWithShape="0" blurRad="177800" dist="38100" dir="5400000">
              <a:srgbClr val="000000">
                <a:alpha val="40000"/>
              </a:srgbClr>
            </a:outerShdw>
          </a:effectLst>
        </p:spPr>
      </p:sp>
      <p:sp>
        <p:nvSpPr>
          <p:cNvPr id="26" name="Shape 24"/>
          <p:cNvSpPr/>
          <p:nvPr/>
        </p:nvSpPr>
        <p:spPr>
          <a:xfrm>
            <a:off x="7059168" y="2121408"/>
            <a:ext cx="109728" cy="109728"/>
          </a:xfrm>
          <a:prstGeom prst="ellipse">
            <a:avLst/>
          </a:prstGeom>
          <a:solidFill>
            <a:srgbClr val="E63946"/>
          </a:solidFill>
          <a:ln/>
        </p:spPr>
      </p:sp>
      <p:sp>
        <p:nvSpPr>
          <p:cNvPr id="27" name="Shape 25"/>
          <p:cNvSpPr/>
          <p:nvPr/>
        </p:nvSpPr>
        <p:spPr>
          <a:xfrm>
            <a:off x="7242048" y="2121408"/>
            <a:ext cx="109728" cy="109728"/>
          </a:xfrm>
          <a:prstGeom prst="ellipse">
            <a:avLst/>
          </a:prstGeom>
          <a:solidFill>
            <a:srgbClr val="FFC83D"/>
          </a:solidFill>
          <a:ln/>
        </p:spPr>
      </p:sp>
      <p:sp>
        <p:nvSpPr>
          <p:cNvPr id="28" name="Shape 26"/>
          <p:cNvSpPr/>
          <p:nvPr/>
        </p:nvSpPr>
        <p:spPr>
          <a:xfrm>
            <a:off x="7424928" y="2121408"/>
            <a:ext cx="109728" cy="109728"/>
          </a:xfrm>
          <a:prstGeom prst="ellipse">
            <a:avLst/>
          </a:prstGeom>
          <a:solidFill>
            <a:srgbClr val="1E9E68"/>
          </a:solidFill>
          <a:ln/>
        </p:spPr>
      </p:sp>
      <p:sp>
        <p:nvSpPr>
          <p:cNvPr id="29" name="Text 27"/>
          <p:cNvSpPr txBox="1"/>
          <p:nvPr/>
        </p:nvSpPr>
        <p:spPr>
          <a:xfrm>
            <a:off x="7772400" y="2039112"/>
            <a:ext cx="347472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JetBrains Mono" pitchFamily="34" charset="0"/>
                <a:ea typeface="JetBrains Mono" pitchFamily="34" charset="-122"/>
                <a:cs typeface="JetBrains Mono" pitchFamily="34" charset="-120"/>
              </a:rPr>
              <a:t>index.html</a:t>
            </a:r>
            <a:endParaRPr lang="en-US" sz="1200" dirty="0"/>
          </a:p>
        </p:txBody>
      </p:sp>
      <p:sp>
        <p:nvSpPr>
          <p:cNvPr id="30" name="Shape 28"/>
          <p:cNvSpPr/>
          <p:nvPr/>
        </p:nvSpPr>
        <p:spPr>
          <a:xfrm>
            <a:off x="6931152" y="2864612"/>
            <a:ext cx="4517136" cy="368300"/>
          </a:xfrm>
          <a:prstGeom prst="rect">
            <a:avLst/>
          </a:prstGeom>
          <a:solidFill>
            <a:srgbClr val="FFC83D">
              <a:alpha val="16000"/>
            </a:srgbClr>
          </a:solidFill>
          <a:ln/>
        </p:spPr>
      </p:sp>
      <p:sp>
        <p:nvSpPr>
          <p:cNvPr id="31" name="Text 29"/>
          <p:cNvSpPr txBox="1"/>
          <p:nvPr/>
        </p:nvSpPr>
        <p:spPr>
          <a:xfrm>
            <a:off x="7022592" y="24963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1</a:t>
            </a:r>
            <a:endParaRPr lang="en-US" sz="1400" dirty="0"/>
          </a:p>
        </p:txBody>
      </p:sp>
      <p:sp>
        <p:nvSpPr>
          <p:cNvPr id="32" name="Text 30"/>
          <p:cNvSpPr txBox="1"/>
          <p:nvPr/>
        </p:nvSpPr>
        <p:spPr>
          <a:xfrm>
            <a:off x="7543800" y="2496312"/>
            <a:ext cx="393192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body</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33" name="Text 31"/>
          <p:cNvSpPr txBox="1"/>
          <p:nvPr/>
        </p:nvSpPr>
        <p:spPr>
          <a:xfrm>
            <a:off x="7022592" y="28646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2</a:t>
            </a:r>
            <a:endParaRPr lang="en-US" sz="1400" dirty="0"/>
          </a:p>
        </p:txBody>
      </p:sp>
      <p:sp>
        <p:nvSpPr>
          <p:cNvPr id="34" name="Text 32"/>
          <p:cNvSpPr txBox="1"/>
          <p:nvPr/>
        </p:nvSpPr>
        <p:spPr>
          <a:xfrm>
            <a:off x="7543800" y="2864612"/>
            <a:ext cx="393192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h1</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Hello SI Fest!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h1</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35" name="Text 33"/>
          <p:cNvSpPr txBox="1"/>
          <p:nvPr/>
        </p:nvSpPr>
        <p:spPr>
          <a:xfrm>
            <a:off x="7022592" y="323291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3</a:t>
            </a:r>
            <a:endParaRPr lang="en-US" sz="1400" dirty="0"/>
          </a:p>
        </p:txBody>
      </p:sp>
      <p:sp>
        <p:nvSpPr>
          <p:cNvPr id="36" name="Text 34"/>
          <p:cNvSpPr txBox="1"/>
          <p:nvPr/>
        </p:nvSpPr>
        <p:spPr>
          <a:xfrm>
            <a:off x="7543800" y="3232912"/>
            <a:ext cx="393192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body</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37" name="Shape 35"/>
          <p:cNvSpPr/>
          <p:nvPr/>
        </p:nvSpPr>
        <p:spPr>
          <a:xfrm>
            <a:off x="6858000" y="4003548"/>
            <a:ext cx="4663440" cy="2148840"/>
          </a:xfrm>
          <a:prstGeom prst="roundRect">
            <a:avLst>
              <a:gd name="adj" fmla="val 6809"/>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38" name="Shape 36"/>
          <p:cNvSpPr/>
          <p:nvPr/>
        </p:nvSpPr>
        <p:spPr>
          <a:xfrm>
            <a:off x="6876288" y="4021836"/>
            <a:ext cx="4626864" cy="384048"/>
          </a:xfrm>
          <a:prstGeom prst="roundRect">
            <a:avLst>
              <a:gd name="adj" fmla="val 33333"/>
            </a:avLst>
          </a:prstGeom>
          <a:solidFill>
            <a:srgbClr val="EEF1F7"/>
          </a:solidFill>
          <a:ln/>
        </p:spPr>
      </p:sp>
      <p:sp>
        <p:nvSpPr>
          <p:cNvPr id="39" name="Shape 37"/>
          <p:cNvSpPr/>
          <p:nvPr/>
        </p:nvSpPr>
        <p:spPr>
          <a:xfrm>
            <a:off x="6876288" y="4204716"/>
            <a:ext cx="4626864" cy="201168"/>
          </a:xfrm>
          <a:prstGeom prst="rect">
            <a:avLst/>
          </a:prstGeom>
          <a:solidFill>
            <a:srgbClr val="EEF1F7"/>
          </a:solidFill>
          <a:ln/>
        </p:spPr>
      </p:sp>
      <p:sp>
        <p:nvSpPr>
          <p:cNvPr id="40" name="Shape 38"/>
          <p:cNvSpPr/>
          <p:nvPr/>
        </p:nvSpPr>
        <p:spPr>
          <a:xfrm>
            <a:off x="7040880" y="4140708"/>
            <a:ext cx="100584" cy="100584"/>
          </a:xfrm>
          <a:prstGeom prst="ellipse">
            <a:avLst/>
          </a:prstGeom>
          <a:solidFill>
            <a:srgbClr val="E63946"/>
          </a:solidFill>
          <a:ln/>
        </p:spPr>
      </p:sp>
      <p:sp>
        <p:nvSpPr>
          <p:cNvPr id="41" name="Shape 39"/>
          <p:cNvSpPr/>
          <p:nvPr/>
        </p:nvSpPr>
        <p:spPr>
          <a:xfrm>
            <a:off x="7214616" y="4140708"/>
            <a:ext cx="100584" cy="100584"/>
          </a:xfrm>
          <a:prstGeom prst="ellipse">
            <a:avLst/>
          </a:prstGeom>
          <a:solidFill>
            <a:srgbClr val="FFC83D"/>
          </a:solidFill>
          <a:ln/>
        </p:spPr>
      </p:sp>
      <p:sp>
        <p:nvSpPr>
          <p:cNvPr id="42" name="Shape 40"/>
          <p:cNvSpPr/>
          <p:nvPr/>
        </p:nvSpPr>
        <p:spPr>
          <a:xfrm>
            <a:off x="7388352" y="4140708"/>
            <a:ext cx="100584" cy="100584"/>
          </a:xfrm>
          <a:prstGeom prst="ellipse">
            <a:avLst/>
          </a:prstGeom>
          <a:solidFill>
            <a:srgbClr val="1E9E68"/>
          </a:solidFill>
          <a:ln/>
        </p:spPr>
      </p:sp>
      <p:sp>
        <p:nvSpPr>
          <p:cNvPr id="43" name="Shape 41"/>
          <p:cNvSpPr/>
          <p:nvPr/>
        </p:nvSpPr>
        <p:spPr>
          <a:xfrm>
            <a:off x="7726680" y="4085844"/>
            <a:ext cx="3566160" cy="237744"/>
          </a:xfrm>
          <a:prstGeom prst="roundRect">
            <a:avLst>
              <a:gd name="adj" fmla="val 50000"/>
            </a:avLst>
          </a:prstGeom>
          <a:solidFill>
            <a:srgbClr val="FFFFFF"/>
          </a:solidFill>
          <a:ln/>
        </p:spPr>
      </p:sp>
      <p:sp>
        <p:nvSpPr>
          <p:cNvPr id="44" name="Text 42"/>
          <p:cNvSpPr txBox="1"/>
          <p:nvPr/>
        </p:nvSpPr>
        <p:spPr>
          <a:xfrm>
            <a:off x="7863840" y="4085844"/>
            <a:ext cx="329184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localhost:5500</a:t>
            </a:r>
            <a:endParaRPr lang="en-US" sz="1100" dirty="0"/>
          </a:p>
        </p:txBody>
      </p:sp>
      <p:sp>
        <p:nvSpPr>
          <p:cNvPr id="45" name="Text 43"/>
          <p:cNvSpPr txBox="1"/>
          <p:nvPr/>
        </p:nvSpPr>
        <p:spPr>
          <a:xfrm>
            <a:off x="7178040" y="4680204"/>
            <a:ext cx="4023360" cy="731520"/>
          </a:xfrm>
          <a:prstGeom prst="rect">
            <a:avLst/>
          </a:prstGeom>
          <a:noFill/>
          <a:ln/>
        </p:spPr>
        <p:txBody>
          <a:bodyPr wrap="none" lIns="0" tIns="0" rIns="0" bIns="0" rtlCol="0" anchor="ctr"/>
          <a:lstStyle/>
          <a:p>
            <a:pPr algn="l" indent="0" marL="0">
              <a:lnSpc>
                <a:spcPct val="115000"/>
              </a:lnSpc>
              <a:buNone/>
            </a:pPr>
            <a:r>
              <a:rPr lang="en-US" sz="3600" b="1" dirty="0">
                <a:solidFill>
                  <a:srgbClr val="000000"/>
                </a:solidFill>
                <a:latin typeface="Times New Roman" pitchFamily="34" charset="0"/>
                <a:ea typeface="Times New Roman" pitchFamily="34" charset="-122"/>
                <a:cs typeface="Times New Roman" pitchFamily="34" charset="-120"/>
              </a:rPr>
              <a:t>Hello SI Fest!</a:t>
            </a:r>
            <a:endParaRPr lang="en-US"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4FD8"/>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11</a:t>
            </a:r>
            <a:endParaRPr lang="en-US" sz="1100" dirty="0"/>
          </a:p>
        </p:txBody>
      </p:sp>
      <p:sp>
        <p:nvSpPr>
          <p:cNvPr id="3" name="Text 1"/>
          <p:cNvSpPr txBox="1"/>
          <p:nvPr/>
        </p:nvSpPr>
        <p:spPr>
          <a:xfrm>
            <a:off x="731520" y="2011680"/>
            <a:ext cx="5486400" cy="320040"/>
          </a:xfrm>
          <a:prstGeom prst="rect">
            <a:avLst/>
          </a:prstGeom>
          <a:noFill/>
          <a:ln/>
        </p:spPr>
        <p:txBody>
          <a:bodyPr wrap="square" lIns="0" tIns="0" rIns="0" bIns="0" rtlCol="0" anchor="t"/>
          <a:lstStyle/>
          <a:p>
            <a:pPr algn="l" indent="0" marL="0">
              <a:lnSpc>
                <a:spcPct val="115000"/>
              </a:lnSpc>
              <a:buNone/>
            </a:pPr>
            <a:r>
              <a:rPr lang="en-US" sz="1800" b="1" dirty="0">
                <a:solidFill>
                  <a:srgbClr val="FFC83D"/>
                </a:solidFill>
                <a:latin typeface="Plus Jakarta Sans" pitchFamily="34" charset="0"/>
                <a:ea typeface="Plus Jakarta Sans" pitchFamily="34" charset="-122"/>
                <a:cs typeface="Plus Jakarta Sans" pitchFamily="34" charset="-120"/>
              </a:rPr>
              <a:t>Bagian 02</a:t>
            </a:r>
            <a:endParaRPr lang="en-US" sz="1800" dirty="0"/>
          </a:p>
        </p:txBody>
      </p:sp>
      <p:sp>
        <p:nvSpPr>
          <p:cNvPr id="4" name="Text 2"/>
          <p:cNvSpPr txBox="1"/>
          <p:nvPr/>
        </p:nvSpPr>
        <p:spPr>
          <a:xfrm>
            <a:off x="731520" y="2468880"/>
            <a:ext cx="6035040" cy="1371600"/>
          </a:xfrm>
          <a:prstGeom prst="rect">
            <a:avLst/>
          </a:prstGeom>
          <a:noFill/>
          <a:ln/>
        </p:spPr>
        <p:txBody>
          <a:bodyPr wrap="square" lIns="0" tIns="0" rIns="0" bIns="0" rtlCol="0" anchor="t"/>
          <a:lstStyle/>
          <a:p>
            <a:pPr algn="l" indent="0" marL="0">
              <a:lnSpc>
                <a:spcPct val="102000"/>
              </a:lnSpc>
              <a:buNone/>
            </a:pPr>
            <a:r>
              <a:rPr lang="en-US" sz="6600" b="1" dirty="0">
                <a:solidFill>
                  <a:srgbClr val="FFFFFF"/>
                </a:solidFill>
                <a:latin typeface="Plus Jakarta Sans" pitchFamily="34" charset="0"/>
                <a:ea typeface="Plus Jakarta Sans" pitchFamily="34" charset="-122"/>
                <a:cs typeface="Plus Jakarta Sans" pitchFamily="34" charset="-120"/>
              </a:rPr>
              <a:t>HTML</a:t>
            </a:r>
            <a:endParaRPr lang="en-US" sz="6600" dirty="0"/>
          </a:p>
        </p:txBody>
      </p:sp>
      <p:sp>
        <p:nvSpPr>
          <p:cNvPr id="5" name="Text 3"/>
          <p:cNvSpPr txBox="1"/>
          <p:nvPr/>
        </p:nvSpPr>
        <p:spPr>
          <a:xfrm>
            <a:off x="731520" y="4069080"/>
            <a:ext cx="5486400" cy="914400"/>
          </a:xfrm>
          <a:prstGeom prst="rect">
            <a:avLst/>
          </a:prstGeom>
          <a:noFill/>
          <a:ln/>
        </p:spPr>
        <p:txBody>
          <a:bodyPr wrap="square" lIns="0" tIns="0" rIns="0" bIns="0" rtlCol="0" anchor="t"/>
          <a:lstStyle/>
          <a:p>
            <a:pPr algn="l" indent="0" marL="0">
              <a:lnSpc>
                <a:spcPct val="130000"/>
              </a:lnSpc>
              <a:buNone/>
            </a:pPr>
            <a:r>
              <a:rPr lang="en-US" sz="2200" dirty="0">
                <a:solidFill>
                  <a:srgbClr val="DCE6FF"/>
                </a:solidFill>
                <a:latin typeface="Plus Jakarta Sans" pitchFamily="34" charset="0"/>
                <a:ea typeface="Plus Jakarta Sans" pitchFamily="34" charset="-122"/>
                <a:cs typeface="Plus Jakarta Sans" pitchFamily="34" charset="-120"/>
              </a:rPr>
              <a:t>Kerangka website. Setiap halaman dimulai dari sini</a:t>
            </a:r>
            <a:endParaRPr lang="en-US" sz="2200" dirty="0"/>
          </a:p>
        </p:txBody>
      </p:sp>
      <p:sp>
        <p:nvSpPr>
          <p:cNvPr id="6" name="Shape 4"/>
          <p:cNvSpPr/>
          <p:nvPr/>
        </p:nvSpPr>
        <p:spPr>
          <a:xfrm>
            <a:off x="731520" y="5303520"/>
            <a:ext cx="1737360" cy="347472"/>
          </a:xfrm>
          <a:prstGeom prst="roundRect">
            <a:avLst>
              <a:gd name="adj" fmla="val 50000"/>
            </a:avLst>
          </a:prstGeom>
          <a:ln w="15875">
            <a:solidFill>
              <a:srgbClr val="2A3C6E"/>
            </a:solidFill>
            <a:prstDash val="solid"/>
          </a:ln>
        </p:spPr>
      </p:sp>
      <p:sp>
        <p:nvSpPr>
          <p:cNvPr id="7" name="Text 5"/>
          <p:cNvSpPr txBox="1"/>
          <p:nvPr/>
        </p:nvSpPr>
        <p:spPr>
          <a:xfrm>
            <a:off x="731520" y="530352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A9B6D6"/>
                </a:solidFill>
                <a:latin typeface="Plus Jakarta Sans" pitchFamily="34" charset="0"/>
                <a:ea typeface="Plus Jakarta Sans" pitchFamily="34" charset="-122"/>
                <a:cs typeface="Plus Jakarta Sans" pitchFamily="34" charset="-120"/>
              </a:rPr>
              <a:t>08.20 – 09.20</a:t>
            </a:r>
            <a:endParaRPr lang="en-US" sz="1200" dirty="0"/>
          </a:p>
        </p:txBody>
      </p:sp>
      <p:sp>
        <p:nvSpPr>
          <p:cNvPr id="8" name="Shape 6"/>
          <p:cNvSpPr/>
          <p:nvPr/>
        </p:nvSpPr>
        <p:spPr>
          <a:xfrm>
            <a:off x="7040880" y="731520"/>
            <a:ext cx="4434840" cy="5394960"/>
          </a:xfrm>
          <a:prstGeom prst="roundRect">
            <a:avLst>
              <a:gd name="adj" fmla="val 6186"/>
            </a:avLst>
          </a:prstGeom>
          <a:solidFill>
            <a:srgbClr val="FAF8F4"/>
          </a:solidFill>
          <a:ln/>
        </p:spPr>
      </p:sp>
      <p:pic>
        <p:nvPicPr>
          <p:cNvPr id="9" name="Image 0" descr="C:\Dev\daily-report\Seminar\seminar-sifest\generator\assets\ill\design_process_iqqg.png">    </p:cNvPr>
          <p:cNvPicPr>
            <a:picLocks noChangeAspect="1"/>
          </p:cNvPicPr>
          <p:nvPr/>
        </p:nvPicPr>
        <p:blipFill>
          <a:blip r:embed="rId1"/>
          <a:stretch>
            <a:fillRect/>
          </a:stretch>
        </p:blipFill>
        <p:spPr>
          <a:xfrm>
            <a:off x="7360920" y="1974917"/>
            <a:ext cx="3794760" cy="29081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6F7FA8"/>
                </a:solidFill>
                <a:latin typeface="Plus Jakarta Sans" pitchFamily="34" charset="0"/>
                <a:ea typeface="Plus Jakarta Sans" pitchFamily="34" charset="-122"/>
                <a:cs typeface="Plus Jakarta Sans" pitchFamily="34" charset="-120"/>
              </a:rPr>
              <a:t>12</a:t>
            </a:r>
            <a:endParaRPr lang="en-US" sz="1100" dirty="0"/>
          </a:p>
        </p:txBody>
      </p:sp>
      <p:sp>
        <p:nvSpPr>
          <p:cNvPr id="3" name="Text 1"/>
          <p:cNvSpPr txBox="1"/>
          <p:nvPr/>
        </p:nvSpPr>
        <p:spPr>
          <a:xfrm>
            <a:off x="731520" y="685800"/>
            <a:ext cx="10698480" cy="914400"/>
          </a:xfrm>
          <a:prstGeom prst="rect">
            <a:avLst/>
          </a:prstGeom>
          <a:noFill/>
          <a:ln/>
        </p:spPr>
        <p:txBody>
          <a:bodyPr wrap="square" lIns="0" tIns="0" rIns="0" bIns="0" rtlCol="0" anchor="t"/>
          <a:lstStyle/>
          <a:p>
            <a:pPr algn="l" indent="0" marL="0">
              <a:lnSpc>
                <a:spcPct val="108000"/>
              </a:lnSpc>
              <a:buNone/>
            </a:pPr>
            <a:r>
              <a:rPr lang="en-US" sz="4000" b="1" dirty="0">
                <a:solidFill>
                  <a:srgbClr val="F4F6FB"/>
                </a:solidFill>
                <a:latin typeface="Plus Jakarta Sans" pitchFamily="34" charset="0"/>
                <a:ea typeface="Plus Jakarta Sans" pitchFamily="34" charset="-122"/>
                <a:cs typeface="Plus Jakarta Sans" pitchFamily="34" charset="-120"/>
              </a:rPr>
              <a:t>Satu elemen HTML, empat bagian</a:t>
            </a:r>
            <a:endParaRPr lang="en-US" sz="4000" dirty="0"/>
          </a:p>
        </p:txBody>
      </p:sp>
      <p:sp>
        <p:nvSpPr>
          <p:cNvPr id="4" name="Text 2"/>
          <p:cNvSpPr txBox="1"/>
          <p:nvPr/>
        </p:nvSpPr>
        <p:spPr>
          <a:xfrm>
            <a:off x="2133448" y="1920240"/>
            <a:ext cx="8107680" cy="731520"/>
          </a:xfrm>
          <a:prstGeom prst="rect">
            <a:avLst/>
          </a:prstGeom>
          <a:noFill/>
          <a:ln/>
        </p:spPr>
        <p:txBody>
          <a:bodyPr wrap="none" lIns="0" tIns="0" rIns="0" bIns="0" rtlCol="0" anchor="ctr"/>
          <a:lstStyle/>
          <a:p>
            <a:pPr algn="l" indent="0" marL="0">
              <a:lnSpc>
                <a:spcPct val="115000"/>
              </a:lnSpc>
              <a:buNone/>
            </a:pPr>
            <a:r>
              <a:rPr lang="en-US" sz="4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4000" dirty="0">
                <a:solidFill>
                  <a:srgbClr val="8DB4FF"/>
                </a:solidFill>
                <a:latin typeface="JetBrains Mono" pitchFamily="34" charset="0"/>
                <a:ea typeface="JetBrains Mono" pitchFamily="34" charset="-122"/>
                <a:cs typeface="JetBrains Mono" pitchFamily="34" charset="-120"/>
              </a:rPr>
              <a:t>p</a:t>
            </a:r>
            <a:pPr algn="l" indent="0" marL="0">
              <a:lnSpc>
                <a:spcPct val="115000"/>
              </a:lnSpc>
              <a:buNone/>
            </a:pPr>
            <a:r>
              <a:rPr lang="en-US" sz="4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4000" dirty="0">
                <a:solidFill>
                  <a:srgbClr val="FFD36E"/>
                </a:solidFill>
                <a:latin typeface="JetBrains Mono" pitchFamily="34" charset="0"/>
                <a:ea typeface="JetBrains Mono" pitchFamily="34" charset="-122"/>
                <a:cs typeface="JetBrains Mono" pitchFamily="34" charset="-120"/>
              </a:rPr>
              <a:t>class</a:t>
            </a:r>
            <a:pPr algn="l" indent="0" marL="0">
              <a:lnSpc>
                <a:spcPct val="115000"/>
              </a:lnSpc>
              <a:buNone/>
            </a:pPr>
            <a:r>
              <a:rPr lang="en-US" sz="4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4000" dirty="0">
                <a:solidFill>
                  <a:srgbClr val="8FE3B0"/>
                </a:solidFill>
                <a:latin typeface="JetBrains Mono" pitchFamily="34" charset="0"/>
                <a:ea typeface="JetBrains Mono" pitchFamily="34" charset="-122"/>
                <a:cs typeface="JetBrains Mono" pitchFamily="34" charset="-120"/>
              </a:rPr>
              <a:t>"intro"</a:t>
            </a:r>
            <a:pPr algn="l" indent="0" marL="0">
              <a:lnSpc>
                <a:spcPct val="115000"/>
              </a:lnSpc>
              <a:buNone/>
            </a:pPr>
            <a:r>
              <a:rPr lang="en-US" sz="4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4000" dirty="0">
                <a:solidFill>
                  <a:srgbClr val="F4F6FB"/>
                </a:solidFill>
                <a:latin typeface="JetBrains Mono" pitchFamily="34" charset="0"/>
                <a:ea typeface="JetBrains Mono" pitchFamily="34" charset="-122"/>
                <a:cs typeface="JetBrains Mono" pitchFamily="34" charset="-120"/>
              </a:rPr>
              <a:t>Halo!</a:t>
            </a:r>
            <a:pPr algn="l" indent="0" marL="0">
              <a:lnSpc>
                <a:spcPct val="115000"/>
              </a:lnSpc>
              <a:buNone/>
            </a:pPr>
            <a:r>
              <a:rPr lang="en-US" sz="4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4000" dirty="0">
                <a:solidFill>
                  <a:srgbClr val="8DB4FF"/>
                </a:solidFill>
                <a:latin typeface="JetBrains Mono" pitchFamily="34" charset="0"/>
                <a:ea typeface="JetBrains Mono" pitchFamily="34" charset="-122"/>
                <a:cs typeface="JetBrains Mono" pitchFamily="34" charset="-120"/>
              </a:rPr>
              <a:t>p</a:t>
            </a:r>
            <a:pPr algn="l" indent="0" marL="0">
              <a:lnSpc>
                <a:spcPct val="115000"/>
              </a:lnSpc>
              <a:buNone/>
            </a:pPr>
            <a:r>
              <a:rPr lang="en-US" sz="4000" dirty="0">
                <a:solidFill>
                  <a:srgbClr val="C9D3EE"/>
                </a:solidFill>
                <a:latin typeface="JetBrains Mono" pitchFamily="34" charset="0"/>
                <a:ea typeface="JetBrains Mono" pitchFamily="34" charset="-122"/>
                <a:cs typeface="JetBrains Mono" pitchFamily="34" charset="-120"/>
              </a:rPr>
              <a:t>&gt;</a:t>
            </a:r>
            <a:endParaRPr lang="en-US" sz="4000" dirty="0"/>
          </a:p>
        </p:txBody>
      </p:sp>
      <p:sp>
        <p:nvSpPr>
          <p:cNvPr id="5" name="Shape 3"/>
          <p:cNvSpPr/>
          <p:nvPr/>
        </p:nvSpPr>
        <p:spPr>
          <a:xfrm>
            <a:off x="3047848" y="2834640"/>
            <a:ext cx="3962400" cy="0"/>
          </a:xfrm>
          <a:prstGeom prst="line">
            <a:avLst/>
          </a:prstGeom>
          <a:noFill/>
          <a:ln w="38100">
            <a:solidFill>
              <a:srgbClr val="FFD36E"/>
            </a:solidFill>
            <a:prstDash val="solid"/>
          </a:ln>
        </p:spPr>
      </p:sp>
      <p:sp>
        <p:nvSpPr>
          <p:cNvPr id="6" name="Text 4"/>
          <p:cNvSpPr txBox="1"/>
          <p:nvPr/>
        </p:nvSpPr>
        <p:spPr>
          <a:xfrm>
            <a:off x="3566008" y="2944368"/>
            <a:ext cx="292608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FFD36E"/>
                </a:solidFill>
                <a:latin typeface="Plus Jakarta Sans" pitchFamily="34" charset="0"/>
                <a:ea typeface="Plus Jakarta Sans" pitchFamily="34" charset="-122"/>
                <a:cs typeface="Plus Jakarta Sans" pitchFamily="34" charset="-120"/>
              </a:rPr>
              <a:t>atribut</a:t>
            </a:r>
            <a:endParaRPr lang="en-US" sz="2200" dirty="0"/>
          </a:p>
        </p:txBody>
      </p:sp>
      <p:sp>
        <p:nvSpPr>
          <p:cNvPr id="7" name="Text 5"/>
          <p:cNvSpPr txBox="1"/>
          <p:nvPr/>
        </p:nvSpPr>
        <p:spPr>
          <a:xfrm>
            <a:off x="3474568" y="3337560"/>
            <a:ext cx="3108960" cy="320040"/>
          </a:xfrm>
          <a:prstGeom prst="rect">
            <a:avLst/>
          </a:prstGeom>
          <a:noFill/>
          <a:ln/>
        </p:spPr>
        <p:txBody>
          <a:bodyPr wrap="square" lIns="0" tIns="0" rIns="0" bIns="0" rtlCol="0" anchor="t"/>
          <a:lstStyle/>
          <a:p>
            <a:pPr algn="ctr" indent="0" marL="0">
              <a:lnSpc>
                <a:spcPct val="115000"/>
              </a:lnSpc>
              <a:buNone/>
            </a:pPr>
            <a:r>
              <a:rPr lang="en-US" sz="1500" dirty="0">
                <a:solidFill>
                  <a:srgbClr val="A9B6D6"/>
                </a:solidFill>
                <a:latin typeface="Plus Jakarta Sans" pitchFamily="34" charset="0"/>
                <a:ea typeface="Plus Jakarta Sans" pitchFamily="34" charset="-122"/>
                <a:cs typeface="Plus Jakarta Sans" pitchFamily="34" charset="-120"/>
              </a:rPr>
              <a:t>info tambahan tentang elemen</a:t>
            </a:r>
            <a:endParaRPr lang="en-US" sz="1500" dirty="0"/>
          </a:p>
        </p:txBody>
      </p:sp>
      <p:sp>
        <p:nvSpPr>
          <p:cNvPr id="8" name="Shape 6"/>
          <p:cNvSpPr/>
          <p:nvPr/>
        </p:nvSpPr>
        <p:spPr>
          <a:xfrm>
            <a:off x="7315048" y="2834640"/>
            <a:ext cx="1524000" cy="0"/>
          </a:xfrm>
          <a:prstGeom prst="line">
            <a:avLst/>
          </a:prstGeom>
          <a:noFill/>
          <a:ln w="38100">
            <a:solidFill>
              <a:srgbClr val="8FE3B0"/>
            </a:solidFill>
            <a:prstDash val="solid"/>
          </a:ln>
        </p:spPr>
      </p:sp>
      <p:sp>
        <p:nvSpPr>
          <p:cNvPr id="9" name="Text 7"/>
          <p:cNvSpPr txBox="1"/>
          <p:nvPr/>
        </p:nvSpPr>
        <p:spPr>
          <a:xfrm>
            <a:off x="6614008" y="2944368"/>
            <a:ext cx="292608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8FE3B0"/>
                </a:solidFill>
                <a:latin typeface="Plus Jakarta Sans" pitchFamily="34" charset="0"/>
                <a:ea typeface="Plus Jakarta Sans" pitchFamily="34" charset="-122"/>
                <a:cs typeface="Plus Jakarta Sans" pitchFamily="34" charset="-120"/>
              </a:rPr>
              <a:t>isi</a:t>
            </a:r>
            <a:endParaRPr lang="en-US" sz="2200" dirty="0"/>
          </a:p>
        </p:txBody>
      </p:sp>
      <p:sp>
        <p:nvSpPr>
          <p:cNvPr id="10" name="Text 8"/>
          <p:cNvSpPr txBox="1"/>
          <p:nvPr/>
        </p:nvSpPr>
        <p:spPr>
          <a:xfrm>
            <a:off x="6522568" y="3337560"/>
            <a:ext cx="3108960" cy="320040"/>
          </a:xfrm>
          <a:prstGeom prst="rect">
            <a:avLst/>
          </a:prstGeom>
          <a:noFill/>
          <a:ln/>
        </p:spPr>
        <p:txBody>
          <a:bodyPr wrap="square" lIns="0" tIns="0" rIns="0" bIns="0" rtlCol="0" anchor="t"/>
          <a:lstStyle/>
          <a:p>
            <a:pPr algn="ctr" indent="0" marL="0">
              <a:lnSpc>
                <a:spcPct val="115000"/>
              </a:lnSpc>
              <a:buNone/>
            </a:pPr>
            <a:r>
              <a:rPr lang="en-US" sz="1500" dirty="0">
                <a:solidFill>
                  <a:srgbClr val="A9B6D6"/>
                </a:solidFill>
                <a:latin typeface="Plus Jakarta Sans" pitchFamily="34" charset="0"/>
                <a:ea typeface="Plus Jakarta Sans" pitchFamily="34" charset="-122"/>
                <a:cs typeface="Plus Jakarta Sans" pitchFamily="34" charset="-120"/>
              </a:rPr>
              <a:t>tulisan yang tampil</a:t>
            </a:r>
            <a:endParaRPr lang="en-US" sz="1500" dirty="0"/>
          </a:p>
        </p:txBody>
      </p:sp>
      <p:sp>
        <p:nvSpPr>
          <p:cNvPr id="11" name="Shape 9"/>
          <p:cNvSpPr/>
          <p:nvPr/>
        </p:nvSpPr>
        <p:spPr>
          <a:xfrm>
            <a:off x="2133448" y="4160520"/>
            <a:ext cx="5181600" cy="0"/>
          </a:xfrm>
          <a:prstGeom prst="line">
            <a:avLst/>
          </a:prstGeom>
          <a:noFill/>
          <a:ln w="38100">
            <a:solidFill>
              <a:srgbClr val="8DB4FF"/>
            </a:solidFill>
            <a:prstDash val="solid"/>
          </a:ln>
        </p:spPr>
      </p:sp>
      <p:sp>
        <p:nvSpPr>
          <p:cNvPr id="12" name="Text 10"/>
          <p:cNvSpPr txBox="1"/>
          <p:nvPr/>
        </p:nvSpPr>
        <p:spPr>
          <a:xfrm>
            <a:off x="3261208" y="4270248"/>
            <a:ext cx="292608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8DB4FF"/>
                </a:solidFill>
                <a:latin typeface="Plus Jakarta Sans" pitchFamily="34" charset="0"/>
                <a:ea typeface="Plus Jakarta Sans" pitchFamily="34" charset="-122"/>
                <a:cs typeface="Plus Jakarta Sans" pitchFamily="34" charset="-120"/>
              </a:rPr>
              <a:t>tag pembuka</a:t>
            </a:r>
            <a:endParaRPr lang="en-US" sz="2200" dirty="0"/>
          </a:p>
        </p:txBody>
      </p:sp>
      <p:sp>
        <p:nvSpPr>
          <p:cNvPr id="13" name="Text 11"/>
          <p:cNvSpPr txBox="1"/>
          <p:nvPr/>
        </p:nvSpPr>
        <p:spPr>
          <a:xfrm>
            <a:off x="3169768" y="4663440"/>
            <a:ext cx="3108960" cy="320040"/>
          </a:xfrm>
          <a:prstGeom prst="rect">
            <a:avLst/>
          </a:prstGeom>
          <a:noFill/>
          <a:ln/>
        </p:spPr>
        <p:txBody>
          <a:bodyPr wrap="square" lIns="0" tIns="0" rIns="0" bIns="0" rtlCol="0" anchor="t"/>
          <a:lstStyle/>
          <a:p>
            <a:pPr algn="ctr" indent="0" marL="0">
              <a:lnSpc>
                <a:spcPct val="115000"/>
              </a:lnSpc>
              <a:buNone/>
            </a:pPr>
            <a:r>
              <a:rPr lang="en-US" sz="1500" dirty="0">
                <a:solidFill>
                  <a:srgbClr val="A9B6D6"/>
                </a:solidFill>
                <a:latin typeface="Plus Jakarta Sans" pitchFamily="34" charset="0"/>
                <a:ea typeface="Plus Jakarta Sans" pitchFamily="34" charset="-122"/>
                <a:cs typeface="Plus Jakarta Sans" pitchFamily="34" charset="-120"/>
              </a:rPr>
              <a:t>tanda mulai</a:t>
            </a:r>
            <a:endParaRPr lang="en-US" sz="1500" dirty="0"/>
          </a:p>
        </p:txBody>
      </p:sp>
      <p:sp>
        <p:nvSpPr>
          <p:cNvPr id="14" name="Shape 12"/>
          <p:cNvSpPr/>
          <p:nvPr/>
        </p:nvSpPr>
        <p:spPr>
          <a:xfrm>
            <a:off x="8839048" y="4160520"/>
            <a:ext cx="1219200" cy="0"/>
          </a:xfrm>
          <a:prstGeom prst="line">
            <a:avLst/>
          </a:prstGeom>
          <a:noFill/>
          <a:ln w="38100">
            <a:solidFill>
              <a:srgbClr val="8DB4FF"/>
            </a:solidFill>
            <a:prstDash val="solid"/>
          </a:ln>
        </p:spPr>
      </p:sp>
      <p:sp>
        <p:nvSpPr>
          <p:cNvPr id="15" name="Text 13"/>
          <p:cNvSpPr txBox="1"/>
          <p:nvPr/>
        </p:nvSpPr>
        <p:spPr>
          <a:xfrm>
            <a:off x="7985608" y="4270248"/>
            <a:ext cx="2926080" cy="365760"/>
          </a:xfrm>
          <a:prstGeom prst="rect">
            <a:avLst/>
          </a:prstGeom>
          <a:noFill/>
          <a:ln/>
        </p:spPr>
        <p:txBody>
          <a:bodyPr wrap="square" lIns="0" tIns="0" rIns="0" bIns="0" rtlCol="0" anchor="t"/>
          <a:lstStyle/>
          <a:p>
            <a:pPr algn="ctr" indent="0" marL="0">
              <a:lnSpc>
                <a:spcPct val="115000"/>
              </a:lnSpc>
              <a:buNone/>
            </a:pPr>
            <a:r>
              <a:rPr lang="en-US" sz="2200" b="1" dirty="0">
                <a:solidFill>
                  <a:srgbClr val="8DB4FF"/>
                </a:solidFill>
                <a:latin typeface="Plus Jakarta Sans" pitchFamily="34" charset="0"/>
                <a:ea typeface="Plus Jakarta Sans" pitchFamily="34" charset="-122"/>
                <a:cs typeface="Plus Jakarta Sans" pitchFamily="34" charset="-120"/>
              </a:rPr>
              <a:t>tag penutup</a:t>
            </a:r>
            <a:endParaRPr lang="en-US" sz="2200" dirty="0"/>
          </a:p>
        </p:txBody>
      </p:sp>
      <p:sp>
        <p:nvSpPr>
          <p:cNvPr id="16" name="Text 14"/>
          <p:cNvSpPr txBox="1"/>
          <p:nvPr/>
        </p:nvSpPr>
        <p:spPr>
          <a:xfrm>
            <a:off x="7894168" y="4663440"/>
            <a:ext cx="3108960" cy="320040"/>
          </a:xfrm>
          <a:prstGeom prst="rect">
            <a:avLst/>
          </a:prstGeom>
          <a:noFill/>
          <a:ln/>
        </p:spPr>
        <p:txBody>
          <a:bodyPr wrap="square" lIns="0" tIns="0" rIns="0" bIns="0" rtlCol="0" anchor="t"/>
          <a:lstStyle/>
          <a:p>
            <a:pPr algn="ctr" indent="0" marL="0">
              <a:lnSpc>
                <a:spcPct val="115000"/>
              </a:lnSpc>
              <a:buNone/>
            </a:pPr>
            <a:r>
              <a:rPr lang="en-US" sz="1500" dirty="0">
                <a:solidFill>
                  <a:srgbClr val="A9B6D6"/>
                </a:solidFill>
                <a:latin typeface="Plus Jakarta Sans" pitchFamily="34" charset="0"/>
                <a:ea typeface="Plus Jakarta Sans" pitchFamily="34" charset="-122"/>
                <a:cs typeface="Plus Jakarta Sans" pitchFamily="34" charset="-120"/>
              </a:rPr>
              <a:t>tanda selesai (ada /)</a:t>
            </a:r>
            <a:endParaRPr lang="en-US" sz="1500" dirty="0"/>
          </a:p>
        </p:txBody>
      </p:sp>
      <p:sp>
        <p:nvSpPr>
          <p:cNvPr id="17" name="Text 15"/>
          <p:cNvSpPr txBox="1"/>
          <p:nvPr/>
        </p:nvSpPr>
        <p:spPr>
          <a:xfrm>
            <a:off x="731520" y="5532120"/>
            <a:ext cx="10698480" cy="457200"/>
          </a:xfrm>
          <a:prstGeom prst="rect">
            <a:avLst/>
          </a:prstGeom>
          <a:noFill/>
          <a:ln/>
        </p:spPr>
        <p:txBody>
          <a:bodyPr wrap="square" lIns="0" tIns="0" rIns="0" bIns="0" rtlCol="0" anchor="ctr"/>
          <a:lstStyle/>
          <a:p>
            <a:pPr algn="ctr" indent="0" marL="0">
              <a:lnSpc>
                <a:spcPct val="115000"/>
              </a:lnSpc>
              <a:buNone/>
            </a:pPr>
            <a:r>
              <a:rPr lang="en-US" sz="1700" dirty="0">
                <a:solidFill>
                  <a:srgbClr val="A9B6D6"/>
                </a:solidFill>
                <a:latin typeface="Plus Jakarta Sans" pitchFamily="34" charset="0"/>
                <a:ea typeface="Plus Jakarta Sans" pitchFamily="34" charset="-122"/>
                <a:cs typeface="Plus Jakarta Sans" pitchFamily="34" charset="-120"/>
              </a:rPr>
              <a:t>Elemen = tag pembuka + isi + tag penutup. Ada tag yang tidak perlu penutup, misalnya &lt;img&gt; dan &lt;br&gt;.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13</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Kerangka yang ada di setiap halaman</a:t>
            </a:r>
            <a:endParaRPr lang="en-US" sz="4000" dirty="0"/>
          </a:p>
        </p:txBody>
      </p:sp>
      <p:sp>
        <p:nvSpPr>
          <p:cNvPr id="4" name="Shape 2"/>
          <p:cNvSpPr/>
          <p:nvPr/>
        </p:nvSpPr>
        <p:spPr>
          <a:xfrm>
            <a:off x="731520" y="1691640"/>
            <a:ext cx="6309360" cy="4341368"/>
          </a:xfrm>
          <a:prstGeom prst="roundRect">
            <a:avLst>
              <a:gd name="adj" fmla="val 2949"/>
            </a:avLst>
          </a:prstGeom>
          <a:solidFill>
            <a:srgbClr val="0B1530"/>
          </a:solidFill>
          <a:ln/>
          <a:effectLst>
            <a:outerShdw sx="100000" sy="100000" kx="0" ky="0" algn="bl" rotWithShape="0" blurRad="177800" dist="38100" dir="5400000">
              <a:srgbClr val="000000">
                <a:alpha val="40000"/>
              </a:srgbClr>
            </a:outerShdw>
          </a:effectLst>
        </p:spPr>
      </p:sp>
      <p:sp>
        <p:nvSpPr>
          <p:cNvPr id="5" name="Shape 3"/>
          <p:cNvSpPr/>
          <p:nvPr/>
        </p:nvSpPr>
        <p:spPr>
          <a:xfrm>
            <a:off x="932688" y="1847088"/>
            <a:ext cx="109728" cy="109728"/>
          </a:xfrm>
          <a:prstGeom prst="ellipse">
            <a:avLst/>
          </a:prstGeom>
          <a:solidFill>
            <a:srgbClr val="E63946"/>
          </a:solidFill>
          <a:ln/>
        </p:spPr>
      </p:sp>
      <p:sp>
        <p:nvSpPr>
          <p:cNvPr id="6" name="Shape 4"/>
          <p:cNvSpPr/>
          <p:nvPr/>
        </p:nvSpPr>
        <p:spPr>
          <a:xfrm>
            <a:off x="1115568" y="1847088"/>
            <a:ext cx="109728" cy="109728"/>
          </a:xfrm>
          <a:prstGeom prst="ellipse">
            <a:avLst/>
          </a:prstGeom>
          <a:solidFill>
            <a:srgbClr val="FFC83D"/>
          </a:solidFill>
          <a:ln/>
        </p:spPr>
      </p:sp>
      <p:sp>
        <p:nvSpPr>
          <p:cNvPr id="7" name="Shape 5"/>
          <p:cNvSpPr/>
          <p:nvPr/>
        </p:nvSpPr>
        <p:spPr>
          <a:xfrm>
            <a:off x="1298448" y="1847088"/>
            <a:ext cx="109728" cy="109728"/>
          </a:xfrm>
          <a:prstGeom prst="ellipse">
            <a:avLst/>
          </a:prstGeom>
          <a:solidFill>
            <a:srgbClr val="1E9E68"/>
          </a:solidFill>
          <a:ln/>
        </p:spPr>
      </p:sp>
      <p:sp>
        <p:nvSpPr>
          <p:cNvPr id="8" name="Text 6"/>
          <p:cNvSpPr txBox="1"/>
          <p:nvPr/>
        </p:nvSpPr>
        <p:spPr>
          <a:xfrm>
            <a:off x="1645920" y="1764792"/>
            <a:ext cx="512064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JetBrains Mono" pitchFamily="34" charset="0"/>
                <a:ea typeface="JetBrains Mono" pitchFamily="34" charset="-122"/>
                <a:cs typeface="JetBrains Mono" pitchFamily="34" charset="-120"/>
              </a:rPr>
              <a:t>index.html</a:t>
            </a:r>
            <a:endParaRPr lang="en-US" sz="1200" dirty="0"/>
          </a:p>
        </p:txBody>
      </p:sp>
      <p:sp>
        <p:nvSpPr>
          <p:cNvPr id="9" name="Shape 7"/>
          <p:cNvSpPr/>
          <p:nvPr/>
        </p:nvSpPr>
        <p:spPr>
          <a:xfrm>
            <a:off x="804672" y="2958592"/>
            <a:ext cx="6163056" cy="368300"/>
          </a:xfrm>
          <a:prstGeom prst="rect">
            <a:avLst/>
          </a:prstGeom>
          <a:solidFill>
            <a:srgbClr val="FFC83D">
              <a:alpha val="16000"/>
            </a:srgbClr>
          </a:solidFill>
          <a:ln/>
        </p:spPr>
      </p:sp>
      <p:sp>
        <p:nvSpPr>
          <p:cNvPr id="10" name="Shape 8"/>
          <p:cNvSpPr/>
          <p:nvPr/>
        </p:nvSpPr>
        <p:spPr>
          <a:xfrm>
            <a:off x="804672" y="4431792"/>
            <a:ext cx="6163056" cy="368300"/>
          </a:xfrm>
          <a:prstGeom prst="rect">
            <a:avLst/>
          </a:prstGeom>
          <a:solidFill>
            <a:srgbClr val="FFC83D">
              <a:alpha val="16000"/>
            </a:srgbClr>
          </a:solidFill>
          <a:ln/>
        </p:spPr>
      </p:sp>
      <p:sp>
        <p:nvSpPr>
          <p:cNvPr id="11" name="Text 9"/>
          <p:cNvSpPr txBox="1"/>
          <p:nvPr/>
        </p:nvSpPr>
        <p:spPr>
          <a:xfrm>
            <a:off x="896112" y="22219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1</a:t>
            </a:r>
            <a:endParaRPr lang="en-US" sz="1400" dirty="0"/>
          </a:p>
        </p:txBody>
      </p:sp>
      <p:sp>
        <p:nvSpPr>
          <p:cNvPr id="12" name="Text 10"/>
          <p:cNvSpPr txBox="1"/>
          <p:nvPr/>
        </p:nvSpPr>
        <p:spPr>
          <a:xfrm>
            <a:off x="1417320" y="22219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!DOCTYPE</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html</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3" name="Text 11"/>
          <p:cNvSpPr txBox="1"/>
          <p:nvPr/>
        </p:nvSpPr>
        <p:spPr>
          <a:xfrm>
            <a:off x="896112" y="25902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2</a:t>
            </a:r>
            <a:endParaRPr lang="en-US" sz="1400" dirty="0"/>
          </a:p>
        </p:txBody>
      </p:sp>
      <p:sp>
        <p:nvSpPr>
          <p:cNvPr id="14" name="Text 12"/>
          <p:cNvSpPr txBox="1"/>
          <p:nvPr/>
        </p:nvSpPr>
        <p:spPr>
          <a:xfrm>
            <a:off x="1417320" y="25902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html</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lang</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"id"</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5" name="Text 13"/>
          <p:cNvSpPr txBox="1"/>
          <p:nvPr/>
        </p:nvSpPr>
        <p:spPr>
          <a:xfrm>
            <a:off x="896112" y="29585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3</a:t>
            </a:r>
            <a:endParaRPr lang="en-US" sz="1400" dirty="0"/>
          </a:p>
        </p:txBody>
      </p:sp>
      <p:sp>
        <p:nvSpPr>
          <p:cNvPr id="16" name="Text 14"/>
          <p:cNvSpPr txBox="1"/>
          <p:nvPr/>
        </p:nvSpPr>
        <p:spPr>
          <a:xfrm>
            <a:off x="1417320" y="29585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head</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7" name="Text 15"/>
          <p:cNvSpPr txBox="1"/>
          <p:nvPr/>
        </p:nvSpPr>
        <p:spPr>
          <a:xfrm>
            <a:off x="896112" y="33268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4</a:t>
            </a:r>
            <a:endParaRPr lang="en-US" sz="1400" dirty="0"/>
          </a:p>
        </p:txBody>
      </p:sp>
      <p:sp>
        <p:nvSpPr>
          <p:cNvPr id="18" name="Text 16"/>
          <p:cNvSpPr txBox="1"/>
          <p:nvPr/>
        </p:nvSpPr>
        <p:spPr>
          <a:xfrm>
            <a:off x="1417320" y="33268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meta</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charset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"UTF-8"</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9" name="Text 17"/>
          <p:cNvSpPr txBox="1"/>
          <p:nvPr/>
        </p:nvSpPr>
        <p:spPr>
          <a:xfrm>
            <a:off x="896112" y="36951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5</a:t>
            </a:r>
            <a:endParaRPr lang="en-US" sz="1400" dirty="0"/>
          </a:p>
        </p:txBody>
      </p:sp>
      <p:sp>
        <p:nvSpPr>
          <p:cNvPr id="20" name="Text 18"/>
          <p:cNvSpPr txBox="1"/>
          <p:nvPr/>
        </p:nvSpPr>
        <p:spPr>
          <a:xfrm>
            <a:off x="1417320" y="36951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title</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Profil Alya</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title</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21" name="Text 19"/>
          <p:cNvSpPr txBox="1"/>
          <p:nvPr/>
        </p:nvSpPr>
        <p:spPr>
          <a:xfrm>
            <a:off x="896112" y="40634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6</a:t>
            </a:r>
            <a:endParaRPr lang="en-US" sz="1400" dirty="0"/>
          </a:p>
        </p:txBody>
      </p:sp>
      <p:sp>
        <p:nvSpPr>
          <p:cNvPr id="22" name="Text 20"/>
          <p:cNvSpPr txBox="1"/>
          <p:nvPr/>
        </p:nvSpPr>
        <p:spPr>
          <a:xfrm>
            <a:off x="1417320" y="40634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head</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23" name="Text 21"/>
          <p:cNvSpPr txBox="1"/>
          <p:nvPr/>
        </p:nvSpPr>
        <p:spPr>
          <a:xfrm>
            <a:off x="896112" y="44317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7</a:t>
            </a:r>
            <a:endParaRPr lang="en-US" sz="1400" dirty="0"/>
          </a:p>
        </p:txBody>
      </p:sp>
      <p:sp>
        <p:nvSpPr>
          <p:cNvPr id="24" name="Text 22"/>
          <p:cNvSpPr txBox="1"/>
          <p:nvPr/>
        </p:nvSpPr>
        <p:spPr>
          <a:xfrm>
            <a:off x="1417320" y="44317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body</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25" name="Text 23"/>
          <p:cNvSpPr txBox="1"/>
          <p:nvPr/>
        </p:nvSpPr>
        <p:spPr>
          <a:xfrm>
            <a:off x="896112" y="48000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8</a:t>
            </a:r>
            <a:endParaRPr lang="en-US" sz="1400" dirty="0"/>
          </a:p>
        </p:txBody>
      </p:sp>
      <p:sp>
        <p:nvSpPr>
          <p:cNvPr id="26" name="Text 24"/>
          <p:cNvSpPr txBox="1"/>
          <p:nvPr/>
        </p:nvSpPr>
        <p:spPr>
          <a:xfrm>
            <a:off x="1417320" y="48000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h1</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Halo!</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h1</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27" name="Text 25"/>
          <p:cNvSpPr txBox="1"/>
          <p:nvPr/>
        </p:nvSpPr>
        <p:spPr>
          <a:xfrm>
            <a:off x="896112" y="51683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9</a:t>
            </a:r>
            <a:endParaRPr lang="en-US" sz="1400" dirty="0"/>
          </a:p>
        </p:txBody>
      </p:sp>
      <p:sp>
        <p:nvSpPr>
          <p:cNvPr id="28" name="Text 26"/>
          <p:cNvSpPr txBox="1"/>
          <p:nvPr/>
        </p:nvSpPr>
        <p:spPr>
          <a:xfrm>
            <a:off x="1417320" y="51683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body</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29" name="Text 27"/>
          <p:cNvSpPr txBox="1"/>
          <p:nvPr/>
        </p:nvSpPr>
        <p:spPr>
          <a:xfrm>
            <a:off x="896112" y="55366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10</a:t>
            </a:r>
            <a:endParaRPr lang="en-US" sz="1400" dirty="0"/>
          </a:p>
        </p:txBody>
      </p:sp>
      <p:sp>
        <p:nvSpPr>
          <p:cNvPr id="30" name="Text 28"/>
          <p:cNvSpPr txBox="1"/>
          <p:nvPr/>
        </p:nvSpPr>
        <p:spPr>
          <a:xfrm>
            <a:off x="1417320" y="55366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html</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31" name="Shape 29"/>
          <p:cNvSpPr/>
          <p:nvPr/>
        </p:nvSpPr>
        <p:spPr>
          <a:xfrm>
            <a:off x="7498080" y="1783080"/>
            <a:ext cx="3931920" cy="0"/>
          </a:xfrm>
          <a:prstGeom prst="line">
            <a:avLst/>
          </a:prstGeom>
          <a:noFill/>
          <a:ln w="12700">
            <a:solidFill>
              <a:srgbClr val="E3DFD6"/>
            </a:solidFill>
            <a:prstDash val="solid"/>
          </a:ln>
        </p:spPr>
      </p:sp>
      <p:sp>
        <p:nvSpPr>
          <p:cNvPr id="32" name="Text 30"/>
          <p:cNvSpPr txBox="1"/>
          <p:nvPr/>
        </p:nvSpPr>
        <p:spPr>
          <a:xfrm>
            <a:off x="7498080" y="1920240"/>
            <a:ext cx="3931920" cy="32004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JetBrains Mono" pitchFamily="34" charset="0"/>
                <a:ea typeface="JetBrains Mono" pitchFamily="34" charset="-122"/>
                <a:cs typeface="JetBrains Mono" pitchFamily="34" charset="-120"/>
              </a:rPr>
              <a:t>&lt;!DOCTYPE html&gt;</a:t>
            </a:r>
            <a:endParaRPr lang="en-US" sz="1800" dirty="0"/>
          </a:p>
        </p:txBody>
      </p:sp>
      <p:sp>
        <p:nvSpPr>
          <p:cNvPr id="33" name="Text 31"/>
          <p:cNvSpPr txBox="1"/>
          <p:nvPr/>
        </p:nvSpPr>
        <p:spPr>
          <a:xfrm>
            <a:off x="7498080" y="2286000"/>
            <a:ext cx="3931920" cy="566928"/>
          </a:xfrm>
          <a:prstGeom prst="rect">
            <a:avLst/>
          </a:prstGeom>
          <a:noFill/>
          <a:ln/>
        </p:spPr>
        <p:txBody>
          <a:bodyPr wrap="square" lIns="0" tIns="0" rIns="0" bIns="0" rtlCol="0" anchor="t"/>
          <a:lstStyle/>
          <a:p>
            <a:pPr algn="l" indent="0" marL="0">
              <a:lnSpc>
                <a:spcPct val="125000"/>
              </a:lnSpc>
              <a:buNone/>
            </a:pPr>
            <a:r>
              <a:rPr lang="en-US" sz="1600" dirty="0">
                <a:solidFill>
                  <a:srgbClr val="5B6478"/>
                </a:solidFill>
                <a:latin typeface="Plus Jakarta Sans" pitchFamily="34" charset="0"/>
                <a:ea typeface="Plus Jakarta Sans" pitchFamily="34" charset="-122"/>
                <a:cs typeface="Plus Jakarta Sans" pitchFamily="34" charset="-120"/>
              </a:rPr>
              <a:t>Memberi tahu browser: ini halaman HTML.</a:t>
            </a:r>
            <a:endParaRPr lang="en-US" sz="1600" dirty="0"/>
          </a:p>
        </p:txBody>
      </p:sp>
      <p:sp>
        <p:nvSpPr>
          <p:cNvPr id="34" name="Shape 32"/>
          <p:cNvSpPr/>
          <p:nvPr/>
        </p:nvSpPr>
        <p:spPr>
          <a:xfrm>
            <a:off x="7498080" y="2880360"/>
            <a:ext cx="3931920" cy="0"/>
          </a:xfrm>
          <a:prstGeom prst="line">
            <a:avLst/>
          </a:prstGeom>
          <a:noFill/>
          <a:ln w="12700">
            <a:solidFill>
              <a:srgbClr val="E3DFD6"/>
            </a:solidFill>
            <a:prstDash val="solid"/>
          </a:ln>
        </p:spPr>
      </p:sp>
      <p:sp>
        <p:nvSpPr>
          <p:cNvPr id="35" name="Text 33"/>
          <p:cNvSpPr txBox="1"/>
          <p:nvPr/>
        </p:nvSpPr>
        <p:spPr>
          <a:xfrm>
            <a:off x="7498080" y="3017520"/>
            <a:ext cx="3931920" cy="32004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JetBrains Mono" pitchFamily="34" charset="0"/>
                <a:ea typeface="JetBrains Mono" pitchFamily="34" charset="-122"/>
                <a:cs typeface="JetBrains Mono" pitchFamily="34" charset="-120"/>
              </a:rPr>
              <a:t>&lt;head&gt;</a:t>
            </a:r>
            <a:endParaRPr lang="en-US" sz="1800" dirty="0"/>
          </a:p>
        </p:txBody>
      </p:sp>
      <p:sp>
        <p:nvSpPr>
          <p:cNvPr id="36" name="Text 34"/>
          <p:cNvSpPr txBox="1"/>
          <p:nvPr/>
        </p:nvSpPr>
        <p:spPr>
          <a:xfrm>
            <a:off x="7498080" y="3383280"/>
            <a:ext cx="3931920" cy="566928"/>
          </a:xfrm>
          <a:prstGeom prst="rect">
            <a:avLst/>
          </a:prstGeom>
          <a:noFill/>
          <a:ln/>
        </p:spPr>
        <p:txBody>
          <a:bodyPr wrap="square" lIns="0" tIns="0" rIns="0" bIns="0" rtlCol="0" anchor="t"/>
          <a:lstStyle/>
          <a:p>
            <a:pPr algn="l" indent="0" marL="0">
              <a:lnSpc>
                <a:spcPct val="125000"/>
              </a:lnSpc>
              <a:buNone/>
            </a:pPr>
            <a:r>
              <a:rPr lang="en-US" sz="1600" dirty="0">
                <a:solidFill>
                  <a:srgbClr val="5B6478"/>
                </a:solidFill>
                <a:latin typeface="Plus Jakarta Sans" pitchFamily="34" charset="0"/>
                <a:ea typeface="Plus Jakarta Sans" pitchFamily="34" charset="-122"/>
                <a:cs typeface="Plus Jakarta Sans" pitchFamily="34" charset="-120"/>
              </a:rPr>
              <a:t>Info tentang halaman. Tidak terlihat di layar.</a:t>
            </a:r>
            <a:endParaRPr lang="en-US" sz="1600" dirty="0"/>
          </a:p>
        </p:txBody>
      </p:sp>
      <p:sp>
        <p:nvSpPr>
          <p:cNvPr id="37" name="Shape 35"/>
          <p:cNvSpPr/>
          <p:nvPr/>
        </p:nvSpPr>
        <p:spPr>
          <a:xfrm>
            <a:off x="7498080" y="3977640"/>
            <a:ext cx="3931920" cy="0"/>
          </a:xfrm>
          <a:prstGeom prst="line">
            <a:avLst/>
          </a:prstGeom>
          <a:noFill/>
          <a:ln w="12700">
            <a:solidFill>
              <a:srgbClr val="E3DFD6"/>
            </a:solidFill>
            <a:prstDash val="solid"/>
          </a:ln>
        </p:spPr>
      </p:sp>
      <p:sp>
        <p:nvSpPr>
          <p:cNvPr id="38" name="Text 36"/>
          <p:cNvSpPr txBox="1"/>
          <p:nvPr/>
        </p:nvSpPr>
        <p:spPr>
          <a:xfrm>
            <a:off x="7498080" y="4114800"/>
            <a:ext cx="3931920" cy="32004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JetBrains Mono" pitchFamily="34" charset="0"/>
                <a:ea typeface="JetBrains Mono" pitchFamily="34" charset="-122"/>
                <a:cs typeface="JetBrains Mono" pitchFamily="34" charset="-120"/>
              </a:rPr>
              <a:t>&lt;title&gt;</a:t>
            </a:r>
            <a:endParaRPr lang="en-US" sz="1800" dirty="0"/>
          </a:p>
        </p:txBody>
      </p:sp>
      <p:sp>
        <p:nvSpPr>
          <p:cNvPr id="39" name="Text 37"/>
          <p:cNvSpPr txBox="1"/>
          <p:nvPr/>
        </p:nvSpPr>
        <p:spPr>
          <a:xfrm>
            <a:off x="7498080" y="4480560"/>
            <a:ext cx="3931920" cy="566928"/>
          </a:xfrm>
          <a:prstGeom prst="rect">
            <a:avLst/>
          </a:prstGeom>
          <a:noFill/>
          <a:ln/>
        </p:spPr>
        <p:txBody>
          <a:bodyPr wrap="square" lIns="0" tIns="0" rIns="0" bIns="0" rtlCol="0" anchor="t"/>
          <a:lstStyle/>
          <a:p>
            <a:pPr algn="l" indent="0" marL="0">
              <a:lnSpc>
                <a:spcPct val="125000"/>
              </a:lnSpc>
              <a:buNone/>
            </a:pPr>
            <a:r>
              <a:rPr lang="en-US" sz="1600" dirty="0">
                <a:solidFill>
                  <a:srgbClr val="5B6478"/>
                </a:solidFill>
                <a:latin typeface="Plus Jakarta Sans" pitchFamily="34" charset="0"/>
                <a:ea typeface="Plus Jakarta Sans" pitchFamily="34" charset="-122"/>
                <a:cs typeface="Plus Jakarta Sans" pitchFamily="34" charset="-120"/>
              </a:rPr>
              <a:t>Judul yang muncul di tab browser.</a:t>
            </a:r>
            <a:endParaRPr lang="en-US" sz="1600" dirty="0"/>
          </a:p>
        </p:txBody>
      </p:sp>
      <p:sp>
        <p:nvSpPr>
          <p:cNvPr id="40" name="Shape 38"/>
          <p:cNvSpPr/>
          <p:nvPr/>
        </p:nvSpPr>
        <p:spPr>
          <a:xfrm>
            <a:off x="7498080" y="5074920"/>
            <a:ext cx="3931920" cy="0"/>
          </a:xfrm>
          <a:prstGeom prst="line">
            <a:avLst/>
          </a:prstGeom>
          <a:noFill/>
          <a:ln w="12700">
            <a:solidFill>
              <a:srgbClr val="E3DFD6"/>
            </a:solidFill>
            <a:prstDash val="solid"/>
          </a:ln>
        </p:spPr>
      </p:sp>
      <p:sp>
        <p:nvSpPr>
          <p:cNvPr id="41" name="Text 39"/>
          <p:cNvSpPr txBox="1"/>
          <p:nvPr/>
        </p:nvSpPr>
        <p:spPr>
          <a:xfrm>
            <a:off x="7498080" y="5212080"/>
            <a:ext cx="3931920" cy="32004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JetBrains Mono" pitchFamily="34" charset="0"/>
                <a:ea typeface="JetBrains Mono" pitchFamily="34" charset="-122"/>
                <a:cs typeface="JetBrains Mono" pitchFamily="34" charset="-120"/>
              </a:rPr>
              <a:t>&lt;body&gt;</a:t>
            </a:r>
            <a:endParaRPr lang="en-US" sz="1800" dirty="0"/>
          </a:p>
        </p:txBody>
      </p:sp>
      <p:sp>
        <p:nvSpPr>
          <p:cNvPr id="42" name="Text 40"/>
          <p:cNvSpPr txBox="1"/>
          <p:nvPr/>
        </p:nvSpPr>
        <p:spPr>
          <a:xfrm>
            <a:off x="7498080" y="5577840"/>
            <a:ext cx="3931920" cy="566928"/>
          </a:xfrm>
          <a:prstGeom prst="rect">
            <a:avLst/>
          </a:prstGeom>
          <a:noFill/>
          <a:ln/>
        </p:spPr>
        <p:txBody>
          <a:bodyPr wrap="square" lIns="0" tIns="0" rIns="0" bIns="0" rtlCol="0" anchor="t"/>
          <a:lstStyle/>
          <a:p>
            <a:pPr algn="l" indent="0" marL="0">
              <a:lnSpc>
                <a:spcPct val="125000"/>
              </a:lnSpc>
              <a:buNone/>
            </a:pPr>
            <a:r>
              <a:rPr lang="en-US" sz="1600" dirty="0">
                <a:solidFill>
                  <a:srgbClr val="5B6478"/>
                </a:solidFill>
                <a:latin typeface="Plus Jakarta Sans" pitchFamily="34" charset="0"/>
                <a:ea typeface="Plus Jakarta Sans" pitchFamily="34" charset="-122"/>
                <a:cs typeface="Plus Jakarta Sans" pitchFamily="34" charset="-120"/>
              </a:rPr>
              <a:t>Semua yang terlihat di layar ada di sini.</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14</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Teks dan judul</a:t>
            </a:r>
            <a:endParaRPr lang="en-US" sz="4000" dirty="0"/>
          </a:p>
        </p:txBody>
      </p:sp>
      <p:sp>
        <p:nvSpPr>
          <p:cNvPr id="4" name="Shape 2"/>
          <p:cNvSpPr/>
          <p:nvPr/>
        </p:nvSpPr>
        <p:spPr>
          <a:xfrm>
            <a:off x="731520" y="1691640"/>
            <a:ext cx="6400800" cy="2131568"/>
          </a:xfrm>
          <a:prstGeom prst="roundRect">
            <a:avLst>
              <a:gd name="adj" fmla="val 6006"/>
            </a:avLst>
          </a:prstGeom>
          <a:solidFill>
            <a:srgbClr val="0B1530"/>
          </a:solidFill>
          <a:ln/>
          <a:effectLst>
            <a:outerShdw sx="100000" sy="100000" kx="0" ky="0" algn="bl" rotWithShape="0" blurRad="177800" dist="38100" dir="5400000">
              <a:srgbClr val="000000">
                <a:alpha val="40000"/>
              </a:srgbClr>
            </a:outerShdw>
          </a:effectLst>
        </p:spPr>
      </p:sp>
      <p:sp>
        <p:nvSpPr>
          <p:cNvPr id="5" name="Shape 3"/>
          <p:cNvSpPr/>
          <p:nvPr/>
        </p:nvSpPr>
        <p:spPr>
          <a:xfrm>
            <a:off x="932688" y="1847088"/>
            <a:ext cx="109728" cy="109728"/>
          </a:xfrm>
          <a:prstGeom prst="ellipse">
            <a:avLst/>
          </a:prstGeom>
          <a:solidFill>
            <a:srgbClr val="E63946"/>
          </a:solidFill>
          <a:ln/>
        </p:spPr>
      </p:sp>
      <p:sp>
        <p:nvSpPr>
          <p:cNvPr id="6" name="Shape 4"/>
          <p:cNvSpPr/>
          <p:nvPr/>
        </p:nvSpPr>
        <p:spPr>
          <a:xfrm>
            <a:off x="1115568" y="1847088"/>
            <a:ext cx="109728" cy="109728"/>
          </a:xfrm>
          <a:prstGeom prst="ellipse">
            <a:avLst/>
          </a:prstGeom>
          <a:solidFill>
            <a:srgbClr val="FFC83D"/>
          </a:solidFill>
          <a:ln/>
        </p:spPr>
      </p:sp>
      <p:sp>
        <p:nvSpPr>
          <p:cNvPr id="7" name="Shape 5"/>
          <p:cNvSpPr/>
          <p:nvPr/>
        </p:nvSpPr>
        <p:spPr>
          <a:xfrm>
            <a:off x="1298448" y="1847088"/>
            <a:ext cx="109728" cy="109728"/>
          </a:xfrm>
          <a:prstGeom prst="ellipse">
            <a:avLst/>
          </a:prstGeom>
          <a:solidFill>
            <a:srgbClr val="1E9E68"/>
          </a:solidFill>
          <a:ln/>
        </p:spPr>
      </p:sp>
      <p:sp>
        <p:nvSpPr>
          <p:cNvPr id="8" name="Text 6"/>
          <p:cNvSpPr txBox="1"/>
          <p:nvPr/>
        </p:nvSpPr>
        <p:spPr>
          <a:xfrm>
            <a:off x="1645920" y="1764792"/>
            <a:ext cx="521208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JetBrains Mono" pitchFamily="34" charset="0"/>
                <a:ea typeface="JetBrains Mono" pitchFamily="34" charset="-122"/>
                <a:cs typeface="JetBrains Mono" pitchFamily="34" charset="-120"/>
              </a:rPr>
              <a:t>index.html</a:t>
            </a:r>
            <a:endParaRPr lang="en-US" sz="1200" dirty="0"/>
          </a:p>
        </p:txBody>
      </p:sp>
      <p:sp>
        <p:nvSpPr>
          <p:cNvPr id="9" name="Text 7"/>
          <p:cNvSpPr txBox="1"/>
          <p:nvPr/>
        </p:nvSpPr>
        <p:spPr>
          <a:xfrm>
            <a:off x="896112" y="22219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1</a:t>
            </a:r>
            <a:endParaRPr lang="en-US" sz="1400" dirty="0"/>
          </a:p>
        </p:txBody>
      </p:sp>
      <p:sp>
        <p:nvSpPr>
          <p:cNvPr id="10" name="Text 8"/>
          <p:cNvSpPr txBox="1"/>
          <p:nvPr/>
        </p:nvSpPr>
        <p:spPr>
          <a:xfrm>
            <a:off x="1417320" y="2221992"/>
            <a:ext cx="56692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h1</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Alya Putri</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h1</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1" name="Text 9"/>
          <p:cNvSpPr txBox="1"/>
          <p:nvPr/>
        </p:nvSpPr>
        <p:spPr>
          <a:xfrm>
            <a:off x="896112" y="25902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2</a:t>
            </a:r>
            <a:endParaRPr lang="en-US" sz="1400" dirty="0"/>
          </a:p>
        </p:txBody>
      </p:sp>
      <p:sp>
        <p:nvSpPr>
          <p:cNvPr id="12" name="Text 10"/>
          <p:cNvSpPr txBox="1"/>
          <p:nvPr/>
        </p:nvSpPr>
        <p:spPr>
          <a:xfrm>
            <a:off x="1417320" y="2590292"/>
            <a:ext cx="56692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h2</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Tentang Saya</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h2</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3" name="Text 11"/>
          <p:cNvSpPr txBox="1"/>
          <p:nvPr/>
        </p:nvSpPr>
        <p:spPr>
          <a:xfrm>
            <a:off x="896112" y="29585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3</a:t>
            </a:r>
            <a:endParaRPr lang="en-US" sz="1400" dirty="0"/>
          </a:p>
        </p:txBody>
      </p:sp>
      <p:sp>
        <p:nvSpPr>
          <p:cNvPr id="14" name="Text 12"/>
          <p:cNvSpPr txBox="1"/>
          <p:nvPr/>
        </p:nvSpPr>
        <p:spPr>
          <a:xfrm>
            <a:off x="1417320" y="2958592"/>
            <a:ext cx="56692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p</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Aku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strong</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suka</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strong</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web.</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p</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5" name="Text 13"/>
          <p:cNvSpPr txBox="1"/>
          <p:nvPr/>
        </p:nvSpPr>
        <p:spPr>
          <a:xfrm>
            <a:off x="896112" y="33268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4</a:t>
            </a:r>
            <a:endParaRPr lang="en-US" sz="1400" dirty="0"/>
          </a:p>
        </p:txBody>
      </p:sp>
      <p:sp>
        <p:nvSpPr>
          <p:cNvPr id="16" name="Text 14"/>
          <p:cNvSpPr txBox="1"/>
          <p:nvPr/>
        </p:nvSpPr>
        <p:spPr>
          <a:xfrm>
            <a:off x="1417320" y="3326892"/>
            <a:ext cx="56692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p</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Aku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em</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ingin</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em</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belajar.</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p</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7" name="Shape 15"/>
          <p:cNvSpPr/>
          <p:nvPr/>
        </p:nvSpPr>
        <p:spPr>
          <a:xfrm>
            <a:off x="7498080" y="1691640"/>
            <a:ext cx="4023360" cy="2131568"/>
          </a:xfrm>
          <a:prstGeom prst="roundRect">
            <a:avLst>
              <a:gd name="adj" fmla="val 6864"/>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18" name="Shape 16"/>
          <p:cNvSpPr/>
          <p:nvPr/>
        </p:nvSpPr>
        <p:spPr>
          <a:xfrm>
            <a:off x="7516368" y="1709928"/>
            <a:ext cx="3986784" cy="384048"/>
          </a:xfrm>
          <a:prstGeom prst="roundRect">
            <a:avLst>
              <a:gd name="adj" fmla="val 33333"/>
            </a:avLst>
          </a:prstGeom>
          <a:solidFill>
            <a:srgbClr val="EEF1F7"/>
          </a:solidFill>
          <a:ln/>
        </p:spPr>
      </p:sp>
      <p:sp>
        <p:nvSpPr>
          <p:cNvPr id="19" name="Shape 17"/>
          <p:cNvSpPr/>
          <p:nvPr/>
        </p:nvSpPr>
        <p:spPr>
          <a:xfrm>
            <a:off x="7516368" y="1892808"/>
            <a:ext cx="3986784" cy="201168"/>
          </a:xfrm>
          <a:prstGeom prst="rect">
            <a:avLst/>
          </a:prstGeom>
          <a:solidFill>
            <a:srgbClr val="EEF1F7"/>
          </a:solidFill>
          <a:ln/>
        </p:spPr>
      </p:sp>
      <p:sp>
        <p:nvSpPr>
          <p:cNvPr id="20" name="Shape 18"/>
          <p:cNvSpPr/>
          <p:nvPr/>
        </p:nvSpPr>
        <p:spPr>
          <a:xfrm>
            <a:off x="7680960" y="1828800"/>
            <a:ext cx="100584" cy="100584"/>
          </a:xfrm>
          <a:prstGeom prst="ellipse">
            <a:avLst/>
          </a:prstGeom>
          <a:solidFill>
            <a:srgbClr val="E63946"/>
          </a:solidFill>
          <a:ln/>
        </p:spPr>
      </p:sp>
      <p:sp>
        <p:nvSpPr>
          <p:cNvPr id="21" name="Shape 19"/>
          <p:cNvSpPr/>
          <p:nvPr/>
        </p:nvSpPr>
        <p:spPr>
          <a:xfrm>
            <a:off x="7854696" y="1828800"/>
            <a:ext cx="100584" cy="100584"/>
          </a:xfrm>
          <a:prstGeom prst="ellipse">
            <a:avLst/>
          </a:prstGeom>
          <a:solidFill>
            <a:srgbClr val="FFC83D"/>
          </a:solidFill>
          <a:ln/>
        </p:spPr>
      </p:sp>
      <p:sp>
        <p:nvSpPr>
          <p:cNvPr id="22" name="Shape 20"/>
          <p:cNvSpPr/>
          <p:nvPr/>
        </p:nvSpPr>
        <p:spPr>
          <a:xfrm>
            <a:off x="8028432" y="1828800"/>
            <a:ext cx="100584" cy="100584"/>
          </a:xfrm>
          <a:prstGeom prst="ellipse">
            <a:avLst/>
          </a:prstGeom>
          <a:solidFill>
            <a:srgbClr val="1E9E68"/>
          </a:solidFill>
          <a:ln/>
        </p:spPr>
      </p:sp>
      <p:sp>
        <p:nvSpPr>
          <p:cNvPr id="23" name="Shape 21"/>
          <p:cNvSpPr/>
          <p:nvPr/>
        </p:nvSpPr>
        <p:spPr>
          <a:xfrm>
            <a:off x="8366760" y="1773936"/>
            <a:ext cx="2926080" cy="237744"/>
          </a:xfrm>
          <a:prstGeom prst="roundRect">
            <a:avLst>
              <a:gd name="adj" fmla="val 50000"/>
            </a:avLst>
          </a:prstGeom>
          <a:solidFill>
            <a:srgbClr val="FFFFFF"/>
          </a:solidFill>
          <a:ln/>
        </p:spPr>
      </p:sp>
      <p:sp>
        <p:nvSpPr>
          <p:cNvPr id="24" name="Text 22"/>
          <p:cNvSpPr txBox="1"/>
          <p:nvPr/>
        </p:nvSpPr>
        <p:spPr>
          <a:xfrm>
            <a:off x="8503920" y="1773936"/>
            <a:ext cx="265176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localhost:5500</a:t>
            </a:r>
            <a:endParaRPr lang="en-US" sz="1100" dirty="0"/>
          </a:p>
        </p:txBody>
      </p:sp>
      <p:sp>
        <p:nvSpPr>
          <p:cNvPr id="25" name="Text 23"/>
          <p:cNvSpPr txBox="1"/>
          <p:nvPr/>
        </p:nvSpPr>
        <p:spPr>
          <a:xfrm>
            <a:off x="7744968" y="2203704"/>
            <a:ext cx="3566160" cy="411480"/>
          </a:xfrm>
          <a:prstGeom prst="rect">
            <a:avLst/>
          </a:prstGeom>
          <a:noFill/>
          <a:ln/>
        </p:spPr>
        <p:txBody>
          <a:bodyPr wrap="square" lIns="0" tIns="0" rIns="0" bIns="0" rtlCol="0" anchor="t"/>
          <a:lstStyle/>
          <a:p>
            <a:pPr algn="l" indent="0" marL="0">
              <a:lnSpc>
                <a:spcPct val="115000"/>
              </a:lnSpc>
              <a:buNone/>
            </a:pPr>
            <a:r>
              <a:rPr lang="en-US" sz="2600" b="1" dirty="0">
                <a:solidFill>
                  <a:srgbClr val="000000"/>
                </a:solidFill>
                <a:latin typeface="Times New Roman" pitchFamily="34" charset="0"/>
                <a:ea typeface="Times New Roman" pitchFamily="34" charset="-122"/>
                <a:cs typeface="Times New Roman" pitchFamily="34" charset="-120"/>
              </a:rPr>
              <a:t>Alya Putri</a:t>
            </a:r>
            <a:endParaRPr lang="en-US" sz="2600" dirty="0"/>
          </a:p>
        </p:txBody>
      </p:sp>
      <p:sp>
        <p:nvSpPr>
          <p:cNvPr id="26" name="Text 24"/>
          <p:cNvSpPr txBox="1"/>
          <p:nvPr/>
        </p:nvSpPr>
        <p:spPr>
          <a:xfrm>
            <a:off x="7744968" y="2660904"/>
            <a:ext cx="3566160" cy="320040"/>
          </a:xfrm>
          <a:prstGeom prst="rect">
            <a:avLst/>
          </a:prstGeom>
          <a:noFill/>
          <a:ln/>
        </p:spPr>
        <p:txBody>
          <a:bodyPr wrap="square" lIns="0" tIns="0" rIns="0" bIns="0" rtlCol="0" anchor="t"/>
          <a:lstStyle/>
          <a:p>
            <a:pPr algn="l" indent="0" marL="0">
              <a:lnSpc>
                <a:spcPct val="115000"/>
              </a:lnSpc>
              <a:buNone/>
            </a:pPr>
            <a:r>
              <a:rPr lang="en-US" sz="2000" b="1" dirty="0">
                <a:solidFill>
                  <a:srgbClr val="000000"/>
                </a:solidFill>
                <a:latin typeface="Times New Roman" pitchFamily="34" charset="0"/>
                <a:ea typeface="Times New Roman" pitchFamily="34" charset="-122"/>
                <a:cs typeface="Times New Roman" pitchFamily="34" charset="-120"/>
              </a:rPr>
              <a:t>Tentang Saya</a:t>
            </a:r>
            <a:endParaRPr lang="en-US" sz="2000" dirty="0"/>
          </a:p>
        </p:txBody>
      </p:sp>
      <p:sp>
        <p:nvSpPr>
          <p:cNvPr id="27" name="Text 25"/>
          <p:cNvSpPr txBox="1"/>
          <p:nvPr/>
        </p:nvSpPr>
        <p:spPr>
          <a:xfrm>
            <a:off x="7744968" y="3026664"/>
            <a:ext cx="3566160" cy="274320"/>
          </a:xfrm>
          <a:prstGeom prst="rect">
            <a:avLst/>
          </a:prstGeom>
          <a:noFill/>
          <a:ln/>
        </p:spPr>
        <p:txBody>
          <a:bodyPr wrap="square" lIns="0" tIns="0" rIns="0" bIns="0" rtlCol="0" anchor="t"/>
          <a:lstStyle/>
          <a:p>
            <a:pPr algn="l" indent="0" marL="0">
              <a:lnSpc>
                <a:spcPct val="115000"/>
              </a:lnSpc>
              <a:buNone/>
            </a:pPr>
            <a:r>
              <a:rPr lang="en-US" sz="1500" dirty="0">
                <a:solidFill>
                  <a:srgbClr val="000000"/>
                </a:solidFill>
                <a:latin typeface="Times New Roman" pitchFamily="34" charset="0"/>
                <a:ea typeface="Times New Roman" pitchFamily="34" charset="-122"/>
                <a:cs typeface="Times New Roman" pitchFamily="34" charset="-120"/>
              </a:rPr>
              <a:t>Aku </a:t>
            </a:r>
            <a:pPr algn="l" indent="0" marL="0">
              <a:lnSpc>
                <a:spcPct val="115000"/>
              </a:lnSpc>
              <a:buNone/>
            </a:pPr>
            <a:r>
              <a:rPr lang="en-US" sz="1500" b="1" dirty="0">
                <a:solidFill>
                  <a:srgbClr val="000000"/>
                </a:solidFill>
                <a:latin typeface="Times New Roman" pitchFamily="34" charset="0"/>
                <a:ea typeface="Times New Roman" pitchFamily="34" charset="-122"/>
                <a:cs typeface="Times New Roman" pitchFamily="34" charset="-120"/>
              </a:rPr>
              <a:t>suka</a:t>
            </a:r>
            <a:pPr algn="l" indent="0" marL="0">
              <a:lnSpc>
                <a:spcPct val="115000"/>
              </a:lnSpc>
              <a:buNone/>
            </a:pPr>
            <a:r>
              <a:rPr lang="en-US" sz="1500" dirty="0">
                <a:solidFill>
                  <a:srgbClr val="000000"/>
                </a:solidFill>
                <a:latin typeface="Times New Roman" pitchFamily="34" charset="0"/>
                <a:ea typeface="Times New Roman" pitchFamily="34" charset="-122"/>
                <a:cs typeface="Times New Roman" pitchFamily="34" charset="-120"/>
              </a:rPr>
              <a:t> web.</a:t>
            </a:r>
            <a:endParaRPr lang="en-US" sz="1500" dirty="0"/>
          </a:p>
        </p:txBody>
      </p:sp>
      <p:sp>
        <p:nvSpPr>
          <p:cNvPr id="28" name="Text 26"/>
          <p:cNvSpPr txBox="1"/>
          <p:nvPr/>
        </p:nvSpPr>
        <p:spPr>
          <a:xfrm>
            <a:off x="7744968" y="3300984"/>
            <a:ext cx="3566160" cy="274320"/>
          </a:xfrm>
          <a:prstGeom prst="rect">
            <a:avLst/>
          </a:prstGeom>
          <a:noFill/>
          <a:ln/>
        </p:spPr>
        <p:txBody>
          <a:bodyPr wrap="square" lIns="0" tIns="0" rIns="0" bIns="0" rtlCol="0" anchor="t"/>
          <a:lstStyle/>
          <a:p>
            <a:pPr algn="l" indent="0" marL="0">
              <a:lnSpc>
                <a:spcPct val="115000"/>
              </a:lnSpc>
              <a:buNone/>
            </a:pPr>
            <a:r>
              <a:rPr lang="en-US" sz="1500" dirty="0">
                <a:solidFill>
                  <a:srgbClr val="000000"/>
                </a:solidFill>
                <a:latin typeface="Times New Roman" pitchFamily="34" charset="0"/>
                <a:ea typeface="Times New Roman" pitchFamily="34" charset="-122"/>
                <a:cs typeface="Times New Roman" pitchFamily="34" charset="-120"/>
              </a:rPr>
              <a:t>Aku </a:t>
            </a:r>
            <a:pPr algn="l" indent="0" marL="0">
              <a:lnSpc>
                <a:spcPct val="115000"/>
              </a:lnSpc>
              <a:buNone/>
            </a:pPr>
            <a:r>
              <a:rPr lang="en-US" sz="1500" i="1" dirty="0">
                <a:solidFill>
                  <a:srgbClr val="000000"/>
                </a:solidFill>
                <a:latin typeface="Times New Roman" pitchFamily="34" charset="0"/>
                <a:ea typeface="Times New Roman" pitchFamily="34" charset="-122"/>
                <a:cs typeface="Times New Roman" pitchFamily="34" charset="-120"/>
              </a:rPr>
              <a:t>ingin</a:t>
            </a:r>
            <a:pPr algn="l" indent="0" marL="0">
              <a:lnSpc>
                <a:spcPct val="115000"/>
              </a:lnSpc>
              <a:buNone/>
            </a:pPr>
            <a:r>
              <a:rPr lang="en-US" sz="1500" dirty="0">
                <a:solidFill>
                  <a:srgbClr val="000000"/>
                </a:solidFill>
                <a:latin typeface="Times New Roman" pitchFamily="34" charset="0"/>
                <a:ea typeface="Times New Roman" pitchFamily="34" charset="-122"/>
                <a:cs typeface="Times New Roman" pitchFamily="34" charset="-120"/>
              </a:rPr>
              <a:t> belajar.</a:t>
            </a:r>
            <a:endParaRPr lang="en-US" sz="1500" dirty="0"/>
          </a:p>
        </p:txBody>
      </p:sp>
      <p:sp>
        <p:nvSpPr>
          <p:cNvPr id="29" name="Shape 27"/>
          <p:cNvSpPr/>
          <p:nvPr/>
        </p:nvSpPr>
        <p:spPr>
          <a:xfrm>
            <a:off x="731520" y="4251960"/>
            <a:ext cx="10789920" cy="0"/>
          </a:xfrm>
          <a:prstGeom prst="line">
            <a:avLst/>
          </a:prstGeom>
          <a:noFill/>
          <a:ln w="12700">
            <a:solidFill>
              <a:srgbClr val="E3DFD6"/>
            </a:solidFill>
            <a:prstDash val="solid"/>
          </a:ln>
        </p:spPr>
      </p:sp>
      <p:sp>
        <p:nvSpPr>
          <p:cNvPr id="30" name="Text 28"/>
          <p:cNvSpPr txBox="1"/>
          <p:nvPr/>
        </p:nvSpPr>
        <p:spPr>
          <a:xfrm>
            <a:off x="731520" y="4343400"/>
            <a:ext cx="2377440" cy="45720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JetBrains Mono" pitchFamily="34" charset="0"/>
                <a:ea typeface="JetBrains Mono" pitchFamily="34" charset="-122"/>
                <a:cs typeface="JetBrains Mono" pitchFamily="34" charset="-120"/>
              </a:rPr>
              <a:t>h1 – h6</a:t>
            </a:r>
            <a:endParaRPr lang="en-US" sz="1800" dirty="0"/>
          </a:p>
        </p:txBody>
      </p:sp>
      <p:sp>
        <p:nvSpPr>
          <p:cNvPr id="31" name="Text 29"/>
          <p:cNvSpPr txBox="1"/>
          <p:nvPr/>
        </p:nvSpPr>
        <p:spPr>
          <a:xfrm>
            <a:off x="3291840" y="4343400"/>
            <a:ext cx="8138160" cy="457200"/>
          </a:xfrm>
          <a:prstGeom prst="rect">
            <a:avLst/>
          </a:prstGeom>
          <a:noFill/>
          <a:ln/>
        </p:spPr>
        <p:txBody>
          <a:bodyPr wrap="square" lIns="0" tIns="0" rIns="0" bIns="0" rtlCol="0" anchor="ctr"/>
          <a:lstStyle/>
          <a:p>
            <a:pPr algn="l" indent="0" marL="0">
              <a:lnSpc>
                <a:spcPct val="115000"/>
              </a:lnSpc>
              <a:buNone/>
            </a:pPr>
            <a:r>
              <a:rPr lang="en-US" sz="1700" dirty="0">
                <a:solidFill>
                  <a:srgbClr val="0E1B3D"/>
                </a:solidFill>
                <a:latin typeface="Plus Jakarta Sans" pitchFamily="34" charset="0"/>
                <a:ea typeface="Plus Jakarta Sans" pitchFamily="34" charset="-122"/>
                <a:cs typeface="Plus Jakarta Sans" pitchFamily="34" charset="-120"/>
              </a:rPr>
              <a:t>Judul, dari yang paling besar sampai paling kecil. Pakai h1 sekali saja.</a:t>
            </a:r>
            <a:endParaRPr lang="en-US" sz="1700" dirty="0"/>
          </a:p>
        </p:txBody>
      </p:sp>
      <p:sp>
        <p:nvSpPr>
          <p:cNvPr id="32" name="Shape 30"/>
          <p:cNvSpPr/>
          <p:nvPr/>
        </p:nvSpPr>
        <p:spPr>
          <a:xfrm>
            <a:off x="731520" y="4910328"/>
            <a:ext cx="10789920" cy="0"/>
          </a:xfrm>
          <a:prstGeom prst="line">
            <a:avLst/>
          </a:prstGeom>
          <a:noFill/>
          <a:ln w="12700">
            <a:solidFill>
              <a:srgbClr val="E3DFD6"/>
            </a:solidFill>
            <a:prstDash val="solid"/>
          </a:ln>
        </p:spPr>
      </p:sp>
      <p:sp>
        <p:nvSpPr>
          <p:cNvPr id="33" name="Text 31"/>
          <p:cNvSpPr txBox="1"/>
          <p:nvPr/>
        </p:nvSpPr>
        <p:spPr>
          <a:xfrm>
            <a:off x="731520" y="5001768"/>
            <a:ext cx="2377440" cy="45720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JetBrains Mono" pitchFamily="34" charset="0"/>
                <a:ea typeface="JetBrains Mono" pitchFamily="34" charset="-122"/>
                <a:cs typeface="JetBrains Mono" pitchFamily="34" charset="-120"/>
              </a:rPr>
              <a:t>strong · em</a:t>
            </a:r>
            <a:endParaRPr lang="en-US" sz="1800" dirty="0"/>
          </a:p>
        </p:txBody>
      </p:sp>
      <p:sp>
        <p:nvSpPr>
          <p:cNvPr id="34" name="Text 32"/>
          <p:cNvSpPr txBox="1"/>
          <p:nvPr/>
        </p:nvSpPr>
        <p:spPr>
          <a:xfrm>
            <a:off x="3291840" y="5001768"/>
            <a:ext cx="8138160" cy="457200"/>
          </a:xfrm>
          <a:prstGeom prst="rect">
            <a:avLst/>
          </a:prstGeom>
          <a:noFill/>
          <a:ln/>
        </p:spPr>
        <p:txBody>
          <a:bodyPr wrap="square" lIns="0" tIns="0" rIns="0" bIns="0" rtlCol="0" anchor="ctr"/>
          <a:lstStyle/>
          <a:p>
            <a:pPr algn="l" indent="0" marL="0">
              <a:lnSpc>
                <a:spcPct val="115000"/>
              </a:lnSpc>
              <a:buNone/>
            </a:pPr>
            <a:r>
              <a:rPr lang="en-US" sz="1700" dirty="0">
                <a:solidFill>
                  <a:srgbClr val="0E1B3D"/>
                </a:solidFill>
                <a:latin typeface="Plus Jakarta Sans" pitchFamily="34" charset="0"/>
                <a:ea typeface="Plus Jakarta Sans" pitchFamily="34" charset="-122"/>
                <a:cs typeface="Plus Jakarta Sans" pitchFamily="34" charset="-120"/>
              </a:rPr>
              <a:t>strong = tebal (penting).  em = miring (ditekankan).</a:t>
            </a:r>
            <a:endParaRPr lang="en-US" sz="1700" dirty="0"/>
          </a:p>
        </p:txBody>
      </p:sp>
      <p:sp>
        <p:nvSpPr>
          <p:cNvPr id="35" name="Shape 33"/>
          <p:cNvSpPr/>
          <p:nvPr/>
        </p:nvSpPr>
        <p:spPr>
          <a:xfrm>
            <a:off x="731520" y="5568696"/>
            <a:ext cx="10789920" cy="0"/>
          </a:xfrm>
          <a:prstGeom prst="line">
            <a:avLst/>
          </a:prstGeom>
          <a:noFill/>
          <a:ln w="12700">
            <a:solidFill>
              <a:srgbClr val="E3DFD6"/>
            </a:solidFill>
            <a:prstDash val="solid"/>
          </a:ln>
        </p:spPr>
      </p:sp>
      <p:sp>
        <p:nvSpPr>
          <p:cNvPr id="36" name="Text 34"/>
          <p:cNvSpPr txBox="1"/>
          <p:nvPr/>
        </p:nvSpPr>
        <p:spPr>
          <a:xfrm>
            <a:off x="731520" y="5660136"/>
            <a:ext cx="2377440" cy="457200"/>
          </a:xfrm>
          <a:prstGeom prst="rect">
            <a:avLst/>
          </a:prstGeom>
          <a:noFill/>
          <a:ln/>
        </p:spPr>
        <p:txBody>
          <a:bodyPr wrap="none" lIns="0" tIns="0" rIns="0" bIns="0" rtlCol="0" anchor="ctr"/>
          <a:lstStyle/>
          <a:p>
            <a:pPr algn="l" indent="0" marL="0">
              <a:lnSpc>
                <a:spcPct val="115000"/>
              </a:lnSpc>
              <a:buNone/>
            </a:pPr>
            <a:r>
              <a:rPr lang="en-US" sz="1800" b="1" dirty="0">
                <a:solidFill>
                  <a:srgbClr val="1F4FD8"/>
                </a:solidFill>
                <a:latin typeface="JetBrains Mono" pitchFamily="34" charset="0"/>
                <a:ea typeface="JetBrains Mono" pitchFamily="34" charset="-122"/>
                <a:cs typeface="JetBrains Mono" pitchFamily="34" charset="-120"/>
              </a:rPr>
              <a:t>p</a:t>
            </a:r>
            <a:endParaRPr lang="en-US" sz="1800" dirty="0"/>
          </a:p>
        </p:txBody>
      </p:sp>
      <p:sp>
        <p:nvSpPr>
          <p:cNvPr id="37" name="Text 35"/>
          <p:cNvSpPr txBox="1"/>
          <p:nvPr/>
        </p:nvSpPr>
        <p:spPr>
          <a:xfrm>
            <a:off x="3291840" y="5660136"/>
            <a:ext cx="8138160" cy="457200"/>
          </a:xfrm>
          <a:prstGeom prst="rect">
            <a:avLst/>
          </a:prstGeom>
          <a:noFill/>
          <a:ln/>
        </p:spPr>
        <p:txBody>
          <a:bodyPr wrap="square" lIns="0" tIns="0" rIns="0" bIns="0" rtlCol="0" anchor="ctr"/>
          <a:lstStyle/>
          <a:p>
            <a:pPr algn="l" indent="0" marL="0">
              <a:lnSpc>
                <a:spcPct val="115000"/>
              </a:lnSpc>
              <a:buNone/>
            </a:pPr>
            <a:r>
              <a:rPr lang="en-US" sz="1700" dirty="0">
                <a:solidFill>
                  <a:srgbClr val="0E1B3D"/>
                </a:solidFill>
                <a:latin typeface="Plus Jakarta Sans" pitchFamily="34" charset="0"/>
                <a:ea typeface="Plus Jakarta Sans" pitchFamily="34" charset="-122"/>
                <a:cs typeface="Plus Jakarta Sans" pitchFamily="34" charset="-120"/>
              </a:rPr>
              <a:t>Satu paragraf. Browser memberi jarak sendiri.</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15</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Link dan gambar</a:t>
            </a:r>
            <a:endParaRPr lang="en-US" sz="4000" dirty="0"/>
          </a:p>
        </p:txBody>
      </p:sp>
      <p:sp>
        <p:nvSpPr>
          <p:cNvPr id="4" name="Shape 2"/>
          <p:cNvSpPr/>
          <p:nvPr/>
        </p:nvSpPr>
        <p:spPr>
          <a:xfrm>
            <a:off x="731520" y="1691640"/>
            <a:ext cx="6309360" cy="2499868"/>
          </a:xfrm>
          <a:prstGeom prst="roundRect">
            <a:avLst>
              <a:gd name="adj" fmla="val 5121"/>
            </a:avLst>
          </a:prstGeom>
          <a:solidFill>
            <a:srgbClr val="0B1530"/>
          </a:solidFill>
          <a:ln/>
          <a:effectLst>
            <a:outerShdw sx="100000" sy="100000" kx="0" ky="0" algn="bl" rotWithShape="0" blurRad="177800" dist="38100" dir="5400000">
              <a:srgbClr val="000000">
                <a:alpha val="40000"/>
              </a:srgbClr>
            </a:outerShdw>
          </a:effectLst>
        </p:spPr>
      </p:sp>
      <p:sp>
        <p:nvSpPr>
          <p:cNvPr id="5" name="Shape 3"/>
          <p:cNvSpPr/>
          <p:nvPr/>
        </p:nvSpPr>
        <p:spPr>
          <a:xfrm>
            <a:off x="932688" y="1847088"/>
            <a:ext cx="109728" cy="109728"/>
          </a:xfrm>
          <a:prstGeom prst="ellipse">
            <a:avLst/>
          </a:prstGeom>
          <a:solidFill>
            <a:srgbClr val="E63946"/>
          </a:solidFill>
          <a:ln/>
        </p:spPr>
      </p:sp>
      <p:sp>
        <p:nvSpPr>
          <p:cNvPr id="6" name="Shape 4"/>
          <p:cNvSpPr/>
          <p:nvPr/>
        </p:nvSpPr>
        <p:spPr>
          <a:xfrm>
            <a:off x="1115568" y="1847088"/>
            <a:ext cx="109728" cy="109728"/>
          </a:xfrm>
          <a:prstGeom prst="ellipse">
            <a:avLst/>
          </a:prstGeom>
          <a:solidFill>
            <a:srgbClr val="FFC83D"/>
          </a:solidFill>
          <a:ln/>
        </p:spPr>
      </p:sp>
      <p:sp>
        <p:nvSpPr>
          <p:cNvPr id="7" name="Shape 5"/>
          <p:cNvSpPr/>
          <p:nvPr/>
        </p:nvSpPr>
        <p:spPr>
          <a:xfrm>
            <a:off x="1298448" y="1847088"/>
            <a:ext cx="109728" cy="109728"/>
          </a:xfrm>
          <a:prstGeom prst="ellipse">
            <a:avLst/>
          </a:prstGeom>
          <a:solidFill>
            <a:srgbClr val="1E9E68"/>
          </a:solidFill>
          <a:ln/>
        </p:spPr>
      </p:sp>
      <p:sp>
        <p:nvSpPr>
          <p:cNvPr id="8" name="Text 6"/>
          <p:cNvSpPr txBox="1"/>
          <p:nvPr/>
        </p:nvSpPr>
        <p:spPr>
          <a:xfrm>
            <a:off x="1645920" y="1764792"/>
            <a:ext cx="512064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JetBrains Mono" pitchFamily="34" charset="0"/>
                <a:ea typeface="JetBrains Mono" pitchFamily="34" charset="-122"/>
                <a:cs typeface="JetBrains Mono" pitchFamily="34" charset="-120"/>
              </a:rPr>
              <a:t>index.html</a:t>
            </a:r>
            <a:endParaRPr lang="en-US" sz="1200" dirty="0"/>
          </a:p>
        </p:txBody>
      </p:sp>
      <p:sp>
        <p:nvSpPr>
          <p:cNvPr id="9" name="Shape 7"/>
          <p:cNvSpPr/>
          <p:nvPr/>
        </p:nvSpPr>
        <p:spPr>
          <a:xfrm>
            <a:off x="804672" y="2958592"/>
            <a:ext cx="6163056" cy="368300"/>
          </a:xfrm>
          <a:prstGeom prst="rect">
            <a:avLst/>
          </a:prstGeom>
          <a:solidFill>
            <a:srgbClr val="FFC83D">
              <a:alpha val="16000"/>
            </a:srgbClr>
          </a:solidFill>
          <a:ln/>
        </p:spPr>
      </p:sp>
      <p:sp>
        <p:nvSpPr>
          <p:cNvPr id="10" name="Text 8"/>
          <p:cNvSpPr txBox="1"/>
          <p:nvPr/>
        </p:nvSpPr>
        <p:spPr>
          <a:xfrm>
            <a:off x="896112" y="22219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1</a:t>
            </a:r>
            <a:endParaRPr lang="en-US" sz="1400" dirty="0"/>
          </a:p>
        </p:txBody>
      </p:sp>
      <p:sp>
        <p:nvSpPr>
          <p:cNvPr id="11" name="Text 9"/>
          <p:cNvSpPr txBox="1"/>
          <p:nvPr/>
        </p:nvSpPr>
        <p:spPr>
          <a:xfrm>
            <a:off x="1417320" y="22219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a</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href</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"https://github.com"</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2" name="Text 10"/>
          <p:cNvSpPr txBox="1"/>
          <p:nvPr/>
        </p:nvSpPr>
        <p:spPr>
          <a:xfrm>
            <a:off x="896112" y="25902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2</a:t>
            </a:r>
            <a:endParaRPr lang="en-US" sz="1400" dirty="0"/>
          </a:p>
        </p:txBody>
      </p:sp>
      <p:sp>
        <p:nvSpPr>
          <p:cNvPr id="13" name="Text 11"/>
          <p:cNvSpPr txBox="1"/>
          <p:nvPr/>
        </p:nvSpPr>
        <p:spPr>
          <a:xfrm>
            <a:off x="1417320" y="25902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Lihat GitHub</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a</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4" name="Text 12"/>
          <p:cNvSpPr txBox="1"/>
          <p:nvPr/>
        </p:nvSpPr>
        <p:spPr>
          <a:xfrm>
            <a:off x="896112" y="29585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3</a:t>
            </a:r>
            <a:endParaRPr lang="en-US" sz="1400" dirty="0"/>
          </a:p>
        </p:txBody>
      </p:sp>
      <p:sp>
        <p:nvSpPr>
          <p:cNvPr id="15" name="Text 13"/>
          <p:cNvSpPr txBox="1"/>
          <p:nvPr/>
        </p:nvSpPr>
        <p:spPr>
          <a:xfrm>
            <a:off x="1417320" y="29585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img</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src</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"img/foto.jpg"</a:t>
            </a:r>
            <a:endParaRPr lang="en-US" sz="2000" dirty="0"/>
          </a:p>
        </p:txBody>
      </p:sp>
      <p:sp>
        <p:nvSpPr>
          <p:cNvPr id="16" name="Text 14"/>
          <p:cNvSpPr txBox="1"/>
          <p:nvPr/>
        </p:nvSpPr>
        <p:spPr>
          <a:xfrm>
            <a:off x="896112" y="33268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4</a:t>
            </a:r>
            <a:endParaRPr lang="en-US" sz="1400" dirty="0"/>
          </a:p>
        </p:txBody>
      </p:sp>
      <p:sp>
        <p:nvSpPr>
          <p:cNvPr id="17" name="Text 15"/>
          <p:cNvSpPr txBox="1"/>
          <p:nvPr/>
        </p:nvSpPr>
        <p:spPr>
          <a:xfrm>
            <a:off x="1417320" y="33268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alt="Foto Alya"</a:t>
            </a:r>
            <a:endParaRPr lang="en-US" sz="2000" dirty="0"/>
          </a:p>
        </p:txBody>
      </p:sp>
      <p:sp>
        <p:nvSpPr>
          <p:cNvPr id="18" name="Text 16"/>
          <p:cNvSpPr txBox="1"/>
          <p:nvPr/>
        </p:nvSpPr>
        <p:spPr>
          <a:xfrm>
            <a:off x="896112" y="36951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5</a:t>
            </a:r>
            <a:endParaRPr lang="en-US" sz="1400" dirty="0"/>
          </a:p>
        </p:txBody>
      </p:sp>
      <p:sp>
        <p:nvSpPr>
          <p:cNvPr id="19" name="Text 17"/>
          <p:cNvSpPr txBox="1"/>
          <p:nvPr/>
        </p:nvSpPr>
        <p:spPr>
          <a:xfrm>
            <a:off x="1417320" y="3695192"/>
            <a:ext cx="55778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loading="lazy"&gt;</a:t>
            </a:r>
            <a:endParaRPr lang="en-US" sz="2000" dirty="0"/>
          </a:p>
        </p:txBody>
      </p:sp>
      <p:sp>
        <p:nvSpPr>
          <p:cNvPr id="20" name="Shape 18"/>
          <p:cNvSpPr/>
          <p:nvPr/>
        </p:nvSpPr>
        <p:spPr>
          <a:xfrm>
            <a:off x="7498080" y="1691640"/>
            <a:ext cx="3931920" cy="2560320"/>
          </a:xfrm>
          <a:prstGeom prst="roundRect">
            <a:avLst>
              <a:gd name="adj" fmla="val 5714"/>
            </a:avLst>
          </a:prstGeom>
          <a:solidFill>
            <a:srgbClr val="0B1530"/>
          </a:solidFill>
          <a:ln/>
          <a:effectLst>
            <a:outerShdw sx="100000" sy="100000" kx="0" ky="0" algn="bl" rotWithShape="0" blurRad="177800" dist="38100" dir="5400000">
              <a:srgbClr val="000000">
                <a:alpha val="40000"/>
              </a:srgbClr>
            </a:outerShdw>
          </a:effectLst>
        </p:spPr>
      </p:sp>
      <p:sp>
        <p:nvSpPr>
          <p:cNvPr id="21" name="Text 19"/>
          <p:cNvSpPr txBox="1"/>
          <p:nvPr/>
        </p:nvSpPr>
        <p:spPr>
          <a:xfrm>
            <a:off x="7772400" y="1874520"/>
            <a:ext cx="3291840" cy="274320"/>
          </a:xfrm>
          <a:prstGeom prst="rect">
            <a:avLst/>
          </a:prstGeom>
          <a:noFill/>
          <a:ln/>
        </p:spPr>
        <p:txBody>
          <a:bodyPr wrap="square" lIns="0" tIns="0" rIns="0" bIns="0" rtlCol="0" anchor="t"/>
          <a:lstStyle/>
          <a:p>
            <a:pPr algn="l" indent="0" marL="0">
              <a:lnSpc>
                <a:spcPct val="115000"/>
              </a:lnSpc>
              <a:buNone/>
            </a:pPr>
            <a:r>
              <a:rPr lang="en-US" sz="1200" dirty="0">
                <a:solidFill>
                  <a:srgbClr val="7886A8"/>
                </a:solidFill>
                <a:latin typeface="Plus Jakarta Sans" pitchFamily="34" charset="0"/>
                <a:ea typeface="Plus Jakarta Sans" pitchFamily="34" charset="-122"/>
                <a:cs typeface="Plus Jakarta Sans" pitchFamily="34" charset="-120"/>
              </a:rPr>
              <a:t>src dihitung dari lokasi index.html</a:t>
            </a:r>
            <a:endParaRPr lang="en-US" sz="1200" dirty="0"/>
          </a:p>
        </p:txBody>
      </p:sp>
      <p:sp>
        <p:nvSpPr>
          <p:cNvPr id="22" name="Text 20"/>
          <p:cNvSpPr txBox="1"/>
          <p:nvPr/>
        </p:nvSpPr>
        <p:spPr>
          <a:xfrm>
            <a:off x="7772400" y="2286000"/>
            <a:ext cx="4572000" cy="324841"/>
          </a:xfrm>
          <a:prstGeom prst="rect">
            <a:avLst/>
          </a:prstGeom>
          <a:noFill/>
          <a:ln/>
        </p:spPr>
        <p:txBody>
          <a:bodyPr wrap="none" lIns="0" tIns="0" rIns="0" bIns="0" rtlCol="0" anchor="ctr"/>
          <a:lstStyle/>
          <a:p>
            <a:pPr algn="l" indent="0" marL="0">
              <a:lnSpc>
                <a:spcPct val="115000"/>
              </a:lnSpc>
              <a:buNone/>
            </a:pPr>
            <a:r>
              <a:rPr lang="en-US" sz="1800" dirty="0">
                <a:solidFill>
                  <a:srgbClr val="8DB4FF"/>
                </a:solidFill>
                <a:latin typeface="JetBrains Mono" pitchFamily="34" charset="0"/>
                <a:ea typeface="JetBrains Mono" pitchFamily="34" charset="-122"/>
                <a:cs typeface="JetBrains Mono" pitchFamily="34" charset="-120"/>
              </a:rPr>
              <a:t>▸ portfolio/</a:t>
            </a:r>
            <a:endParaRPr lang="en-US" sz="1800" dirty="0"/>
          </a:p>
        </p:txBody>
      </p:sp>
      <p:sp>
        <p:nvSpPr>
          <p:cNvPr id="23" name="Text 21"/>
          <p:cNvSpPr txBox="1"/>
          <p:nvPr/>
        </p:nvSpPr>
        <p:spPr>
          <a:xfrm>
            <a:off x="8092440" y="2610841"/>
            <a:ext cx="4572000" cy="324841"/>
          </a:xfrm>
          <a:prstGeom prst="rect">
            <a:avLst/>
          </a:prstGeom>
          <a:noFill/>
          <a:ln/>
        </p:spPr>
        <p:txBody>
          <a:bodyPr wrap="none" lIns="0" tIns="0" rIns="0" bIns="0" rtlCol="0" anchor="ctr"/>
          <a:lstStyle/>
          <a:p>
            <a:pPr algn="l" indent="0" marL="0">
              <a:lnSpc>
                <a:spcPct val="115000"/>
              </a:lnSpc>
              <a:buNone/>
            </a:pPr>
            <a:r>
              <a:rPr lang="en-US" sz="1800" dirty="0">
                <a:solidFill>
                  <a:srgbClr val="F4F6FB"/>
                </a:solidFill>
                <a:latin typeface="JetBrains Mono" pitchFamily="34" charset="0"/>
                <a:ea typeface="JetBrains Mono" pitchFamily="34" charset="-122"/>
                <a:cs typeface="JetBrains Mono" pitchFamily="34" charset="-120"/>
              </a:rPr>
              <a:t>  index.html</a:t>
            </a:r>
            <a:endParaRPr lang="en-US" sz="1800" dirty="0"/>
          </a:p>
        </p:txBody>
      </p:sp>
      <p:sp>
        <p:nvSpPr>
          <p:cNvPr id="24" name="Text 22"/>
          <p:cNvSpPr txBox="1"/>
          <p:nvPr/>
        </p:nvSpPr>
        <p:spPr>
          <a:xfrm>
            <a:off x="8092440" y="2935681"/>
            <a:ext cx="4572000" cy="324841"/>
          </a:xfrm>
          <a:prstGeom prst="rect">
            <a:avLst/>
          </a:prstGeom>
          <a:noFill/>
          <a:ln/>
        </p:spPr>
        <p:txBody>
          <a:bodyPr wrap="none" lIns="0" tIns="0" rIns="0" bIns="0" rtlCol="0" anchor="ctr"/>
          <a:lstStyle/>
          <a:p>
            <a:pPr algn="l" indent="0" marL="0">
              <a:lnSpc>
                <a:spcPct val="115000"/>
              </a:lnSpc>
              <a:buNone/>
            </a:pPr>
            <a:r>
              <a:rPr lang="en-US" sz="1800" dirty="0">
                <a:solidFill>
                  <a:srgbClr val="8DB4FF"/>
                </a:solidFill>
                <a:latin typeface="JetBrains Mono" pitchFamily="34" charset="0"/>
                <a:ea typeface="JetBrains Mono" pitchFamily="34" charset="-122"/>
                <a:cs typeface="JetBrains Mono" pitchFamily="34" charset="-120"/>
              </a:rPr>
              <a:t>▸ img/</a:t>
            </a:r>
            <a:endParaRPr lang="en-US" sz="1800" dirty="0"/>
          </a:p>
        </p:txBody>
      </p:sp>
      <p:sp>
        <p:nvSpPr>
          <p:cNvPr id="25" name="Text 23"/>
          <p:cNvSpPr txBox="1"/>
          <p:nvPr/>
        </p:nvSpPr>
        <p:spPr>
          <a:xfrm>
            <a:off x="8412480" y="3260522"/>
            <a:ext cx="4572000" cy="324841"/>
          </a:xfrm>
          <a:prstGeom prst="rect">
            <a:avLst/>
          </a:prstGeom>
          <a:noFill/>
          <a:ln/>
        </p:spPr>
        <p:txBody>
          <a:bodyPr wrap="none" lIns="0" tIns="0" rIns="0" bIns="0" rtlCol="0" anchor="ctr"/>
          <a:lstStyle/>
          <a:p>
            <a:pPr algn="l" indent="0" marL="0">
              <a:lnSpc>
                <a:spcPct val="115000"/>
              </a:lnSpc>
              <a:buNone/>
            </a:pPr>
            <a:r>
              <a:rPr lang="en-US" sz="1800" dirty="0">
                <a:solidFill>
                  <a:srgbClr val="FFC83D"/>
                </a:solidFill>
                <a:latin typeface="JetBrains Mono" pitchFamily="34" charset="0"/>
                <a:ea typeface="JetBrains Mono" pitchFamily="34" charset="-122"/>
                <a:cs typeface="JetBrains Mono" pitchFamily="34" charset="-120"/>
              </a:rPr>
              <a:t>  foto.jpg</a:t>
            </a:r>
            <a:endParaRPr lang="en-US" sz="1800" dirty="0"/>
          </a:p>
        </p:txBody>
      </p:sp>
      <p:sp>
        <p:nvSpPr>
          <p:cNvPr id="26" name="Shape 24"/>
          <p:cNvSpPr/>
          <p:nvPr/>
        </p:nvSpPr>
        <p:spPr>
          <a:xfrm>
            <a:off x="731520" y="4526280"/>
            <a:ext cx="10789920" cy="0"/>
          </a:xfrm>
          <a:prstGeom prst="line">
            <a:avLst/>
          </a:prstGeom>
          <a:noFill/>
          <a:ln w="12700">
            <a:solidFill>
              <a:srgbClr val="E3DFD6"/>
            </a:solidFill>
            <a:prstDash val="solid"/>
          </a:ln>
        </p:spPr>
      </p:sp>
      <p:sp>
        <p:nvSpPr>
          <p:cNvPr id="27" name="Text 25"/>
          <p:cNvSpPr txBox="1"/>
          <p:nvPr/>
        </p:nvSpPr>
        <p:spPr>
          <a:xfrm>
            <a:off x="731520" y="4590288"/>
            <a:ext cx="3017520" cy="411480"/>
          </a:xfrm>
          <a:prstGeom prst="rect">
            <a:avLst/>
          </a:prstGeom>
          <a:noFill/>
          <a:ln/>
        </p:spPr>
        <p:txBody>
          <a:bodyPr wrap="none" lIns="0" tIns="0" rIns="0" bIns="0" rtlCol="0" anchor="ctr"/>
          <a:lstStyle/>
          <a:p>
            <a:pPr algn="l" indent="0" marL="0">
              <a:lnSpc>
                <a:spcPct val="115000"/>
              </a:lnSpc>
              <a:buNone/>
            </a:pPr>
            <a:r>
              <a:rPr lang="en-US" sz="1700" b="1" dirty="0">
                <a:solidFill>
                  <a:srgbClr val="1F4FD8"/>
                </a:solidFill>
                <a:latin typeface="JetBrains Mono" pitchFamily="34" charset="0"/>
                <a:ea typeface="JetBrains Mono" pitchFamily="34" charset="-122"/>
                <a:cs typeface="JetBrains Mono" pitchFamily="34" charset="-120"/>
              </a:rPr>
              <a:t>href</a:t>
            </a:r>
            <a:endParaRPr lang="en-US" sz="1700" dirty="0"/>
          </a:p>
        </p:txBody>
      </p:sp>
      <p:sp>
        <p:nvSpPr>
          <p:cNvPr id="28" name="Text 26"/>
          <p:cNvSpPr txBox="1"/>
          <p:nvPr/>
        </p:nvSpPr>
        <p:spPr>
          <a:xfrm>
            <a:off x="3840480" y="4572000"/>
            <a:ext cx="7589520" cy="457200"/>
          </a:xfrm>
          <a:prstGeom prst="rect">
            <a:avLst/>
          </a:prstGeom>
          <a:noFill/>
          <a:ln/>
        </p:spPr>
        <p:txBody>
          <a:bodyPr wrap="square" lIns="0" tIns="0" rIns="0" bIns="0" rtlCol="0" anchor="ctr"/>
          <a:lstStyle/>
          <a:p>
            <a:pPr algn="l" indent="0" marL="0">
              <a:lnSpc>
                <a:spcPct val="120000"/>
              </a:lnSpc>
              <a:buNone/>
            </a:pPr>
            <a:r>
              <a:rPr lang="en-US" sz="1600" dirty="0">
                <a:solidFill>
                  <a:srgbClr val="0E1B3D"/>
                </a:solidFill>
                <a:latin typeface="Plus Jakarta Sans" pitchFamily="34" charset="0"/>
                <a:ea typeface="Plus Jakarta Sans" pitchFamily="34" charset="-122"/>
                <a:cs typeface="Plus Jakarta Sans" pitchFamily="34" charset="-120"/>
              </a:rPr>
              <a:t>Alamat tujuan link.</a:t>
            </a:r>
            <a:endParaRPr lang="en-US" sz="1600" dirty="0"/>
          </a:p>
        </p:txBody>
      </p:sp>
      <p:sp>
        <p:nvSpPr>
          <p:cNvPr id="29" name="Shape 27"/>
          <p:cNvSpPr/>
          <p:nvPr/>
        </p:nvSpPr>
        <p:spPr>
          <a:xfrm>
            <a:off x="731520" y="5093208"/>
            <a:ext cx="10789920" cy="0"/>
          </a:xfrm>
          <a:prstGeom prst="line">
            <a:avLst/>
          </a:prstGeom>
          <a:noFill/>
          <a:ln w="12700">
            <a:solidFill>
              <a:srgbClr val="E3DFD6"/>
            </a:solidFill>
            <a:prstDash val="solid"/>
          </a:ln>
        </p:spPr>
      </p:sp>
      <p:sp>
        <p:nvSpPr>
          <p:cNvPr id="30" name="Text 28"/>
          <p:cNvSpPr txBox="1"/>
          <p:nvPr/>
        </p:nvSpPr>
        <p:spPr>
          <a:xfrm>
            <a:off x="731520" y="5157216"/>
            <a:ext cx="3017520" cy="411480"/>
          </a:xfrm>
          <a:prstGeom prst="rect">
            <a:avLst/>
          </a:prstGeom>
          <a:noFill/>
          <a:ln/>
        </p:spPr>
        <p:txBody>
          <a:bodyPr wrap="none" lIns="0" tIns="0" rIns="0" bIns="0" rtlCol="0" anchor="ctr"/>
          <a:lstStyle/>
          <a:p>
            <a:pPr algn="l" indent="0" marL="0">
              <a:lnSpc>
                <a:spcPct val="115000"/>
              </a:lnSpc>
              <a:buNone/>
            </a:pPr>
            <a:r>
              <a:rPr lang="en-US" sz="1700" b="1" dirty="0">
                <a:solidFill>
                  <a:srgbClr val="1F4FD8"/>
                </a:solidFill>
                <a:latin typeface="JetBrains Mono" pitchFamily="34" charset="0"/>
                <a:ea typeface="JetBrains Mono" pitchFamily="34" charset="-122"/>
                <a:cs typeface="JetBrains Mono" pitchFamily="34" charset="-120"/>
              </a:rPr>
              <a:t>alt</a:t>
            </a:r>
            <a:endParaRPr lang="en-US" sz="1700" dirty="0"/>
          </a:p>
        </p:txBody>
      </p:sp>
      <p:sp>
        <p:nvSpPr>
          <p:cNvPr id="31" name="Text 29"/>
          <p:cNvSpPr txBox="1"/>
          <p:nvPr/>
        </p:nvSpPr>
        <p:spPr>
          <a:xfrm>
            <a:off x="3840480" y="5138928"/>
            <a:ext cx="7589520" cy="457200"/>
          </a:xfrm>
          <a:prstGeom prst="rect">
            <a:avLst/>
          </a:prstGeom>
          <a:noFill/>
          <a:ln/>
        </p:spPr>
        <p:txBody>
          <a:bodyPr wrap="square" lIns="0" tIns="0" rIns="0" bIns="0" rtlCol="0" anchor="ctr"/>
          <a:lstStyle/>
          <a:p>
            <a:pPr algn="l" indent="0" marL="0">
              <a:lnSpc>
                <a:spcPct val="120000"/>
              </a:lnSpc>
              <a:buNone/>
            </a:pPr>
            <a:r>
              <a:rPr lang="en-US" sz="1600" dirty="0">
                <a:solidFill>
                  <a:srgbClr val="0E1B3D"/>
                </a:solidFill>
                <a:latin typeface="Plus Jakarta Sans" pitchFamily="34" charset="0"/>
                <a:ea typeface="Plus Jakarta Sans" pitchFamily="34" charset="-122"/>
                <a:cs typeface="Plus Jakarta Sans" pitchFamily="34" charset="-120"/>
              </a:rPr>
              <a:t>Tulisan pengganti kalau gambar gagal muncul. Juga dibacakan untuk pengguna tunanetra.</a:t>
            </a:r>
            <a:endParaRPr lang="en-US" sz="1600" dirty="0"/>
          </a:p>
        </p:txBody>
      </p:sp>
      <p:sp>
        <p:nvSpPr>
          <p:cNvPr id="32" name="Shape 30"/>
          <p:cNvSpPr/>
          <p:nvPr/>
        </p:nvSpPr>
        <p:spPr>
          <a:xfrm>
            <a:off x="731520" y="5660136"/>
            <a:ext cx="10789920" cy="0"/>
          </a:xfrm>
          <a:prstGeom prst="line">
            <a:avLst/>
          </a:prstGeom>
          <a:noFill/>
          <a:ln w="12700">
            <a:solidFill>
              <a:srgbClr val="E3DFD6"/>
            </a:solidFill>
            <a:prstDash val="solid"/>
          </a:ln>
        </p:spPr>
      </p:sp>
      <p:sp>
        <p:nvSpPr>
          <p:cNvPr id="33" name="Text 31"/>
          <p:cNvSpPr txBox="1"/>
          <p:nvPr/>
        </p:nvSpPr>
        <p:spPr>
          <a:xfrm>
            <a:off x="731520" y="5724144"/>
            <a:ext cx="3017520" cy="411480"/>
          </a:xfrm>
          <a:prstGeom prst="rect">
            <a:avLst/>
          </a:prstGeom>
          <a:noFill/>
          <a:ln/>
        </p:spPr>
        <p:txBody>
          <a:bodyPr wrap="none" lIns="0" tIns="0" rIns="0" bIns="0" rtlCol="0" anchor="ctr"/>
          <a:lstStyle/>
          <a:p>
            <a:pPr algn="l" indent="0" marL="0">
              <a:lnSpc>
                <a:spcPct val="115000"/>
              </a:lnSpc>
              <a:buNone/>
            </a:pPr>
            <a:r>
              <a:rPr lang="en-US" sz="1700" b="1" dirty="0">
                <a:solidFill>
                  <a:srgbClr val="1F4FD8"/>
                </a:solidFill>
                <a:latin typeface="JetBrains Mono" pitchFamily="34" charset="0"/>
                <a:ea typeface="JetBrains Mono" pitchFamily="34" charset="-122"/>
                <a:cs typeface="JetBrains Mono" pitchFamily="34" charset="-120"/>
              </a:rPr>
              <a:t>loading="lazy"</a:t>
            </a:r>
            <a:endParaRPr lang="en-US" sz="1700" dirty="0"/>
          </a:p>
        </p:txBody>
      </p:sp>
      <p:sp>
        <p:nvSpPr>
          <p:cNvPr id="34" name="Text 32"/>
          <p:cNvSpPr txBox="1"/>
          <p:nvPr/>
        </p:nvSpPr>
        <p:spPr>
          <a:xfrm>
            <a:off x="3840480" y="5705856"/>
            <a:ext cx="7589520" cy="457200"/>
          </a:xfrm>
          <a:prstGeom prst="rect">
            <a:avLst/>
          </a:prstGeom>
          <a:noFill/>
          <a:ln/>
        </p:spPr>
        <p:txBody>
          <a:bodyPr wrap="square" lIns="0" tIns="0" rIns="0" bIns="0" rtlCol="0" anchor="ctr"/>
          <a:lstStyle/>
          <a:p>
            <a:pPr algn="l" indent="0" marL="0">
              <a:lnSpc>
                <a:spcPct val="120000"/>
              </a:lnSpc>
              <a:buNone/>
            </a:pPr>
            <a:r>
              <a:rPr lang="en-US" sz="1600" dirty="0">
                <a:solidFill>
                  <a:srgbClr val="0E1B3D"/>
                </a:solidFill>
                <a:latin typeface="Plus Jakarta Sans" pitchFamily="34" charset="0"/>
                <a:ea typeface="Plus Jakarta Sans" pitchFamily="34" charset="-122"/>
                <a:cs typeface="Plus Jakarta Sans" pitchFamily="34" charset="-120"/>
              </a:rPr>
              <a:t>Gambar baru dimuat saat discroll, jadi hemat kuota.</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16</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Beri nama pada setiap bagian halaman</a:t>
            </a:r>
            <a:endParaRPr lang="en-US" sz="4000" dirty="0"/>
          </a:p>
        </p:txBody>
      </p:sp>
      <p:sp>
        <p:nvSpPr>
          <p:cNvPr id="4" name="Shape 2"/>
          <p:cNvSpPr/>
          <p:nvPr/>
        </p:nvSpPr>
        <p:spPr>
          <a:xfrm>
            <a:off x="731520" y="1691640"/>
            <a:ext cx="4572000" cy="2131568"/>
          </a:xfrm>
          <a:prstGeom prst="roundRect">
            <a:avLst>
              <a:gd name="adj" fmla="val 6006"/>
            </a:avLst>
          </a:prstGeom>
          <a:solidFill>
            <a:srgbClr val="0B1530"/>
          </a:solidFill>
          <a:ln/>
          <a:effectLst>
            <a:outerShdw sx="100000" sy="100000" kx="0" ky="0" algn="bl" rotWithShape="0" blurRad="177800" dist="38100" dir="5400000">
              <a:srgbClr val="000000">
                <a:alpha val="40000"/>
              </a:srgbClr>
            </a:outerShdw>
          </a:effectLst>
        </p:spPr>
      </p:sp>
      <p:sp>
        <p:nvSpPr>
          <p:cNvPr id="5" name="Shape 3"/>
          <p:cNvSpPr/>
          <p:nvPr/>
        </p:nvSpPr>
        <p:spPr>
          <a:xfrm>
            <a:off x="932688" y="1847088"/>
            <a:ext cx="109728" cy="109728"/>
          </a:xfrm>
          <a:prstGeom prst="ellipse">
            <a:avLst/>
          </a:prstGeom>
          <a:solidFill>
            <a:srgbClr val="E63946"/>
          </a:solidFill>
          <a:ln/>
        </p:spPr>
      </p:sp>
      <p:sp>
        <p:nvSpPr>
          <p:cNvPr id="6" name="Shape 4"/>
          <p:cNvSpPr/>
          <p:nvPr/>
        </p:nvSpPr>
        <p:spPr>
          <a:xfrm>
            <a:off x="1115568" y="1847088"/>
            <a:ext cx="109728" cy="109728"/>
          </a:xfrm>
          <a:prstGeom prst="ellipse">
            <a:avLst/>
          </a:prstGeom>
          <a:solidFill>
            <a:srgbClr val="FFC83D"/>
          </a:solidFill>
          <a:ln/>
        </p:spPr>
      </p:sp>
      <p:sp>
        <p:nvSpPr>
          <p:cNvPr id="7" name="Shape 5"/>
          <p:cNvSpPr/>
          <p:nvPr/>
        </p:nvSpPr>
        <p:spPr>
          <a:xfrm>
            <a:off x="1298448" y="1847088"/>
            <a:ext cx="109728" cy="109728"/>
          </a:xfrm>
          <a:prstGeom prst="ellipse">
            <a:avLst/>
          </a:prstGeom>
          <a:solidFill>
            <a:srgbClr val="1E9E68"/>
          </a:solidFill>
          <a:ln/>
        </p:spPr>
      </p:sp>
      <p:sp>
        <p:nvSpPr>
          <p:cNvPr id="8" name="Text 6"/>
          <p:cNvSpPr txBox="1"/>
          <p:nvPr/>
        </p:nvSpPr>
        <p:spPr>
          <a:xfrm>
            <a:off x="1645920" y="1764792"/>
            <a:ext cx="338328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JetBrains Mono" pitchFamily="34" charset="0"/>
                <a:ea typeface="JetBrains Mono" pitchFamily="34" charset="-122"/>
                <a:cs typeface="JetBrains Mono" pitchFamily="34" charset="-120"/>
              </a:rPr>
              <a:t>index.html</a:t>
            </a:r>
            <a:endParaRPr lang="en-US" sz="1200" dirty="0"/>
          </a:p>
        </p:txBody>
      </p:sp>
      <p:sp>
        <p:nvSpPr>
          <p:cNvPr id="9" name="Text 7"/>
          <p:cNvSpPr txBox="1"/>
          <p:nvPr/>
        </p:nvSpPr>
        <p:spPr>
          <a:xfrm>
            <a:off x="896112" y="22219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1</a:t>
            </a:r>
            <a:endParaRPr lang="en-US" sz="1400" dirty="0"/>
          </a:p>
        </p:txBody>
      </p:sp>
      <p:sp>
        <p:nvSpPr>
          <p:cNvPr id="10" name="Text 8"/>
          <p:cNvSpPr txBox="1"/>
          <p:nvPr/>
        </p:nvSpPr>
        <p:spPr>
          <a:xfrm>
            <a:off x="1417320" y="2221992"/>
            <a:ext cx="38404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ul</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1" name="Text 9"/>
          <p:cNvSpPr txBox="1"/>
          <p:nvPr/>
        </p:nvSpPr>
        <p:spPr>
          <a:xfrm>
            <a:off x="896112" y="25902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2</a:t>
            </a:r>
            <a:endParaRPr lang="en-US" sz="1400" dirty="0"/>
          </a:p>
        </p:txBody>
      </p:sp>
      <p:sp>
        <p:nvSpPr>
          <p:cNvPr id="12" name="Text 10"/>
          <p:cNvSpPr txBox="1"/>
          <p:nvPr/>
        </p:nvSpPr>
        <p:spPr>
          <a:xfrm>
            <a:off x="1417320" y="2590292"/>
            <a:ext cx="384048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li</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HTML</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li</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3" name="Text 11"/>
          <p:cNvSpPr txBox="1"/>
          <p:nvPr/>
        </p:nvSpPr>
        <p:spPr>
          <a:xfrm>
            <a:off x="896112" y="29585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3</a:t>
            </a:r>
            <a:endParaRPr lang="en-US" sz="1400" dirty="0"/>
          </a:p>
        </p:txBody>
      </p:sp>
      <p:sp>
        <p:nvSpPr>
          <p:cNvPr id="14" name="Text 12"/>
          <p:cNvSpPr txBox="1"/>
          <p:nvPr/>
        </p:nvSpPr>
        <p:spPr>
          <a:xfrm>
            <a:off x="1417320" y="2958592"/>
            <a:ext cx="384048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li</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CSS</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li</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5" name="Text 13"/>
          <p:cNvSpPr txBox="1"/>
          <p:nvPr/>
        </p:nvSpPr>
        <p:spPr>
          <a:xfrm>
            <a:off x="896112" y="33268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4</a:t>
            </a:r>
            <a:endParaRPr lang="en-US" sz="1400" dirty="0"/>
          </a:p>
        </p:txBody>
      </p:sp>
      <p:sp>
        <p:nvSpPr>
          <p:cNvPr id="16" name="Text 14"/>
          <p:cNvSpPr txBox="1"/>
          <p:nvPr/>
        </p:nvSpPr>
        <p:spPr>
          <a:xfrm>
            <a:off x="1417320" y="3326892"/>
            <a:ext cx="384048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ul</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17" name="Text 15"/>
          <p:cNvSpPr txBox="1"/>
          <p:nvPr/>
        </p:nvSpPr>
        <p:spPr>
          <a:xfrm>
            <a:off x="731520" y="4069080"/>
            <a:ext cx="4572000" cy="365760"/>
          </a:xfrm>
          <a:prstGeom prst="rect">
            <a:avLst/>
          </a:prstGeom>
          <a:noFill/>
          <a:ln/>
        </p:spPr>
        <p:txBody>
          <a:bodyPr wrap="square" lIns="0" tIns="0" rIns="0" bIns="0" rtlCol="0" anchor="t"/>
          <a:lstStyle/>
          <a:p>
            <a:pPr algn="l" indent="0" marL="0">
              <a:lnSpc>
                <a:spcPct val="115000"/>
              </a:lnSpc>
              <a:buNone/>
            </a:pPr>
            <a:r>
              <a:rPr lang="en-US" sz="1600" dirty="0">
                <a:solidFill>
                  <a:srgbClr val="0E1B3D"/>
                </a:solidFill>
                <a:latin typeface="Plus Jakarta Sans" pitchFamily="34" charset="0"/>
                <a:ea typeface="Plus Jakarta Sans" pitchFamily="34" charset="-122"/>
                <a:cs typeface="Plus Jakarta Sans" pitchFamily="34" charset="-120"/>
              </a:rPr>
              <a:t>ul = daftar bertitik  ·  ol = daftar bernomor</a:t>
            </a:r>
            <a:endParaRPr lang="en-US" sz="1600" dirty="0"/>
          </a:p>
        </p:txBody>
      </p:sp>
      <p:sp>
        <p:nvSpPr>
          <p:cNvPr id="18" name="Text 16"/>
          <p:cNvSpPr txBox="1"/>
          <p:nvPr/>
        </p:nvSpPr>
        <p:spPr>
          <a:xfrm>
            <a:off x="731520" y="4617720"/>
            <a:ext cx="4572000" cy="1554480"/>
          </a:xfrm>
          <a:prstGeom prst="rect">
            <a:avLst/>
          </a:prstGeom>
          <a:noFill/>
          <a:ln/>
        </p:spPr>
        <p:txBody>
          <a:bodyPr wrap="square" lIns="0" tIns="0" rIns="0" bIns="0" rtlCol="0" anchor="t"/>
          <a:lstStyle/>
          <a:p>
            <a:pPr algn="l" indent="0" marL="0">
              <a:lnSpc>
                <a:spcPct val="145000"/>
              </a:lnSpc>
              <a:buNone/>
            </a:pPr>
            <a:r>
              <a:rPr lang="en-US" sz="1700" dirty="0">
                <a:solidFill>
                  <a:srgbClr val="5B6478"/>
                </a:solidFill>
                <a:latin typeface="Plus Jakarta Sans" pitchFamily="34" charset="0"/>
                <a:ea typeface="Plus Jakarta Sans" pitchFamily="34" charset="-122"/>
                <a:cs typeface="Plus Jakarta Sans" pitchFamily="34" charset="-120"/>
              </a:rPr>
              <a:t>Tag semantik adalah tag yang namanya sesuai fungsinya. Jadi Google dan pembaca layar tahu mana menu, mana isi, dan mana bagian bawah.</a:t>
            </a:r>
            <a:endParaRPr lang="en-US" sz="1700" dirty="0"/>
          </a:p>
        </p:txBody>
      </p:sp>
      <p:sp>
        <p:nvSpPr>
          <p:cNvPr id="19" name="Shape 17"/>
          <p:cNvSpPr/>
          <p:nvPr/>
        </p:nvSpPr>
        <p:spPr>
          <a:xfrm>
            <a:off x="6035040" y="1691640"/>
            <a:ext cx="5394960" cy="4434840"/>
          </a:xfrm>
          <a:prstGeom prst="roundRect">
            <a:avLst>
              <a:gd name="adj" fmla="val 4124"/>
            </a:avLst>
          </a:prstGeom>
          <a:solidFill>
            <a:srgbClr val="FFFFFF"/>
          </a:solidFill>
          <a:ln w="15875">
            <a:solidFill>
              <a:srgbClr val="E3DFD6"/>
            </a:solidFill>
            <a:prstDash val="solid"/>
          </a:ln>
          <a:effectLst>
            <a:outerShdw sx="100000" sy="100000" kx="0" ky="0" algn="bl" rotWithShape="0" blurRad="177800" dist="38100" dir="5400000">
              <a:srgbClr val="7A8299">
                <a:alpha val="18000"/>
              </a:srgbClr>
            </a:outerShdw>
          </a:effectLst>
        </p:spPr>
      </p:sp>
      <p:sp>
        <p:nvSpPr>
          <p:cNvPr id="20" name="Shape 18"/>
          <p:cNvSpPr/>
          <p:nvPr/>
        </p:nvSpPr>
        <p:spPr>
          <a:xfrm>
            <a:off x="6263640" y="1874520"/>
            <a:ext cx="4937760" cy="640080"/>
          </a:xfrm>
          <a:prstGeom prst="roundRect">
            <a:avLst>
              <a:gd name="adj" fmla="val 14286"/>
            </a:avLst>
          </a:prstGeom>
          <a:solidFill>
            <a:srgbClr val="EEF3FF"/>
          </a:solidFill>
          <a:ln w="15875">
            <a:solidFill>
              <a:srgbClr val="DCE6FF"/>
            </a:solidFill>
            <a:prstDash val="solid"/>
          </a:ln>
        </p:spPr>
      </p:sp>
      <p:sp>
        <p:nvSpPr>
          <p:cNvPr id="21" name="Text 19"/>
          <p:cNvSpPr txBox="1"/>
          <p:nvPr/>
        </p:nvSpPr>
        <p:spPr>
          <a:xfrm>
            <a:off x="6446520" y="1874520"/>
            <a:ext cx="2743200" cy="64008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JetBrains Mono" pitchFamily="34" charset="0"/>
                <a:ea typeface="JetBrains Mono" pitchFamily="34" charset="-122"/>
                <a:cs typeface="JetBrains Mono" pitchFamily="34" charset="-120"/>
              </a:rPr>
              <a:t>&lt;header&gt;</a:t>
            </a:r>
            <a:endParaRPr lang="en-US" sz="1600" dirty="0"/>
          </a:p>
        </p:txBody>
      </p:sp>
      <p:sp>
        <p:nvSpPr>
          <p:cNvPr id="22" name="Shape 20"/>
          <p:cNvSpPr/>
          <p:nvPr/>
        </p:nvSpPr>
        <p:spPr>
          <a:xfrm>
            <a:off x="6263640" y="2624328"/>
            <a:ext cx="4937760" cy="502920"/>
          </a:xfrm>
          <a:prstGeom prst="roundRect">
            <a:avLst>
              <a:gd name="adj" fmla="val 18182"/>
            </a:avLst>
          </a:prstGeom>
          <a:solidFill>
            <a:srgbClr val="EEF3FF"/>
          </a:solidFill>
          <a:ln w="15875">
            <a:solidFill>
              <a:srgbClr val="DCE6FF"/>
            </a:solidFill>
            <a:prstDash val="solid"/>
          </a:ln>
        </p:spPr>
      </p:sp>
      <p:sp>
        <p:nvSpPr>
          <p:cNvPr id="23" name="Text 21"/>
          <p:cNvSpPr txBox="1"/>
          <p:nvPr/>
        </p:nvSpPr>
        <p:spPr>
          <a:xfrm>
            <a:off x="6446520" y="2624328"/>
            <a:ext cx="2743200" cy="50292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JetBrains Mono" pitchFamily="34" charset="0"/>
                <a:ea typeface="JetBrains Mono" pitchFamily="34" charset="-122"/>
                <a:cs typeface="JetBrains Mono" pitchFamily="34" charset="-120"/>
              </a:rPr>
              <a:t>&lt;nav&gt;</a:t>
            </a:r>
            <a:endParaRPr lang="en-US" sz="1600" dirty="0"/>
          </a:p>
        </p:txBody>
      </p:sp>
      <p:sp>
        <p:nvSpPr>
          <p:cNvPr id="24" name="Shape 22"/>
          <p:cNvSpPr/>
          <p:nvPr/>
        </p:nvSpPr>
        <p:spPr>
          <a:xfrm>
            <a:off x="6263640" y="3236976"/>
            <a:ext cx="4937760" cy="2011680"/>
          </a:xfrm>
          <a:prstGeom prst="roundRect">
            <a:avLst>
              <a:gd name="adj" fmla="val 4545"/>
            </a:avLst>
          </a:prstGeom>
          <a:ln w="19050">
            <a:solidFill>
              <a:srgbClr val="1F4FD8"/>
            </a:solidFill>
            <a:prstDash val="dash"/>
          </a:ln>
        </p:spPr>
      </p:sp>
      <p:sp>
        <p:nvSpPr>
          <p:cNvPr id="25" name="Text 23"/>
          <p:cNvSpPr txBox="1"/>
          <p:nvPr/>
        </p:nvSpPr>
        <p:spPr>
          <a:xfrm>
            <a:off x="6446520" y="3310128"/>
            <a:ext cx="1828800" cy="32004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JetBrains Mono" pitchFamily="34" charset="0"/>
                <a:ea typeface="JetBrains Mono" pitchFamily="34" charset="-122"/>
                <a:cs typeface="JetBrains Mono" pitchFamily="34" charset="-120"/>
              </a:rPr>
              <a:t>&lt;main&gt;</a:t>
            </a:r>
            <a:endParaRPr lang="en-US" sz="1600" dirty="0"/>
          </a:p>
        </p:txBody>
      </p:sp>
      <p:sp>
        <p:nvSpPr>
          <p:cNvPr id="26" name="Shape 24"/>
          <p:cNvSpPr/>
          <p:nvPr/>
        </p:nvSpPr>
        <p:spPr>
          <a:xfrm>
            <a:off x="6446520" y="3730752"/>
            <a:ext cx="2286000" cy="1325880"/>
          </a:xfrm>
          <a:prstGeom prst="roundRect">
            <a:avLst>
              <a:gd name="adj" fmla="val 6897"/>
            </a:avLst>
          </a:prstGeom>
          <a:solidFill>
            <a:srgbClr val="FFF3CF"/>
          </a:solidFill>
          <a:ln w="15875">
            <a:solidFill>
              <a:srgbClr val="FFC83D"/>
            </a:solidFill>
            <a:prstDash val="solid"/>
          </a:ln>
        </p:spPr>
      </p:sp>
      <p:sp>
        <p:nvSpPr>
          <p:cNvPr id="27" name="Text 25"/>
          <p:cNvSpPr txBox="1"/>
          <p:nvPr/>
        </p:nvSpPr>
        <p:spPr>
          <a:xfrm>
            <a:off x="6583680" y="3730752"/>
            <a:ext cx="2103120" cy="1325880"/>
          </a:xfrm>
          <a:prstGeom prst="rect">
            <a:avLst/>
          </a:prstGeom>
          <a:noFill/>
          <a:ln/>
        </p:spPr>
        <p:txBody>
          <a:bodyPr wrap="none" lIns="0" tIns="0" rIns="0" bIns="0" rtlCol="0" anchor="ctr"/>
          <a:lstStyle/>
          <a:p>
            <a:pPr algn="l" indent="0" marL="0">
              <a:lnSpc>
                <a:spcPct val="115000"/>
              </a:lnSpc>
              <a:buNone/>
            </a:pPr>
            <a:r>
              <a:rPr lang="en-US" sz="1600" b="1" dirty="0">
                <a:solidFill>
                  <a:srgbClr val="0E1B3D"/>
                </a:solidFill>
                <a:latin typeface="JetBrains Mono" pitchFamily="34" charset="0"/>
                <a:ea typeface="JetBrains Mono" pitchFamily="34" charset="-122"/>
                <a:cs typeface="JetBrains Mono" pitchFamily="34" charset="-120"/>
              </a:rPr>
              <a:t>&lt;section&gt;</a:t>
            </a:r>
            <a:endParaRPr lang="en-US" sz="1600" dirty="0"/>
          </a:p>
        </p:txBody>
      </p:sp>
      <p:sp>
        <p:nvSpPr>
          <p:cNvPr id="28" name="Shape 26"/>
          <p:cNvSpPr/>
          <p:nvPr/>
        </p:nvSpPr>
        <p:spPr>
          <a:xfrm>
            <a:off x="8869680" y="3730752"/>
            <a:ext cx="2286000" cy="1325880"/>
          </a:xfrm>
          <a:prstGeom prst="roundRect">
            <a:avLst>
              <a:gd name="adj" fmla="val 6897"/>
            </a:avLst>
          </a:prstGeom>
          <a:solidFill>
            <a:srgbClr val="FFF3CF"/>
          </a:solidFill>
          <a:ln w="15875">
            <a:solidFill>
              <a:srgbClr val="FFC83D"/>
            </a:solidFill>
            <a:prstDash val="solid"/>
          </a:ln>
        </p:spPr>
      </p:sp>
      <p:sp>
        <p:nvSpPr>
          <p:cNvPr id="29" name="Text 27"/>
          <p:cNvSpPr txBox="1"/>
          <p:nvPr/>
        </p:nvSpPr>
        <p:spPr>
          <a:xfrm>
            <a:off x="9006840" y="3730752"/>
            <a:ext cx="2103120" cy="1325880"/>
          </a:xfrm>
          <a:prstGeom prst="rect">
            <a:avLst/>
          </a:prstGeom>
          <a:noFill/>
          <a:ln/>
        </p:spPr>
        <p:txBody>
          <a:bodyPr wrap="none" lIns="0" tIns="0" rIns="0" bIns="0" rtlCol="0" anchor="ctr"/>
          <a:lstStyle/>
          <a:p>
            <a:pPr algn="l" indent="0" marL="0">
              <a:lnSpc>
                <a:spcPct val="115000"/>
              </a:lnSpc>
              <a:buNone/>
            </a:pPr>
            <a:r>
              <a:rPr lang="en-US" sz="1600" b="1" dirty="0">
                <a:solidFill>
                  <a:srgbClr val="0E1B3D"/>
                </a:solidFill>
                <a:latin typeface="JetBrains Mono" pitchFamily="34" charset="0"/>
                <a:ea typeface="JetBrains Mono" pitchFamily="34" charset="-122"/>
                <a:cs typeface="JetBrains Mono" pitchFamily="34" charset="-120"/>
              </a:rPr>
              <a:t>&lt;section&gt;</a:t>
            </a:r>
            <a:endParaRPr lang="en-US" sz="1600" dirty="0"/>
          </a:p>
        </p:txBody>
      </p:sp>
      <p:sp>
        <p:nvSpPr>
          <p:cNvPr id="30" name="Shape 28"/>
          <p:cNvSpPr/>
          <p:nvPr/>
        </p:nvSpPr>
        <p:spPr>
          <a:xfrm>
            <a:off x="6263640" y="5376672"/>
            <a:ext cx="4937760" cy="548640"/>
          </a:xfrm>
          <a:prstGeom prst="roundRect">
            <a:avLst>
              <a:gd name="adj" fmla="val 16667"/>
            </a:avLst>
          </a:prstGeom>
          <a:solidFill>
            <a:srgbClr val="EEF3FF"/>
          </a:solidFill>
          <a:ln w="15875">
            <a:solidFill>
              <a:srgbClr val="DCE6FF"/>
            </a:solidFill>
            <a:prstDash val="solid"/>
          </a:ln>
        </p:spPr>
      </p:sp>
      <p:sp>
        <p:nvSpPr>
          <p:cNvPr id="31" name="Text 29"/>
          <p:cNvSpPr txBox="1"/>
          <p:nvPr/>
        </p:nvSpPr>
        <p:spPr>
          <a:xfrm>
            <a:off x="6446520" y="5376672"/>
            <a:ext cx="2743200" cy="54864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JetBrains Mono" pitchFamily="34" charset="0"/>
                <a:ea typeface="JetBrains Mono" pitchFamily="34" charset="-122"/>
                <a:cs typeface="JetBrains Mono" pitchFamily="34" charset="-120"/>
              </a:rPr>
              <a:t>&lt;footer&gt;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17</a:t>
            </a:r>
            <a:endParaRPr lang="en-US" sz="1100" dirty="0"/>
          </a:p>
        </p:txBody>
      </p:sp>
      <p:sp>
        <p:nvSpPr>
          <p:cNvPr id="3" name="Text 1"/>
          <p:cNvSpPr txBox="1"/>
          <p:nvPr/>
        </p:nvSpPr>
        <p:spPr>
          <a:xfrm>
            <a:off x="731520" y="896112"/>
            <a:ext cx="10698480" cy="91440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Rangka dulu, dandan nanti</a:t>
            </a:r>
            <a:endParaRPr lang="en-US" sz="4000" dirty="0"/>
          </a:p>
        </p:txBody>
      </p:sp>
      <p:sp>
        <p:nvSpPr>
          <p:cNvPr id="4" name="Shape 2"/>
          <p:cNvSpPr/>
          <p:nvPr/>
        </p:nvSpPr>
        <p:spPr>
          <a:xfrm>
            <a:off x="731520" y="411480"/>
            <a:ext cx="2240280" cy="384048"/>
          </a:xfrm>
          <a:prstGeom prst="roundRect">
            <a:avLst>
              <a:gd name="adj" fmla="val 50000"/>
            </a:avLst>
          </a:prstGeom>
          <a:solidFill>
            <a:srgbClr val="FFC83D"/>
          </a:solidFill>
          <a:ln/>
        </p:spPr>
      </p:sp>
      <p:sp>
        <p:nvSpPr>
          <p:cNvPr id="5" name="Text 3"/>
          <p:cNvSpPr txBox="1"/>
          <p:nvPr/>
        </p:nvSpPr>
        <p:spPr>
          <a:xfrm>
            <a:off x="731520" y="411480"/>
            <a:ext cx="2240280" cy="384048"/>
          </a:xfrm>
          <a:prstGeom prst="rect">
            <a:avLst/>
          </a:prstGeom>
          <a:noFill/>
          <a:ln/>
        </p:spPr>
        <p:txBody>
          <a:bodyPr wrap="square" lIns="0" tIns="0" rIns="0" bIns="0" rtlCol="0" anchor="ctr"/>
          <a:lstStyle/>
          <a:p>
            <a:pPr algn="ctr" indent="0" marL="0">
              <a:lnSpc>
                <a:spcPct val="115000"/>
              </a:lnSpc>
              <a:buNone/>
            </a:pPr>
            <a:r>
              <a:rPr lang="en-US" sz="1300" b="1" spc="180" kern="0" dirty="0">
                <a:solidFill>
                  <a:srgbClr val="0E1B3D"/>
                </a:solidFill>
                <a:latin typeface="Plus Jakarta Sans" pitchFamily="34" charset="0"/>
                <a:ea typeface="Plus Jakarta Sans" pitchFamily="34" charset="-122"/>
                <a:cs typeface="Plus Jakarta Sans" pitchFamily="34" charset="-120"/>
              </a:rPr>
              <a:t>CHECKPOINT 1</a:t>
            </a:r>
            <a:endParaRPr lang="en-US" sz="1300" dirty="0"/>
          </a:p>
        </p:txBody>
      </p:sp>
      <p:sp>
        <p:nvSpPr>
          <p:cNvPr id="6" name="Text 4"/>
          <p:cNvSpPr txBox="1"/>
          <p:nvPr/>
        </p:nvSpPr>
        <p:spPr>
          <a:xfrm>
            <a:off x="3154680" y="411480"/>
            <a:ext cx="5486400" cy="384048"/>
          </a:xfrm>
          <a:prstGeom prst="rect">
            <a:avLst/>
          </a:prstGeom>
          <a:noFill/>
          <a:ln/>
        </p:spPr>
        <p:txBody>
          <a:bodyPr wrap="square" lIns="0" tIns="0" rIns="0" bIns="0" rtlCol="0" anchor="ctr"/>
          <a:lstStyle/>
          <a:p>
            <a:pPr algn="l" indent="0" marL="0">
              <a:lnSpc>
                <a:spcPct val="115000"/>
              </a:lnSpc>
              <a:buNone/>
            </a:pPr>
            <a:r>
              <a:rPr lang="en-US" sz="1400" b="1" dirty="0">
                <a:solidFill>
                  <a:srgbClr val="5B6478"/>
                </a:solidFill>
                <a:latin typeface="Plus Jakarta Sans" pitchFamily="34" charset="0"/>
                <a:ea typeface="Plus Jakarta Sans" pitchFamily="34" charset="-122"/>
                <a:cs typeface="Plus Jakarta Sans" pitchFamily="34" charset="-120"/>
              </a:rPr>
              <a:t>30 menit</a:t>
            </a:r>
            <a:endParaRPr lang="en-US" sz="1400" dirty="0"/>
          </a:p>
        </p:txBody>
      </p:sp>
      <p:sp>
        <p:nvSpPr>
          <p:cNvPr id="7" name="Shape 5"/>
          <p:cNvSpPr/>
          <p:nvPr/>
        </p:nvSpPr>
        <p:spPr>
          <a:xfrm>
            <a:off x="731520" y="1975104"/>
            <a:ext cx="329184" cy="329184"/>
          </a:xfrm>
          <a:prstGeom prst="roundRect">
            <a:avLst>
              <a:gd name="adj" fmla="val 22000"/>
            </a:avLst>
          </a:prstGeom>
          <a:ln w="22225">
            <a:solidFill>
              <a:srgbClr val="1F4FD8"/>
            </a:solidFill>
            <a:prstDash val="solid"/>
          </a:ln>
        </p:spPr>
      </p:sp>
      <p:sp>
        <p:nvSpPr>
          <p:cNvPr id="8" name="Text 6"/>
          <p:cNvSpPr txBox="1"/>
          <p:nvPr/>
        </p:nvSpPr>
        <p:spPr>
          <a:xfrm>
            <a:off x="1280160" y="1920240"/>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JetBrains Mono" pitchFamily="34" charset="0"/>
                <a:ea typeface="JetBrains Mono" pitchFamily="34" charset="-122"/>
                <a:cs typeface="JetBrains Mono" pitchFamily="34" charset="-120"/>
              </a:rPr>
              <a:t>&lt;header&gt;</a:t>
            </a:r>
            <a:endParaRPr lang="en-US" sz="1500" dirty="0"/>
          </a:p>
        </p:txBody>
      </p:sp>
      <p:sp>
        <p:nvSpPr>
          <p:cNvPr id="9" name="Text 7"/>
          <p:cNvSpPr txBox="1"/>
          <p:nvPr/>
        </p:nvSpPr>
        <p:spPr>
          <a:xfrm>
            <a:off x="4114800" y="1920240"/>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Plus Jakarta Sans" pitchFamily="34" charset="0"/>
                <a:ea typeface="Plus Jakarta Sans" pitchFamily="34" charset="-122"/>
                <a:cs typeface="Plus Jakarta Sans" pitchFamily="34" charset="-120"/>
              </a:rPr>
              <a:t>nama dan kalimat singkat tentangmu</a:t>
            </a:r>
            <a:endParaRPr lang="en-US" sz="1500" dirty="0"/>
          </a:p>
        </p:txBody>
      </p:sp>
      <p:sp>
        <p:nvSpPr>
          <p:cNvPr id="10" name="Shape 8"/>
          <p:cNvSpPr/>
          <p:nvPr/>
        </p:nvSpPr>
        <p:spPr>
          <a:xfrm>
            <a:off x="731520" y="2578608"/>
            <a:ext cx="329184" cy="329184"/>
          </a:xfrm>
          <a:prstGeom prst="roundRect">
            <a:avLst>
              <a:gd name="adj" fmla="val 22000"/>
            </a:avLst>
          </a:prstGeom>
          <a:ln w="22225">
            <a:solidFill>
              <a:srgbClr val="1F4FD8"/>
            </a:solidFill>
            <a:prstDash val="solid"/>
          </a:ln>
        </p:spPr>
      </p:sp>
      <p:sp>
        <p:nvSpPr>
          <p:cNvPr id="11" name="Text 9"/>
          <p:cNvSpPr txBox="1"/>
          <p:nvPr/>
        </p:nvSpPr>
        <p:spPr>
          <a:xfrm>
            <a:off x="1280160" y="2523744"/>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JetBrains Mono" pitchFamily="34" charset="0"/>
                <a:ea typeface="JetBrains Mono" pitchFamily="34" charset="-122"/>
                <a:cs typeface="JetBrains Mono" pitchFamily="34" charset="-120"/>
              </a:rPr>
              <a:t>&lt;nav&gt;</a:t>
            </a:r>
            <a:endParaRPr lang="en-US" sz="1500" dirty="0"/>
          </a:p>
        </p:txBody>
      </p:sp>
      <p:sp>
        <p:nvSpPr>
          <p:cNvPr id="12" name="Text 10"/>
          <p:cNvSpPr txBox="1"/>
          <p:nvPr/>
        </p:nvSpPr>
        <p:spPr>
          <a:xfrm>
            <a:off x="4114800" y="2523744"/>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Plus Jakarta Sans" pitchFamily="34" charset="0"/>
                <a:ea typeface="Plus Jakarta Sans" pitchFamily="34" charset="-122"/>
                <a:cs typeface="Plus Jakarta Sans" pitchFamily="34" charset="-120"/>
              </a:rPr>
              <a:t>4 link ke bagian-bagian halaman</a:t>
            </a:r>
            <a:endParaRPr lang="en-US" sz="1500" dirty="0"/>
          </a:p>
        </p:txBody>
      </p:sp>
      <p:sp>
        <p:nvSpPr>
          <p:cNvPr id="13" name="Shape 11"/>
          <p:cNvSpPr/>
          <p:nvPr/>
        </p:nvSpPr>
        <p:spPr>
          <a:xfrm>
            <a:off x="731520" y="3182112"/>
            <a:ext cx="329184" cy="329184"/>
          </a:xfrm>
          <a:prstGeom prst="roundRect">
            <a:avLst>
              <a:gd name="adj" fmla="val 22000"/>
            </a:avLst>
          </a:prstGeom>
          <a:ln w="22225">
            <a:solidFill>
              <a:srgbClr val="1F4FD8"/>
            </a:solidFill>
            <a:prstDash val="solid"/>
          </a:ln>
        </p:spPr>
      </p:sp>
      <p:sp>
        <p:nvSpPr>
          <p:cNvPr id="14" name="Text 12"/>
          <p:cNvSpPr txBox="1"/>
          <p:nvPr/>
        </p:nvSpPr>
        <p:spPr>
          <a:xfrm>
            <a:off x="1280160" y="3127248"/>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JetBrains Mono" pitchFamily="34" charset="0"/>
                <a:ea typeface="JetBrains Mono" pitchFamily="34" charset="-122"/>
                <a:cs typeface="JetBrains Mono" pitchFamily="34" charset="-120"/>
              </a:rPr>
              <a:t>&lt;section&gt; Tentang</a:t>
            </a:r>
            <a:endParaRPr lang="en-US" sz="1500" dirty="0"/>
          </a:p>
        </p:txBody>
      </p:sp>
      <p:sp>
        <p:nvSpPr>
          <p:cNvPr id="15" name="Text 13"/>
          <p:cNvSpPr txBox="1"/>
          <p:nvPr/>
        </p:nvSpPr>
        <p:spPr>
          <a:xfrm>
            <a:off x="4114800" y="3127248"/>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Plus Jakarta Sans" pitchFamily="34" charset="0"/>
                <a:ea typeface="Plus Jakarta Sans" pitchFamily="34" charset="-122"/>
                <a:cs typeface="Plus Jakarta Sans" pitchFamily="34" charset="-120"/>
              </a:rPr>
              <a:t>foto dan satu paragraf</a:t>
            </a:r>
            <a:endParaRPr lang="en-US" sz="1500" dirty="0"/>
          </a:p>
        </p:txBody>
      </p:sp>
      <p:sp>
        <p:nvSpPr>
          <p:cNvPr id="16" name="Shape 14"/>
          <p:cNvSpPr/>
          <p:nvPr/>
        </p:nvSpPr>
        <p:spPr>
          <a:xfrm>
            <a:off x="731520" y="3785616"/>
            <a:ext cx="329184" cy="329184"/>
          </a:xfrm>
          <a:prstGeom prst="roundRect">
            <a:avLst>
              <a:gd name="adj" fmla="val 22000"/>
            </a:avLst>
          </a:prstGeom>
          <a:ln w="22225">
            <a:solidFill>
              <a:srgbClr val="1F4FD8"/>
            </a:solidFill>
            <a:prstDash val="solid"/>
          </a:ln>
        </p:spPr>
      </p:sp>
      <p:sp>
        <p:nvSpPr>
          <p:cNvPr id="17" name="Text 15"/>
          <p:cNvSpPr txBox="1"/>
          <p:nvPr/>
        </p:nvSpPr>
        <p:spPr>
          <a:xfrm>
            <a:off x="1280160" y="3730752"/>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JetBrains Mono" pitchFamily="34" charset="0"/>
                <a:ea typeface="JetBrains Mono" pitchFamily="34" charset="-122"/>
                <a:cs typeface="JetBrains Mono" pitchFamily="34" charset="-120"/>
              </a:rPr>
              <a:t>&lt;section&gt; Skill</a:t>
            </a:r>
            <a:endParaRPr lang="en-US" sz="1500" dirty="0"/>
          </a:p>
        </p:txBody>
      </p:sp>
      <p:sp>
        <p:nvSpPr>
          <p:cNvPr id="18" name="Text 16"/>
          <p:cNvSpPr txBox="1"/>
          <p:nvPr/>
        </p:nvSpPr>
        <p:spPr>
          <a:xfrm>
            <a:off x="4114800" y="3730752"/>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Plus Jakarta Sans" pitchFamily="34" charset="0"/>
                <a:ea typeface="Plus Jakarta Sans" pitchFamily="34" charset="-122"/>
                <a:cs typeface="Plus Jakarta Sans" pitchFamily="34" charset="-120"/>
              </a:rPr>
              <a:t>daftar skill-mu (ul)</a:t>
            </a:r>
            <a:endParaRPr lang="en-US" sz="1500" dirty="0"/>
          </a:p>
        </p:txBody>
      </p:sp>
      <p:sp>
        <p:nvSpPr>
          <p:cNvPr id="19" name="Shape 17"/>
          <p:cNvSpPr/>
          <p:nvPr/>
        </p:nvSpPr>
        <p:spPr>
          <a:xfrm>
            <a:off x="731520" y="4389120"/>
            <a:ext cx="329184" cy="329184"/>
          </a:xfrm>
          <a:prstGeom prst="roundRect">
            <a:avLst>
              <a:gd name="adj" fmla="val 22000"/>
            </a:avLst>
          </a:prstGeom>
          <a:ln w="22225">
            <a:solidFill>
              <a:srgbClr val="1F4FD8"/>
            </a:solidFill>
            <a:prstDash val="solid"/>
          </a:ln>
        </p:spPr>
      </p:sp>
      <p:sp>
        <p:nvSpPr>
          <p:cNvPr id="20" name="Text 18"/>
          <p:cNvSpPr txBox="1"/>
          <p:nvPr/>
        </p:nvSpPr>
        <p:spPr>
          <a:xfrm>
            <a:off x="1280160" y="4334256"/>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JetBrains Mono" pitchFamily="34" charset="0"/>
                <a:ea typeface="JetBrains Mono" pitchFamily="34" charset="-122"/>
                <a:cs typeface="JetBrains Mono" pitchFamily="34" charset="-120"/>
              </a:rPr>
              <a:t>&lt;section&gt; Project</a:t>
            </a:r>
            <a:endParaRPr lang="en-US" sz="1500" dirty="0"/>
          </a:p>
        </p:txBody>
      </p:sp>
      <p:sp>
        <p:nvSpPr>
          <p:cNvPr id="21" name="Text 19"/>
          <p:cNvSpPr txBox="1"/>
          <p:nvPr/>
        </p:nvSpPr>
        <p:spPr>
          <a:xfrm>
            <a:off x="4114800" y="4334256"/>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Plus Jakarta Sans" pitchFamily="34" charset="0"/>
                <a:ea typeface="Plus Jakarta Sans" pitchFamily="34" charset="-122"/>
                <a:cs typeface="Plus Jakarta Sans" pitchFamily="34" charset="-120"/>
              </a:rPr>
              <a:t>minimal 2 project</a:t>
            </a:r>
            <a:endParaRPr lang="en-US" sz="1500" dirty="0"/>
          </a:p>
        </p:txBody>
      </p:sp>
      <p:sp>
        <p:nvSpPr>
          <p:cNvPr id="22" name="Shape 20"/>
          <p:cNvSpPr/>
          <p:nvPr/>
        </p:nvSpPr>
        <p:spPr>
          <a:xfrm>
            <a:off x="731520" y="4992624"/>
            <a:ext cx="329184" cy="329184"/>
          </a:xfrm>
          <a:prstGeom prst="roundRect">
            <a:avLst>
              <a:gd name="adj" fmla="val 22000"/>
            </a:avLst>
          </a:prstGeom>
          <a:ln w="22225">
            <a:solidFill>
              <a:srgbClr val="1F4FD8"/>
            </a:solidFill>
            <a:prstDash val="solid"/>
          </a:ln>
        </p:spPr>
      </p:sp>
      <p:sp>
        <p:nvSpPr>
          <p:cNvPr id="23" name="Text 21"/>
          <p:cNvSpPr txBox="1"/>
          <p:nvPr/>
        </p:nvSpPr>
        <p:spPr>
          <a:xfrm>
            <a:off x="1280160" y="4937760"/>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JetBrains Mono" pitchFamily="34" charset="0"/>
                <a:ea typeface="JetBrains Mono" pitchFamily="34" charset="-122"/>
                <a:cs typeface="JetBrains Mono" pitchFamily="34" charset="-120"/>
              </a:rPr>
              <a:t>&lt;section&gt; Kontak</a:t>
            </a:r>
            <a:endParaRPr lang="en-US" sz="1500" dirty="0"/>
          </a:p>
        </p:txBody>
      </p:sp>
      <p:sp>
        <p:nvSpPr>
          <p:cNvPr id="24" name="Text 22"/>
          <p:cNvSpPr txBox="1"/>
          <p:nvPr/>
        </p:nvSpPr>
        <p:spPr>
          <a:xfrm>
            <a:off x="4114800" y="4937760"/>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Plus Jakarta Sans" pitchFamily="34" charset="0"/>
                <a:ea typeface="Plus Jakarta Sans" pitchFamily="34" charset="-122"/>
                <a:cs typeface="Plus Jakarta Sans" pitchFamily="34" charset="-120"/>
              </a:rPr>
              <a:t>link email atau media sosial</a:t>
            </a:r>
            <a:endParaRPr lang="en-US" sz="1500" dirty="0"/>
          </a:p>
        </p:txBody>
      </p:sp>
      <p:sp>
        <p:nvSpPr>
          <p:cNvPr id="25" name="Shape 23"/>
          <p:cNvSpPr/>
          <p:nvPr/>
        </p:nvSpPr>
        <p:spPr>
          <a:xfrm>
            <a:off x="731520" y="5596128"/>
            <a:ext cx="329184" cy="329184"/>
          </a:xfrm>
          <a:prstGeom prst="roundRect">
            <a:avLst>
              <a:gd name="adj" fmla="val 22000"/>
            </a:avLst>
          </a:prstGeom>
          <a:ln w="22225">
            <a:solidFill>
              <a:srgbClr val="1F4FD8"/>
            </a:solidFill>
            <a:prstDash val="solid"/>
          </a:ln>
        </p:spPr>
      </p:sp>
      <p:sp>
        <p:nvSpPr>
          <p:cNvPr id="26" name="Text 24"/>
          <p:cNvSpPr txBox="1"/>
          <p:nvPr/>
        </p:nvSpPr>
        <p:spPr>
          <a:xfrm>
            <a:off x="1280160" y="5541264"/>
            <a:ext cx="2651760" cy="438912"/>
          </a:xfrm>
          <a:prstGeom prst="rect">
            <a:avLst/>
          </a:prstGeom>
          <a:noFill/>
          <a:ln/>
        </p:spPr>
        <p:txBody>
          <a:bodyPr wrap="none" lIns="0" tIns="0" rIns="0" bIns="0" rtlCol="0" anchor="ctr"/>
          <a:lstStyle/>
          <a:p>
            <a:pPr algn="l" indent="0" marL="0">
              <a:lnSpc>
                <a:spcPct val="115000"/>
              </a:lnSpc>
              <a:buNone/>
            </a:pPr>
            <a:r>
              <a:rPr lang="en-US" sz="1500" b="1" dirty="0">
                <a:solidFill>
                  <a:srgbClr val="1F4FD8"/>
                </a:solidFill>
                <a:latin typeface="JetBrains Mono" pitchFamily="34" charset="0"/>
                <a:ea typeface="JetBrains Mono" pitchFamily="34" charset="-122"/>
                <a:cs typeface="JetBrains Mono" pitchFamily="34" charset="-120"/>
              </a:rPr>
              <a:t>&lt;footer&gt;</a:t>
            </a:r>
            <a:endParaRPr lang="en-US" sz="1500" dirty="0"/>
          </a:p>
        </p:txBody>
      </p:sp>
      <p:sp>
        <p:nvSpPr>
          <p:cNvPr id="27" name="Text 25"/>
          <p:cNvSpPr txBox="1"/>
          <p:nvPr/>
        </p:nvSpPr>
        <p:spPr>
          <a:xfrm>
            <a:off x="4114800" y="5541264"/>
            <a:ext cx="3017520" cy="438912"/>
          </a:xfrm>
          <a:prstGeom prst="rect">
            <a:avLst/>
          </a:prstGeom>
          <a:noFill/>
          <a:ln/>
        </p:spPr>
        <p:txBody>
          <a:bodyPr wrap="square" lIns="0" tIns="0" rIns="0" bIns="0" rtlCol="0" anchor="ctr"/>
          <a:lstStyle/>
          <a:p>
            <a:pPr algn="l" indent="0" marL="0">
              <a:lnSpc>
                <a:spcPct val="115000"/>
              </a:lnSpc>
              <a:buNone/>
            </a:pPr>
            <a:r>
              <a:rPr lang="en-US" sz="1500" dirty="0">
                <a:solidFill>
                  <a:srgbClr val="0E1B3D"/>
                </a:solidFill>
                <a:latin typeface="Plus Jakarta Sans" pitchFamily="34" charset="0"/>
                <a:ea typeface="Plus Jakarta Sans" pitchFamily="34" charset="-122"/>
                <a:cs typeface="Plus Jakarta Sans" pitchFamily="34" charset="-120"/>
              </a:rPr>
              <a:t>hak cipta dengan namamu</a:t>
            </a:r>
            <a:endParaRPr lang="en-US" sz="1500" dirty="0"/>
          </a:p>
        </p:txBody>
      </p:sp>
      <p:sp>
        <p:nvSpPr>
          <p:cNvPr id="28" name="Shape 26"/>
          <p:cNvSpPr/>
          <p:nvPr/>
        </p:nvSpPr>
        <p:spPr>
          <a:xfrm>
            <a:off x="7498080" y="1874520"/>
            <a:ext cx="3931920" cy="3246120"/>
          </a:xfrm>
          <a:prstGeom prst="roundRect">
            <a:avLst>
              <a:gd name="adj" fmla="val 4507"/>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29" name="Shape 27"/>
          <p:cNvSpPr/>
          <p:nvPr/>
        </p:nvSpPr>
        <p:spPr>
          <a:xfrm>
            <a:off x="7516368" y="1892808"/>
            <a:ext cx="3895344" cy="384048"/>
          </a:xfrm>
          <a:prstGeom prst="roundRect">
            <a:avLst>
              <a:gd name="adj" fmla="val 33333"/>
            </a:avLst>
          </a:prstGeom>
          <a:solidFill>
            <a:srgbClr val="EEF1F7"/>
          </a:solidFill>
          <a:ln/>
        </p:spPr>
      </p:sp>
      <p:sp>
        <p:nvSpPr>
          <p:cNvPr id="30" name="Shape 28"/>
          <p:cNvSpPr/>
          <p:nvPr/>
        </p:nvSpPr>
        <p:spPr>
          <a:xfrm>
            <a:off x="7516368" y="2075688"/>
            <a:ext cx="3895344" cy="201168"/>
          </a:xfrm>
          <a:prstGeom prst="rect">
            <a:avLst/>
          </a:prstGeom>
          <a:solidFill>
            <a:srgbClr val="EEF1F7"/>
          </a:solidFill>
          <a:ln/>
        </p:spPr>
      </p:sp>
      <p:sp>
        <p:nvSpPr>
          <p:cNvPr id="31" name="Shape 29"/>
          <p:cNvSpPr/>
          <p:nvPr/>
        </p:nvSpPr>
        <p:spPr>
          <a:xfrm>
            <a:off x="7680960" y="2011680"/>
            <a:ext cx="100584" cy="100584"/>
          </a:xfrm>
          <a:prstGeom prst="ellipse">
            <a:avLst/>
          </a:prstGeom>
          <a:solidFill>
            <a:srgbClr val="E63946"/>
          </a:solidFill>
          <a:ln/>
        </p:spPr>
      </p:sp>
      <p:sp>
        <p:nvSpPr>
          <p:cNvPr id="32" name="Shape 30"/>
          <p:cNvSpPr/>
          <p:nvPr/>
        </p:nvSpPr>
        <p:spPr>
          <a:xfrm>
            <a:off x="7854696" y="2011680"/>
            <a:ext cx="100584" cy="100584"/>
          </a:xfrm>
          <a:prstGeom prst="ellipse">
            <a:avLst/>
          </a:prstGeom>
          <a:solidFill>
            <a:srgbClr val="FFC83D"/>
          </a:solidFill>
          <a:ln/>
        </p:spPr>
      </p:sp>
      <p:sp>
        <p:nvSpPr>
          <p:cNvPr id="33" name="Shape 31"/>
          <p:cNvSpPr/>
          <p:nvPr/>
        </p:nvSpPr>
        <p:spPr>
          <a:xfrm>
            <a:off x="8028432" y="2011680"/>
            <a:ext cx="100584" cy="100584"/>
          </a:xfrm>
          <a:prstGeom prst="ellipse">
            <a:avLst/>
          </a:prstGeom>
          <a:solidFill>
            <a:srgbClr val="1E9E68"/>
          </a:solidFill>
          <a:ln/>
        </p:spPr>
      </p:sp>
      <p:sp>
        <p:nvSpPr>
          <p:cNvPr id="34" name="Shape 32"/>
          <p:cNvSpPr/>
          <p:nvPr/>
        </p:nvSpPr>
        <p:spPr>
          <a:xfrm>
            <a:off x="8366760" y="1956816"/>
            <a:ext cx="2834640" cy="237744"/>
          </a:xfrm>
          <a:prstGeom prst="roundRect">
            <a:avLst>
              <a:gd name="adj" fmla="val 50000"/>
            </a:avLst>
          </a:prstGeom>
          <a:solidFill>
            <a:srgbClr val="FFFFFF"/>
          </a:solidFill>
          <a:ln/>
        </p:spPr>
      </p:sp>
      <p:sp>
        <p:nvSpPr>
          <p:cNvPr id="35" name="Text 33"/>
          <p:cNvSpPr txBox="1"/>
          <p:nvPr/>
        </p:nvSpPr>
        <p:spPr>
          <a:xfrm>
            <a:off x="8503920" y="1956816"/>
            <a:ext cx="256032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localhost:5500</a:t>
            </a:r>
            <a:endParaRPr lang="en-US" sz="1100" dirty="0"/>
          </a:p>
        </p:txBody>
      </p:sp>
      <p:sp>
        <p:nvSpPr>
          <p:cNvPr id="36" name="Text 34"/>
          <p:cNvSpPr txBox="1"/>
          <p:nvPr/>
        </p:nvSpPr>
        <p:spPr>
          <a:xfrm>
            <a:off x="7699248" y="2408530"/>
            <a:ext cx="3529584" cy="365760"/>
          </a:xfrm>
          <a:prstGeom prst="rect">
            <a:avLst/>
          </a:prstGeom>
          <a:noFill/>
          <a:ln/>
        </p:spPr>
        <p:txBody>
          <a:bodyPr wrap="square" lIns="0" tIns="0" rIns="0" bIns="0" rtlCol="0" anchor="t"/>
          <a:lstStyle/>
          <a:p>
            <a:pPr algn="l" indent="0" marL="0">
              <a:lnSpc>
                <a:spcPct val="115000"/>
              </a:lnSpc>
              <a:buNone/>
            </a:pPr>
            <a:r>
              <a:rPr lang="en-US" sz="2080" b="1" dirty="0">
                <a:solidFill>
                  <a:srgbClr val="000000"/>
                </a:solidFill>
                <a:latin typeface="Times New Roman" pitchFamily="34" charset="0"/>
                <a:ea typeface="Times New Roman" pitchFamily="34" charset="-122"/>
                <a:cs typeface="Times New Roman" pitchFamily="34" charset="-120"/>
              </a:rPr>
              <a:t>Alya Putri</a:t>
            </a:r>
            <a:endParaRPr lang="en-US" sz="2080" dirty="0"/>
          </a:p>
        </p:txBody>
      </p:sp>
      <p:sp>
        <p:nvSpPr>
          <p:cNvPr id="37" name="Text 35"/>
          <p:cNvSpPr txBox="1"/>
          <p:nvPr/>
        </p:nvSpPr>
        <p:spPr>
          <a:xfrm>
            <a:off x="7699248" y="2774290"/>
            <a:ext cx="3529584" cy="219456"/>
          </a:xfrm>
          <a:prstGeom prst="rect">
            <a:avLst/>
          </a:prstGeom>
          <a:noFill/>
          <a:ln/>
        </p:spPr>
        <p:txBody>
          <a:bodyPr wrap="square" lIns="0" tIns="0" rIns="0" bIns="0" rtlCol="0" anchor="t"/>
          <a:lstStyle/>
          <a:p>
            <a:pPr algn="l" indent="0" marL="0">
              <a:lnSpc>
                <a:spcPct val="115000"/>
              </a:lnSpc>
              <a:buNone/>
            </a:pPr>
            <a:r>
              <a:rPr lang="en-US" sz="1120" dirty="0">
                <a:solidFill>
                  <a:srgbClr val="000000"/>
                </a:solidFill>
                <a:latin typeface="Times New Roman" pitchFamily="34" charset="0"/>
                <a:ea typeface="Times New Roman" pitchFamily="34" charset="-122"/>
                <a:cs typeface="Times New Roman" pitchFamily="34" charset="-120"/>
              </a:rPr>
              <a:t>Siswa SMA · Calon Web Developer</a:t>
            </a:r>
            <a:endParaRPr lang="en-US" sz="1120" dirty="0"/>
          </a:p>
        </p:txBody>
      </p:sp>
      <p:sp>
        <p:nvSpPr>
          <p:cNvPr id="38" name="Text 36"/>
          <p:cNvSpPr txBox="1"/>
          <p:nvPr/>
        </p:nvSpPr>
        <p:spPr>
          <a:xfrm>
            <a:off x="7699248" y="3023006"/>
            <a:ext cx="3529584" cy="219456"/>
          </a:xfrm>
          <a:prstGeom prst="rect">
            <a:avLst/>
          </a:prstGeom>
          <a:noFill/>
          <a:ln/>
        </p:spPr>
        <p:txBody>
          <a:bodyPr wrap="square" lIns="0" tIns="0" rIns="0" bIns="0" rtlCol="0" anchor="t"/>
          <a:lstStyle/>
          <a:p>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Tentang</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Skill</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Project</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120" dirty="0">
                <a:solidFill>
                  <a:srgbClr val="0000EE"/>
                </a:solidFill>
                <a:latin typeface="Times New Roman" pitchFamily="34" charset="0"/>
                <a:ea typeface="Times New Roman" pitchFamily="34" charset="-122"/>
                <a:cs typeface="Times New Roman" pitchFamily="34" charset="-120"/>
              </a:rPr>
              <a:t>Kontak</a:t>
            </a:r>
            <a:endParaRPr lang="en-US" sz="1120" dirty="0"/>
          </a:p>
        </p:txBody>
      </p:sp>
      <p:sp>
        <p:nvSpPr>
          <p:cNvPr id="39" name="Text 37"/>
          <p:cNvSpPr txBox="1"/>
          <p:nvPr/>
        </p:nvSpPr>
        <p:spPr>
          <a:xfrm>
            <a:off x="7699248" y="3330245"/>
            <a:ext cx="3529584" cy="292608"/>
          </a:xfrm>
          <a:prstGeom prst="rect">
            <a:avLst/>
          </a:prstGeom>
          <a:noFill/>
          <a:ln/>
        </p:spPr>
        <p:txBody>
          <a:bodyPr wrap="square" lIns="0" tIns="0" rIns="0" bIns="0" rtlCol="0" anchor="t"/>
          <a:lstStyle/>
          <a:p>
            <a:pPr algn="l" indent="0" marL="0">
              <a:lnSpc>
                <a:spcPct val="115000"/>
              </a:lnSpc>
              <a:buNone/>
            </a:pPr>
            <a:r>
              <a:rPr lang="en-US" sz="1600" b="1" dirty="0">
                <a:solidFill>
                  <a:srgbClr val="000000"/>
                </a:solidFill>
                <a:latin typeface="Times New Roman" pitchFamily="34" charset="0"/>
                <a:ea typeface="Times New Roman" pitchFamily="34" charset="-122"/>
                <a:cs typeface="Times New Roman" pitchFamily="34" charset="-120"/>
              </a:rPr>
              <a:t>Tentang Saya</a:t>
            </a:r>
            <a:endParaRPr lang="en-US" sz="1600" dirty="0"/>
          </a:p>
        </p:txBody>
      </p:sp>
      <p:sp>
        <p:nvSpPr>
          <p:cNvPr id="40" name="Text 38"/>
          <p:cNvSpPr txBox="1"/>
          <p:nvPr/>
        </p:nvSpPr>
        <p:spPr>
          <a:xfrm>
            <a:off x="7699248" y="3637483"/>
            <a:ext cx="3529584" cy="438912"/>
          </a:xfrm>
          <a:prstGeom prst="rect">
            <a:avLst/>
          </a:prstGeom>
          <a:noFill/>
          <a:ln/>
        </p:spPr>
        <p:txBody>
          <a:bodyPr wrap="square" lIns="0" tIns="0" rIns="0" bIns="0" rtlCol="0" anchor="t"/>
          <a:lstStyle/>
          <a:p>
            <a:pPr algn="l" indent="0" marL="0">
              <a:lnSpc>
                <a:spcPct val="115000"/>
              </a:lnSpc>
              <a:buNone/>
            </a:pPr>
            <a:r>
              <a:rPr lang="en-US" sz="1120" dirty="0">
                <a:solidFill>
                  <a:srgbClr val="000000"/>
                </a:solidFill>
                <a:latin typeface="Times New Roman" pitchFamily="34" charset="0"/>
                <a:ea typeface="Times New Roman" pitchFamily="34" charset="-122"/>
                <a:cs typeface="Times New Roman" pitchFamily="34" charset="-120"/>
              </a:rPr>
              <a:t>Aku suka desain dan ingin belajar membuat website.</a:t>
            </a:r>
            <a:endParaRPr lang="en-US" sz="1120" dirty="0"/>
          </a:p>
        </p:txBody>
      </p:sp>
      <p:sp>
        <p:nvSpPr>
          <p:cNvPr id="41" name="Text 39"/>
          <p:cNvSpPr txBox="1"/>
          <p:nvPr/>
        </p:nvSpPr>
        <p:spPr>
          <a:xfrm>
            <a:off x="7699248" y="4091026"/>
            <a:ext cx="3529584" cy="292608"/>
          </a:xfrm>
          <a:prstGeom prst="rect">
            <a:avLst/>
          </a:prstGeom>
          <a:noFill/>
          <a:ln/>
        </p:spPr>
        <p:txBody>
          <a:bodyPr wrap="square" lIns="0" tIns="0" rIns="0" bIns="0" rtlCol="0" anchor="t"/>
          <a:lstStyle/>
          <a:p>
            <a:pPr algn="l" indent="0" marL="0">
              <a:lnSpc>
                <a:spcPct val="115000"/>
              </a:lnSpc>
              <a:buNone/>
            </a:pPr>
            <a:r>
              <a:rPr lang="en-US" sz="1600" b="1" dirty="0">
                <a:solidFill>
                  <a:srgbClr val="000000"/>
                </a:solidFill>
                <a:latin typeface="Times New Roman" pitchFamily="34" charset="0"/>
                <a:ea typeface="Times New Roman" pitchFamily="34" charset="-122"/>
                <a:cs typeface="Times New Roman" pitchFamily="34" charset="-120"/>
              </a:rPr>
              <a:t>Skill</a:t>
            </a:r>
            <a:endParaRPr lang="en-US" sz="1600" dirty="0"/>
          </a:p>
        </p:txBody>
      </p:sp>
      <p:sp>
        <p:nvSpPr>
          <p:cNvPr id="42" name="Text 40"/>
          <p:cNvSpPr txBox="1"/>
          <p:nvPr/>
        </p:nvSpPr>
        <p:spPr>
          <a:xfrm>
            <a:off x="7699248" y="4398264"/>
            <a:ext cx="3529584" cy="548640"/>
          </a:xfrm>
          <a:prstGeom prst="rect">
            <a:avLst/>
          </a:prstGeom>
          <a:noFill/>
          <a:ln/>
        </p:spPr>
        <p:txBody>
          <a:bodyPr wrap="square" lIns="0" tIns="0" rIns="0" bIns="0" rtlCol="0" anchor="t"/>
          <a:lstStyle/>
          <a:p>
            <a:pPr algn="l" indent="0" marL="0">
              <a:lnSpc>
                <a:spcPct val="110000"/>
              </a:lnSpc>
              <a:buNone/>
            </a:pPr>
            <a:r>
              <a:rPr lang="en-US" sz="1120" dirty="0">
                <a:solidFill>
                  <a:srgbClr val="000000"/>
                </a:solidFill>
                <a:latin typeface="Times New Roman" pitchFamily="34" charset="0"/>
                <a:ea typeface="Times New Roman" pitchFamily="34" charset="-122"/>
                <a:cs typeface="Times New Roman" pitchFamily="34" charset="-120"/>
              </a:rPr>
              <a:t>•  HTML</a:t>
            </a:r>
            <a:endParaRPr lang="en-US" sz="1120" dirty="0"/>
          </a:p>
          <a:p>
            <a:pPr algn="l" indent="0" marL="0">
              <a:lnSpc>
                <a:spcPct val="110000"/>
              </a:lnSpc>
              <a:buNone/>
            </a:pPr>
            <a:r>
              <a:rPr lang="en-US" sz="1120" dirty="0">
                <a:solidFill>
                  <a:srgbClr val="000000"/>
                </a:solidFill>
                <a:latin typeface="Times New Roman" pitchFamily="34" charset="0"/>
                <a:ea typeface="Times New Roman" pitchFamily="34" charset="-122"/>
                <a:cs typeface="Times New Roman" pitchFamily="34" charset="-120"/>
              </a:rPr>
              <a:t>•  CSS</a:t>
            </a:r>
            <a:endParaRPr lang="en-US" sz="1120" dirty="0"/>
          </a:p>
          <a:p>
            <a:pPr algn="l" indent="0" marL="0">
              <a:lnSpc>
                <a:spcPct val="110000"/>
              </a:lnSpc>
              <a:buNone/>
            </a:pPr>
            <a:r>
              <a:rPr lang="en-US" sz="1120" dirty="0">
                <a:solidFill>
                  <a:srgbClr val="000000"/>
                </a:solidFill>
                <a:latin typeface="Times New Roman" pitchFamily="34" charset="0"/>
                <a:ea typeface="Times New Roman" pitchFamily="34" charset="-122"/>
                <a:cs typeface="Times New Roman" pitchFamily="34" charset="-120"/>
              </a:rPr>
              <a:t>•  Git</a:t>
            </a:r>
            <a:endParaRPr lang="en-US" sz="1120" dirty="0"/>
          </a:p>
        </p:txBody>
      </p:sp>
      <p:sp>
        <p:nvSpPr>
          <p:cNvPr id="43" name="Shape 41"/>
          <p:cNvSpPr/>
          <p:nvPr/>
        </p:nvSpPr>
        <p:spPr>
          <a:xfrm>
            <a:off x="7498080" y="5349240"/>
            <a:ext cx="3931920" cy="777240"/>
          </a:xfrm>
          <a:prstGeom prst="roundRect">
            <a:avLst>
              <a:gd name="adj" fmla="val 16471"/>
            </a:avLst>
          </a:prstGeom>
          <a:solidFill>
            <a:srgbClr val="FFF3CF"/>
          </a:solidFill>
          <a:ln/>
        </p:spPr>
      </p:sp>
      <p:sp>
        <p:nvSpPr>
          <p:cNvPr id="44" name="Text 42"/>
          <p:cNvSpPr txBox="1"/>
          <p:nvPr/>
        </p:nvSpPr>
        <p:spPr>
          <a:xfrm>
            <a:off x="7680960" y="5349240"/>
            <a:ext cx="3566160" cy="777240"/>
          </a:xfrm>
          <a:prstGeom prst="rect">
            <a:avLst/>
          </a:prstGeom>
          <a:noFill/>
          <a:ln/>
        </p:spPr>
        <p:txBody>
          <a:bodyPr wrap="square" lIns="0" tIns="0" rIns="0" bIns="0" rtlCol="0" anchor="ctr"/>
          <a:lstStyle/>
          <a:p>
            <a:pPr algn="l" indent="0" marL="0">
              <a:lnSpc>
                <a:spcPct val="125000"/>
              </a:lnSpc>
              <a:buNone/>
            </a:pPr>
            <a:r>
              <a:rPr lang="en-US" sz="1500" b="1" dirty="0">
                <a:solidFill>
                  <a:srgbClr val="0E1B3D"/>
                </a:solidFill>
                <a:latin typeface="Plus Jakarta Sans" pitchFamily="34" charset="0"/>
                <a:ea typeface="Plus Jakarta Sans" pitchFamily="34" charset="-122"/>
                <a:cs typeface="Plus Jakarta Sans" pitchFamily="34" charset="-120"/>
              </a:rPr>
              <a:t>Tampilannya polos? Itu benar! Kita dandani nanti.</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F4FD8"/>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18</a:t>
            </a:r>
            <a:endParaRPr lang="en-US" sz="1100" dirty="0"/>
          </a:p>
        </p:txBody>
      </p:sp>
      <p:sp>
        <p:nvSpPr>
          <p:cNvPr id="3" name="Text 1"/>
          <p:cNvSpPr txBox="1"/>
          <p:nvPr/>
        </p:nvSpPr>
        <p:spPr>
          <a:xfrm>
            <a:off x="731520" y="2011680"/>
            <a:ext cx="5486400" cy="320040"/>
          </a:xfrm>
          <a:prstGeom prst="rect">
            <a:avLst/>
          </a:prstGeom>
          <a:noFill/>
          <a:ln/>
        </p:spPr>
        <p:txBody>
          <a:bodyPr wrap="square" lIns="0" tIns="0" rIns="0" bIns="0" rtlCol="0" anchor="t"/>
          <a:lstStyle/>
          <a:p>
            <a:pPr algn="l" indent="0" marL="0">
              <a:lnSpc>
                <a:spcPct val="115000"/>
              </a:lnSpc>
              <a:buNone/>
            </a:pPr>
            <a:r>
              <a:rPr lang="en-US" sz="1800" b="1" dirty="0">
                <a:solidFill>
                  <a:srgbClr val="FFC83D"/>
                </a:solidFill>
                <a:latin typeface="Plus Jakarta Sans" pitchFamily="34" charset="0"/>
                <a:ea typeface="Plus Jakarta Sans" pitchFamily="34" charset="-122"/>
                <a:cs typeface="Plus Jakarta Sans" pitchFamily="34" charset="-120"/>
              </a:rPr>
              <a:t>Bagian 03</a:t>
            </a:r>
            <a:endParaRPr lang="en-US" sz="1800" dirty="0"/>
          </a:p>
        </p:txBody>
      </p:sp>
      <p:sp>
        <p:nvSpPr>
          <p:cNvPr id="4" name="Text 2"/>
          <p:cNvSpPr txBox="1"/>
          <p:nvPr/>
        </p:nvSpPr>
        <p:spPr>
          <a:xfrm>
            <a:off x="731520" y="2468880"/>
            <a:ext cx="6035040" cy="1371600"/>
          </a:xfrm>
          <a:prstGeom prst="rect">
            <a:avLst/>
          </a:prstGeom>
          <a:noFill/>
          <a:ln/>
        </p:spPr>
        <p:txBody>
          <a:bodyPr wrap="square" lIns="0" tIns="0" rIns="0" bIns="0" rtlCol="0" anchor="t"/>
          <a:lstStyle/>
          <a:p>
            <a:pPr algn="l" indent="0" marL="0">
              <a:lnSpc>
                <a:spcPct val="102000"/>
              </a:lnSpc>
              <a:buNone/>
            </a:pPr>
            <a:r>
              <a:rPr lang="en-US" sz="6600" b="1" dirty="0">
                <a:solidFill>
                  <a:srgbClr val="FFFFFF"/>
                </a:solidFill>
                <a:latin typeface="Plus Jakarta Sans" pitchFamily="34" charset="0"/>
                <a:ea typeface="Plus Jakarta Sans" pitchFamily="34" charset="-122"/>
                <a:cs typeface="Plus Jakarta Sans" pitchFamily="34" charset="-120"/>
              </a:rPr>
              <a:t>CSS</a:t>
            </a:r>
            <a:endParaRPr lang="en-US" sz="6600" dirty="0"/>
          </a:p>
        </p:txBody>
      </p:sp>
      <p:sp>
        <p:nvSpPr>
          <p:cNvPr id="5" name="Text 3"/>
          <p:cNvSpPr txBox="1"/>
          <p:nvPr/>
        </p:nvSpPr>
        <p:spPr>
          <a:xfrm>
            <a:off x="731520" y="4069080"/>
            <a:ext cx="5486400" cy="914400"/>
          </a:xfrm>
          <a:prstGeom prst="rect">
            <a:avLst/>
          </a:prstGeom>
          <a:noFill/>
          <a:ln/>
        </p:spPr>
        <p:txBody>
          <a:bodyPr wrap="square" lIns="0" tIns="0" rIns="0" bIns="0" rtlCol="0" anchor="t"/>
          <a:lstStyle/>
          <a:p>
            <a:pPr algn="l" indent="0" marL="0">
              <a:lnSpc>
                <a:spcPct val="130000"/>
              </a:lnSpc>
              <a:buNone/>
            </a:pPr>
            <a:r>
              <a:rPr lang="en-US" sz="2200" dirty="0">
                <a:solidFill>
                  <a:srgbClr val="DCE6FF"/>
                </a:solidFill>
                <a:latin typeface="Plus Jakarta Sans" pitchFamily="34" charset="0"/>
                <a:ea typeface="Plus Jakarta Sans" pitchFamily="34" charset="-122"/>
                <a:cs typeface="Plus Jakarta Sans" pitchFamily="34" charset="-120"/>
              </a:rPr>
              <a:t>Penampilan website. Dari halaman polos jadi menarik</a:t>
            </a:r>
            <a:endParaRPr lang="en-US" sz="2200" dirty="0"/>
          </a:p>
        </p:txBody>
      </p:sp>
      <p:sp>
        <p:nvSpPr>
          <p:cNvPr id="6" name="Shape 4"/>
          <p:cNvSpPr/>
          <p:nvPr/>
        </p:nvSpPr>
        <p:spPr>
          <a:xfrm>
            <a:off x="731520" y="5303520"/>
            <a:ext cx="1737360" cy="347472"/>
          </a:xfrm>
          <a:prstGeom prst="roundRect">
            <a:avLst>
              <a:gd name="adj" fmla="val 50000"/>
            </a:avLst>
          </a:prstGeom>
          <a:ln w="15875">
            <a:solidFill>
              <a:srgbClr val="2A3C6E"/>
            </a:solidFill>
            <a:prstDash val="solid"/>
          </a:ln>
        </p:spPr>
      </p:sp>
      <p:sp>
        <p:nvSpPr>
          <p:cNvPr id="7" name="Text 5"/>
          <p:cNvSpPr txBox="1"/>
          <p:nvPr/>
        </p:nvSpPr>
        <p:spPr>
          <a:xfrm>
            <a:off x="731520" y="5303520"/>
            <a:ext cx="1737360" cy="347472"/>
          </a:xfrm>
          <a:prstGeom prst="rect">
            <a:avLst/>
          </a:prstGeom>
          <a:noFill/>
          <a:ln/>
        </p:spPr>
        <p:txBody>
          <a:bodyPr wrap="square" lIns="0" tIns="0" rIns="0" bIns="0" rtlCol="0" anchor="ctr"/>
          <a:lstStyle/>
          <a:p>
            <a:pPr algn="ctr" indent="0" marL="0">
              <a:lnSpc>
                <a:spcPct val="115000"/>
              </a:lnSpc>
              <a:buNone/>
            </a:pPr>
            <a:r>
              <a:rPr lang="en-US" sz="1200" b="1" spc="80" kern="0" dirty="0">
                <a:solidFill>
                  <a:srgbClr val="A9B6D6"/>
                </a:solidFill>
                <a:latin typeface="Plus Jakarta Sans" pitchFamily="34" charset="0"/>
                <a:ea typeface="Plus Jakarta Sans" pitchFamily="34" charset="-122"/>
                <a:cs typeface="Plus Jakarta Sans" pitchFamily="34" charset="-120"/>
              </a:rPr>
              <a:t>09.35 – 10.35</a:t>
            </a:r>
            <a:endParaRPr lang="en-US" sz="1200" dirty="0"/>
          </a:p>
        </p:txBody>
      </p:sp>
      <p:sp>
        <p:nvSpPr>
          <p:cNvPr id="8" name="Shape 6"/>
          <p:cNvSpPr/>
          <p:nvPr/>
        </p:nvSpPr>
        <p:spPr>
          <a:xfrm>
            <a:off x="7040880" y="731520"/>
            <a:ext cx="4434840" cy="5394960"/>
          </a:xfrm>
          <a:prstGeom prst="roundRect">
            <a:avLst>
              <a:gd name="adj" fmla="val 6186"/>
            </a:avLst>
          </a:prstGeom>
          <a:solidFill>
            <a:srgbClr val="FAF8F4"/>
          </a:solidFill>
          <a:ln/>
        </p:spPr>
      </p:sp>
      <p:pic>
        <p:nvPicPr>
          <p:cNvPr id="9" name="Image 0" descr="C:\Dev\daily-report\Seminar\seminar-sifest\generator\assets\ill\interaction_design_odgc.png">    </p:cNvPr>
          <p:cNvPicPr>
            <a:picLocks noChangeAspect="1"/>
          </p:cNvPicPr>
          <p:nvPr/>
        </p:nvPicPr>
        <p:blipFill>
          <a:blip r:embed="rId1"/>
          <a:stretch>
            <a:fillRect/>
          </a:stretch>
        </p:blipFill>
        <p:spPr>
          <a:xfrm>
            <a:off x="7360920" y="1986991"/>
            <a:ext cx="3794760" cy="288401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6F7FA8"/>
                </a:solidFill>
                <a:latin typeface="Plus Jakarta Sans" pitchFamily="34" charset="0"/>
                <a:ea typeface="Plus Jakarta Sans" pitchFamily="34" charset="-122"/>
                <a:cs typeface="Plus Jakarta Sans" pitchFamily="34" charset="-120"/>
              </a:rPr>
              <a:t>19</a:t>
            </a:r>
            <a:endParaRPr lang="en-US" sz="1100" dirty="0"/>
          </a:p>
        </p:txBody>
      </p:sp>
      <p:sp>
        <p:nvSpPr>
          <p:cNvPr id="3" name="Text 1"/>
          <p:cNvSpPr txBox="1"/>
          <p:nvPr/>
        </p:nvSpPr>
        <p:spPr>
          <a:xfrm>
            <a:off x="731520" y="685800"/>
            <a:ext cx="10698480" cy="914400"/>
          </a:xfrm>
          <a:prstGeom prst="rect">
            <a:avLst/>
          </a:prstGeom>
          <a:noFill/>
          <a:ln/>
        </p:spPr>
        <p:txBody>
          <a:bodyPr wrap="square" lIns="0" tIns="0" rIns="0" bIns="0" rtlCol="0" anchor="t"/>
          <a:lstStyle/>
          <a:p>
            <a:pPr algn="l" indent="0" marL="0">
              <a:lnSpc>
                <a:spcPct val="108000"/>
              </a:lnSpc>
              <a:buNone/>
            </a:pPr>
            <a:r>
              <a:rPr lang="en-US" sz="4000" b="1" dirty="0">
                <a:solidFill>
                  <a:srgbClr val="F4F6FB"/>
                </a:solidFill>
                <a:latin typeface="Plus Jakarta Sans" pitchFamily="34" charset="0"/>
                <a:ea typeface="Plus Jakarta Sans" pitchFamily="34" charset="-122"/>
                <a:cs typeface="Plus Jakarta Sans" pitchFamily="34" charset="-120"/>
              </a:rPr>
              <a:t>Halaman yang sama. Bedanya hanya CSS.</a:t>
            </a:r>
            <a:endParaRPr lang="en-US" sz="4000" dirty="0"/>
          </a:p>
        </p:txBody>
      </p:sp>
      <p:sp>
        <p:nvSpPr>
          <p:cNvPr id="4" name="Shape 2"/>
          <p:cNvSpPr/>
          <p:nvPr/>
        </p:nvSpPr>
        <p:spPr>
          <a:xfrm>
            <a:off x="731520" y="1691640"/>
            <a:ext cx="1463040" cy="310896"/>
          </a:xfrm>
          <a:prstGeom prst="roundRect">
            <a:avLst>
              <a:gd name="adj" fmla="val 50000"/>
            </a:avLst>
          </a:prstGeom>
          <a:solidFill>
            <a:srgbClr val="2A3C6E"/>
          </a:solidFill>
          <a:ln/>
        </p:spPr>
      </p:sp>
      <p:sp>
        <p:nvSpPr>
          <p:cNvPr id="5" name="Text 3"/>
          <p:cNvSpPr txBox="1"/>
          <p:nvPr/>
        </p:nvSpPr>
        <p:spPr>
          <a:xfrm>
            <a:off x="731520" y="1691640"/>
            <a:ext cx="1463040" cy="310896"/>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A9B6D6"/>
                </a:solidFill>
                <a:latin typeface="Plus Jakarta Sans" pitchFamily="34" charset="0"/>
                <a:ea typeface="Plus Jakarta Sans" pitchFamily="34" charset="-122"/>
                <a:cs typeface="Plus Jakarta Sans" pitchFamily="34" charset="-120"/>
              </a:rPr>
              <a:t>SEBELUM</a:t>
            </a:r>
            <a:endParaRPr lang="en-US" sz="1100" dirty="0"/>
          </a:p>
        </p:txBody>
      </p:sp>
      <p:sp>
        <p:nvSpPr>
          <p:cNvPr id="6" name="Shape 4"/>
          <p:cNvSpPr/>
          <p:nvPr/>
        </p:nvSpPr>
        <p:spPr>
          <a:xfrm>
            <a:off x="6355080" y="1691640"/>
            <a:ext cx="1463040" cy="310896"/>
          </a:xfrm>
          <a:prstGeom prst="roundRect">
            <a:avLst>
              <a:gd name="adj" fmla="val 50000"/>
            </a:avLst>
          </a:prstGeom>
          <a:solidFill>
            <a:srgbClr val="FFC83D"/>
          </a:solidFill>
          <a:ln/>
        </p:spPr>
      </p:sp>
      <p:sp>
        <p:nvSpPr>
          <p:cNvPr id="7" name="Text 5"/>
          <p:cNvSpPr txBox="1"/>
          <p:nvPr/>
        </p:nvSpPr>
        <p:spPr>
          <a:xfrm>
            <a:off x="6355080" y="1691640"/>
            <a:ext cx="1463040" cy="310896"/>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0E1B3D"/>
                </a:solidFill>
                <a:latin typeface="Plus Jakarta Sans" pitchFamily="34" charset="0"/>
                <a:ea typeface="Plus Jakarta Sans" pitchFamily="34" charset="-122"/>
                <a:cs typeface="Plus Jakarta Sans" pitchFamily="34" charset="-120"/>
              </a:rPr>
              <a:t>SESUDAH</a:t>
            </a:r>
            <a:endParaRPr lang="en-US" sz="1100" dirty="0"/>
          </a:p>
        </p:txBody>
      </p:sp>
      <p:sp>
        <p:nvSpPr>
          <p:cNvPr id="8" name="Shape 6"/>
          <p:cNvSpPr/>
          <p:nvPr/>
        </p:nvSpPr>
        <p:spPr>
          <a:xfrm>
            <a:off x="731520" y="2148840"/>
            <a:ext cx="5120640" cy="3931920"/>
          </a:xfrm>
          <a:prstGeom prst="roundRect">
            <a:avLst>
              <a:gd name="adj" fmla="val 3721"/>
            </a:avLst>
          </a:prstGeom>
          <a:solidFill>
            <a:srgbClr val="FFFFFF"/>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9" name="Shape 7"/>
          <p:cNvSpPr/>
          <p:nvPr/>
        </p:nvSpPr>
        <p:spPr>
          <a:xfrm>
            <a:off x="749808" y="2167128"/>
            <a:ext cx="5084064" cy="384048"/>
          </a:xfrm>
          <a:prstGeom prst="roundRect">
            <a:avLst>
              <a:gd name="adj" fmla="val 33333"/>
            </a:avLst>
          </a:prstGeom>
          <a:solidFill>
            <a:srgbClr val="EEF1F7"/>
          </a:solidFill>
          <a:ln/>
        </p:spPr>
      </p:sp>
      <p:sp>
        <p:nvSpPr>
          <p:cNvPr id="10" name="Shape 8"/>
          <p:cNvSpPr/>
          <p:nvPr/>
        </p:nvSpPr>
        <p:spPr>
          <a:xfrm>
            <a:off x="749808" y="2350008"/>
            <a:ext cx="5084064" cy="201168"/>
          </a:xfrm>
          <a:prstGeom prst="rect">
            <a:avLst/>
          </a:prstGeom>
          <a:solidFill>
            <a:srgbClr val="EEF1F7"/>
          </a:solidFill>
          <a:ln/>
        </p:spPr>
      </p:sp>
      <p:sp>
        <p:nvSpPr>
          <p:cNvPr id="11" name="Shape 9"/>
          <p:cNvSpPr/>
          <p:nvPr/>
        </p:nvSpPr>
        <p:spPr>
          <a:xfrm>
            <a:off x="914400" y="2286000"/>
            <a:ext cx="100584" cy="100584"/>
          </a:xfrm>
          <a:prstGeom prst="ellipse">
            <a:avLst/>
          </a:prstGeom>
          <a:solidFill>
            <a:srgbClr val="E63946"/>
          </a:solidFill>
          <a:ln/>
        </p:spPr>
      </p:sp>
      <p:sp>
        <p:nvSpPr>
          <p:cNvPr id="12" name="Shape 10"/>
          <p:cNvSpPr/>
          <p:nvPr/>
        </p:nvSpPr>
        <p:spPr>
          <a:xfrm>
            <a:off x="1088136" y="2286000"/>
            <a:ext cx="100584" cy="100584"/>
          </a:xfrm>
          <a:prstGeom prst="ellipse">
            <a:avLst/>
          </a:prstGeom>
          <a:solidFill>
            <a:srgbClr val="FFC83D"/>
          </a:solidFill>
          <a:ln/>
        </p:spPr>
      </p:sp>
      <p:sp>
        <p:nvSpPr>
          <p:cNvPr id="13" name="Shape 11"/>
          <p:cNvSpPr/>
          <p:nvPr/>
        </p:nvSpPr>
        <p:spPr>
          <a:xfrm>
            <a:off x="1261872" y="2286000"/>
            <a:ext cx="100584" cy="100584"/>
          </a:xfrm>
          <a:prstGeom prst="ellipse">
            <a:avLst/>
          </a:prstGeom>
          <a:solidFill>
            <a:srgbClr val="1E9E68"/>
          </a:solidFill>
          <a:ln/>
        </p:spPr>
      </p:sp>
      <p:sp>
        <p:nvSpPr>
          <p:cNvPr id="14" name="Shape 12"/>
          <p:cNvSpPr/>
          <p:nvPr/>
        </p:nvSpPr>
        <p:spPr>
          <a:xfrm>
            <a:off x="1600200" y="2231136"/>
            <a:ext cx="4023360" cy="237744"/>
          </a:xfrm>
          <a:prstGeom prst="roundRect">
            <a:avLst>
              <a:gd name="adj" fmla="val 50000"/>
            </a:avLst>
          </a:prstGeom>
          <a:solidFill>
            <a:srgbClr val="FFFFFF"/>
          </a:solidFill>
          <a:ln/>
        </p:spPr>
      </p:sp>
      <p:sp>
        <p:nvSpPr>
          <p:cNvPr id="15" name="Text 13"/>
          <p:cNvSpPr txBox="1"/>
          <p:nvPr/>
        </p:nvSpPr>
        <p:spPr>
          <a:xfrm>
            <a:off x="1737360" y="2231136"/>
            <a:ext cx="374904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localhost:5500</a:t>
            </a:r>
            <a:endParaRPr lang="en-US" sz="1100" dirty="0"/>
          </a:p>
        </p:txBody>
      </p:sp>
      <p:sp>
        <p:nvSpPr>
          <p:cNvPr id="16" name="Text 14"/>
          <p:cNvSpPr txBox="1"/>
          <p:nvPr/>
        </p:nvSpPr>
        <p:spPr>
          <a:xfrm>
            <a:off x="978408" y="2715768"/>
            <a:ext cx="4626864" cy="457200"/>
          </a:xfrm>
          <a:prstGeom prst="rect">
            <a:avLst/>
          </a:prstGeom>
          <a:noFill/>
          <a:ln/>
        </p:spPr>
        <p:txBody>
          <a:bodyPr wrap="square" lIns="0" tIns="0" rIns="0" bIns="0" rtlCol="0" anchor="t"/>
          <a:lstStyle/>
          <a:p>
            <a:pPr algn="l" indent="0" marL="0">
              <a:lnSpc>
                <a:spcPct val="115000"/>
              </a:lnSpc>
              <a:buNone/>
            </a:pPr>
            <a:r>
              <a:rPr lang="en-US" sz="2600" b="1" dirty="0">
                <a:solidFill>
                  <a:srgbClr val="000000"/>
                </a:solidFill>
                <a:latin typeface="Times New Roman" pitchFamily="34" charset="0"/>
                <a:ea typeface="Times New Roman" pitchFamily="34" charset="-122"/>
                <a:cs typeface="Times New Roman" pitchFamily="34" charset="-120"/>
              </a:rPr>
              <a:t>Alya Putri</a:t>
            </a:r>
            <a:endParaRPr lang="en-US" sz="2600" dirty="0"/>
          </a:p>
        </p:txBody>
      </p:sp>
      <p:sp>
        <p:nvSpPr>
          <p:cNvPr id="17" name="Text 15"/>
          <p:cNvSpPr txBox="1"/>
          <p:nvPr/>
        </p:nvSpPr>
        <p:spPr>
          <a:xfrm>
            <a:off x="978408" y="3172968"/>
            <a:ext cx="4626864" cy="274320"/>
          </a:xfrm>
          <a:prstGeom prst="rect">
            <a:avLst/>
          </a:prstGeom>
          <a:noFill/>
          <a:ln/>
        </p:spPr>
        <p:txBody>
          <a:bodyPr wrap="square" lIns="0" tIns="0" rIns="0" bIns="0" rtlCol="0" anchor="t"/>
          <a:lstStyle/>
          <a:p>
            <a:pPr algn="l" indent="0" marL="0">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Siswa SMA · Calon Web Developer</a:t>
            </a:r>
            <a:endParaRPr lang="en-US" sz="1400" dirty="0"/>
          </a:p>
        </p:txBody>
      </p:sp>
      <p:sp>
        <p:nvSpPr>
          <p:cNvPr id="18" name="Text 16"/>
          <p:cNvSpPr txBox="1"/>
          <p:nvPr/>
        </p:nvSpPr>
        <p:spPr>
          <a:xfrm>
            <a:off x="978408" y="3483864"/>
            <a:ext cx="4626864" cy="274320"/>
          </a:xfrm>
          <a:prstGeom prst="rect">
            <a:avLst/>
          </a:prstGeom>
          <a:noFill/>
          <a:ln/>
        </p:spPr>
        <p:txBody>
          <a:bodyPr wrap="square" lIns="0" tIns="0" rIns="0" bIns="0" rtlCol="0" anchor="t"/>
          <a:lstStyle/>
          <a:p>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Tentang</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Skill</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Project</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   </a:t>
            </a:r>
            <a:pPr algn="l" indent="0" marL="0">
              <a:lnSpc>
                <a:spcPct val="115000"/>
              </a:lnSpc>
              <a:buNone/>
            </a:pPr>
            <a:r>
              <a:rPr lang="en-US" sz="1400" dirty="0">
                <a:solidFill>
                  <a:srgbClr val="0000EE"/>
                </a:solidFill>
                <a:latin typeface="Times New Roman" pitchFamily="34" charset="0"/>
                <a:ea typeface="Times New Roman" pitchFamily="34" charset="-122"/>
                <a:cs typeface="Times New Roman" pitchFamily="34" charset="-120"/>
              </a:rPr>
              <a:t>Kontak</a:t>
            </a:r>
            <a:endParaRPr lang="en-US" sz="1400" dirty="0"/>
          </a:p>
        </p:txBody>
      </p:sp>
      <p:sp>
        <p:nvSpPr>
          <p:cNvPr id="19" name="Text 17"/>
          <p:cNvSpPr txBox="1"/>
          <p:nvPr/>
        </p:nvSpPr>
        <p:spPr>
          <a:xfrm>
            <a:off x="978408" y="3867912"/>
            <a:ext cx="4626864" cy="365760"/>
          </a:xfrm>
          <a:prstGeom prst="rect">
            <a:avLst/>
          </a:prstGeom>
          <a:noFill/>
          <a:ln/>
        </p:spPr>
        <p:txBody>
          <a:bodyPr wrap="square" lIns="0" tIns="0" rIns="0" bIns="0" rtlCol="0" anchor="t"/>
          <a:lstStyle/>
          <a:p>
            <a:pPr algn="l" indent="0" marL="0">
              <a:lnSpc>
                <a:spcPct val="115000"/>
              </a:lnSpc>
              <a:buNone/>
            </a:pPr>
            <a:r>
              <a:rPr lang="en-US" sz="2000" b="1" dirty="0">
                <a:solidFill>
                  <a:srgbClr val="000000"/>
                </a:solidFill>
                <a:latin typeface="Times New Roman" pitchFamily="34" charset="0"/>
                <a:ea typeface="Times New Roman" pitchFamily="34" charset="-122"/>
                <a:cs typeface="Times New Roman" pitchFamily="34" charset="-120"/>
              </a:rPr>
              <a:t>Tentang Saya</a:t>
            </a:r>
            <a:endParaRPr lang="en-US" sz="2000" dirty="0"/>
          </a:p>
        </p:txBody>
      </p:sp>
      <p:sp>
        <p:nvSpPr>
          <p:cNvPr id="20" name="Text 18"/>
          <p:cNvSpPr txBox="1"/>
          <p:nvPr/>
        </p:nvSpPr>
        <p:spPr>
          <a:xfrm>
            <a:off x="978408" y="4251960"/>
            <a:ext cx="4626864" cy="548640"/>
          </a:xfrm>
          <a:prstGeom prst="rect">
            <a:avLst/>
          </a:prstGeom>
          <a:noFill/>
          <a:ln/>
        </p:spPr>
        <p:txBody>
          <a:bodyPr wrap="square" lIns="0" tIns="0" rIns="0" bIns="0" rtlCol="0" anchor="t"/>
          <a:lstStyle/>
          <a:p>
            <a:pPr algn="l" indent="0" marL="0">
              <a:lnSpc>
                <a:spcPct val="115000"/>
              </a:lnSpc>
              <a:buNone/>
            </a:pPr>
            <a:r>
              <a:rPr lang="en-US" sz="1400" dirty="0">
                <a:solidFill>
                  <a:srgbClr val="000000"/>
                </a:solidFill>
                <a:latin typeface="Times New Roman" pitchFamily="34" charset="0"/>
                <a:ea typeface="Times New Roman" pitchFamily="34" charset="-122"/>
                <a:cs typeface="Times New Roman" pitchFamily="34" charset="-120"/>
              </a:rPr>
              <a:t>Aku suka desain dan ingin belajar membuat website.</a:t>
            </a:r>
            <a:endParaRPr lang="en-US" sz="1400" dirty="0"/>
          </a:p>
        </p:txBody>
      </p:sp>
      <p:sp>
        <p:nvSpPr>
          <p:cNvPr id="21" name="Text 19"/>
          <p:cNvSpPr txBox="1"/>
          <p:nvPr/>
        </p:nvSpPr>
        <p:spPr>
          <a:xfrm>
            <a:off x="978408" y="4818888"/>
            <a:ext cx="4626864" cy="365760"/>
          </a:xfrm>
          <a:prstGeom prst="rect">
            <a:avLst/>
          </a:prstGeom>
          <a:noFill/>
          <a:ln/>
        </p:spPr>
        <p:txBody>
          <a:bodyPr wrap="square" lIns="0" tIns="0" rIns="0" bIns="0" rtlCol="0" anchor="t"/>
          <a:lstStyle/>
          <a:p>
            <a:pPr algn="l" indent="0" marL="0">
              <a:lnSpc>
                <a:spcPct val="115000"/>
              </a:lnSpc>
              <a:buNone/>
            </a:pPr>
            <a:r>
              <a:rPr lang="en-US" sz="2000" b="1" dirty="0">
                <a:solidFill>
                  <a:srgbClr val="000000"/>
                </a:solidFill>
                <a:latin typeface="Times New Roman" pitchFamily="34" charset="0"/>
                <a:ea typeface="Times New Roman" pitchFamily="34" charset="-122"/>
                <a:cs typeface="Times New Roman" pitchFamily="34" charset="-120"/>
              </a:rPr>
              <a:t>Skill</a:t>
            </a:r>
            <a:endParaRPr lang="en-US" sz="2000" dirty="0"/>
          </a:p>
        </p:txBody>
      </p:sp>
      <p:sp>
        <p:nvSpPr>
          <p:cNvPr id="22" name="Text 20"/>
          <p:cNvSpPr txBox="1"/>
          <p:nvPr/>
        </p:nvSpPr>
        <p:spPr>
          <a:xfrm>
            <a:off x="978408" y="5202936"/>
            <a:ext cx="4626864" cy="685800"/>
          </a:xfrm>
          <a:prstGeom prst="rect">
            <a:avLst/>
          </a:prstGeom>
          <a:noFill/>
          <a:ln/>
        </p:spPr>
        <p:txBody>
          <a:bodyPr wrap="square" lIns="0" tIns="0" rIns="0" bIns="0" rtlCol="0" anchor="t"/>
          <a:lstStyle/>
          <a:p>
            <a:pPr algn="l" indent="0" marL="0">
              <a:lnSpc>
                <a:spcPct val="110000"/>
              </a:lnSpc>
              <a:buNone/>
            </a:pPr>
            <a:r>
              <a:rPr lang="en-US" sz="1400" dirty="0">
                <a:solidFill>
                  <a:srgbClr val="000000"/>
                </a:solidFill>
                <a:latin typeface="Times New Roman" pitchFamily="34" charset="0"/>
                <a:ea typeface="Times New Roman" pitchFamily="34" charset="-122"/>
                <a:cs typeface="Times New Roman" pitchFamily="34" charset="-120"/>
              </a:rPr>
              <a:t>•  HTML</a:t>
            </a:r>
            <a:endParaRPr lang="en-US" sz="1400" dirty="0"/>
          </a:p>
          <a:p>
            <a:pPr algn="l" indent="0" marL="0">
              <a:lnSpc>
                <a:spcPct val="110000"/>
              </a:lnSpc>
              <a:buNone/>
            </a:pPr>
            <a:r>
              <a:rPr lang="en-US" sz="1400" dirty="0">
                <a:solidFill>
                  <a:srgbClr val="000000"/>
                </a:solidFill>
                <a:latin typeface="Times New Roman" pitchFamily="34" charset="0"/>
                <a:ea typeface="Times New Roman" pitchFamily="34" charset="-122"/>
                <a:cs typeface="Times New Roman" pitchFamily="34" charset="-120"/>
              </a:rPr>
              <a:t>•  CSS</a:t>
            </a:r>
            <a:endParaRPr lang="en-US" sz="1400" dirty="0"/>
          </a:p>
          <a:p>
            <a:pPr algn="l" indent="0" marL="0">
              <a:lnSpc>
                <a:spcPct val="110000"/>
              </a:lnSpc>
              <a:buNone/>
            </a:pPr>
            <a:r>
              <a:rPr lang="en-US" sz="1400" dirty="0">
                <a:solidFill>
                  <a:srgbClr val="000000"/>
                </a:solidFill>
                <a:latin typeface="Times New Roman" pitchFamily="34" charset="0"/>
                <a:ea typeface="Times New Roman" pitchFamily="34" charset="-122"/>
                <a:cs typeface="Times New Roman" pitchFamily="34" charset="-120"/>
              </a:rPr>
              <a:t>•  Git</a:t>
            </a:r>
            <a:endParaRPr lang="en-US" sz="1400" dirty="0"/>
          </a:p>
        </p:txBody>
      </p:sp>
      <p:sp>
        <p:nvSpPr>
          <p:cNvPr id="23" name="Shape 21"/>
          <p:cNvSpPr/>
          <p:nvPr/>
        </p:nvSpPr>
        <p:spPr>
          <a:xfrm>
            <a:off x="6355080" y="2148840"/>
            <a:ext cx="5074920" cy="3931920"/>
          </a:xfrm>
          <a:prstGeom prst="roundRect">
            <a:avLst>
              <a:gd name="adj" fmla="val 3721"/>
            </a:avLst>
          </a:prstGeom>
          <a:solidFill>
            <a:srgbClr val="FFFFFF"/>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24" name="Shape 22"/>
          <p:cNvSpPr/>
          <p:nvPr/>
        </p:nvSpPr>
        <p:spPr>
          <a:xfrm>
            <a:off x="6373368" y="2167128"/>
            <a:ext cx="5038344" cy="384048"/>
          </a:xfrm>
          <a:prstGeom prst="roundRect">
            <a:avLst>
              <a:gd name="adj" fmla="val 33333"/>
            </a:avLst>
          </a:prstGeom>
          <a:solidFill>
            <a:srgbClr val="EEF1F7"/>
          </a:solidFill>
          <a:ln/>
        </p:spPr>
      </p:sp>
      <p:sp>
        <p:nvSpPr>
          <p:cNvPr id="25" name="Shape 23"/>
          <p:cNvSpPr/>
          <p:nvPr/>
        </p:nvSpPr>
        <p:spPr>
          <a:xfrm>
            <a:off x="6373368" y="2350008"/>
            <a:ext cx="5038344" cy="201168"/>
          </a:xfrm>
          <a:prstGeom prst="rect">
            <a:avLst/>
          </a:prstGeom>
          <a:solidFill>
            <a:srgbClr val="EEF1F7"/>
          </a:solidFill>
          <a:ln/>
        </p:spPr>
      </p:sp>
      <p:sp>
        <p:nvSpPr>
          <p:cNvPr id="26" name="Shape 24"/>
          <p:cNvSpPr/>
          <p:nvPr/>
        </p:nvSpPr>
        <p:spPr>
          <a:xfrm>
            <a:off x="6537960" y="2286000"/>
            <a:ext cx="100584" cy="100584"/>
          </a:xfrm>
          <a:prstGeom prst="ellipse">
            <a:avLst/>
          </a:prstGeom>
          <a:solidFill>
            <a:srgbClr val="E63946"/>
          </a:solidFill>
          <a:ln/>
        </p:spPr>
      </p:sp>
      <p:sp>
        <p:nvSpPr>
          <p:cNvPr id="27" name="Shape 25"/>
          <p:cNvSpPr/>
          <p:nvPr/>
        </p:nvSpPr>
        <p:spPr>
          <a:xfrm>
            <a:off x="6711696" y="2286000"/>
            <a:ext cx="100584" cy="100584"/>
          </a:xfrm>
          <a:prstGeom prst="ellipse">
            <a:avLst/>
          </a:prstGeom>
          <a:solidFill>
            <a:srgbClr val="FFC83D"/>
          </a:solidFill>
          <a:ln/>
        </p:spPr>
      </p:sp>
      <p:sp>
        <p:nvSpPr>
          <p:cNvPr id="28" name="Shape 26"/>
          <p:cNvSpPr/>
          <p:nvPr/>
        </p:nvSpPr>
        <p:spPr>
          <a:xfrm>
            <a:off x="6885432" y="2286000"/>
            <a:ext cx="100584" cy="100584"/>
          </a:xfrm>
          <a:prstGeom prst="ellipse">
            <a:avLst/>
          </a:prstGeom>
          <a:solidFill>
            <a:srgbClr val="1E9E68"/>
          </a:solidFill>
          <a:ln/>
        </p:spPr>
      </p:sp>
      <p:sp>
        <p:nvSpPr>
          <p:cNvPr id="29" name="Shape 27"/>
          <p:cNvSpPr/>
          <p:nvPr/>
        </p:nvSpPr>
        <p:spPr>
          <a:xfrm>
            <a:off x="7223760" y="2231136"/>
            <a:ext cx="3977640" cy="237744"/>
          </a:xfrm>
          <a:prstGeom prst="roundRect">
            <a:avLst>
              <a:gd name="adj" fmla="val 50000"/>
            </a:avLst>
          </a:prstGeom>
          <a:solidFill>
            <a:srgbClr val="FFFFFF"/>
          </a:solidFill>
          <a:ln/>
        </p:spPr>
      </p:sp>
      <p:sp>
        <p:nvSpPr>
          <p:cNvPr id="30" name="Text 28"/>
          <p:cNvSpPr txBox="1"/>
          <p:nvPr/>
        </p:nvSpPr>
        <p:spPr>
          <a:xfrm>
            <a:off x="7360920" y="2231136"/>
            <a:ext cx="370332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localhost:5500</a:t>
            </a:r>
            <a:endParaRPr lang="en-US" sz="1100" dirty="0"/>
          </a:p>
        </p:txBody>
      </p:sp>
      <p:sp>
        <p:nvSpPr>
          <p:cNvPr id="31" name="Shape 29"/>
          <p:cNvSpPr/>
          <p:nvPr/>
        </p:nvSpPr>
        <p:spPr>
          <a:xfrm>
            <a:off x="6373368" y="2551176"/>
            <a:ext cx="5038344" cy="3493008"/>
          </a:xfrm>
          <a:prstGeom prst="rect">
            <a:avLst/>
          </a:prstGeom>
          <a:solidFill>
            <a:srgbClr val="FAF8F4"/>
          </a:solidFill>
          <a:ln/>
        </p:spPr>
      </p:sp>
      <p:sp>
        <p:nvSpPr>
          <p:cNvPr id="32" name="Shape 30"/>
          <p:cNvSpPr/>
          <p:nvPr/>
        </p:nvSpPr>
        <p:spPr>
          <a:xfrm>
            <a:off x="6373368" y="2551176"/>
            <a:ext cx="5038344" cy="1257300"/>
          </a:xfrm>
          <a:prstGeom prst="rect">
            <a:avLst/>
          </a:prstGeom>
          <a:solidFill>
            <a:srgbClr val="0E1B3D"/>
          </a:solidFill>
          <a:ln/>
        </p:spPr>
      </p:sp>
      <p:sp>
        <p:nvSpPr>
          <p:cNvPr id="33" name="Text 31"/>
          <p:cNvSpPr txBox="1"/>
          <p:nvPr/>
        </p:nvSpPr>
        <p:spPr>
          <a:xfrm>
            <a:off x="6675120" y="2752344"/>
            <a:ext cx="4434840" cy="452628"/>
          </a:xfrm>
          <a:prstGeom prst="rect">
            <a:avLst/>
          </a:prstGeom>
          <a:noFill/>
          <a:ln/>
        </p:spPr>
        <p:txBody>
          <a:bodyPr wrap="square" lIns="0" tIns="0" rIns="0" bIns="0" rtlCol="0" anchor="t"/>
          <a:lstStyle/>
          <a:p>
            <a:pPr algn="l" indent="0" marL="0">
              <a:lnSpc>
                <a:spcPct val="115000"/>
              </a:lnSpc>
              <a:buNone/>
            </a:pPr>
            <a:r>
              <a:rPr lang="en-US" sz="2640" b="1" dirty="0">
                <a:solidFill>
                  <a:srgbClr val="FFFFFF"/>
                </a:solidFill>
                <a:latin typeface="Plus Jakarta Sans" pitchFamily="34" charset="0"/>
                <a:ea typeface="Plus Jakarta Sans" pitchFamily="34" charset="-122"/>
                <a:cs typeface="Plus Jakarta Sans" pitchFamily="34" charset="-120"/>
              </a:rPr>
              <a:t>Alya Putri</a:t>
            </a:r>
            <a:endParaRPr lang="en-US" sz="2640" dirty="0"/>
          </a:p>
        </p:txBody>
      </p:sp>
      <p:sp>
        <p:nvSpPr>
          <p:cNvPr id="34" name="Text 32"/>
          <p:cNvSpPr txBox="1"/>
          <p:nvPr/>
        </p:nvSpPr>
        <p:spPr>
          <a:xfrm>
            <a:off x="6675120" y="3174797"/>
            <a:ext cx="4434840" cy="251460"/>
          </a:xfrm>
          <a:prstGeom prst="rect">
            <a:avLst/>
          </a:prstGeom>
          <a:noFill/>
          <a:ln/>
        </p:spPr>
        <p:txBody>
          <a:bodyPr wrap="square" lIns="0" tIns="0" rIns="0" bIns="0" rtlCol="0" anchor="t"/>
          <a:lstStyle/>
          <a:p>
            <a:pPr algn="l" indent="0" marL="0">
              <a:lnSpc>
                <a:spcPct val="115000"/>
              </a:lnSpc>
              <a:buNone/>
            </a:pPr>
            <a:r>
              <a:rPr lang="en-US" sz="1320" dirty="0">
                <a:solidFill>
                  <a:srgbClr val="FFC83D"/>
                </a:solidFill>
                <a:latin typeface="Plus Jakarta Sans" pitchFamily="34" charset="0"/>
                <a:ea typeface="Plus Jakarta Sans" pitchFamily="34" charset="-122"/>
                <a:cs typeface="Plus Jakarta Sans" pitchFamily="34" charset="-120"/>
              </a:rPr>
              <a:t>Siswa SMA · Calon Web Developer</a:t>
            </a:r>
            <a:endParaRPr lang="en-US" sz="1320" dirty="0"/>
          </a:p>
        </p:txBody>
      </p:sp>
      <p:sp>
        <p:nvSpPr>
          <p:cNvPr id="35" name="Shape 33"/>
          <p:cNvSpPr/>
          <p:nvPr/>
        </p:nvSpPr>
        <p:spPr>
          <a:xfrm>
            <a:off x="6675120" y="3486607"/>
            <a:ext cx="854964" cy="241402"/>
          </a:xfrm>
          <a:prstGeom prst="roundRect">
            <a:avLst>
              <a:gd name="adj" fmla="val 50000"/>
            </a:avLst>
          </a:prstGeom>
          <a:solidFill>
            <a:srgbClr val="17285A"/>
          </a:solidFill>
          <a:ln/>
        </p:spPr>
      </p:sp>
      <p:sp>
        <p:nvSpPr>
          <p:cNvPr id="36" name="Text 34"/>
          <p:cNvSpPr txBox="1"/>
          <p:nvPr/>
        </p:nvSpPr>
        <p:spPr>
          <a:xfrm>
            <a:off x="6675120" y="3486607"/>
            <a:ext cx="854964" cy="241402"/>
          </a:xfrm>
          <a:prstGeom prst="rect">
            <a:avLst/>
          </a:prstGeom>
          <a:noFill/>
          <a:ln/>
        </p:spPr>
        <p:txBody>
          <a:bodyPr wrap="square" lIns="0" tIns="0" rIns="0" bIns="0" rtlCol="0" anchor="ctr"/>
          <a:lstStyle/>
          <a:p>
            <a:pPr algn="ctr" indent="0" marL="0">
              <a:lnSpc>
                <a:spcPct val="115000"/>
              </a:lnSpc>
              <a:buNone/>
            </a:pPr>
            <a:r>
              <a:rPr lang="en-US" sz="1100" b="1" dirty="0">
                <a:solidFill>
                  <a:srgbClr val="F4F6FB"/>
                </a:solidFill>
                <a:latin typeface="Plus Jakarta Sans" pitchFamily="34" charset="0"/>
                <a:ea typeface="Plus Jakarta Sans" pitchFamily="34" charset="-122"/>
                <a:cs typeface="Plus Jakarta Sans" pitchFamily="34" charset="-120"/>
              </a:rPr>
              <a:t>Tentang</a:t>
            </a:r>
            <a:endParaRPr lang="en-US" sz="1100" dirty="0"/>
          </a:p>
        </p:txBody>
      </p:sp>
      <p:sp>
        <p:nvSpPr>
          <p:cNvPr id="37" name="Shape 35"/>
          <p:cNvSpPr/>
          <p:nvPr/>
        </p:nvSpPr>
        <p:spPr>
          <a:xfrm>
            <a:off x="7630668" y="3486607"/>
            <a:ext cx="854964" cy="241402"/>
          </a:xfrm>
          <a:prstGeom prst="roundRect">
            <a:avLst>
              <a:gd name="adj" fmla="val 50000"/>
            </a:avLst>
          </a:prstGeom>
          <a:solidFill>
            <a:srgbClr val="17285A"/>
          </a:solidFill>
          <a:ln/>
        </p:spPr>
      </p:sp>
      <p:sp>
        <p:nvSpPr>
          <p:cNvPr id="38" name="Text 36"/>
          <p:cNvSpPr txBox="1"/>
          <p:nvPr/>
        </p:nvSpPr>
        <p:spPr>
          <a:xfrm>
            <a:off x="7630668" y="3486607"/>
            <a:ext cx="854964" cy="241402"/>
          </a:xfrm>
          <a:prstGeom prst="rect">
            <a:avLst/>
          </a:prstGeom>
          <a:noFill/>
          <a:ln/>
        </p:spPr>
        <p:txBody>
          <a:bodyPr wrap="square" lIns="0" tIns="0" rIns="0" bIns="0" rtlCol="0" anchor="ctr"/>
          <a:lstStyle/>
          <a:p>
            <a:pPr algn="ctr" indent="0" marL="0">
              <a:lnSpc>
                <a:spcPct val="115000"/>
              </a:lnSpc>
              <a:buNone/>
            </a:pPr>
            <a:r>
              <a:rPr lang="en-US" sz="1100" b="1" dirty="0">
                <a:solidFill>
                  <a:srgbClr val="F4F6FB"/>
                </a:solidFill>
                <a:latin typeface="Plus Jakarta Sans" pitchFamily="34" charset="0"/>
                <a:ea typeface="Plus Jakarta Sans" pitchFamily="34" charset="-122"/>
                <a:cs typeface="Plus Jakarta Sans" pitchFamily="34" charset="-120"/>
              </a:rPr>
              <a:t>Skill</a:t>
            </a:r>
            <a:endParaRPr lang="en-US" sz="1100" dirty="0"/>
          </a:p>
        </p:txBody>
      </p:sp>
      <p:sp>
        <p:nvSpPr>
          <p:cNvPr id="39" name="Shape 37"/>
          <p:cNvSpPr/>
          <p:nvPr/>
        </p:nvSpPr>
        <p:spPr>
          <a:xfrm>
            <a:off x="8586216" y="3486607"/>
            <a:ext cx="854964" cy="241402"/>
          </a:xfrm>
          <a:prstGeom prst="roundRect">
            <a:avLst>
              <a:gd name="adj" fmla="val 50000"/>
            </a:avLst>
          </a:prstGeom>
          <a:solidFill>
            <a:srgbClr val="17285A"/>
          </a:solidFill>
          <a:ln/>
        </p:spPr>
      </p:sp>
      <p:sp>
        <p:nvSpPr>
          <p:cNvPr id="40" name="Text 38"/>
          <p:cNvSpPr txBox="1"/>
          <p:nvPr/>
        </p:nvSpPr>
        <p:spPr>
          <a:xfrm>
            <a:off x="8586216" y="3486607"/>
            <a:ext cx="854964" cy="241402"/>
          </a:xfrm>
          <a:prstGeom prst="rect">
            <a:avLst/>
          </a:prstGeom>
          <a:noFill/>
          <a:ln/>
        </p:spPr>
        <p:txBody>
          <a:bodyPr wrap="square" lIns="0" tIns="0" rIns="0" bIns="0" rtlCol="0" anchor="ctr"/>
          <a:lstStyle/>
          <a:p>
            <a:pPr algn="ctr" indent="0" marL="0">
              <a:lnSpc>
                <a:spcPct val="115000"/>
              </a:lnSpc>
              <a:buNone/>
            </a:pPr>
            <a:r>
              <a:rPr lang="en-US" sz="1100" b="1" dirty="0">
                <a:solidFill>
                  <a:srgbClr val="F4F6FB"/>
                </a:solidFill>
                <a:latin typeface="Plus Jakarta Sans" pitchFamily="34" charset="0"/>
                <a:ea typeface="Plus Jakarta Sans" pitchFamily="34" charset="-122"/>
                <a:cs typeface="Plus Jakarta Sans" pitchFamily="34" charset="-120"/>
              </a:rPr>
              <a:t>Project</a:t>
            </a:r>
            <a:endParaRPr lang="en-US" sz="1100" dirty="0"/>
          </a:p>
        </p:txBody>
      </p:sp>
      <p:sp>
        <p:nvSpPr>
          <p:cNvPr id="41" name="Shape 39"/>
          <p:cNvSpPr/>
          <p:nvPr/>
        </p:nvSpPr>
        <p:spPr>
          <a:xfrm>
            <a:off x="9541764" y="3486607"/>
            <a:ext cx="854964" cy="241402"/>
          </a:xfrm>
          <a:prstGeom prst="roundRect">
            <a:avLst>
              <a:gd name="adj" fmla="val 50000"/>
            </a:avLst>
          </a:prstGeom>
          <a:solidFill>
            <a:srgbClr val="17285A"/>
          </a:solidFill>
          <a:ln/>
        </p:spPr>
      </p:sp>
      <p:sp>
        <p:nvSpPr>
          <p:cNvPr id="42" name="Text 40"/>
          <p:cNvSpPr txBox="1"/>
          <p:nvPr/>
        </p:nvSpPr>
        <p:spPr>
          <a:xfrm>
            <a:off x="9541764" y="3486607"/>
            <a:ext cx="854964" cy="241402"/>
          </a:xfrm>
          <a:prstGeom prst="rect">
            <a:avLst/>
          </a:prstGeom>
          <a:noFill/>
          <a:ln/>
        </p:spPr>
        <p:txBody>
          <a:bodyPr wrap="square" lIns="0" tIns="0" rIns="0" bIns="0" rtlCol="0" anchor="ctr"/>
          <a:lstStyle/>
          <a:p>
            <a:pPr algn="ctr" indent="0" marL="0">
              <a:lnSpc>
                <a:spcPct val="115000"/>
              </a:lnSpc>
              <a:buNone/>
            </a:pPr>
            <a:r>
              <a:rPr lang="en-US" sz="1100" b="1" dirty="0">
                <a:solidFill>
                  <a:srgbClr val="F4F6FB"/>
                </a:solidFill>
                <a:latin typeface="Plus Jakarta Sans" pitchFamily="34" charset="0"/>
                <a:ea typeface="Plus Jakarta Sans" pitchFamily="34" charset="-122"/>
                <a:cs typeface="Plus Jakarta Sans" pitchFamily="34" charset="-120"/>
              </a:rPr>
              <a:t>Kontak</a:t>
            </a:r>
            <a:endParaRPr lang="en-US" sz="1100" dirty="0"/>
          </a:p>
        </p:txBody>
      </p:sp>
      <p:sp>
        <p:nvSpPr>
          <p:cNvPr id="43" name="Shape 41"/>
          <p:cNvSpPr/>
          <p:nvPr/>
        </p:nvSpPr>
        <p:spPr>
          <a:xfrm>
            <a:off x="6675120" y="4110228"/>
            <a:ext cx="2066544" cy="1106424"/>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44" name="Text 42"/>
          <p:cNvSpPr txBox="1"/>
          <p:nvPr/>
        </p:nvSpPr>
        <p:spPr>
          <a:xfrm>
            <a:off x="6825996" y="4251046"/>
            <a:ext cx="1764792" cy="251460"/>
          </a:xfrm>
          <a:prstGeom prst="rect">
            <a:avLst/>
          </a:prstGeom>
          <a:noFill/>
          <a:ln/>
        </p:spPr>
        <p:txBody>
          <a:bodyPr wrap="square" lIns="0" tIns="0" rIns="0" bIns="0" rtlCol="0" anchor="t"/>
          <a:lstStyle/>
          <a:p>
            <a:pPr algn="l" indent="0" marL="0">
              <a:lnSpc>
                <a:spcPct val="115000"/>
              </a:lnSpc>
              <a:buNone/>
            </a:pPr>
            <a:r>
              <a:rPr lang="en-US" sz="1320" b="1" dirty="0">
                <a:solidFill>
                  <a:srgbClr val="0E1B3D"/>
                </a:solidFill>
                <a:latin typeface="Plus Jakarta Sans" pitchFamily="34" charset="0"/>
                <a:ea typeface="Plus Jakarta Sans" pitchFamily="34" charset="-122"/>
                <a:cs typeface="Plus Jakarta Sans" pitchFamily="34" charset="-120"/>
              </a:rPr>
              <a:t>Profil Pribadi</a:t>
            </a:r>
            <a:endParaRPr lang="en-US" sz="1320" dirty="0"/>
          </a:p>
        </p:txBody>
      </p:sp>
      <p:sp>
        <p:nvSpPr>
          <p:cNvPr id="45" name="Shape 43"/>
          <p:cNvSpPr/>
          <p:nvPr/>
        </p:nvSpPr>
        <p:spPr>
          <a:xfrm>
            <a:off x="6825996" y="4613148"/>
            <a:ext cx="1764792" cy="70409"/>
          </a:xfrm>
          <a:prstGeom prst="rect">
            <a:avLst/>
          </a:prstGeom>
          <a:solidFill>
            <a:srgbClr val="E3DFD6"/>
          </a:solidFill>
          <a:ln/>
        </p:spPr>
      </p:sp>
      <p:sp>
        <p:nvSpPr>
          <p:cNvPr id="46" name="Shape 44"/>
          <p:cNvSpPr/>
          <p:nvPr/>
        </p:nvSpPr>
        <p:spPr>
          <a:xfrm>
            <a:off x="6825996" y="4794199"/>
            <a:ext cx="1147115" cy="70409"/>
          </a:xfrm>
          <a:prstGeom prst="rect">
            <a:avLst/>
          </a:prstGeom>
          <a:solidFill>
            <a:srgbClr val="E3DFD6"/>
          </a:solidFill>
          <a:ln/>
        </p:spPr>
      </p:sp>
      <p:sp>
        <p:nvSpPr>
          <p:cNvPr id="47" name="Shape 45"/>
          <p:cNvSpPr/>
          <p:nvPr/>
        </p:nvSpPr>
        <p:spPr>
          <a:xfrm>
            <a:off x="9043416" y="4110228"/>
            <a:ext cx="2066544" cy="1106424"/>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48" name="Text 46"/>
          <p:cNvSpPr txBox="1"/>
          <p:nvPr/>
        </p:nvSpPr>
        <p:spPr>
          <a:xfrm>
            <a:off x="9194292" y="4251046"/>
            <a:ext cx="1764792" cy="251460"/>
          </a:xfrm>
          <a:prstGeom prst="rect">
            <a:avLst/>
          </a:prstGeom>
          <a:noFill/>
          <a:ln/>
        </p:spPr>
        <p:txBody>
          <a:bodyPr wrap="square" lIns="0" tIns="0" rIns="0" bIns="0" rtlCol="0" anchor="t"/>
          <a:lstStyle/>
          <a:p>
            <a:pPr algn="l" indent="0" marL="0">
              <a:lnSpc>
                <a:spcPct val="115000"/>
              </a:lnSpc>
              <a:buNone/>
            </a:pPr>
            <a:r>
              <a:rPr lang="en-US" sz="1320" b="1" dirty="0">
                <a:solidFill>
                  <a:srgbClr val="0E1B3D"/>
                </a:solidFill>
                <a:latin typeface="Plus Jakarta Sans" pitchFamily="34" charset="0"/>
                <a:ea typeface="Plus Jakarta Sans" pitchFamily="34" charset="-122"/>
                <a:cs typeface="Plus Jakarta Sans" pitchFamily="34" charset="-120"/>
              </a:rPr>
              <a:t>Cuaca Hari Ini</a:t>
            </a:r>
            <a:endParaRPr lang="en-US" sz="1320" dirty="0"/>
          </a:p>
        </p:txBody>
      </p:sp>
      <p:sp>
        <p:nvSpPr>
          <p:cNvPr id="49" name="Shape 47"/>
          <p:cNvSpPr/>
          <p:nvPr/>
        </p:nvSpPr>
        <p:spPr>
          <a:xfrm>
            <a:off x="9194292" y="4613148"/>
            <a:ext cx="1764792" cy="70409"/>
          </a:xfrm>
          <a:prstGeom prst="rect">
            <a:avLst/>
          </a:prstGeom>
          <a:solidFill>
            <a:srgbClr val="E3DFD6"/>
          </a:solidFill>
          <a:ln/>
        </p:spPr>
      </p:sp>
      <p:sp>
        <p:nvSpPr>
          <p:cNvPr id="50" name="Shape 48"/>
          <p:cNvSpPr/>
          <p:nvPr/>
        </p:nvSpPr>
        <p:spPr>
          <a:xfrm>
            <a:off x="9194292" y="4794199"/>
            <a:ext cx="1147115" cy="70409"/>
          </a:xfrm>
          <a:prstGeom prst="rect">
            <a:avLst/>
          </a:prstGeom>
          <a:solidFill>
            <a:srgbClr val="E3DFD6"/>
          </a:solidFill>
          <a:ln/>
        </p:spPr>
      </p:sp>
      <p:sp>
        <p:nvSpPr>
          <p:cNvPr id="51" name="Shape 49"/>
          <p:cNvSpPr/>
          <p:nvPr/>
        </p:nvSpPr>
        <p:spPr>
          <a:xfrm>
            <a:off x="6675120" y="5518404"/>
            <a:ext cx="754380" cy="261518"/>
          </a:xfrm>
          <a:prstGeom prst="roundRect">
            <a:avLst>
              <a:gd name="adj" fmla="val 50000"/>
            </a:avLst>
          </a:prstGeom>
          <a:solidFill>
            <a:srgbClr val="DCE6FF"/>
          </a:solidFill>
          <a:ln/>
        </p:spPr>
      </p:sp>
      <p:sp>
        <p:nvSpPr>
          <p:cNvPr id="52" name="Text 50"/>
          <p:cNvSpPr txBox="1"/>
          <p:nvPr/>
        </p:nvSpPr>
        <p:spPr>
          <a:xfrm>
            <a:off x="6675120" y="5518404"/>
            <a:ext cx="754380" cy="261518"/>
          </a:xfrm>
          <a:prstGeom prst="rect">
            <a:avLst/>
          </a:prstGeom>
          <a:noFill/>
          <a:ln/>
        </p:spPr>
        <p:txBody>
          <a:bodyPr wrap="square" lIns="0" tIns="0" rIns="0" bIns="0" rtlCol="0" anchor="ctr"/>
          <a:lstStyle/>
          <a:p>
            <a:pPr algn="ctr" indent="0" marL="0">
              <a:lnSpc>
                <a:spcPct val="115000"/>
              </a:lnSpc>
              <a:buNone/>
            </a:pPr>
            <a:r>
              <a:rPr lang="en-US" sz="1100" b="1" dirty="0">
                <a:solidFill>
                  <a:srgbClr val="1F4FD8"/>
                </a:solidFill>
                <a:latin typeface="Plus Jakarta Sans" pitchFamily="34" charset="0"/>
                <a:ea typeface="Plus Jakarta Sans" pitchFamily="34" charset="-122"/>
                <a:cs typeface="Plus Jakarta Sans" pitchFamily="34" charset="-120"/>
              </a:rPr>
              <a:t>HTML</a:t>
            </a:r>
            <a:endParaRPr lang="en-US" sz="1100" dirty="0"/>
          </a:p>
        </p:txBody>
      </p:sp>
      <p:sp>
        <p:nvSpPr>
          <p:cNvPr id="53" name="Shape 51"/>
          <p:cNvSpPr/>
          <p:nvPr/>
        </p:nvSpPr>
        <p:spPr>
          <a:xfrm>
            <a:off x="7530084" y="5518404"/>
            <a:ext cx="754380" cy="261518"/>
          </a:xfrm>
          <a:prstGeom prst="roundRect">
            <a:avLst>
              <a:gd name="adj" fmla="val 50000"/>
            </a:avLst>
          </a:prstGeom>
          <a:solidFill>
            <a:srgbClr val="DCE6FF"/>
          </a:solidFill>
          <a:ln/>
        </p:spPr>
      </p:sp>
      <p:sp>
        <p:nvSpPr>
          <p:cNvPr id="54" name="Text 52"/>
          <p:cNvSpPr txBox="1"/>
          <p:nvPr/>
        </p:nvSpPr>
        <p:spPr>
          <a:xfrm>
            <a:off x="7530084" y="5518404"/>
            <a:ext cx="754380" cy="261518"/>
          </a:xfrm>
          <a:prstGeom prst="rect">
            <a:avLst/>
          </a:prstGeom>
          <a:noFill/>
          <a:ln/>
        </p:spPr>
        <p:txBody>
          <a:bodyPr wrap="square" lIns="0" tIns="0" rIns="0" bIns="0" rtlCol="0" anchor="ctr"/>
          <a:lstStyle/>
          <a:p>
            <a:pPr algn="ctr" indent="0" marL="0">
              <a:lnSpc>
                <a:spcPct val="115000"/>
              </a:lnSpc>
              <a:buNone/>
            </a:pPr>
            <a:r>
              <a:rPr lang="en-US" sz="1100" b="1" dirty="0">
                <a:solidFill>
                  <a:srgbClr val="1F4FD8"/>
                </a:solidFill>
                <a:latin typeface="Plus Jakarta Sans" pitchFamily="34" charset="0"/>
                <a:ea typeface="Plus Jakarta Sans" pitchFamily="34" charset="-122"/>
                <a:cs typeface="Plus Jakarta Sans" pitchFamily="34" charset="-120"/>
              </a:rPr>
              <a:t>CSS</a:t>
            </a:r>
            <a:endParaRPr lang="en-US" sz="1100" dirty="0"/>
          </a:p>
        </p:txBody>
      </p:sp>
      <p:sp>
        <p:nvSpPr>
          <p:cNvPr id="55" name="Shape 53"/>
          <p:cNvSpPr/>
          <p:nvPr/>
        </p:nvSpPr>
        <p:spPr>
          <a:xfrm>
            <a:off x="8385048" y="5518404"/>
            <a:ext cx="754380" cy="261518"/>
          </a:xfrm>
          <a:prstGeom prst="roundRect">
            <a:avLst>
              <a:gd name="adj" fmla="val 50000"/>
            </a:avLst>
          </a:prstGeom>
          <a:solidFill>
            <a:srgbClr val="DCE6FF"/>
          </a:solidFill>
          <a:ln/>
        </p:spPr>
      </p:sp>
      <p:sp>
        <p:nvSpPr>
          <p:cNvPr id="56" name="Text 54"/>
          <p:cNvSpPr txBox="1"/>
          <p:nvPr/>
        </p:nvSpPr>
        <p:spPr>
          <a:xfrm>
            <a:off x="8385048" y="5518404"/>
            <a:ext cx="754380" cy="261518"/>
          </a:xfrm>
          <a:prstGeom prst="rect">
            <a:avLst/>
          </a:prstGeom>
          <a:noFill/>
          <a:ln/>
        </p:spPr>
        <p:txBody>
          <a:bodyPr wrap="square" lIns="0" tIns="0" rIns="0" bIns="0" rtlCol="0" anchor="ctr"/>
          <a:lstStyle/>
          <a:p>
            <a:pPr algn="ctr" indent="0" marL="0">
              <a:lnSpc>
                <a:spcPct val="115000"/>
              </a:lnSpc>
              <a:buNone/>
            </a:pPr>
            <a:r>
              <a:rPr lang="en-US" sz="1100" b="1" dirty="0">
                <a:solidFill>
                  <a:srgbClr val="1F4FD8"/>
                </a:solidFill>
                <a:latin typeface="Plus Jakarta Sans" pitchFamily="34" charset="0"/>
                <a:ea typeface="Plus Jakarta Sans" pitchFamily="34" charset="-122"/>
                <a:cs typeface="Plus Jakarta Sans" pitchFamily="34" charset="-120"/>
              </a:rPr>
              <a:t>Git</a:t>
            </a:r>
            <a:endParaRPr lang="en-US" sz="1100" dirty="0"/>
          </a:p>
        </p:txBody>
      </p:sp>
      <p:sp>
        <p:nvSpPr>
          <p:cNvPr id="57" name="Shape 55"/>
          <p:cNvSpPr/>
          <p:nvPr/>
        </p:nvSpPr>
        <p:spPr>
          <a:xfrm>
            <a:off x="5577840" y="3749040"/>
            <a:ext cx="640080" cy="640080"/>
          </a:xfrm>
          <a:prstGeom prst="ellipse">
            <a:avLst/>
          </a:prstGeom>
          <a:solidFill>
            <a:srgbClr val="FFC83D"/>
          </a:solidFill>
          <a:ln/>
        </p:spPr>
      </p:sp>
      <p:sp>
        <p:nvSpPr>
          <p:cNvPr id="58" name="Text 56"/>
          <p:cNvSpPr txBox="1"/>
          <p:nvPr/>
        </p:nvSpPr>
        <p:spPr>
          <a:xfrm>
            <a:off x="5577840" y="3749040"/>
            <a:ext cx="640080" cy="640080"/>
          </a:xfrm>
          <a:prstGeom prst="rect">
            <a:avLst/>
          </a:prstGeom>
          <a:noFill/>
          <a:ln/>
        </p:spPr>
        <p:txBody>
          <a:bodyPr wrap="none" lIns="0" tIns="0" rIns="0" bIns="0" rtlCol="0" anchor="ctr"/>
          <a:lstStyle/>
          <a:p>
            <a:pPr algn="ctr" indent="0" marL="0">
              <a:lnSpc>
                <a:spcPct val="115000"/>
              </a:lnSpc>
              <a:buNone/>
            </a:pPr>
            <a:r>
              <a:rPr lang="en-US" sz="2800" b="1" dirty="0">
                <a:solidFill>
                  <a:srgbClr val="0E1B3D"/>
                </a:solidFill>
                <a:latin typeface="Plus Jakarta Sans" pitchFamily="34" charset="0"/>
                <a:ea typeface="Plus Jakarta Sans" pitchFamily="34" charset="-122"/>
                <a:cs typeface="Plus Jakarta Sans" pitchFamily="34" charset="-120"/>
              </a:rPr>
              <a:t>→</a:t>
            </a:r>
            <a:endParaRPr 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20</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Cara kerja CSS</a:t>
            </a:r>
            <a:endParaRPr lang="en-US" sz="4000" dirty="0"/>
          </a:p>
        </p:txBody>
      </p:sp>
      <p:sp>
        <p:nvSpPr>
          <p:cNvPr id="4" name="Shape 2"/>
          <p:cNvSpPr/>
          <p:nvPr/>
        </p:nvSpPr>
        <p:spPr>
          <a:xfrm>
            <a:off x="731520" y="1600200"/>
            <a:ext cx="6675120" cy="2131568"/>
          </a:xfrm>
          <a:prstGeom prst="roundRect">
            <a:avLst>
              <a:gd name="adj" fmla="val 6006"/>
            </a:avLst>
          </a:prstGeom>
          <a:solidFill>
            <a:srgbClr val="0B1530"/>
          </a:solidFill>
          <a:ln/>
          <a:effectLst>
            <a:outerShdw sx="100000" sy="100000" kx="0" ky="0" algn="bl" rotWithShape="0" blurRad="177800" dist="38100" dir="5400000">
              <a:srgbClr val="000000">
                <a:alpha val="40000"/>
              </a:srgbClr>
            </a:outerShdw>
          </a:effectLst>
        </p:spPr>
      </p:sp>
      <p:sp>
        <p:nvSpPr>
          <p:cNvPr id="5" name="Shape 3"/>
          <p:cNvSpPr/>
          <p:nvPr/>
        </p:nvSpPr>
        <p:spPr>
          <a:xfrm>
            <a:off x="932688" y="1755648"/>
            <a:ext cx="109728" cy="109728"/>
          </a:xfrm>
          <a:prstGeom prst="ellipse">
            <a:avLst/>
          </a:prstGeom>
          <a:solidFill>
            <a:srgbClr val="E63946"/>
          </a:solidFill>
          <a:ln/>
        </p:spPr>
      </p:sp>
      <p:sp>
        <p:nvSpPr>
          <p:cNvPr id="6" name="Shape 4"/>
          <p:cNvSpPr/>
          <p:nvPr/>
        </p:nvSpPr>
        <p:spPr>
          <a:xfrm>
            <a:off x="1115568" y="1755648"/>
            <a:ext cx="109728" cy="109728"/>
          </a:xfrm>
          <a:prstGeom prst="ellipse">
            <a:avLst/>
          </a:prstGeom>
          <a:solidFill>
            <a:srgbClr val="FFC83D"/>
          </a:solidFill>
          <a:ln/>
        </p:spPr>
      </p:sp>
      <p:sp>
        <p:nvSpPr>
          <p:cNvPr id="7" name="Shape 5"/>
          <p:cNvSpPr/>
          <p:nvPr/>
        </p:nvSpPr>
        <p:spPr>
          <a:xfrm>
            <a:off x="1298448" y="1755648"/>
            <a:ext cx="109728" cy="109728"/>
          </a:xfrm>
          <a:prstGeom prst="ellipse">
            <a:avLst/>
          </a:prstGeom>
          <a:solidFill>
            <a:srgbClr val="1E9E68"/>
          </a:solidFill>
          <a:ln/>
        </p:spPr>
      </p:sp>
      <p:sp>
        <p:nvSpPr>
          <p:cNvPr id="8" name="Text 6"/>
          <p:cNvSpPr txBox="1"/>
          <p:nvPr/>
        </p:nvSpPr>
        <p:spPr>
          <a:xfrm>
            <a:off x="1645920" y="1673352"/>
            <a:ext cx="548640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JetBrains Mono" pitchFamily="34" charset="0"/>
                <a:ea typeface="JetBrains Mono" pitchFamily="34" charset="-122"/>
                <a:cs typeface="JetBrains Mono" pitchFamily="34" charset="-120"/>
              </a:rPr>
              <a:t>style.css</a:t>
            </a:r>
            <a:endParaRPr lang="en-US" sz="1200" dirty="0"/>
          </a:p>
        </p:txBody>
      </p:sp>
      <p:sp>
        <p:nvSpPr>
          <p:cNvPr id="9" name="Shape 7"/>
          <p:cNvSpPr/>
          <p:nvPr/>
        </p:nvSpPr>
        <p:spPr>
          <a:xfrm>
            <a:off x="804672" y="2498852"/>
            <a:ext cx="6528816" cy="368300"/>
          </a:xfrm>
          <a:prstGeom prst="rect">
            <a:avLst/>
          </a:prstGeom>
          <a:solidFill>
            <a:srgbClr val="FFC83D">
              <a:alpha val="16000"/>
            </a:srgbClr>
          </a:solidFill>
          <a:ln/>
        </p:spPr>
      </p:sp>
      <p:sp>
        <p:nvSpPr>
          <p:cNvPr id="10" name="Text 8"/>
          <p:cNvSpPr txBox="1"/>
          <p:nvPr/>
        </p:nvSpPr>
        <p:spPr>
          <a:xfrm>
            <a:off x="896112" y="21305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1</a:t>
            </a:r>
            <a:endParaRPr lang="en-US" sz="1400" dirty="0"/>
          </a:p>
        </p:txBody>
      </p:sp>
      <p:sp>
        <p:nvSpPr>
          <p:cNvPr id="11" name="Text 9"/>
          <p:cNvSpPr txBox="1"/>
          <p:nvPr/>
        </p:nvSpPr>
        <p:spPr>
          <a:xfrm>
            <a:off x="1417320" y="2130552"/>
            <a:ext cx="594360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h1</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2" name="Text 10"/>
          <p:cNvSpPr txBox="1"/>
          <p:nvPr/>
        </p:nvSpPr>
        <p:spPr>
          <a:xfrm>
            <a:off x="896112" y="24988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2</a:t>
            </a:r>
            <a:endParaRPr lang="en-US" sz="1400" dirty="0"/>
          </a:p>
        </p:txBody>
      </p:sp>
      <p:sp>
        <p:nvSpPr>
          <p:cNvPr id="13" name="Text 11"/>
          <p:cNvSpPr txBox="1"/>
          <p:nvPr/>
        </p:nvSpPr>
        <p:spPr>
          <a:xfrm>
            <a:off x="1417320" y="2498852"/>
            <a:ext cx="59436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color</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navy</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4" name="Text 12"/>
          <p:cNvSpPr txBox="1"/>
          <p:nvPr/>
        </p:nvSpPr>
        <p:spPr>
          <a:xfrm>
            <a:off x="896112" y="28671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3</a:t>
            </a:r>
            <a:endParaRPr lang="en-US" sz="1400" dirty="0"/>
          </a:p>
        </p:txBody>
      </p:sp>
      <p:sp>
        <p:nvSpPr>
          <p:cNvPr id="15" name="Text 13"/>
          <p:cNvSpPr txBox="1"/>
          <p:nvPr/>
        </p:nvSpPr>
        <p:spPr>
          <a:xfrm>
            <a:off x="1417320" y="2867152"/>
            <a:ext cx="59436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font-size</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40px</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6" name="Text 14"/>
          <p:cNvSpPr txBox="1"/>
          <p:nvPr/>
        </p:nvSpPr>
        <p:spPr>
          <a:xfrm>
            <a:off x="896112" y="32354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4</a:t>
            </a:r>
            <a:endParaRPr lang="en-US" sz="1400" dirty="0"/>
          </a:p>
        </p:txBody>
      </p:sp>
      <p:sp>
        <p:nvSpPr>
          <p:cNvPr id="17" name="Text 15"/>
          <p:cNvSpPr txBox="1"/>
          <p:nvPr/>
        </p:nvSpPr>
        <p:spPr>
          <a:xfrm>
            <a:off x="1417320" y="3235452"/>
            <a:ext cx="594360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8" name="Shape 16"/>
          <p:cNvSpPr/>
          <p:nvPr/>
        </p:nvSpPr>
        <p:spPr>
          <a:xfrm>
            <a:off x="731520" y="4006088"/>
            <a:ext cx="6949440" cy="1026668"/>
          </a:xfrm>
          <a:prstGeom prst="roundRect">
            <a:avLst>
              <a:gd name="adj" fmla="val 12469"/>
            </a:avLst>
          </a:prstGeom>
          <a:solidFill>
            <a:srgbClr val="0B1530"/>
          </a:solidFill>
          <a:ln/>
          <a:effectLst>
            <a:outerShdw sx="100000" sy="100000" kx="0" ky="0" algn="bl" rotWithShape="0" blurRad="177800" dist="38100" dir="5400000">
              <a:srgbClr val="000000">
                <a:alpha val="40000"/>
              </a:srgbClr>
            </a:outerShdw>
          </a:effectLst>
        </p:spPr>
      </p:sp>
      <p:sp>
        <p:nvSpPr>
          <p:cNvPr id="19" name="Shape 17"/>
          <p:cNvSpPr/>
          <p:nvPr/>
        </p:nvSpPr>
        <p:spPr>
          <a:xfrm>
            <a:off x="932688" y="4161536"/>
            <a:ext cx="109728" cy="109728"/>
          </a:xfrm>
          <a:prstGeom prst="ellipse">
            <a:avLst/>
          </a:prstGeom>
          <a:solidFill>
            <a:srgbClr val="E63946"/>
          </a:solidFill>
          <a:ln/>
        </p:spPr>
      </p:sp>
      <p:sp>
        <p:nvSpPr>
          <p:cNvPr id="20" name="Shape 18"/>
          <p:cNvSpPr/>
          <p:nvPr/>
        </p:nvSpPr>
        <p:spPr>
          <a:xfrm>
            <a:off x="1115568" y="4161536"/>
            <a:ext cx="109728" cy="109728"/>
          </a:xfrm>
          <a:prstGeom prst="ellipse">
            <a:avLst/>
          </a:prstGeom>
          <a:solidFill>
            <a:srgbClr val="FFC83D"/>
          </a:solidFill>
          <a:ln/>
        </p:spPr>
      </p:sp>
      <p:sp>
        <p:nvSpPr>
          <p:cNvPr id="21" name="Shape 19"/>
          <p:cNvSpPr/>
          <p:nvPr/>
        </p:nvSpPr>
        <p:spPr>
          <a:xfrm>
            <a:off x="1298448" y="4161536"/>
            <a:ext cx="109728" cy="109728"/>
          </a:xfrm>
          <a:prstGeom prst="ellipse">
            <a:avLst/>
          </a:prstGeom>
          <a:solidFill>
            <a:srgbClr val="1E9E68"/>
          </a:solidFill>
          <a:ln/>
        </p:spPr>
      </p:sp>
      <p:sp>
        <p:nvSpPr>
          <p:cNvPr id="22" name="Text 20"/>
          <p:cNvSpPr txBox="1"/>
          <p:nvPr/>
        </p:nvSpPr>
        <p:spPr>
          <a:xfrm>
            <a:off x="1645920" y="4079240"/>
            <a:ext cx="576072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JetBrains Mono" pitchFamily="34" charset="0"/>
                <a:ea typeface="JetBrains Mono" pitchFamily="34" charset="-122"/>
                <a:cs typeface="JetBrains Mono" pitchFamily="34" charset="-120"/>
              </a:rPr>
              <a:t>index.html  (di dalam &lt;head&gt;)</a:t>
            </a:r>
            <a:endParaRPr lang="en-US" sz="1200" dirty="0"/>
          </a:p>
        </p:txBody>
      </p:sp>
      <p:sp>
        <p:nvSpPr>
          <p:cNvPr id="23" name="Text 21"/>
          <p:cNvSpPr txBox="1"/>
          <p:nvPr/>
        </p:nvSpPr>
        <p:spPr>
          <a:xfrm>
            <a:off x="1005840" y="4536440"/>
            <a:ext cx="621792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link</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rel</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"stylesheet"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href</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"style.css"</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&gt;</a:t>
            </a:r>
            <a:endParaRPr lang="en-US" sz="2000" dirty="0"/>
          </a:p>
        </p:txBody>
      </p:sp>
      <p:sp>
        <p:nvSpPr>
          <p:cNvPr id="24" name="Text 22"/>
          <p:cNvSpPr txBox="1"/>
          <p:nvPr/>
        </p:nvSpPr>
        <p:spPr>
          <a:xfrm>
            <a:off x="731520" y="5215636"/>
            <a:ext cx="6675120" cy="365760"/>
          </a:xfrm>
          <a:prstGeom prst="rect">
            <a:avLst/>
          </a:prstGeom>
          <a:noFill/>
          <a:ln/>
        </p:spPr>
        <p:txBody>
          <a:bodyPr wrap="square" lIns="0" tIns="0" rIns="0" bIns="0" rtlCol="0" anchor="t"/>
          <a:lstStyle/>
          <a:p>
            <a:pPr algn="l" indent="0" marL="0">
              <a:lnSpc>
                <a:spcPct val="115000"/>
              </a:lnSpc>
              <a:buNone/>
            </a:pPr>
            <a:r>
              <a:rPr lang="en-US" sz="1600" dirty="0">
                <a:solidFill>
                  <a:srgbClr val="5B6478"/>
                </a:solidFill>
                <a:latin typeface="Plus Jakarta Sans" pitchFamily="34" charset="0"/>
                <a:ea typeface="Plus Jakarta Sans" pitchFamily="34" charset="-122"/>
                <a:cs typeface="Plus Jakarta Sans" pitchFamily="34" charset="-120"/>
              </a:rPr>
              <a:t>Satu baris ini menyambungkan HTML ke CSS.</a:t>
            </a:r>
            <a:endParaRPr lang="en-US" sz="1600" dirty="0"/>
          </a:p>
        </p:txBody>
      </p:sp>
      <p:sp>
        <p:nvSpPr>
          <p:cNvPr id="25" name="Shape 23"/>
          <p:cNvSpPr/>
          <p:nvPr/>
        </p:nvSpPr>
        <p:spPr>
          <a:xfrm>
            <a:off x="7955280" y="1737360"/>
            <a:ext cx="1691640" cy="457200"/>
          </a:xfrm>
          <a:prstGeom prst="roundRect">
            <a:avLst>
              <a:gd name="adj" fmla="val 24000"/>
            </a:avLst>
          </a:prstGeom>
          <a:solidFill>
            <a:srgbClr val="0B1530"/>
          </a:solidFill>
          <a:ln/>
        </p:spPr>
      </p:sp>
      <p:sp>
        <p:nvSpPr>
          <p:cNvPr id="26" name="Text 24"/>
          <p:cNvSpPr txBox="1"/>
          <p:nvPr/>
        </p:nvSpPr>
        <p:spPr>
          <a:xfrm>
            <a:off x="7955280" y="1737360"/>
            <a:ext cx="1691640" cy="457200"/>
          </a:xfrm>
          <a:prstGeom prst="rect">
            <a:avLst/>
          </a:prstGeom>
          <a:noFill/>
          <a:ln/>
        </p:spPr>
        <p:txBody>
          <a:bodyPr wrap="none" lIns="0" tIns="0" rIns="0" bIns="0" rtlCol="0" anchor="ctr"/>
          <a:lstStyle/>
          <a:p>
            <a:pPr algn="ctr" indent="0" marL="0">
              <a:lnSpc>
                <a:spcPct val="115000"/>
              </a:lnSpc>
              <a:buNone/>
            </a:pPr>
            <a:r>
              <a:rPr lang="en-US" sz="1600" b="1" dirty="0">
                <a:solidFill>
                  <a:srgbClr val="FFD36E"/>
                </a:solidFill>
                <a:latin typeface="JetBrains Mono" pitchFamily="34" charset="0"/>
                <a:ea typeface="JetBrains Mono" pitchFamily="34" charset="-122"/>
                <a:cs typeface="JetBrains Mono" pitchFamily="34" charset="-120"/>
              </a:rPr>
              <a:t>selector</a:t>
            </a:r>
            <a:endParaRPr lang="en-US" sz="1600" dirty="0"/>
          </a:p>
        </p:txBody>
      </p:sp>
      <p:sp>
        <p:nvSpPr>
          <p:cNvPr id="27" name="Text 25"/>
          <p:cNvSpPr txBox="1"/>
          <p:nvPr/>
        </p:nvSpPr>
        <p:spPr>
          <a:xfrm>
            <a:off x="9784080" y="1691640"/>
            <a:ext cx="1737360" cy="594360"/>
          </a:xfrm>
          <a:prstGeom prst="rect">
            <a:avLst/>
          </a:prstGeom>
          <a:noFill/>
          <a:ln/>
        </p:spPr>
        <p:txBody>
          <a:bodyPr wrap="square" lIns="0" tIns="0" rIns="0" bIns="0" rtlCol="0" anchor="ctr"/>
          <a:lstStyle/>
          <a:p>
            <a:pPr algn="l" indent="0" marL="0">
              <a:lnSpc>
                <a:spcPct val="125000"/>
              </a:lnSpc>
              <a:buNone/>
            </a:pPr>
            <a:r>
              <a:rPr lang="en-US" sz="1400" dirty="0">
                <a:solidFill>
                  <a:srgbClr val="0E1B3D"/>
                </a:solidFill>
                <a:latin typeface="Plus Jakarta Sans" pitchFamily="34" charset="0"/>
                <a:ea typeface="Plus Jakarta Sans" pitchFamily="34" charset="-122"/>
                <a:cs typeface="Plus Jakarta Sans" pitchFamily="34" charset="-120"/>
              </a:rPr>
              <a:t>siapa yang didandani (h1)</a:t>
            </a:r>
            <a:endParaRPr lang="en-US" sz="1400" dirty="0"/>
          </a:p>
        </p:txBody>
      </p:sp>
      <p:sp>
        <p:nvSpPr>
          <p:cNvPr id="28" name="Shape 26"/>
          <p:cNvSpPr/>
          <p:nvPr/>
        </p:nvSpPr>
        <p:spPr>
          <a:xfrm>
            <a:off x="7955280" y="2606040"/>
            <a:ext cx="1691640" cy="457200"/>
          </a:xfrm>
          <a:prstGeom prst="roundRect">
            <a:avLst>
              <a:gd name="adj" fmla="val 24000"/>
            </a:avLst>
          </a:prstGeom>
          <a:solidFill>
            <a:srgbClr val="0B1530"/>
          </a:solidFill>
          <a:ln/>
        </p:spPr>
      </p:sp>
      <p:sp>
        <p:nvSpPr>
          <p:cNvPr id="29" name="Text 27"/>
          <p:cNvSpPr txBox="1"/>
          <p:nvPr/>
        </p:nvSpPr>
        <p:spPr>
          <a:xfrm>
            <a:off x="7955280" y="2606040"/>
            <a:ext cx="1691640" cy="457200"/>
          </a:xfrm>
          <a:prstGeom prst="rect">
            <a:avLst/>
          </a:prstGeom>
          <a:noFill/>
          <a:ln/>
        </p:spPr>
        <p:txBody>
          <a:bodyPr wrap="none" lIns="0" tIns="0" rIns="0" bIns="0" rtlCol="0" anchor="ctr"/>
          <a:lstStyle/>
          <a:p>
            <a:pPr algn="ctr" indent="0" marL="0">
              <a:lnSpc>
                <a:spcPct val="115000"/>
              </a:lnSpc>
              <a:buNone/>
            </a:pPr>
            <a:r>
              <a:rPr lang="en-US" sz="1600" b="1" dirty="0">
                <a:solidFill>
                  <a:srgbClr val="8DB4FF"/>
                </a:solidFill>
                <a:latin typeface="JetBrains Mono" pitchFamily="34" charset="0"/>
                <a:ea typeface="JetBrains Mono" pitchFamily="34" charset="-122"/>
                <a:cs typeface="JetBrains Mono" pitchFamily="34" charset="-120"/>
              </a:rPr>
              <a:t>property</a:t>
            </a:r>
            <a:endParaRPr lang="en-US" sz="1600" dirty="0"/>
          </a:p>
        </p:txBody>
      </p:sp>
      <p:sp>
        <p:nvSpPr>
          <p:cNvPr id="30" name="Text 28"/>
          <p:cNvSpPr txBox="1"/>
          <p:nvPr/>
        </p:nvSpPr>
        <p:spPr>
          <a:xfrm>
            <a:off x="9784080" y="2560320"/>
            <a:ext cx="1737360" cy="594360"/>
          </a:xfrm>
          <a:prstGeom prst="rect">
            <a:avLst/>
          </a:prstGeom>
          <a:noFill/>
          <a:ln/>
        </p:spPr>
        <p:txBody>
          <a:bodyPr wrap="square" lIns="0" tIns="0" rIns="0" bIns="0" rtlCol="0" anchor="ctr"/>
          <a:lstStyle/>
          <a:p>
            <a:pPr algn="l" indent="0" marL="0">
              <a:lnSpc>
                <a:spcPct val="125000"/>
              </a:lnSpc>
              <a:buNone/>
            </a:pPr>
            <a:r>
              <a:rPr lang="en-US" sz="1400" dirty="0">
                <a:solidFill>
                  <a:srgbClr val="0E1B3D"/>
                </a:solidFill>
                <a:latin typeface="Plus Jakarta Sans" pitchFamily="34" charset="0"/>
                <a:ea typeface="Plus Jakarta Sans" pitchFamily="34" charset="-122"/>
                <a:cs typeface="Plus Jakarta Sans" pitchFamily="34" charset="-120"/>
              </a:rPr>
              <a:t>bagian mana yang diubah (color)</a:t>
            </a:r>
            <a:endParaRPr lang="en-US" sz="1400" dirty="0"/>
          </a:p>
        </p:txBody>
      </p:sp>
      <p:sp>
        <p:nvSpPr>
          <p:cNvPr id="31" name="Shape 29"/>
          <p:cNvSpPr/>
          <p:nvPr/>
        </p:nvSpPr>
        <p:spPr>
          <a:xfrm>
            <a:off x="7955280" y="3474720"/>
            <a:ext cx="1691640" cy="457200"/>
          </a:xfrm>
          <a:prstGeom prst="roundRect">
            <a:avLst>
              <a:gd name="adj" fmla="val 24000"/>
            </a:avLst>
          </a:prstGeom>
          <a:solidFill>
            <a:srgbClr val="0B1530"/>
          </a:solidFill>
          <a:ln/>
        </p:spPr>
      </p:sp>
      <p:sp>
        <p:nvSpPr>
          <p:cNvPr id="32" name="Text 30"/>
          <p:cNvSpPr txBox="1"/>
          <p:nvPr/>
        </p:nvSpPr>
        <p:spPr>
          <a:xfrm>
            <a:off x="7955280" y="3474720"/>
            <a:ext cx="1691640" cy="457200"/>
          </a:xfrm>
          <a:prstGeom prst="rect">
            <a:avLst/>
          </a:prstGeom>
          <a:noFill/>
          <a:ln/>
        </p:spPr>
        <p:txBody>
          <a:bodyPr wrap="none" lIns="0" tIns="0" rIns="0" bIns="0" rtlCol="0" anchor="ctr"/>
          <a:lstStyle/>
          <a:p>
            <a:pPr algn="ctr" indent="0" marL="0">
              <a:lnSpc>
                <a:spcPct val="115000"/>
              </a:lnSpc>
              <a:buNone/>
            </a:pPr>
            <a:r>
              <a:rPr lang="en-US" sz="1600" b="1" dirty="0">
                <a:solidFill>
                  <a:srgbClr val="8FE3B0"/>
                </a:solidFill>
                <a:latin typeface="JetBrains Mono" pitchFamily="34" charset="0"/>
                <a:ea typeface="JetBrains Mono" pitchFamily="34" charset="-122"/>
                <a:cs typeface="JetBrains Mono" pitchFamily="34" charset="-120"/>
              </a:rPr>
              <a:t>value</a:t>
            </a:r>
            <a:endParaRPr lang="en-US" sz="1600" dirty="0"/>
          </a:p>
        </p:txBody>
      </p:sp>
      <p:sp>
        <p:nvSpPr>
          <p:cNvPr id="33" name="Text 31"/>
          <p:cNvSpPr txBox="1"/>
          <p:nvPr/>
        </p:nvSpPr>
        <p:spPr>
          <a:xfrm>
            <a:off x="9784080" y="3429000"/>
            <a:ext cx="1737360" cy="594360"/>
          </a:xfrm>
          <a:prstGeom prst="rect">
            <a:avLst/>
          </a:prstGeom>
          <a:noFill/>
          <a:ln/>
        </p:spPr>
        <p:txBody>
          <a:bodyPr wrap="square" lIns="0" tIns="0" rIns="0" bIns="0" rtlCol="0" anchor="ctr"/>
          <a:lstStyle/>
          <a:p>
            <a:pPr algn="l" indent="0" marL="0">
              <a:lnSpc>
                <a:spcPct val="125000"/>
              </a:lnSpc>
              <a:buNone/>
            </a:pPr>
            <a:r>
              <a:rPr lang="en-US" sz="1400" dirty="0">
                <a:solidFill>
                  <a:srgbClr val="0E1B3D"/>
                </a:solidFill>
                <a:latin typeface="Plus Jakarta Sans" pitchFamily="34" charset="0"/>
                <a:ea typeface="Plus Jakarta Sans" pitchFamily="34" charset="-122"/>
                <a:cs typeface="Plus Jakarta Sans" pitchFamily="34" charset="-120"/>
              </a:rPr>
              <a:t>diubah jadi apa (navy)</a:t>
            </a:r>
            <a:endParaRPr lang="en-US" sz="1400" dirty="0"/>
          </a:p>
        </p:txBody>
      </p:sp>
      <p:sp>
        <p:nvSpPr>
          <p:cNvPr id="34" name="Shape 32"/>
          <p:cNvSpPr/>
          <p:nvPr/>
        </p:nvSpPr>
        <p:spPr>
          <a:xfrm>
            <a:off x="7955280" y="4434840"/>
            <a:ext cx="3474720" cy="0"/>
          </a:xfrm>
          <a:prstGeom prst="line">
            <a:avLst/>
          </a:prstGeom>
          <a:noFill/>
          <a:ln w="12700">
            <a:solidFill>
              <a:srgbClr val="E3DFD6"/>
            </a:solidFill>
            <a:prstDash val="solid"/>
          </a:ln>
        </p:spPr>
      </p:sp>
      <p:sp>
        <p:nvSpPr>
          <p:cNvPr id="35" name="Text 33"/>
          <p:cNvSpPr txBox="1"/>
          <p:nvPr/>
        </p:nvSpPr>
        <p:spPr>
          <a:xfrm>
            <a:off x="7955280" y="4526280"/>
            <a:ext cx="3474720" cy="274320"/>
          </a:xfrm>
          <a:prstGeom prst="rect">
            <a:avLst/>
          </a:prstGeom>
          <a:noFill/>
          <a:ln/>
        </p:spPr>
        <p:txBody>
          <a:bodyPr wrap="square" lIns="0" tIns="0" rIns="0" bIns="0" rtlCol="0" anchor="t"/>
          <a:lstStyle/>
          <a:p>
            <a:pPr algn="l" indent="0" marL="0">
              <a:lnSpc>
                <a:spcPct val="115000"/>
              </a:lnSpc>
              <a:buNone/>
            </a:pPr>
            <a:r>
              <a:rPr lang="en-US" sz="1400" b="1" dirty="0">
                <a:solidFill>
                  <a:srgbClr val="1F4FD8"/>
                </a:solidFill>
                <a:latin typeface="Plus Jakarta Sans" pitchFamily="34" charset="0"/>
                <a:ea typeface="Plus Jakarta Sans" pitchFamily="34" charset="-122"/>
                <a:cs typeface="Plus Jakarta Sans" pitchFamily="34" charset="-120"/>
              </a:rPr>
              <a:t>Hasilnya</a:t>
            </a:r>
            <a:endParaRPr lang="en-US" sz="1400" dirty="0"/>
          </a:p>
        </p:txBody>
      </p:sp>
      <p:sp>
        <p:nvSpPr>
          <p:cNvPr id="36" name="Text 34"/>
          <p:cNvSpPr txBox="1"/>
          <p:nvPr/>
        </p:nvSpPr>
        <p:spPr>
          <a:xfrm>
            <a:off x="7955280" y="4892040"/>
            <a:ext cx="3474720" cy="731520"/>
          </a:xfrm>
          <a:prstGeom prst="rect">
            <a:avLst/>
          </a:prstGeom>
          <a:noFill/>
          <a:ln/>
        </p:spPr>
        <p:txBody>
          <a:bodyPr wrap="none" lIns="0" tIns="0" rIns="0" bIns="0" rtlCol="0" anchor="t"/>
          <a:lstStyle/>
          <a:p>
            <a:pPr algn="l" indent="0" marL="0">
              <a:lnSpc>
                <a:spcPct val="115000"/>
              </a:lnSpc>
              <a:buNone/>
            </a:pPr>
            <a:r>
              <a:rPr lang="en-US" sz="4000" b="1" dirty="0">
                <a:solidFill>
                  <a:srgbClr val="000080"/>
                </a:solidFill>
                <a:latin typeface="Plus Jakarta Sans" pitchFamily="34" charset="0"/>
                <a:ea typeface="Plus Jakarta Sans" pitchFamily="34" charset="-122"/>
                <a:cs typeface="Plus Jakarta Sans" pitchFamily="34" charset="-120"/>
              </a:rPr>
              <a:t>Alya Putri</a:t>
            </a:r>
            <a:endParaRPr lang="en-US" sz="4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21</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Cara memilih elemen (selector)</a:t>
            </a:r>
            <a:endParaRPr lang="en-US" sz="4000" dirty="0"/>
          </a:p>
        </p:txBody>
      </p:sp>
      <p:sp>
        <p:nvSpPr>
          <p:cNvPr id="4" name="Shape 2"/>
          <p:cNvSpPr/>
          <p:nvPr/>
        </p:nvSpPr>
        <p:spPr>
          <a:xfrm>
            <a:off x="731520" y="1691640"/>
            <a:ext cx="10698480" cy="0"/>
          </a:xfrm>
          <a:prstGeom prst="line">
            <a:avLst/>
          </a:prstGeom>
          <a:noFill/>
          <a:ln w="12700">
            <a:solidFill>
              <a:srgbClr val="E3DFD6"/>
            </a:solidFill>
            <a:prstDash val="solid"/>
          </a:ln>
        </p:spPr>
      </p:sp>
      <p:sp>
        <p:nvSpPr>
          <p:cNvPr id="5" name="Text 3"/>
          <p:cNvSpPr txBox="1"/>
          <p:nvPr/>
        </p:nvSpPr>
        <p:spPr>
          <a:xfrm>
            <a:off x="731520" y="1828800"/>
            <a:ext cx="3200400" cy="822960"/>
          </a:xfrm>
          <a:prstGeom prst="rect">
            <a:avLst/>
          </a:prstGeom>
          <a:noFill/>
          <a:ln/>
        </p:spPr>
        <p:txBody>
          <a:bodyPr wrap="none" lIns="0" tIns="0" rIns="0" bIns="0" rtlCol="0" anchor="ctr"/>
          <a:lstStyle/>
          <a:p>
            <a:pPr algn="l" indent="0" marL="0">
              <a:lnSpc>
                <a:spcPct val="115000"/>
              </a:lnSpc>
              <a:buNone/>
            </a:pPr>
            <a:r>
              <a:rPr lang="en-US" sz="2800" b="1" dirty="0">
                <a:solidFill>
                  <a:srgbClr val="1F4FD8"/>
                </a:solidFill>
                <a:latin typeface="JetBrains Mono" pitchFamily="34" charset="0"/>
                <a:ea typeface="JetBrains Mono" pitchFamily="34" charset="-122"/>
                <a:cs typeface="JetBrains Mono" pitchFamily="34" charset="-120"/>
              </a:rPr>
              <a:t>p { }</a:t>
            </a:r>
            <a:endParaRPr lang="en-US" sz="2800" dirty="0"/>
          </a:p>
        </p:txBody>
      </p:sp>
      <p:sp>
        <p:nvSpPr>
          <p:cNvPr id="6" name="Shape 4"/>
          <p:cNvSpPr/>
          <p:nvPr/>
        </p:nvSpPr>
        <p:spPr>
          <a:xfrm>
            <a:off x="4114800" y="1965960"/>
            <a:ext cx="3566160" cy="548640"/>
          </a:xfrm>
          <a:prstGeom prst="roundRect">
            <a:avLst>
              <a:gd name="adj" fmla="val 20000"/>
            </a:avLst>
          </a:prstGeom>
          <a:solidFill>
            <a:srgbClr val="0B1530"/>
          </a:solidFill>
          <a:ln/>
        </p:spPr>
      </p:sp>
      <p:sp>
        <p:nvSpPr>
          <p:cNvPr id="7" name="Text 5"/>
          <p:cNvSpPr txBox="1"/>
          <p:nvPr/>
        </p:nvSpPr>
        <p:spPr>
          <a:xfrm>
            <a:off x="4297680" y="1965960"/>
            <a:ext cx="3291840" cy="548640"/>
          </a:xfrm>
          <a:prstGeom prst="rect">
            <a:avLst/>
          </a:prstGeom>
          <a:noFill/>
          <a:ln/>
        </p:spPr>
        <p:txBody>
          <a:bodyPr wrap="none" lIns="0" tIns="0" rIns="0" bIns="0" rtlCol="0" anchor="ctr"/>
          <a:lstStyle/>
          <a:p>
            <a:pPr algn="l" indent="0" marL="0">
              <a:lnSpc>
                <a:spcPct val="115000"/>
              </a:lnSpc>
              <a:buNone/>
            </a:pPr>
            <a:r>
              <a:rPr lang="en-US" sz="1700" dirty="0">
                <a:solidFill>
                  <a:srgbClr val="F4F6FB"/>
                </a:solidFill>
                <a:latin typeface="JetBrains Mono" pitchFamily="34" charset="0"/>
                <a:ea typeface="JetBrains Mono" pitchFamily="34" charset="-122"/>
                <a:cs typeface="JetBrains Mono" pitchFamily="34" charset="-120"/>
              </a:rPr>
              <a:t>&lt;p&gt;Halo&lt;/p&gt;</a:t>
            </a:r>
            <a:endParaRPr lang="en-US" sz="1700" dirty="0"/>
          </a:p>
        </p:txBody>
      </p:sp>
      <p:sp>
        <p:nvSpPr>
          <p:cNvPr id="8" name="Text 6"/>
          <p:cNvSpPr txBox="1"/>
          <p:nvPr/>
        </p:nvSpPr>
        <p:spPr>
          <a:xfrm>
            <a:off x="8046720" y="1828800"/>
            <a:ext cx="3383280" cy="822960"/>
          </a:xfrm>
          <a:prstGeom prst="rect">
            <a:avLst/>
          </a:prstGeom>
          <a:noFill/>
          <a:ln/>
        </p:spPr>
        <p:txBody>
          <a:bodyPr wrap="square" lIns="0" tIns="0" rIns="0" bIns="0" rtlCol="0" anchor="ctr"/>
          <a:lstStyle/>
          <a:p>
            <a:pPr algn="l" indent="0" marL="0">
              <a:lnSpc>
                <a:spcPct val="130000"/>
              </a:lnSpc>
              <a:buNone/>
            </a:pPr>
            <a:r>
              <a:rPr lang="en-US" sz="1600" dirty="0">
                <a:solidFill>
                  <a:srgbClr val="0E1B3D"/>
                </a:solidFill>
                <a:latin typeface="Plus Jakarta Sans" pitchFamily="34" charset="0"/>
                <a:ea typeface="Plus Jakarta Sans" pitchFamily="34" charset="-122"/>
                <a:cs typeface="Plus Jakarta Sans" pitchFamily="34" charset="-120"/>
              </a:rPr>
              <a:t>Semua paragraf.</a:t>
            </a:r>
            <a:endParaRPr lang="en-US" sz="1600" dirty="0"/>
          </a:p>
        </p:txBody>
      </p:sp>
      <p:sp>
        <p:nvSpPr>
          <p:cNvPr id="9" name="Shape 7"/>
          <p:cNvSpPr/>
          <p:nvPr/>
        </p:nvSpPr>
        <p:spPr>
          <a:xfrm>
            <a:off x="731520" y="2880360"/>
            <a:ext cx="10698480" cy="0"/>
          </a:xfrm>
          <a:prstGeom prst="line">
            <a:avLst/>
          </a:prstGeom>
          <a:noFill/>
          <a:ln w="12700">
            <a:solidFill>
              <a:srgbClr val="E3DFD6"/>
            </a:solidFill>
            <a:prstDash val="solid"/>
          </a:ln>
        </p:spPr>
      </p:sp>
      <p:sp>
        <p:nvSpPr>
          <p:cNvPr id="10" name="Text 8"/>
          <p:cNvSpPr txBox="1"/>
          <p:nvPr/>
        </p:nvSpPr>
        <p:spPr>
          <a:xfrm>
            <a:off x="731520" y="3017520"/>
            <a:ext cx="3200400" cy="822960"/>
          </a:xfrm>
          <a:prstGeom prst="rect">
            <a:avLst/>
          </a:prstGeom>
          <a:noFill/>
          <a:ln/>
        </p:spPr>
        <p:txBody>
          <a:bodyPr wrap="none" lIns="0" tIns="0" rIns="0" bIns="0" rtlCol="0" anchor="ctr"/>
          <a:lstStyle/>
          <a:p>
            <a:pPr algn="l" indent="0" marL="0">
              <a:lnSpc>
                <a:spcPct val="115000"/>
              </a:lnSpc>
              <a:buNone/>
            </a:pPr>
            <a:r>
              <a:rPr lang="en-US" sz="2800" b="1" dirty="0">
                <a:solidFill>
                  <a:srgbClr val="1F4FD8"/>
                </a:solidFill>
                <a:latin typeface="JetBrains Mono" pitchFamily="34" charset="0"/>
                <a:ea typeface="JetBrains Mono" pitchFamily="34" charset="-122"/>
                <a:cs typeface="JetBrains Mono" pitchFamily="34" charset="-120"/>
              </a:rPr>
              <a:t>.kartu { }</a:t>
            </a:r>
            <a:endParaRPr lang="en-US" sz="2800" dirty="0"/>
          </a:p>
        </p:txBody>
      </p:sp>
      <p:sp>
        <p:nvSpPr>
          <p:cNvPr id="11" name="Shape 9"/>
          <p:cNvSpPr/>
          <p:nvPr/>
        </p:nvSpPr>
        <p:spPr>
          <a:xfrm>
            <a:off x="4114800" y="3154680"/>
            <a:ext cx="3566160" cy="548640"/>
          </a:xfrm>
          <a:prstGeom prst="roundRect">
            <a:avLst>
              <a:gd name="adj" fmla="val 20000"/>
            </a:avLst>
          </a:prstGeom>
          <a:solidFill>
            <a:srgbClr val="0B1530"/>
          </a:solidFill>
          <a:ln/>
        </p:spPr>
      </p:sp>
      <p:sp>
        <p:nvSpPr>
          <p:cNvPr id="12" name="Text 10"/>
          <p:cNvSpPr txBox="1"/>
          <p:nvPr/>
        </p:nvSpPr>
        <p:spPr>
          <a:xfrm>
            <a:off x="4297680" y="3154680"/>
            <a:ext cx="3291840" cy="548640"/>
          </a:xfrm>
          <a:prstGeom prst="rect">
            <a:avLst/>
          </a:prstGeom>
          <a:noFill/>
          <a:ln/>
        </p:spPr>
        <p:txBody>
          <a:bodyPr wrap="none" lIns="0" tIns="0" rIns="0" bIns="0" rtlCol="0" anchor="ctr"/>
          <a:lstStyle/>
          <a:p>
            <a:pPr algn="l" indent="0" marL="0">
              <a:lnSpc>
                <a:spcPct val="115000"/>
              </a:lnSpc>
              <a:buNone/>
            </a:pPr>
            <a:r>
              <a:rPr lang="en-US" sz="1700" dirty="0">
                <a:solidFill>
                  <a:srgbClr val="F4F6FB"/>
                </a:solidFill>
                <a:latin typeface="JetBrains Mono" pitchFamily="34" charset="0"/>
                <a:ea typeface="JetBrains Mono" pitchFamily="34" charset="-122"/>
                <a:cs typeface="JetBrains Mono" pitchFamily="34" charset="-120"/>
              </a:rPr>
              <a:t>&lt;div class="kartu"&gt;</a:t>
            </a:r>
            <a:endParaRPr lang="en-US" sz="1700" dirty="0"/>
          </a:p>
        </p:txBody>
      </p:sp>
      <p:sp>
        <p:nvSpPr>
          <p:cNvPr id="13" name="Text 11"/>
          <p:cNvSpPr txBox="1"/>
          <p:nvPr/>
        </p:nvSpPr>
        <p:spPr>
          <a:xfrm>
            <a:off x="8046720" y="3017520"/>
            <a:ext cx="3383280" cy="822960"/>
          </a:xfrm>
          <a:prstGeom prst="rect">
            <a:avLst/>
          </a:prstGeom>
          <a:noFill/>
          <a:ln/>
        </p:spPr>
        <p:txBody>
          <a:bodyPr wrap="square" lIns="0" tIns="0" rIns="0" bIns="0" rtlCol="0" anchor="ctr"/>
          <a:lstStyle/>
          <a:p>
            <a:pPr algn="l" indent="0" marL="0">
              <a:lnSpc>
                <a:spcPct val="130000"/>
              </a:lnSpc>
              <a:buNone/>
            </a:pPr>
            <a:r>
              <a:rPr lang="en-US" sz="1600" dirty="0">
                <a:solidFill>
                  <a:srgbClr val="0E1B3D"/>
                </a:solidFill>
                <a:latin typeface="Plus Jakarta Sans" pitchFamily="34" charset="0"/>
                <a:ea typeface="Plus Jakarta Sans" pitchFamily="34" charset="-122"/>
                <a:cs typeface="Plus Jakarta Sans" pitchFamily="34" charset="-120"/>
              </a:rPr>
              <a:t>Semua elemen yang punya class kartu. Boleh dipakai berkali-kali.</a:t>
            </a:r>
            <a:endParaRPr lang="en-US" sz="1600" dirty="0"/>
          </a:p>
        </p:txBody>
      </p:sp>
      <p:sp>
        <p:nvSpPr>
          <p:cNvPr id="14" name="Shape 12"/>
          <p:cNvSpPr/>
          <p:nvPr/>
        </p:nvSpPr>
        <p:spPr>
          <a:xfrm>
            <a:off x="731520" y="4069080"/>
            <a:ext cx="10698480" cy="0"/>
          </a:xfrm>
          <a:prstGeom prst="line">
            <a:avLst/>
          </a:prstGeom>
          <a:noFill/>
          <a:ln w="12700">
            <a:solidFill>
              <a:srgbClr val="E3DFD6"/>
            </a:solidFill>
            <a:prstDash val="solid"/>
          </a:ln>
        </p:spPr>
      </p:sp>
      <p:sp>
        <p:nvSpPr>
          <p:cNvPr id="15" name="Text 13"/>
          <p:cNvSpPr txBox="1"/>
          <p:nvPr/>
        </p:nvSpPr>
        <p:spPr>
          <a:xfrm>
            <a:off x="731520" y="4206240"/>
            <a:ext cx="3200400" cy="822960"/>
          </a:xfrm>
          <a:prstGeom prst="rect">
            <a:avLst/>
          </a:prstGeom>
          <a:noFill/>
          <a:ln/>
        </p:spPr>
        <p:txBody>
          <a:bodyPr wrap="none" lIns="0" tIns="0" rIns="0" bIns="0" rtlCol="0" anchor="ctr"/>
          <a:lstStyle/>
          <a:p>
            <a:pPr algn="l" indent="0" marL="0">
              <a:lnSpc>
                <a:spcPct val="115000"/>
              </a:lnSpc>
              <a:buNone/>
            </a:pPr>
            <a:r>
              <a:rPr lang="en-US" sz="2800" b="1" dirty="0">
                <a:solidFill>
                  <a:srgbClr val="1F4FD8"/>
                </a:solidFill>
                <a:latin typeface="JetBrains Mono" pitchFamily="34" charset="0"/>
                <a:ea typeface="JetBrains Mono" pitchFamily="34" charset="-122"/>
                <a:cs typeface="JetBrains Mono" pitchFamily="34" charset="-120"/>
              </a:rPr>
              <a:t>#header { }</a:t>
            </a:r>
            <a:endParaRPr lang="en-US" sz="2800" dirty="0"/>
          </a:p>
        </p:txBody>
      </p:sp>
      <p:sp>
        <p:nvSpPr>
          <p:cNvPr id="16" name="Shape 14"/>
          <p:cNvSpPr/>
          <p:nvPr/>
        </p:nvSpPr>
        <p:spPr>
          <a:xfrm>
            <a:off x="4114800" y="4343400"/>
            <a:ext cx="3566160" cy="548640"/>
          </a:xfrm>
          <a:prstGeom prst="roundRect">
            <a:avLst>
              <a:gd name="adj" fmla="val 20000"/>
            </a:avLst>
          </a:prstGeom>
          <a:solidFill>
            <a:srgbClr val="0B1530"/>
          </a:solidFill>
          <a:ln/>
        </p:spPr>
      </p:sp>
      <p:sp>
        <p:nvSpPr>
          <p:cNvPr id="17" name="Text 15"/>
          <p:cNvSpPr txBox="1"/>
          <p:nvPr/>
        </p:nvSpPr>
        <p:spPr>
          <a:xfrm>
            <a:off x="4297680" y="4343400"/>
            <a:ext cx="3291840" cy="548640"/>
          </a:xfrm>
          <a:prstGeom prst="rect">
            <a:avLst/>
          </a:prstGeom>
          <a:noFill/>
          <a:ln/>
        </p:spPr>
        <p:txBody>
          <a:bodyPr wrap="none" lIns="0" tIns="0" rIns="0" bIns="0" rtlCol="0" anchor="ctr"/>
          <a:lstStyle/>
          <a:p>
            <a:pPr algn="l" indent="0" marL="0">
              <a:lnSpc>
                <a:spcPct val="115000"/>
              </a:lnSpc>
              <a:buNone/>
            </a:pPr>
            <a:r>
              <a:rPr lang="en-US" sz="1700" dirty="0">
                <a:solidFill>
                  <a:srgbClr val="F4F6FB"/>
                </a:solidFill>
                <a:latin typeface="JetBrains Mono" pitchFamily="34" charset="0"/>
                <a:ea typeface="JetBrains Mono" pitchFamily="34" charset="-122"/>
                <a:cs typeface="JetBrains Mono" pitchFamily="34" charset="-120"/>
              </a:rPr>
              <a:t>&lt;header id="header"&gt;</a:t>
            </a:r>
            <a:endParaRPr lang="en-US" sz="1700" dirty="0"/>
          </a:p>
        </p:txBody>
      </p:sp>
      <p:sp>
        <p:nvSpPr>
          <p:cNvPr id="18" name="Text 16"/>
          <p:cNvSpPr txBox="1"/>
          <p:nvPr/>
        </p:nvSpPr>
        <p:spPr>
          <a:xfrm>
            <a:off x="8046720" y="4206240"/>
            <a:ext cx="3383280" cy="822960"/>
          </a:xfrm>
          <a:prstGeom prst="rect">
            <a:avLst/>
          </a:prstGeom>
          <a:noFill/>
          <a:ln/>
        </p:spPr>
        <p:txBody>
          <a:bodyPr wrap="square" lIns="0" tIns="0" rIns="0" bIns="0" rtlCol="0" anchor="ctr"/>
          <a:lstStyle/>
          <a:p>
            <a:pPr algn="l" indent="0" marL="0">
              <a:lnSpc>
                <a:spcPct val="130000"/>
              </a:lnSpc>
              <a:buNone/>
            </a:pPr>
            <a:r>
              <a:rPr lang="en-US" sz="1600" dirty="0">
                <a:solidFill>
                  <a:srgbClr val="0E1B3D"/>
                </a:solidFill>
                <a:latin typeface="Plus Jakarta Sans" pitchFamily="34" charset="0"/>
                <a:ea typeface="Plus Jakarta Sans" pitchFamily="34" charset="-122"/>
                <a:cs typeface="Plus Jakarta Sans" pitchFamily="34" charset="-120"/>
              </a:rPr>
              <a:t>Satu elemen saja. Id tidak boleh kembar.</a:t>
            </a:r>
            <a:endParaRPr lang="en-US" sz="1600" dirty="0"/>
          </a:p>
        </p:txBody>
      </p:sp>
      <p:sp>
        <p:nvSpPr>
          <p:cNvPr id="19" name="Shape 17"/>
          <p:cNvSpPr/>
          <p:nvPr/>
        </p:nvSpPr>
        <p:spPr>
          <a:xfrm>
            <a:off x="731520" y="5440680"/>
            <a:ext cx="10698480" cy="640080"/>
          </a:xfrm>
          <a:prstGeom prst="roundRect">
            <a:avLst>
              <a:gd name="adj" fmla="val 22857"/>
            </a:avLst>
          </a:prstGeom>
          <a:solidFill>
            <a:srgbClr val="FFF3CF"/>
          </a:solidFill>
          <a:ln/>
        </p:spPr>
      </p:sp>
      <p:sp>
        <p:nvSpPr>
          <p:cNvPr id="20" name="Text 18"/>
          <p:cNvSpPr txBox="1"/>
          <p:nvPr/>
        </p:nvSpPr>
        <p:spPr>
          <a:xfrm>
            <a:off x="1005840" y="5440680"/>
            <a:ext cx="10149840" cy="640080"/>
          </a:xfrm>
          <a:prstGeom prst="rect">
            <a:avLst/>
          </a:prstGeom>
          <a:noFill/>
          <a:ln/>
        </p:spPr>
        <p:txBody>
          <a:bodyPr wrap="square" lIns="0" tIns="0" rIns="0" bIns="0" rtlCol="0" anchor="ctr"/>
          <a:lstStyle/>
          <a:p>
            <a:pPr algn="l" indent="0" marL="0">
              <a:lnSpc>
                <a:spcPct val="115000"/>
              </a:lnSpc>
              <a:buNone/>
            </a:pPr>
            <a:r>
              <a:rPr lang="en-US" sz="1900" b="1" dirty="0">
                <a:solidFill>
                  <a:srgbClr val="0E1B3D"/>
                </a:solidFill>
                <a:latin typeface="Plus Jakarta Sans" pitchFamily="34" charset="0"/>
                <a:ea typeface="Plus Jakarta Sans" pitchFamily="34" charset="-122"/>
                <a:cs typeface="Plus Jakarta Sans" pitchFamily="34" charset="-120"/>
              </a:rPr>
              <a:t>Pegangan mudah: pakai class untuk hampir semuanya.</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22</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Warna dan huruf</a:t>
            </a:r>
            <a:endParaRPr lang="en-US" sz="4000" dirty="0"/>
          </a:p>
        </p:txBody>
      </p:sp>
      <p:sp>
        <p:nvSpPr>
          <p:cNvPr id="4" name="Shape 2"/>
          <p:cNvSpPr/>
          <p:nvPr/>
        </p:nvSpPr>
        <p:spPr>
          <a:xfrm>
            <a:off x="731520" y="1600200"/>
            <a:ext cx="6766560" cy="3236468"/>
          </a:xfrm>
          <a:prstGeom prst="roundRect">
            <a:avLst>
              <a:gd name="adj" fmla="val 3955"/>
            </a:avLst>
          </a:prstGeom>
          <a:solidFill>
            <a:srgbClr val="0B1530"/>
          </a:solidFill>
          <a:ln/>
          <a:effectLst>
            <a:outerShdw sx="100000" sy="100000" kx="0" ky="0" algn="bl" rotWithShape="0" blurRad="177800" dist="38100" dir="5400000">
              <a:srgbClr val="000000">
                <a:alpha val="40000"/>
              </a:srgbClr>
            </a:outerShdw>
          </a:effectLst>
        </p:spPr>
      </p:sp>
      <p:sp>
        <p:nvSpPr>
          <p:cNvPr id="5" name="Shape 3"/>
          <p:cNvSpPr/>
          <p:nvPr/>
        </p:nvSpPr>
        <p:spPr>
          <a:xfrm>
            <a:off x="932688" y="1755648"/>
            <a:ext cx="109728" cy="109728"/>
          </a:xfrm>
          <a:prstGeom prst="ellipse">
            <a:avLst/>
          </a:prstGeom>
          <a:solidFill>
            <a:srgbClr val="E63946"/>
          </a:solidFill>
          <a:ln/>
        </p:spPr>
      </p:sp>
      <p:sp>
        <p:nvSpPr>
          <p:cNvPr id="6" name="Shape 4"/>
          <p:cNvSpPr/>
          <p:nvPr/>
        </p:nvSpPr>
        <p:spPr>
          <a:xfrm>
            <a:off x="1115568" y="1755648"/>
            <a:ext cx="109728" cy="109728"/>
          </a:xfrm>
          <a:prstGeom prst="ellipse">
            <a:avLst/>
          </a:prstGeom>
          <a:solidFill>
            <a:srgbClr val="FFC83D"/>
          </a:solidFill>
          <a:ln/>
        </p:spPr>
      </p:sp>
      <p:sp>
        <p:nvSpPr>
          <p:cNvPr id="7" name="Shape 5"/>
          <p:cNvSpPr/>
          <p:nvPr/>
        </p:nvSpPr>
        <p:spPr>
          <a:xfrm>
            <a:off x="1298448" y="1755648"/>
            <a:ext cx="109728" cy="109728"/>
          </a:xfrm>
          <a:prstGeom prst="ellipse">
            <a:avLst/>
          </a:prstGeom>
          <a:solidFill>
            <a:srgbClr val="1E9E68"/>
          </a:solidFill>
          <a:ln/>
        </p:spPr>
      </p:sp>
      <p:sp>
        <p:nvSpPr>
          <p:cNvPr id="8" name="Text 6"/>
          <p:cNvSpPr txBox="1"/>
          <p:nvPr/>
        </p:nvSpPr>
        <p:spPr>
          <a:xfrm>
            <a:off x="1645920" y="1673352"/>
            <a:ext cx="557784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JetBrains Mono" pitchFamily="34" charset="0"/>
                <a:ea typeface="JetBrains Mono" pitchFamily="34" charset="-122"/>
                <a:cs typeface="JetBrains Mono" pitchFamily="34" charset="-120"/>
              </a:rPr>
              <a:t>style.css</a:t>
            </a:r>
            <a:endParaRPr lang="en-US" sz="1200" dirty="0"/>
          </a:p>
        </p:txBody>
      </p:sp>
      <p:sp>
        <p:nvSpPr>
          <p:cNvPr id="9" name="Shape 7"/>
          <p:cNvSpPr/>
          <p:nvPr/>
        </p:nvSpPr>
        <p:spPr>
          <a:xfrm>
            <a:off x="804672" y="2498852"/>
            <a:ext cx="6620256" cy="368300"/>
          </a:xfrm>
          <a:prstGeom prst="rect">
            <a:avLst/>
          </a:prstGeom>
          <a:solidFill>
            <a:srgbClr val="FFC83D">
              <a:alpha val="16000"/>
            </a:srgbClr>
          </a:solidFill>
          <a:ln/>
        </p:spPr>
      </p:sp>
      <p:sp>
        <p:nvSpPr>
          <p:cNvPr id="10" name="Shape 8"/>
          <p:cNvSpPr/>
          <p:nvPr/>
        </p:nvSpPr>
        <p:spPr>
          <a:xfrm>
            <a:off x="804672" y="3603752"/>
            <a:ext cx="6620256" cy="368300"/>
          </a:xfrm>
          <a:prstGeom prst="rect">
            <a:avLst/>
          </a:prstGeom>
          <a:solidFill>
            <a:srgbClr val="FFC83D">
              <a:alpha val="16000"/>
            </a:srgbClr>
          </a:solidFill>
          <a:ln/>
        </p:spPr>
      </p:sp>
      <p:sp>
        <p:nvSpPr>
          <p:cNvPr id="11" name="Text 9"/>
          <p:cNvSpPr txBox="1"/>
          <p:nvPr/>
        </p:nvSpPr>
        <p:spPr>
          <a:xfrm>
            <a:off x="896112" y="21305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1</a:t>
            </a:r>
            <a:endParaRPr lang="en-US" sz="1400" dirty="0"/>
          </a:p>
        </p:txBody>
      </p:sp>
      <p:sp>
        <p:nvSpPr>
          <p:cNvPr id="12" name="Text 10"/>
          <p:cNvSpPr txBox="1"/>
          <p:nvPr/>
        </p:nvSpPr>
        <p:spPr>
          <a:xfrm>
            <a:off x="1417320" y="213055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:root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3" name="Text 11"/>
          <p:cNvSpPr txBox="1"/>
          <p:nvPr/>
        </p:nvSpPr>
        <p:spPr>
          <a:xfrm>
            <a:off x="896112" y="24988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2</a:t>
            </a:r>
            <a:endParaRPr lang="en-US" sz="1400" dirty="0"/>
          </a:p>
        </p:txBody>
      </p:sp>
      <p:sp>
        <p:nvSpPr>
          <p:cNvPr id="14" name="Text 12"/>
          <p:cNvSpPr txBox="1"/>
          <p:nvPr/>
        </p:nvSpPr>
        <p:spPr>
          <a:xfrm>
            <a:off x="1417320" y="249885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--biru</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#1F4FD8</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5" name="Text 13"/>
          <p:cNvSpPr txBox="1"/>
          <p:nvPr/>
        </p:nvSpPr>
        <p:spPr>
          <a:xfrm>
            <a:off x="896112" y="28671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3</a:t>
            </a:r>
            <a:endParaRPr lang="en-US" sz="1400" dirty="0"/>
          </a:p>
        </p:txBody>
      </p:sp>
      <p:sp>
        <p:nvSpPr>
          <p:cNvPr id="16" name="Text 14"/>
          <p:cNvSpPr txBox="1"/>
          <p:nvPr/>
        </p:nvSpPr>
        <p:spPr>
          <a:xfrm>
            <a:off x="1417320" y="286715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7" name="Text 15"/>
          <p:cNvSpPr txBox="1"/>
          <p:nvPr/>
        </p:nvSpPr>
        <p:spPr>
          <a:xfrm>
            <a:off x="896112" y="32354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4</a:t>
            </a:r>
            <a:endParaRPr lang="en-US" sz="1400" dirty="0"/>
          </a:p>
        </p:txBody>
      </p:sp>
      <p:sp>
        <p:nvSpPr>
          <p:cNvPr id="18" name="Text 16"/>
          <p:cNvSpPr txBox="1"/>
          <p:nvPr/>
        </p:nvSpPr>
        <p:spPr>
          <a:xfrm>
            <a:off x="1417320" y="323545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h1</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9" name="Text 17"/>
          <p:cNvSpPr txBox="1"/>
          <p:nvPr/>
        </p:nvSpPr>
        <p:spPr>
          <a:xfrm>
            <a:off x="896112" y="36037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5</a:t>
            </a:r>
            <a:endParaRPr lang="en-US" sz="1400" dirty="0"/>
          </a:p>
        </p:txBody>
      </p:sp>
      <p:sp>
        <p:nvSpPr>
          <p:cNvPr id="20" name="Text 18"/>
          <p:cNvSpPr txBox="1"/>
          <p:nvPr/>
        </p:nvSpPr>
        <p:spPr>
          <a:xfrm>
            <a:off x="1417320" y="360375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color</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var(--biru)</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1" name="Text 19"/>
          <p:cNvSpPr txBox="1"/>
          <p:nvPr/>
        </p:nvSpPr>
        <p:spPr>
          <a:xfrm>
            <a:off x="896112" y="39720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6</a:t>
            </a:r>
            <a:endParaRPr lang="en-US" sz="1400" dirty="0"/>
          </a:p>
        </p:txBody>
      </p:sp>
      <p:sp>
        <p:nvSpPr>
          <p:cNvPr id="22" name="Text 20"/>
          <p:cNvSpPr txBox="1"/>
          <p:nvPr/>
        </p:nvSpPr>
        <p:spPr>
          <a:xfrm>
            <a:off x="1417320" y="397205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font-family</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'Poppins', sans-serif</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3" name="Text 21"/>
          <p:cNvSpPr txBox="1"/>
          <p:nvPr/>
        </p:nvSpPr>
        <p:spPr>
          <a:xfrm>
            <a:off x="896112" y="43403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7</a:t>
            </a:r>
            <a:endParaRPr lang="en-US" sz="1400" dirty="0"/>
          </a:p>
        </p:txBody>
      </p:sp>
      <p:sp>
        <p:nvSpPr>
          <p:cNvPr id="24" name="Text 22"/>
          <p:cNvSpPr txBox="1"/>
          <p:nvPr/>
        </p:nvSpPr>
        <p:spPr>
          <a:xfrm>
            <a:off x="1417320" y="4340352"/>
            <a:ext cx="603504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5" name="Text 23"/>
          <p:cNvSpPr txBox="1"/>
          <p:nvPr/>
        </p:nvSpPr>
        <p:spPr>
          <a:xfrm>
            <a:off x="731520" y="5065268"/>
            <a:ext cx="6766560" cy="822960"/>
          </a:xfrm>
          <a:prstGeom prst="rect">
            <a:avLst/>
          </a:prstGeom>
          <a:noFill/>
          <a:ln/>
        </p:spPr>
        <p:txBody>
          <a:bodyPr wrap="square" lIns="0" tIns="0" rIns="0" bIns="0" rtlCol="0" anchor="t"/>
          <a:lstStyle/>
          <a:p>
            <a:pPr algn="l" indent="0" marL="0">
              <a:lnSpc>
                <a:spcPct val="140000"/>
              </a:lnSpc>
              <a:buNone/>
            </a:pPr>
            <a:r>
              <a:rPr lang="en-US" sz="1600" dirty="0">
                <a:solidFill>
                  <a:srgbClr val="5B6478"/>
                </a:solidFill>
                <a:latin typeface="Plus Jakarta Sans" pitchFamily="34" charset="0"/>
                <a:ea typeface="Plus Jakarta Sans" pitchFamily="34" charset="-122"/>
                <a:cs typeface="Plus Jakarta Sans" pitchFamily="34" charset="-120"/>
              </a:rPr>
              <a:t>Font gratis ada di fonts.google.com. Pilih font, lalu salin tag &lt;link&gt;-nya ke dalam &lt;head&gt;.</a:t>
            </a:r>
            <a:endParaRPr lang="en-US" sz="1600" dirty="0"/>
          </a:p>
        </p:txBody>
      </p:sp>
      <p:sp>
        <p:nvSpPr>
          <p:cNvPr id="26" name="Shape 24"/>
          <p:cNvSpPr/>
          <p:nvPr/>
        </p:nvSpPr>
        <p:spPr>
          <a:xfrm>
            <a:off x="8138160" y="1737360"/>
            <a:ext cx="822960" cy="822960"/>
          </a:xfrm>
          <a:prstGeom prst="roundRect">
            <a:avLst>
              <a:gd name="adj" fmla="val 17778"/>
            </a:avLst>
          </a:prstGeom>
          <a:solidFill>
            <a:srgbClr val="1F4FD8"/>
          </a:solidFill>
          <a:ln w="12700">
            <a:solidFill>
              <a:srgbClr val="E3DFD6"/>
            </a:solidFill>
            <a:prstDash val="solid"/>
          </a:ln>
        </p:spPr>
      </p:sp>
      <p:sp>
        <p:nvSpPr>
          <p:cNvPr id="27" name="Text 25"/>
          <p:cNvSpPr txBox="1"/>
          <p:nvPr/>
        </p:nvSpPr>
        <p:spPr>
          <a:xfrm>
            <a:off x="9144000" y="1737360"/>
            <a:ext cx="2286000" cy="411480"/>
          </a:xfrm>
          <a:prstGeom prst="rect">
            <a:avLst/>
          </a:prstGeom>
          <a:noFill/>
          <a:ln/>
        </p:spPr>
        <p:txBody>
          <a:bodyPr wrap="none" lIns="0" tIns="0" rIns="0" bIns="0" rtlCol="0" anchor="ctr"/>
          <a:lstStyle/>
          <a:p>
            <a:pPr algn="l" indent="0" marL="0">
              <a:lnSpc>
                <a:spcPct val="115000"/>
              </a:lnSpc>
              <a:buNone/>
            </a:pPr>
            <a:r>
              <a:rPr lang="en-US" sz="1800" b="1" dirty="0">
                <a:solidFill>
                  <a:srgbClr val="0E1B3D"/>
                </a:solidFill>
                <a:latin typeface="JetBrains Mono" pitchFamily="34" charset="0"/>
                <a:ea typeface="JetBrains Mono" pitchFamily="34" charset="-122"/>
                <a:cs typeface="JetBrains Mono" pitchFamily="34" charset="-120"/>
              </a:rPr>
              <a:t>--biru</a:t>
            </a:r>
            <a:endParaRPr lang="en-US" sz="1800" dirty="0"/>
          </a:p>
        </p:txBody>
      </p:sp>
      <p:sp>
        <p:nvSpPr>
          <p:cNvPr id="28" name="Text 26"/>
          <p:cNvSpPr txBox="1"/>
          <p:nvPr/>
        </p:nvSpPr>
        <p:spPr>
          <a:xfrm>
            <a:off x="9144000" y="2148840"/>
            <a:ext cx="2286000" cy="365760"/>
          </a:xfrm>
          <a:prstGeom prst="rect">
            <a:avLst/>
          </a:prstGeom>
          <a:noFill/>
          <a:ln/>
        </p:spPr>
        <p:txBody>
          <a:bodyPr wrap="none" lIns="0" tIns="0" rIns="0" bIns="0" rtlCol="0" anchor="ctr"/>
          <a:lstStyle/>
          <a:p>
            <a:pPr algn="l" indent="0" marL="0">
              <a:lnSpc>
                <a:spcPct val="115000"/>
              </a:lnSpc>
              <a:buNone/>
            </a:pPr>
            <a:r>
              <a:rPr lang="en-US" sz="1500" dirty="0">
                <a:solidFill>
                  <a:srgbClr val="5B6478"/>
                </a:solidFill>
                <a:latin typeface="JetBrains Mono" pitchFamily="34" charset="0"/>
                <a:ea typeface="JetBrains Mono" pitchFamily="34" charset="-122"/>
                <a:cs typeface="JetBrains Mono" pitchFamily="34" charset="-120"/>
              </a:rPr>
              <a:t>#1F4FD8</a:t>
            </a:r>
            <a:endParaRPr lang="en-US" sz="1500" dirty="0"/>
          </a:p>
        </p:txBody>
      </p:sp>
      <p:sp>
        <p:nvSpPr>
          <p:cNvPr id="29" name="Shape 27"/>
          <p:cNvSpPr/>
          <p:nvPr/>
        </p:nvSpPr>
        <p:spPr>
          <a:xfrm>
            <a:off x="8138160" y="2788920"/>
            <a:ext cx="822960" cy="822960"/>
          </a:xfrm>
          <a:prstGeom prst="roundRect">
            <a:avLst>
              <a:gd name="adj" fmla="val 17778"/>
            </a:avLst>
          </a:prstGeom>
          <a:solidFill>
            <a:srgbClr val="FFC83D"/>
          </a:solidFill>
          <a:ln w="12700">
            <a:solidFill>
              <a:srgbClr val="E3DFD6"/>
            </a:solidFill>
            <a:prstDash val="solid"/>
          </a:ln>
        </p:spPr>
      </p:sp>
      <p:sp>
        <p:nvSpPr>
          <p:cNvPr id="30" name="Text 28"/>
          <p:cNvSpPr txBox="1"/>
          <p:nvPr/>
        </p:nvSpPr>
        <p:spPr>
          <a:xfrm>
            <a:off x="9144000" y="2788920"/>
            <a:ext cx="2286000" cy="411480"/>
          </a:xfrm>
          <a:prstGeom prst="rect">
            <a:avLst/>
          </a:prstGeom>
          <a:noFill/>
          <a:ln/>
        </p:spPr>
        <p:txBody>
          <a:bodyPr wrap="none" lIns="0" tIns="0" rIns="0" bIns="0" rtlCol="0" anchor="ctr"/>
          <a:lstStyle/>
          <a:p>
            <a:pPr algn="l" indent="0" marL="0">
              <a:lnSpc>
                <a:spcPct val="115000"/>
              </a:lnSpc>
              <a:buNone/>
            </a:pPr>
            <a:r>
              <a:rPr lang="en-US" sz="1800" b="1" dirty="0">
                <a:solidFill>
                  <a:srgbClr val="0E1B3D"/>
                </a:solidFill>
                <a:latin typeface="JetBrains Mono" pitchFamily="34" charset="0"/>
                <a:ea typeface="JetBrains Mono" pitchFamily="34" charset="-122"/>
                <a:cs typeface="JetBrains Mono" pitchFamily="34" charset="-120"/>
              </a:rPr>
              <a:t>--kuning</a:t>
            </a:r>
            <a:endParaRPr lang="en-US" sz="1800" dirty="0"/>
          </a:p>
        </p:txBody>
      </p:sp>
      <p:sp>
        <p:nvSpPr>
          <p:cNvPr id="31" name="Text 29"/>
          <p:cNvSpPr txBox="1"/>
          <p:nvPr/>
        </p:nvSpPr>
        <p:spPr>
          <a:xfrm>
            <a:off x="9144000" y="3200400"/>
            <a:ext cx="2286000" cy="365760"/>
          </a:xfrm>
          <a:prstGeom prst="rect">
            <a:avLst/>
          </a:prstGeom>
          <a:noFill/>
          <a:ln/>
        </p:spPr>
        <p:txBody>
          <a:bodyPr wrap="none" lIns="0" tIns="0" rIns="0" bIns="0" rtlCol="0" anchor="ctr"/>
          <a:lstStyle/>
          <a:p>
            <a:pPr algn="l" indent="0" marL="0">
              <a:lnSpc>
                <a:spcPct val="115000"/>
              </a:lnSpc>
              <a:buNone/>
            </a:pPr>
            <a:r>
              <a:rPr lang="en-US" sz="1500" dirty="0">
                <a:solidFill>
                  <a:srgbClr val="5B6478"/>
                </a:solidFill>
                <a:latin typeface="JetBrains Mono" pitchFamily="34" charset="0"/>
                <a:ea typeface="JetBrains Mono" pitchFamily="34" charset="-122"/>
                <a:cs typeface="JetBrains Mono" pitchFamily="34" charset="-120"/>
              </a:rPr>
              <a:t>#FFC83D</a:t>
            </a:r>
            <a:endParaRPr lang="en-US" sz="1500" dirty="0"/>
          </a:p>
        </p:txBody>
      </p:sp>
      <p:sp>
        <p:nvSpPr>
          <p:cNvPr id="32" name="Shape 30"/>
          <p:cNvSpPr/>
          <p:nvPr/>
        </p:nvSpPr>
        <p:spPr>
          <a:xfrm>
            <a:off x="8138160" y="3840480"/>
            <a:ext cx="822960" cy="822960"/>
          </a:xfrm>
          <a:prstGeom prst="roundRect">
            <a:avLst>
              <a:gd name="adj" fmla="val 17778"/>
            </a:avLst>
          </a:prstGeom>
          <a:solidFill>
            <a:srgbClr val="0E1B3D"/>
          </a:solidFill>
          <a:ln w="12700">
            <a:solidFill>
              <a:srgbClr val="E3DFD6"/>
            </a:solidFill>
            <a:prstDash val="solid"/>
          </a:ln>
        </p:spPr>
      </p:sp>
      <p:sp>
        <p:nvSpPr>
          <p:cNvPr id="33" name="Text 31"/>
          <p:cNvSpPr txBox="1"/>
          <p:nvPr/>
        </p:nvSpPr>
        <p:spPr>
          <a:xfrm>
            <a:off x="9144000" y="3840480"/>
            <a:ext cx="2286000" cy="411480"/>
          </a:xfrm>
          <a:prstGeom prst="rect">
            <a:avLst/>
          </a:prstGeom>
          <a:noFill/>
          <a:ln/>
        </p:spPr>
        <p:txBody>
          <a:bodyPr wrap="none" lIns="0" tIns="0" rIns="0" bIns="0" rtlCol="0" anchor="ctr"/>
          <a:lstStyle/>
          <a:p>
            <a:pPr algn="l" indent="0" marL="0">
              <a:lnSpc>
                <a:spcPct val="115000"/>
              </a:lnSpc>
              <a:buNone/>
            </a:pPr>
            <a:r>
              <a:rPr lang="en-US" sz="1800" b="1" dirty="0">
                <a:solidFill>
                  <a:srgbClr val="0E1B3D"/>
                </a:solidFill>
                <a:latin typeface="JetBrains Mono" pitchFamily="34" charset="0"/>
                <a:ea typeface="JetBrains Mono" pitchFamily="34" charset="-122"/>
                <a:cs typeface="JetBrains Mono" pitchFamily="34" charset="-120"/>
              </a:rPr>
              <a:t>--gelap</a:t>
            </a:r>
            <a:endParaRPr lang="en-US" sz="1800" dirty="0"/>
          </a:p>
        </p:txBody>
      </p:sp>
      <p:sp>
        <p:nvSpPr>
          <p:cNvPr id="34" name="Text 32"/>
          <p:cNvSpPr txBox="1"/>
          <p:nvPr/>
        </p:nvSpPr>
        <p:spPr>
          <a:xfrm>
            <a:off x="9144000" y="4251960"/>
            <a:ext cx="2286000" cy="365760"/>
          </a:xfrm>
          <a:prstGeom prst="rect">
            <a:avLst/>
          </a:prstGeom>
          <a:noFill/>
          <a:ln/>
        </p:spPr>
        <p:txBody>
          <a:bodyPr wrap="none" lIns="0" tIns="0" rIns="0" bIns="0" rtlCol="0" anchor="ctr"/>
          <a:lstStyle/>
          <a:p>
            <a:pPr algn="l" indent="0" marL="0">
              <a:lnSpc>
                <a:spcPct val="115000"/>
              </a:lnSpc>
              <a:buNone/>
            </a:pPr>
            <a:r>
              <a:rPr lang="en-US" sz="1500" dirty="0">
                <a:solidFill>
                  <a:srgbClr val="5B6478"/>
                </a:solidFill>
                <a:latin typeface="JetBrains Mono" pitchFamily="34" charset="0"/>
                <a:ea typeface="JetBrains Mono" pitchFamily="34" charset="-122"/>
                <a:cs typeface="JetBrains Mono" pitchFamily="34" charset="-120"/>
              </a:rPr>
              <a:t>#0E1B3D</a:t>
            </a:r>
            <a:endParaRPr lang="en-US" sz="1500" dirty="0"/>
          </a:p>
        </p:txBody>
      </p:sp>
      <p:sp>
        <p:nvSpPr>
          <p:cNvPr id="35" name="Text 33"/>
          <p:cNvSpPr txBox="1"/>
          <p:nvPr/>
        </p:nvSpPr>
        <p:spPr>
          <a:xfrm>
            <a:off x="8138160" y="4983480"/>
            <a:ext cx="3291840" cy="1005840"/>
          </a:xfrm>
          <a:prstGeom prst="rect">
            <a:avLst/>
          </a:prstGeom>
          <a:noFill/>
          <a:ln/>
        </p:spPr>
        <p:txBody>
          <a:bodyPr wrap="square" lIns="0" tIns="0" rIns="0" bIns="0" rtlCol="0" anchor="t"/>
          <a:lstStyle/>
          <a:p>
            <a:pPr algn="l" indent="0" marL="0">
              <a:lnSpc>
                <a:spcPct val="140000"/>
              </a:lnSpc>
              <a:buNone/>
            </a:pPr>
            <a:r>
              <a:rPr lang="en-US" sz="1600" dirty="0">
                <a:solidFill>
                  <a:srgbClr val="0E1B3D"/>
                </a:solidFill>
                <a:latin typeface="Plus Jakarta Sans" pitchFamily="34" charset="0"/>
                <a:ea typeface="Plus Jakarta Sans" pitchFamily="34" charset="-122"/>
                <a:cs typeface="Plus Jakarta Sans" pitchFamily="34" charset="-120"/>
              </a:rPr>
              <a:t>Variabel = nama untuk sebuah warna. Ganti sekali di :root, warna di seluruh halaman ikut berubah.</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23</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Setiap elemen adalah sebuah kotak</a:t>
            </a:r>
            <a:endParaRPr lang="en-US" sz="4000" dirty="0"/>
          </a:p>
        </p:txBody>
      </p:sp>
      <p:sp>
        <p:nvSpPr>
          <p:cNvPr id="4" name="Shape 2"/>
          <p:cNvSpPr/>
          <p:nvPr/>
        </p:nvSpPr>
        <p:spPr>
          <a:xfrm>
            <a:off x="731520" y="1691640"/>
            <a:ext cx="5120640" cy="4389120"/>
          </a:xfrm>
          <a:prstGeom prst="rect">
            <a:avLst/>
          </a:prstGeom>
          <a:solidFill>
            <a:srgbClr val="EEF3FF"/>
          </a:solidFill>
          <a:ln w="19050">
            <a:solidFill>
              <a:srgbClr val="1F4FD8"/>
            </a:solidFill>
            <a:prstDash val="dash"/>
          </a:ln>
        </p:spPr>
      </p:sp>
      <p:sp>
        <p:nvSpPr>
          <p:cNvPr id="5" name="Shape 3"/>
          <p:cNvSpPr/>
          <p:nvPr/>
        </p:nvSpPr>
        <p:spPr>
          <a:xfrm>
            <a:off x="1280160" y="2194560"/>
            <a:ext cx="4114800" cy="3383280"/>
          </a:xfrm>
          <a:prstGeom prst="rect">
            <a:avLst/>
          </a:prstGeom>
          <a:solidFill>
            <a:srgbClr val="FFFFFF"/>
          </a:solidFill>
          <a:ln w="50800">
            <a:solidFill>
              <a:srgbClr val="0E1B3D"/>
            </a:solidFill>
            <a:prstDash val="solid"/>
          </a:ln>
        </p:spPr>
      </p:sp>
      <p:sp>
        <p:nvSpPr>
          <p:cNvPr id="6" name="Shape 4"/>
          <p:cNvSpPr/>
          <p:nvPr/>
        </p:nvSpPr>
        <p:spPr>
          <a:xfrm>
            <a:off x="1737360" y="2651760"/>
            <a:ext cx="3200400" cy="2468880"/>
          </a:xfrm>
          <a:prstGeom prst="rect">
            <a:avLst/>
          </a:prstGeom>
          <a:solidFill>
            <a:srgbClr val="DCE6FF"/>
          </a:solidFill>
          <a:ln/>
        </p:spPr>
      </p:sp>
      <p:sp>
        <p:nvSpPr>
          <p:cNvPr id="7" name="Shape 5"/>
          <p:cNvSpPr/>
          <p:nvPr/>
        </p:nvSpPr>
        <p:spPr>
          <a:xfrm>
            <a:off x="2194560" y="3108960"/>
            <a:ext cx="2286000" cy="1554480"/>
          </a:xfrm>
          <a:prstGeom prst="rect">
            <a:avLst/>
          </a:prstGeom>
          <a:solidFill>
            <a:srgbClr val="FFC83D"/>
          </a:solidFill>
          <a:ln/>
        </p:spPr>
      </p:sp>
      <p:sp>
        <p:nvSpPr>
          <p:cNvPr id="8" name="Text 6"/>
          <p:cNvSpPr txBox="1"/>
          <p:nvPr/>
        </p:nvSpPr>
        <p:spPr>
          <a:xfrm>
            <a:off x="731520" y="1783080"/>
            <a:ext cx="5120640" cy="320040"/>
          </a:xfrm>
          <a:prstGeom prst="rect">
            <a:avLst/>
          </a:prstGeom>
          <a:noFill/>
          <a:ln/>
        </p:spPr>
        <p:txBody>
          <a:bodyPr wrap="none" lIns="0" tIns="0" rIns="0" bIns="0" rtlCol="0" anchor="ctr"/>
          <a:lstStyle/>
          <a:p>
            <a:pPr algn="ctr" indent="0" marL="0">
              <a:lnSpc>
                <a:spcPct val="115000"/>
              </a:lnSpc>
              <a:buNone/>
            </a:pPr>
            <a:r>
              <a:rPr lang="en-US" sz="1400" b="1" dirty="0">
                <a:solidFill>
                  <a:srgbClr val="0E1B3D"/>
                </a:solidFill>
                <a:latin typeface="JetBrains Mono" pitchFamily="34" charset="0"/>
                <a:ea typeface="JetBrains Mono" pitchFamily="34" charset="-122"/>
                <a:cs typeface="JetBrains Mono" pitchFamily="34" charset="-120"/>
              </a:rPr>
              <a:t>margin</a:t>
            </a:r>
            <a:endParaRPr lang="en-US" sz="1400" dirty="0"/>
          </a:p>
        </p:txBody>
      </p:sp>
      <p:sp>
        <p:nvSpPr>
          <p:cNvPr id="9" name="Text 7"/>
          <p:cNvSpPr txBox="1"/>
          <p:nvPr/>
        </p:nvSpPr>
        <p:spPr>
          <a:xfrm>
            <a:off x="731520" y="2286000"/>
            <a:ext cx="5120640" cy="320040"/>
          </a:xfrm>
          <a:prstGeom prst="rect">
            <a:avLst/>
          </a:prstGeom>
          <a:noFill/>
          <a:ln/>
        </p:spPr>
        <p:txBody>
          <a:bodyPr wrap="none" lIns="0" tIns="0" rIns="0" bIns="0" rtlCol="0" anchor="ctr"/>
          <a:lstStyle/>
          <a:p>
            <a:pPr algn="ctr" indent="0" marL="0">
              <a:lnSpc>
                <a:spcPct val="115000"/>
              </a:lnSpc>
              <a:buNone/>
            </a:pPr>
            <a:r>
              <a:rPr lang="en-US" sz="1400" b="1" dirty="0">
                <a:solidFill>
                  <a:srgbClr val="0E1B3D"/>
                </a:solidFill>
                <a:latin typeface="JetBrains Mono" pitchFamily="34" charset="0"/>
                <a:ea typeface="JetBrains Mono" pitchFamily="34" charset="-122"/>
                <a:cs typeface="JetBrains Mono" pitchFamily="34" charset="-120"/>
              </a:rPr>
              <a:t>border</a:t>
            </a:r>
            <a:endParaRPr lang="en-US" sz="1400" dirty="0"/>
          </a:p>
        </p:txBody>
      </p:sp>
      <p:sp>
        <p:nvSpPr>
          <p:cNvPr id="10" name="Text 8"/>
          <p:cNvSpPr txBox="1"/>
          <p:nvPr/>
        </p:nvSpPr>
        <p:spPr>
          <a:xfrm>
            <a:off x="731520" y="2724912"/>
            <a:ext cx="5120640" cy="320040"/>
          </a:xfrm>
          <a:prstGeom prst="rect">
            <a:avLst/>
          </a:prstGeom>
          <a:noFill/>
          <a:ln/>
        </p:spPr>
        <p:txBody>
          <a:bodyPr wrap="none" lIns="0" tIns="0" rIns="0" bIns="0" rtlCol="0" anchor="ctr"/>
          <a:lstStyle/>
          <a:p>
            <a:pPr algn="ctr" indent="0" marL="0">
              <a:lnSpc>
                <a:spcPct val="115000"/>
              </a:lnSpc>
              <a:buNone/>
            </a:pPr>
            <a:r>
              <a:rPr lang="en-US" sz="1400" b="1" dirty="0">
                <a:solidFill>
                  <a:srgbClr val="0E1B3D"/>
                </a:solidFill>
                <a:latin typeface="JetBrains Mono" pitchFamily="34" charset="0"/>
                <a:ea typeface="JetBrains Mono" pitchFamily="34" charset="-122"/>
                <a:cs typeface="JetBrains Mono" pitchFamily="34" charset="-120"/>
              </a:rPr>
              <a:t>padding</a:t>
            </a:r>
            <a:endParaRPr lang="en-US" sz="1400" dirty="0"/>
          </a:p>
        </p:txBody>
      </p:sp>
      <p:sp>
        <p:nvSpPr>
          <p:cNvPr id="11" name="Text 9"/>
          <p:cNvSpPr txBox="1"/>
          <p:nvPr/>
        </p:nvSpPr>
        <p:spPr>
          <a:xfrm>
            <a:off x="2194560" y="3108960"/>
            <a:ext cx="2286000" cy="1554480"/>
          </a:xfrm>
          <a:prstGeom prst="rect">
            <a:avLst/>
          </a:prstGeom>
          <a:noFill/>
          <a:ln/>
        </p:spPr>
        <p:txBody>
          <a:bodyPr wrap="none" lIns="0" tIns="0" rIns="0" bIns="0" rtlCol="0" anchor="ctr"/>
          <a:lstStyle/>
          <a:p>
            <a:pPr algn="ctr" indent="0" marL="0">
              <a:lnSpc>
                <a:spcPct val="115000"/>
              </a:lnSpc>
              <a:buNone/>
            </a:pPr>
            <a:r>
              <a:rPr lang="en-US" sz="1600" b="1" dirty="0">
                <a:solidFill>
                  <a:srgbClr val="0E1B3D"/>
                </a:solidFill>
                <a:latin typeface="JetBrains Mono" pitchFamily="34" charset="0"/>
                <a:ea typeface="JetBrains Mono" pitchFamily="34" charset="-122"/>
                <a:cs typeface="JetBrains Mono" pitchFamily="34" charset="-120"/>
              </a:rPr>
              <a:t>content</a:t>
            </a:r>
            <a:endParaRPr lang="en-US" sz="1600" dirty="0"/>
          </a:p>
        </p:txBody>
      </p:sp>
      <p:sp>
        <p:nvSpPr>
          <p:cNvPr id="12" name="Shape 10"/>
          <p:cNvSpPr/>
          <p:nvPr/>
        </p:nvSpPr>
        <p:spPr>
          <a:xfrm>
            <a:off x="6583680" y="1691640"/>
            <a:ext cx="4846320" cy="3236468"/>
          </a:xfrm>
          <a:prstGeom prst="roundRect">
            <a:avLst>
              <a:gd name="adj" fmla="val 3955"/>
            </a:avLst>
          </a:prstGeom>
          <a:solidFill>
            <a:srgbClr val="0B1530"/>
          </a:solidFill>
          <a:ln/>
          <a:effectLst>
            <a:outerShdw sx="100000" sy="100000" kx="0" ky="0" algn="bl" rotWithShape="0" blurRad="177800" dist="38100" dir="5400000">
              <a:srgbClr val="000000">
                <a:alpha val="40000"/>
              </a:srgbClr>
            </a:outerShdw>
          </a:effectLst>
        </p:spPr>
      </p:sp>
      <p:sp>
        <p:nvSpPr>
          <p:cNvPr id="13" name="Shape 11"/>
          <p:cNvSpPr/>
          <p:nvPr/>
        </p:nvSpPr>
        <p:spPr>
          <a:xfrm>
            <a:off x="6784848" y="1847088"/>
            <a:ext cx="109728" cy="109728"/>
          </a:xfrm>
          <a:prstGeom prst="ellipse">
            <a:avLst/>
          </a:prstGeom>
          <a:solidFill>
            <a:srgbClr val="E63946"/>
          </a:solidFill>
          <a:ln/>
        </p:spPr>
      </p:sp>
      <p:sp>
        <p:nvSpPr>
          <p:cNvPr id="14" name="Shape 12"/>
          <p:cNvSpPr/>
          <p:nvPr/>
        </p:nvSpPr>
        <p:spPr>
          <a:xfrm>
            <a:off x="6967728" y="1847088"/>
            <a:ext cx="109728" cy="109728"/>
          </a:xfrm>
          <a:prstGeom prst="ellipse">
            <a:avLst/>
          </a:prstGeom>
          <a:solidFill>
            <a:srgbClr val="FFC83D"/>
          </a:solidFill>
          <a:ln/>
        </p:spPr>
      </p:sp>
      <p:sp>
        <p:nvSpPr>
          <p:cNvPr id="15" name="Shape 13"/>
          <p:cNvSpPr/>
          <p:nvPr/>
        </p:nvSpPr>
        <p:spPr>
          <a:xfrm>
            <a:off x="7150608" y="1847088"/>
            <a:ext cx="109728" cy="109728"/>
          </a:xfrm>
          <a:prstGeom prst="ellipse">
            <a:avLst/>
          </a:prstGeom>
          <a:solidFill>
            <a:srgbClr val="1E9E68"/>
          </a:solidFill>
          <a:ln/>
        </p:spPr>
      </p:sp>
      <p:sp>
        <p:nvSpPr>
          <p:cNvPr id="16" name="Text 14"/>
          <p:cNvSpPr txBox="1"/>
          <p:nvPr/>
        </p:nvSpPr>
        <p:spPr>
          <a:xfrm>
            <a:off x="7498080" y="1764792"/>
            <a:ext cx="365760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JetBrains Mono" pitchFamily="34" charset="0"/>
                <a:ea typeface="JetBrains Mono" pitchFamily="34" charset="-122"/>
                <a:cs typeface="JetBrains Mono" pitchFamily="34" charset="-120"/>
              </a:rPr>
              <a:t>style.css</a:t>
            </a:r>
            <a:endParaRPr lang="en-US" sz="1200" dirty="0"/>
          </a:p>
        </p:txBody>
      </p:sp>
      <p:sp>
        <p:nvSpPr>
          <p:cNvPr id="17" name="Text 15"/>
          <p:cNvSpPr txBox="1"/>
          <p:nvPr/>
        </p:nvSpPr>
        <p:spPr>
          <a:xfrm>
            <a:off x="6748272" y="22219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1</a:t>
            </a:r>
            <a:endParaRPr lang="en-US" sz="1400" dirty="0"/>
          </a:p>
        </p:txBody>
      </p:sp>
      <p:sp>
        <p:nvSpPr>
          <p:cNvPr id="18" name="Text 16"/>
          <p:cNvSpPr txBox="1"/>
          <p:nvPr/>
        </p:nvSpPr>
        <p:spPr>
          <a:xfrm>
            <a:off x="7269480" y="222199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9" name="Text 17"/>
          <p:cNvSpPr txBox="1"/>
          <p:nvPr/>
        </p:nvSpPr>
        <p:spPr>
          <a:xfrm>
            <a:off x="6748272" y="25902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2</a:t>
            </a:r>
            <a:endParaRPr lang="en-US" sz="1400" dirty="0"/>
          </a:p>
        </p:txBody>
      </p:sp>
      <p:sp>
        <p:nvSpPr>
          <p:cNvPr id="20" name="Text 18"/>
          <p:cNvSpPr txBox="1"/>
          <p:nvPr/>
        </p:nvSpPr>
        <p:spPr>
          <a:xfrm>
            <a:off x="7269480" y="259029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box-sizing</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border-box</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1" name="Text 19"/>
          <p:cNvSpPr txBox="1"/>
          <p:nvPr/>
        </p:nvSpPr>
        <p:spPr>
          <a:xfrm>
            <a:off x="6748272" y="29585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3</a:t>
            </a:r>
            <a:endParaRPr lang="en-US" sz="1400" dirty="0"/>
          </a:p>
        </p:txBody>
      </p:sp>
      <p:sp>
        <p:nvSpPr>
          <p:cNvPr id="22" name="Text 20"/>
          <p:cNvSpPr txBox="1"/>
          <p:nvPr/>
        </p:nvSpPr>
        <p:spPr>
          <a:xfrm>
            <a:off x="7269480" y="295859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3" name="Text 21"/>
          <p:cNvSpPr txBox="1"/>
          <p:nvPr/>
        </p:nvSpPr>
        <p:spPr>
          <a:xfrm>
            <a:off x="6748272" y="33268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4</a:t>
            </a:r>
            <a:endParaRPr lang="en-US" sz="1400" dirty="0"/>
          </a:p>
        </p:txBody>
      </p:sp>
      <p:sp>
        <p:nvSpPr>
          <p:cNvPr id="24" name="Text 22"/>
          <p:cNvSpPr txBox="1"/>
          <p:nvPr/>
        </p:nvSpPr>
        <p:spPr>
          <a:xfrm>
            <a:off x="7269480" y="332689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.kartu</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5" name="Text 23"/>
          <p:cNvSpPr txBox="1"/>
          <p:nvPr/>
        </p:nvSpPr>
        <p:spPr>
          <a:xfrm>
            <a:off x="6748272" y="36951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5</a:t>
            </a:r>
            <a:endParaRPr lang="en-US" sz="1400" dirty="0"/>
          </a:p>
        </p:txBody>
      </p:sp>
      <p:sp>
        <p:nvSpPr>
          <p:cNvPr id="26" name="Text 24"/>
          <p:cNvSpPr txBox="1"/>
          <p:nvPr/>
        </p:nvSpPr>
        <p:spPr>
          <a:xfrm>
            <a:off x="7269480" y="369519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padding</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24px</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7" name="Text 25"/>
          <p:cNvSpPr txBox="1"/>
          <p:nvPr/>
        </p:nvSpPr>
        <p:spPr>
          <a:xfrm>
            <a:off x="6748272" y="40634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6</a:t>
            </a:r>
            <a:endParaRPr lang="en-US" sz="1400" dirty="0"/>
          </a:p>
        </p:txBody>
      </p:sp>
      <p:sp>
        <p:nvSpPr>
          <p:cNvPr id="28" name="Text 26"/>
          <p:cNvSpPr txBox="1"/>
          <p:nvPr/>
        </p:nvSpPr>
        <p:spPr>
          <a:xfrm>
            <a:off x="7269480" y="406349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margin</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16px</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9" name="Text 27"/>
          <p:cNvSpPr txBox="1"/>
          <p:nvPr/>
        </p:nvSpPr>
        <p:spPr>
          <a:xfrm>
            <a:off x="6748272" y="443179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7</a:t>
            </a:r>
            <a:endParaRPr lang="en-US" sz="1400" dirty="0"/>
          </a:p>
        </p:txBody>
      </p:sp>
      <p:sp>
        <p:nvSpPr>
          <p:cNvPr id="30" name="Text 28"/>
          <p:cNvSpPr txBox="1"/>
          <p:nvPr/>
        </p:nvSpPr>
        <p:spPr>
          <a:xfrm>
            <a:off x="7269480" y="4431792"/>
            <a:ext cx="411480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31" name="Text 29"/>
          <p:cNvSpPr txBox="1"/>
          <p:nvPr/>
        </p:nvSpPr>
        <p:spPr>
          <a:xfrm>
            <a:off x="6583680" y="5156708"/>
            <a:ext cx="4846320" cy="1280160"/>
          </a:xfrm>
          <a:prstGeom prst="rect">
            <a:avLst/>
          </a:prstGeom>
          <a:noFill/>
          <a:ln/>
        </p:spPr>
        <p:txBody>
          <a:bodyPr wrap="square" lIns="0" tIns="0" rIns="0" bIns="0" rtlCol="0" anchor="t"/>
          <a:lstStyle/>
          <a:p>
            <a:pPr algn="l" indent="0" marL="0">
              <a:lnSpc>
                <a:spcPct val="140000"/>
              </a:lnSpc>
              <a:buNone/>
            </a:pPr>
            <a:r>
              <a:rPr lang="en-US" sz="1500" dirty="0">
                <a:solidFill>
                  <a:srgbClr val="5B6478"/>
                </a:solidFill>
                <a:latin typeface="Plus Jakarta Sans" pitchFamily="34" charset="0"/>
                <a:ea typeface="Plus Jakarta Sans" pitchFamily="34" charset="-122"/>
                <a:cs typeface="Plus Jakarta Sans" pitchFamily="34" charset="-120"/>
              </a:rPr>
              <a:t>Bayangkan bingkai foto. content = fotonya. padding = jarak foto ke bingkai. border = bingkainya. margin = jarak ke bingkai lain.</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24</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Menata dengan Flexbox</a:t>
            </a:r>
            <a:endParaRPr lang="en-US" sz="4000" dirty="0"/>
          </a:p>
        </p:txBody>
      </p:sp>
      <p:sp>
        <p:nvSpPr>
          <p:cNvPr id="4" name="Shape 2"/>
          <p:cNvSpPr/>
          <p:nvPr/>
        </p:nvSpPr>
        <p:spPr>
          <a:xfrm>
            <a:off x="731520" y="1600200"/>
            <a:ext cx="5303520" cy="2499868"/>
          </a:xfrm>
          <a:prstGeom prst="roundRect">
            <a:avLst>
              <a:gd name="adj" fmla="val 5121"/>
            </a:avLst>
          </a:prstGeom>
          <a:solidFill>
            <a:srgbClr val="0B1530"/>
          </a:solidFill>
          <a:ln/>
          <a:effectLst>
            <a:outerShdw sx="100000" sy="100000" kx="0" ky="0" algn="bl" rotWithShape="0" blurRad="177800" dist="38100" dir="5400000">
              <a:srgbClr val="000000">
                <a:alpha val="40000"/>
              </a:srgbClr>
            </a:outerShdw>
          </a:effectLst>
        </p:spPr>
      </p:sp>
      <p:sp>
        <p:nvSpPr>
          <p:cNvPr id="5" name="Shape 3"/>
          <p:cNvSpPr/>
          <p:nvPr/>
        </p:nvSpPr>
        <p:spPr>
          <a:xfrm>
            <a:off x="932688" y="1755648"/>
            <a:ext cx="109728" cy="109728"/>
          </a:xfrm>
          <a:prstGeom prst="ellipse">
            <a:avLst/>
          </a:prstGeom>
          <a:solidFill>
            <a:srgbClr val="E63946"/>
          </a:solidFill>
          <a:ln/>
        </p:spPr>
      </p:sp>
      <p:sp>
        <p:nvSpPr>
          <p:cNvPr id="6" name="Shape 4"/>
          <p:cNvSpPr/>
          <p:nvPr/>
        </p:nvSpPr>
        <p:spPr>
          <a:xfrm>
            <a:off x="1115568" y="1755648"/>
            <a:ext cx="109728" cy="109728"/>
          </a:xfrm>
          <a:prstGeom prst="ellipse">
            <a:avLst/>
          </a:prstGeom>
          <a:solidFill>
            <a:srgbClr val="FFC83D"/>
          </a:solidFill>
          <a:ln/>
        </p:spPr>
      </p:sp>
      <p:sp>
        <p:nvSpPr>
          <p:cNvPr id="7" name="Shape 5"/>
          <p:cNvSpPr/>
          <p:nvPr/>
        </p:nvSpPr>
        <p:spPr>
          <a:xfrm>
            <a:off x="1298448" y="1755648"/>
            <a:ext cx="109728" cy="109728"/>
          </a:xfrm>
          <a:prstGeom prst="ellipse">
            <a:avLst/>
          </a:prstGeom>
          <a:solidFill>
            <a:srgbClr val="1E9E68"/>
          </a:solidFill>
          <a:ln/>
        </p:spPr>
      </p:sp>
      <p:sp>
        <p:nvSpPr>
          <p:cNvPr id="8" name="Text 6"/>
          <p:cNvSpPr txBox="1"/>
          <p:nvPr/>
        </p:nvSpPr>
        <p:spPr>
          <a:xfrm>
            <a:off x="1645920" y="1673352"/>
            <a:ext cx="411480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JetBrains Mono" pitchFamily="34" charset="0"/>
                <a:ea typeface="JetBrains Mono" pitchFamily="34" charset="-122"/>
                <a:cs typeface="JetBrains Mono" pitchFamily="34" charset="-120"/>
              </a:rPr>
              <a:t>style.css</a:t>
            </a:r>
            <a:endParaRPr lang="en-US" sz="1200" dirty="0"/>
          </a:p>
        </p:txBody>
      </p:sp>
      <p:sp>
        <p:nvSpPr>
          <p:cNvPr id="9" name="Shape 7"/>
          <p:cNvSpPr/>
          <p:nvPr/>
        </p:nvSpPr>
        <p:spPr>
          <a:xfrm>
            <a:off x="804672" y="2498852"/>
            <a:ext cx="5157216" cy="368300"/>
          </a:xfrm>
          <a:prstGeom prst="rect">
            <a:avLst/>
          </a:prstGeom>
          <a:solidFill>
            <a:srgbClr val="FFC83D">
              <a:alpha val="16000"/>
            </a:srgbClr>
          </a:solidFill>
          <a:ln/>
        </p:spPr>
      </p:sp>
      <p:sp>
        <p:nvSpPr>
          <p:cNvPr id="10" name="Text 8"/>
          <p:cNvSpPr txBox="1"/>
          <p:nvPr/>
        </p:nvSpPr>
        <p:spPr>
          <a:xfrm>
            <a:off x="896112" y="21305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1</a:t>
            </a:r>
            <a:endParaRPr lang="en-US" sz="1400" dirty="0"/>
          </a:p>
        </p:txBody>
      </p:sp>
      <p:sp>
        <p:nvSpPr>
          <p:cNvPr id="11" name="Text 9"/>
          <p:cNvSpPr txBox="1"/>
          <p:nvPr/>
        </p:nvSpPr>
        <p:spPr>
          <a:xfrm>
            <a:off x="1417320" y="2130552"/>
            <a:ext cx="457200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nav</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2" name="Text 10"/>
          <p:cNvSpPr txBox="1"/>
          <p:nvPr/>
        </p:nvSpPr>
        <p:spPr>
          <a:xfrm>
            <a:off x="896112" y="24988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2</a:t>
            </a:r>
            <a:endParaRPr lang="en-US" sz="1400" dirty="0"/>
          </a:p>
        </p:txBody>
      </p:sp>
      <p:sp>
        <p:nvSpPr>
          <p:cNvPr id="13" name="Text 11"/>
          <p:cNvSpPr txBox="1"/>
          <p:nvPr/>
        </p:nvSpPr>
        <p:spPr>
          <a:xfrm>
            <a:off x="1417320" y="2498852"/>
            <a:ext cx="45720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display</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flex</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4" name="Text 12"/>
          <p:cNvSpPr txBox="1"/>
          <p:nvPr/>
        </p:nvSpPr>
        <p:spPr>
          <a:xfrm>
            <a:off x="896112" y="28671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3</a:t>
            </a:r>
            <a:endParaRPr lang="en-US" sz="1400" dirty="0"/>
          </a:p>
        </p:txBody>
      </p:sp>
      <p:sp>
        <p:nvSpPr>
          <p:cNvPr id="15" name="Text 13"/>
          <p:cNvSpPr txBox="1"/>
          <p:nvPr/>
        </p:nvSpPr>
        <p:spPr>
          <a:xfrm>
            <a:off x="1417320" y="2867152"/>
            <a:ext cx="45720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gap</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16px</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6" name="Text 14"/>
          <p:cNvSpPr txBox="1"/>
          <p:nvPr/>
        </p:nvSpPr>
        <p:spPr>
          <a:xfrm>
            <a:off x="896112" y="32354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4</a:t>
            </a:r>
            <a:endParaRPr lang="en-US" sz="1400" dirty="0"/>
          </a:p>
        </p:txBody>
      </p:sp>
      <p:sp>
        <p:nvSpPr>
          <p:cNvPr id="17" name="Text 15"/>
          <p:cNvSpPr txBox="1"/>
          <p:nvPr/>
        </p:nvSpPr>
        <p:spPr>
          <a:xfrm>
            <a:off x="1417320" y="3235452"/>
            <a:ext cx="457200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justify-content</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center</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8" name="Text 16"/>
          <p:cNvSpPr txBox="1"/>
          <p:nvPr/>
        </p:nvSpPr>
        <p:spPr>
          <a:xfrm>
            <a:off x="896112" y="360375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5</a:t>
            </a:r>
            <a:endParaRPr lang="en-US" sz="1400" dirty="0"/>
          </a:p>
        </p:txBody>
      </p:sp>
      <p:sp>
        <p:nvSpPr>
          <p:cNvPr id="19" name="Text 17"/>
          <p:cNvSpPr txBox="1"/>
          <p:nvPr/>
        </p:nvSpPr>
        <p:spPr>
          <a:xfrm>
            <a:off x="1417320" y="3603752"/>
            <a:ext cx="457200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0" name="Text 18"/>
          <p:cNvSpPr txBox="1"/>
          <p:nvPr/>
        </p:nvSpPr>
        <p:spPr>
          <a:xfrm>
            <a:off x="731520" y="4434840"/>
            <a:ext cx="5303520" cy="320040"/>
          </a:xfrm>
          <a:prstGeom prst="rect">
            <a:avLst/>
          </a:prstGeom>
          <a:noFill/>
          <a:ln/>
        </p:spPr>
        <p:txBody>
          <a:bodyPr wrap="square" lIns="0" tIns="0" rIns="0" bIns="0" rtlCol="0" anchor="t"/>
          <a:lstStyle/>
          <a:p>
            <a:pPr algn="l" indent="0" marL="0">
              <a:lnSpc>
                <a:spcPct val="115000"/>
              </a:lnSpc>
              <a:buNone/>
            </a:pPr>
            <a:r>
              <a:rPr lang="en-US" sz="1600" b="1" dirty="0">
                <a:solidFill>
                  <a:srgbClr val="0E1B3D"/>
                </a:solidFill>
                <a:latin typeface="Plus Jakarta Sans" pitchFamily="34" charset="0"/>
                <a:ea typeface="Plus Jakarta Sans" pitchFamily="34" charset="-122"/>
                <a:cs typeface="Plus Jakarta Sans" pitchFamily="34" charset="-120"/>
              </a:rPr>
              <a:t>Ada juga Grid: untuk baris dan kolom sekaligus.</a:t>
            </a:r>
            <a:endParaRPr lang="en-US" sz="1600" dirty="0"/>
          </a:p>
        </p:txBody>
      </p:sp>
      <p:sp>
        <p:nvSpPr>
          <p:cNvPr id="21" name="Shape 19"/>
          <p:cNvSpPr/>
          <p:nvPr/>
        </p:nvSpPr>
        <p:spPr>
          <a:xfrm>
            <a:off x="731520" y="4892040"/>
            <a:ext cx="5303520" cy="594360"/>
          </a:xfrm>
          <a:prstGeom prst="roundRect">
            <a:avLst>
              <a:gd name="adj" fmla="val 18462"/>
            </a:avLst>
          </a:prstGeom>
          <a:solidFill>
            <a:srgbClr val="0B1530"/>
          </a:solidFill>
          <a:ln/>
        </p:spPr>
      </p:sp>
      <p:sp>
        <p:nvSpPr>
          <p:cNvPr id="22" name="Text 20"/>
          <p:cNvSpPr txBox="1"/>
          <p:nvPr/>
        </p:nvSpPr>
        <p:spPr>
          <a:xfrm>
            <a:off x="960120" y="4892040"/>
            <a:ext cx="4937760" cy="594360"/>
          </a:xfrm>
          <a:prstGeom prst="rect">
            <a:avLst/>
          </a:prstGeom>
          <a:noFill/>
          <a:ln/>
        </p:spPr>
        <p:txBody>
          <a:bodyPr wrap="none" lIns="0" tIns="0" rIns="0" bIns="0" rtlCol="0" anchor="ctr"/>
          <a:lstStyle/>
          <a:p>
            <a:pPr algn="l" indent="0" marL="0">
              <a:lnSpc>
                <a:spcPct val="115000"/>
              </a:lnSpc>
              <a:buNone/>
            </a:pPr>
            <a:r>
              <a:rPr lang="en-US" sz="1800" dirty="0">
                <a:solidFill>
                  <a:srgbClr val="F4F6FB"/>
                </a:solidFill>
                <a:latin typeface="JetBrains Mono" pitchFamily="34" charset="0"/>
                <a:ea typeface="JetBrains Mono" pitchFamily="34" charset="-122"/>
                <a:cs typeface="JetBrains Mono" pitchFamily="34" charset="-120"/>
              </a:rPr>
              <a:t>grid-template-columns: 1fr 1fr;</a:t>
            </a:r>
            <a:endParaRPr lang="en-US" sz="1800" dirty="0"/>
          </a:p>
        </p:txBody>
      </p:sp>
      <p:sp>
        <p:nvSpPr>
          <p:cNvPr id="23" name="Shape 21"/>
          <p:cNvSpPr/>
          <p:nvPr/>
        </p:nvSpPr>
        <p:spPr>
          <a:xfrm>
            <a:off x="6583680" y="1600200"/>
            <a:ext cx="4846320" cy="1600200"/>
          </a:xfrm>
          <a:prstGeom prst="roundRect">
            <a:avLst>
              <a:gd name="adj" fmla="val 9143"/>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24" name="Text 22"/>
          <p:cNvSpPr txBox="1"/>
          <p:nvPr/>
        </p:nvSpPr>
        <p:spPr>
          <a:xfrm>
            <a:off x="6858000" y="1709928"/>
            <a:ext cx="3657600" cy="274320"/>
          </a:xfrm>
          <a:prstGeom prst="rect">
            <a:avLst/>
          </a:prstGeom>
          <a:noFill/>
          <a:ln/>
        </p:spPr>
        <p:txBody>
          <a:bodyPr wrap="square" lIns="0" tIns="0" rIns="0" bIns="0" rtlCol="0" anchor="t"/>
          <a:lstStyle/>
          <a:p>
            <a:pPr algn="l" indent="0" marL="0">
              <a:lnSpc>
                <a:spcPct val="115000"/>
              </a:lnSpc>
              <a:buNone/>
            </a:pPr>
            <a:r>
              <a:rPr lang="en-US" sz="1300" b="1" dirty="0">
                <a:solidFill>
                  <a:srgbClr val="5B6478"/>
                </a:solidFill>
                <a:latin typeface="Plus Jakarta Sans" pitchFamily="34" charset="0"/>
                <a:ea typeface="Plus Jakarta Sans" pitchFamily="34" charset="-122"/>
                <a:cs typeface="Plus Jakarta Sans" pitchFamily="34" charset="-120"/>
              </a:rPr>
              <a:t>Tanpa flex</a:t>
            </a:r>
            <a:endParaRPr lang="en-US" sz="1300" dirty="0"/>
          </a:p>
        </p:txBody>
      </p:sp>
      <p:sp>
        <p:nvSpPr>
          <p:cNvPr id="25" name="Text 23"/>
          <p:cNvSpPr txBox="1"/>
          <p:nvPr/>
        </p:nvSpPr>
        <p:spPr>
          <a:xfrm>
            <a:off x="6858000" y="2039112"/>
            <a:ext cx="1828800" cy="320040"/>
          </a:xfrm>
          <a:prstGeom prst="rect">
            <a:avLst/>
          </a:prstGeom>
          <a:noFill/>
          <a:ln/>
        </p:spPr>
        <p:txBody>
          <a:bodyPr wrap="square" lIns="0" tIns="0" rIns="0" bIns="0" rtlCol="0" anchor="t"/>
          <a:lstStyle/>
          <a:p>
            <a:pPr algn="l" indent="0" marL="0">
              <a:lnSpc>
                <a:spcPct val="115000"/>
              </a:lnSpc>
              <a:buNone/>
            </a:pPr>
            <a:r>
              <a:rPr lang="en-US" sz="1600" dirty="0">
                <a:solidFill>
                  <a:srgbClr val="1F4FD8"/>
                </a:solidFill>
                <a:latin typeface="Plus Jakarta Sans" pitchFamily="34" charset="0"/>
                <a:ea typeface="Plus Jakarta Sans" pitchFamily="34" charset="-122"/>
                <a:cs typeface="Plus Jakarta Sans" pitchFamily="34" charset="-120"/>
              </a:rPr>
              <a:t>Tentang</a:t>
            </a:r>
            <a:endParaRPr lang="en-US" sz="1600" dirty="0"/>
          </a:p>
        </p:txBody>
      </p:sp>
      <p:sp>
        <p:nvSpPr>
          <p:cNvPr id="26" name="Text 24"/>
          <p:cNvSpPr txBox="1"/>
          <p:nvPr/>
        </p:nvSpPr>
        <p:spPr>
          <a:xfrm>
            <a:off x="6858000" y="2404872"/>
            <a:ext cx="1828800" cy="320040"/>
          </a:xfrm>
          <a:prstGeom prst="rect">
            <a:avLst/>
          </a:prstGeom>
          <a:noFill/>
          <a:ln/>
        </p:spPr>
        <p:txBody>
          <a:bodyPr wrap="square" lIns="0" tIns="0" rIns="0" bIns="0" rtlCol="0" anchor="t"/>
          <a:lstStyle/>
          <a:p>
            <a:pPr algn="l" indent="0" marL="0">
              <a:lnSpc>
                <a:spcPct val="115000"/>
              </a:lnSpc>
              <a:buNone/>
            </a:pPr>
            <a:r>
              <a:rPr lang="en-US" sz="1600" dirty="0">
                <a:solidFill>
                  <a:srgbClr val="1F4FD8"/>
                </a:solidFill>
                <a:latin typeface="Plus Jakarta Sans" pitchFamily="34" charset="0"/>
                <a:ea typeface="Plus Jakarta Sans" pitchFamily="34" charset="-122"/>
                <a:cs typeface="Plus Jakarta Sans" pitchFamily="34" charset="-120"/>
              </a:rPr>
              <a:t>Skill</a:t>
            </a:r>
            <a:endParaRPr lang="en-US" sz="1600" dirty="0"/>
          </a:p>
        </p:txBody>
      </p:sp>
      <p:sp>
        <p:nvSpPr>
          <p:cNvPr id="27" name="Text 25"/>
          <p:cNvSpPr txBox="1"/>
          <p:nvPr/>
        </p:nvSpPr>
        <p:spPr>
          <a:xfrm>
            <a:off x="6858000" y="2770632"/>
            <a:ext cx="1828800" cy="320040"/>
          </a:xfrm>
          <a:prstGeom prst="rect">
            <a:avLst/>
          </a:prstGeom>
          <a:noFill/>
          <a:ln/>
        </p:spPr>
        <p:txBody>
          <a:bodyPr wrap="square" lIns="0" tIns="0" rIns="0" bIns="0" rtlCol="0" anchor="t"/>
          <a:lstStyle/>
          <a:p>
            <a:pPr algn="l" indent="0" marL="0">
              <a:lnSpc>
                <a:spcPct val="115000"/>
              </a:lnSpc>
              <a:buNone/>
            </a:pPr>
            <a:r>
              <a:rPr lang="en-US" sz="1600" dirty="0">
                <a:solidFill>
                  <a:srgbClr val="1F4FD8"/>
                </a:solidFill>
                <a:latin typeface="Plus Jakarta Sans" pitchFamily="34" charset="0"/>
                <a:ea typeface="Plus Jakarta Sans" pitchFamily="34" charset="-122"/>
                <a:cs typeface="Plus Jakarta Sans" pitchFamily="34" charset="-120"/>
              </a:rPr>
              <a:t>Project</a:t>
            </a:r>
            <a:endParaRPr lang="en-US" sz="1600" dirty="0"/>
          </a:p>
        </p:txBody>
      </p:sp>
      <p:sp>
        <p:nvSpPr>
          <p:cNvPr id="28" name="Shape 26"/>
          <p:cNvSpPr/>
          <p:nvPr/>
        </p:nvSpPr>
        <p:spPr>
          <a:xfrm>
            <a:off x="6583680" y="3383280"/>
            <a:ext cx="4846320" cy="1234440"/>
          </a:xfrm>
          <a:prstGeom prst="roundRect">
            <a:avLst>
              <a:gd name="adj" fmla="val 11852"/>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29" name="Text 27"/>
          <p:cNvSpPr txBox="1"/>
          <p:nvPr/>
        </p:nvSpPr>
        <p:spPr>
          <a:xfrm>
            <a:off x="6858000" y="3493008"/>
            <a:ext cx="3657600" cy="274320"/>
          </a:xfrm>
          <a:prstGeom prst="rect">
            <a:avLst/>
          </a:prstGeom>
          <a:noFill/>
          <a:ln/>
        </p:spPr>
        <p:txBody>
          <a:bodyPr wrap="square" lIns="0" tIns="0" rIns="0" bIns="0" rtlCol="0" anchor="t"/>
          <a:lstStyle/>
          <a:p>
            <a:pPr algn="l" indent="0" marL="0">
              <a:lnSpc>
                <a:spcPct val="115000"/>
              </a:lnSpc>
              <a:buNone/>
            </a:pPr>
            <a:r>
              <a:rPr lang="en-US" sz="1300" b="1" dirty="0">
                <a:solidFill>
                  <a:srgbClr val="1F4FD8"/>
                </a:solidFill>
                <a:latin typeface="Plus Jakarta Sans" pitchFamily="34" charset="0"/>
                <a:ea typeface="Plus Jakarta Sans" pitchFamily="34" charset="-122"/>
                <a:cs typeface="Plus Jakarta Sans" pitchFamily="34" charset="-120"/>
              </a:rPr>
              <a:t>Dengan flex</a:t>
            </a:r>
            <a:endParaRPr lang="en-US" sz="1300" dirty="0"/>
          </a:p>
        </p:txBody>
      </p:sp>
      <p:sp>
        <p:nvSpPr>
          <p:cNvPr id="30" name="Shape 28"/>
          <p:cNvSpPr/>
          <p:nvPr/>
        </p:nvSpPr>
        <p:spPr>
          <a:xfrm>
            <a:off x="6940296" y="3886200"/>
            <a:ext cx="1280160" cy="457200"/>
          </a:xfrm>
          <a:prstGeom prst="roundRect">
            <a:avLst>
              <a:gd name="adj" fmla="val 50000"/>
            </a:avLst>
          </a:prstGeom>
          <a:solidFill>
            <a:srgbClr val="1F4FD8"/>
          </a:solidFill>
          <a:ln/>
        </p:spPr>
      </p:sp>
      <p:sp>
        <p:nvSpPr>
          <p:cNvPr id="31" name="Text 29"/>
          <p:cNvSpPr txBox="1"/>
          <p:nvPr/>
        </p:nvSpPr>
        <p:spPr>
          <a:xfrm>
            <a:off x="6940296" y="3886200"/>
            <a:ext cx="1280160" cy="45720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Plus Jakarta Sans" pitchFamily="34" charset="0"/>
                <a:ea typeface="Plus Jakarta Sans" pitchFamily="34" charset="-122"/>
                <a:cs typeface="Plus Jakarta Sans" pitchFamily="34" charset="-120"/>
              </a:rPr>
              <a:t>Tentang</a:t>
            </a:r>
            <a:endParaRPr lang="en-US" sz="1400" dirty="0"/>
          </a:p>
        </p:txBody>
      </p:sp>
      <p:sp>
        <p:nvSpPr>
          <p:cNvPr id="32" name="Shape 30"/>
          <p:cNvSpPr/>
          <p:nvPr/>
        </p:nvSpPr>
        <p:spPr>
          <a:xfrm>
            <a:off x="8366760" y="3886200"/>
            <a:ext cx="1280160" cy="457200"/>
          </a:xfrm>
          <a:prstGeom prst="roundRect">
            <a:avLst>
              <a:gd name="adj" fmla="val 50000"/>
            </a:avLst>
          </a:prstGeom>
          <a:solidFill>
            <a:srgbClr val="1F4FD8"/>
          </a:solidFill>
          <a:ln/>
        </p:spPr>
      </p:sp>
      <p:sp>
        <p:nvSpPr>
          <p:cNvPr id="33" name="Text 31"/>
          <p:cNvSpPr txBox="1"/>
          <p:nvPr/>
        </p:nvSpPr>
        <p:spPr>
          <a:xfrm>
            <a:off x="8366760" y="3886200"/>
            <a:ext cx="1280160" cy="45720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Plus Jakarta Sans" pitchFamily="34" charset="0"/>
                <a:ea typeface="Plus Jakarta Sans" pitchFamily="34" charset="-122"/>
                <a:cs typeface="Plus Jakarta Sans" pitchFamily="34" charset="-120"/>
              </a:rPr>
              <a:t>Skill</a:t>
            </a:r>
            <a:endParaRPr lang="en-US" sz="1400" dirty="0"/>
          </a:p>
        </p:txBody>
      </p:sp>
      <p:sp>
        <p:nvSpPr>
          <p:cNvPr id="34" name="Shape 32"/>
          <p:cNvSpPr/>
          <p:nvPr/>
        </p:nvSpPr>
        <p:spPr>
          <a:xfrm>
            <a:off x="9793224" y="3886200"/>
            <a:ext cx="1280160" cy="457200"/>
          </a:xfrm>
          <a:prstGeom prst="roundRect">
            <a:avLst>
              <a:gd name="adj" fmla="val 50000"/>
            </a:avLst>
          </a:prstGeom>
          <a:solidFill>
            <a:srgbClr val="1F4FD8"/>
          </a:solidFill>
          <a:ln/>
        </p:spPr>
      </p:sp>
      <p:sp>
        <p:nvSpPr>
          <p:cNvPr id="35" name="Text 33"/>
          <p:cNvSpPr txBox="1"/>
          <p:nvPr/>
        </p:nvSpPr>
        <p:spPr>
          <a:xfrm>
            <a:off x="9793224" y="3886200"/>
            <a:ext cx="1280160" cy="45720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Plus Jakarta Sans" pitchFamily="34" charset="0"/>
                <a:ea typeface="Plus Jakarta Sans" pitchFamily="34" charset="-122"/>
                <a:cs typeface="Plus Jakarta Sans" pitchFamily="34" charset="-120"/>
              </a:rPr>
              <a:t>Project</a:t>
            </a:r>
            <a:endParaRPr lang="en-US" sz="1400" dirty="0"/>
          </a:p>
        </p:txBody>
      </p:sp>
      <p:sp>
        <p:nvSpPr>
          <p:cNvPr id="36" name="Text 34"/>
          <p:cNvSpPr txBox="1"/>
          <p:nvPr/>
        </p:nvSpPr>
        <p:spPr>
          <a:xfrm>
            <a:off x="6583680" y="4846320"/>
            <a:ext cx="4846320" cy="822960"/>
          </a:xfrm>
          <a:prstGeom prst="rect">
            <a:avLst/>
          </a:prstGeom>
          <a:noFill/>
          <a:ln/>
        </p:spPr>
        <p:txBody>
          <a:bodyPr wrap="square" lIns="0" tIns="0" rIns="0" bIns="0" rtlCol="0" anchor="t"/>
          <a:lstStyle/>
          <a:p>
            <a:pPr algn="l" indent="0" marL="0">
              <a:lnSpc>
                <a:spcPct val="140000"/>
              </a:lnSpc>
              <a:buNone/>
            </a:pPr>
            <a:r>
              <a:rPr lang="en-US" sz="1500" dirty="0">
                <a:solidFill>
                  <a:srgbClr val="5B6478"/>
                </a:solidFill>
                <a:latin typeface="Plus Jakarta Sans" pitchFamily="34" charset="0"/>
                <a:ea typeface="Plus Jakarta Sans" pitchFamily="34" charset="-122"/>
                <a:cs typeface="Plus Jakarta Sans" pitchFamily="34" charset="-120"/>
              </a:rPr>
              <a:t>display: flex membuat isi di dalamnya berjajar rapi dalam satu baris.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25</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Satu website, semua ukuran layar</a:t>
            </a:r>
            <a:endParaRPr lang="en-US" sz="4000" dirty="0"/>
          </a:p>
        </p:txBody>
      </p:sp>
      <p:sp>
        <p:nvSpPr>
          <p:cNvPr id="4" name="Shape 2"/>
          <p:cNvSpPr/>
          <p:nvPr/>
        </p:nvSpPr>
        <p:spPr>
          <a:xfrm>
            <a:off x="731520" y="1554480"/>
            <a:ext cx="6583680" cy="3604768"/>
          </a:xfrm>
          <a:prstGeom prst="roundRect">
            <a:avLst>
              <a:gd name="adj" fmla="val 3551"/>
            </a:avLst>
          </a:prstGeom>
          <a:solidFill>
            <a:srgbClr val="0B1530"/>
          </a:solidFill>
          <a:ln/>
          <a:effectLst>
            <a:outerShdw sx="100000" sy="100000" kx="0" ky="0" algn="bl" rotWithShape="0" blurRad="177800" dist="38100" dir="5400000">
              <a:srgbClr val="000000">
                <a:alpha val="40000"/>
              </a:srgbClr>
            </a:outerShdw>
          </a:effectLst>
        </p:spPr>
      </p:sp>
      <p:sp>
        <p:nvSpPr>
          <p:cNvPr id="5" name="Shape 3"/>
          <p:cNvSpPr/>
          <p:nvPr/>
        </p:nvSpPr>
        <p:spPr>
          <a:xfrm>
            <a:off x="932688" y="1709928"/>
            <a:ext cx="109728" cy="109728"/>
          </a:xfrm>
          <a:prstGeom prst="ellipse">
            <a:avLst/>
          </a:prstGeom>
          <a:solidFill>
            <a:srgbClr val="E63946"/>
          </a:solidFill>
          <a:ln/>
        </p:spPr>
      </p:sp>
      <p:sp>
        <p:nvSpPr>
          <p:cNvPr id="6" name="Shape 4"/>
          <p:cNvSpPr/>
          <p:nvPr/>
        </p:nvSpPr>
        <p:spPr>
          <a:xfrm>
            <a:off x="1115568" y="1709928"/>
            <a:ext cx="109728" cy="109728"/>
          </a:xfrm>
          <a:prstGeom prst="ellipse">
            <a:avLst/>
          </a:prstGeom>
          <a:solidFill>
            <a:srgbClr val="FFC83D"/>
          </a:solidFill>
          <a:ln/>
        </p:spPr>
      </p:sp>
      <p:sp>
        <p:nvSpPr>
          <p:cNvPr id="7" name="Shape 5"/>
          <p:cNvSpPr/>
          <p:nvPr/>
        </p:nvSpPr>
        <p:spPr>
          <a:xfrm>
            <a:off x="1298448" y="1709928"/>
            <a:ext cx="109728" cy="109728"/>
          </a:xfrm>
          <a:prstGeom prst="ellipse">
            <a:avLst/>
          </a:prstGeom>
          <a:solidFill>
            <a:srgbClr val="1E9E68"/>
          </a:solidFill>
          <a:ln/>
        </p:spPr>
      </p:sp>
      <p:sp>
        <p:nvSpPr>
          <p:cNvPr id="8" name="Text 6"/>
          <p:cNvSpPr txBox="1"/>
          <p:nvPr/>
        </p:nvSpPr>
        <p:spPr>
          <a:xfrm>
            <a:off x="1645920" y="1627632"/>
            <a:ext cx="5394960" cy="274320"/>
          </a:xfrm>
          <a:prstGeom prst="rect">
            <a:avLst/>
          </a:prstGeom>
          <a:noFill/>
          <a:ln/>
        </p:spPr>
        <p:txBody>
          <a:bodyPr wrap="none" lIns="0" tIns="0" rIns="0" bIns="0" rtlCol="0" anchor="ctr"/>
          <a:lstStyle/>
          <a:p>
            <a:pPr algn="r" indent="0" marL="0">
              <a:lnSpc>
                <a:spcPct val="115000"/>
              </a:lnSpc>
              <a:buNone/>
            </a:pPr>
            <a:r>
              <a:rPr lang="en-US" sz="1200" dirty="0">
                <a:solidFill>
                  <a:srgbClr val="7886A8"/>
                </a:solidFill>
                <a:latin typeface="JetBrains Mono" pitchFamily="34" charset="0"/>
                <a:ea typeface="JetBrains Mono" pitchFamily="34" charset="-122"/>
                <a:cs typeface="JetBrains Mono" pitchFamily="34" charset="-120"/>
              </a:rPr>
              <a:t>style.css</a:t>
            </a:r>
            <a:endParaRPr lang="en-US" sz="1200" dirty="0"/>
          </a:p>
        </p:txBody>
      </p:sp>
      <p:sp>
        <p:nvSpPr>
          <p:cNvPr id="9" name="Shape 7"/>
          <p:cNvSpPr/>
          <p:nvPr/>
        </p:nvSpPr>
        <p:spPr>
          <a:xfrm>
            <a:off x="804672" y="2453132"/>
            <a:ext cx="6437376" cy="368300"/>
          </a:xfrm>
          <a:prstGeom prst="rect">
            <a:avLst/>
          </a:prstGeom>
          <a:solidFill>
            <a:srgbClr val="FFC83D">
              <a:alpha val="16000"/>
            </a:srgbClr>
          </a:solidFill>
          <a:ln/>
        </p:spPr>
      </p:sp>
      <p:sp>
        <p:nvSpPr>
          <p:cNvPr id="10" name="Shape 8"/>
          <p:cNvSpPr/>
          <p:nvPr/>
        </p:nvSpPr>
        <p:spPr>
          <a:xfrm>
            <a:off x="804672" y="3189732"/>
            <a:ext cx="6437376" cy="368300"/>
          </a:xfrm>
          <a:prstGeom prst="rect">
            <a:avLst/>
          </a:prstGeom>
          <a:solidFill>
            <a:srgbClr val="FFC83D">
              <a:alpha val="16000"/>
            </a:srgbClr>
          </a:solidFill>
          <a:ln/>
        </p:spPr>
      </p:sp>
      <p:sp>
        <p:nvSpPr>
          <p:cNvPr id="11" name="Text 9"/>
          <p:cNvSpPr txBox="1"/>
          <p:nvPr/>
        </p:nvSpPr>
        <p:spPr>
          <a:xfrm>
            <a:off x="896112" y="20848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1</a:t>
            </a:r>
            <a:endParaRPr lang="en-US" sz="1400" dirty="0"/>
          </a:p>
        </p:txBody>
      </p:sp>
      <p:sp>
        <p:nvSpPr>
          <p:cNvPr id="12" name="Text 10"/>
          <p:cNvSpPr txBox="1"/>
          <p:nvPr/>
        </p:nvSpPr>
        <p:spPr>
          <a:xfrm>
            <a:off x="1417320" y="208483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h1</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3" name="Text 11"/>
          <p:cNvSpPr txBox="1"/>
          <p:nvPr/>
        </p:nvSpPr>
        <p:spPr>
          <a:xfrm>
            <a:off x="896112" y="24531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2</a:t>
            </a:r>
            <a:endParaRPr lang="en-US" sz="1400" dirty="0"/>
          </a:p>
        </p:txBody>
      </p:sp>
      <p:sp>
        <p:nvSpPr>
          <p:cNvPr id="14" name="Text 12"/>
          <p:cNvSpPr txBox="1"/>
          <p:nvPr/>
        </p:nvSpPr>
        <p:spPr>
          <a:xfrm>
            <a:off x="1417320" y="245313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font-size</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clamp(28px, 6vw, 48px)</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5" name="Text 13"/>
          <p:cNvSpPr txBox="1"/>
          <p:nvPr/>
        </p:nvSpPr>
        <p:spPr>
          <a:xfrm>
            <a:off x="896112" y="28214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3</a:t>
            </a:r>
            <a:endParaRPr lang="en-US" sz="1400" dirty="0"/>
          </a:p>
        </p:txBody>
      </p:sp>
      <p:sp>
        <p:nvSpPr>
          <p:cNvPr id="16" name="Text 14"/>
          <p:cNvSpPr txBox="1"/>
          <p:nvPr/>
        </p:nvSpPr>
        <p:spPr>
          <a:xfrm>
            <a:off x="1417320" y="282143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7" name="Text 15"/>
          <p:cNvSpPr txBox="1"/>
          <p:nvPr/>
        </p:nvSpPr>
        <p:spPr>
          <a:xfrm>
            <a:off x="896112" y="31897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4</a:t>
            </a:r>
            <a:endParaRPr lang="en-US" sz="1400" dirty="0"/>
          </a:p>
        </p:txBody>
      </p:sp>
      <p:sp>
        <p:nvSpPr>
          <p:cNvPr id="18" name="Text 16"/>
          <p:cNvSpPr txBox="1"/>
          <p:nvPr/>
        </p:nvSpPr>
        <p:spPr>
          <a:xfrm>
            <a:off x="1417320" y="318973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@media (min-width: 768px)</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19" name="Text 17"/>
          <p:cNvSpPr txBox="1"/>
          <p:nvPr/>
        </p:nvSpPr>
        <p:spPr>
          <a:xfrm>
            <a:off x="896112" y="35580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5</a:t>
            </a:r>
            <a:endParaRPr lang="en-US" sz="1400" dirty="0"/>
          </a:p>
        </p:txBody>
      </p:sp>
      <p:sp>
        <p:nvSpPr>
          <p:cNvPr id="20" name="Text 18"/>
          <p:cNvSpPr txBox="1"/>
          <p:nvPr/>
        </p:nvSpPr>
        <p:spPr>
          <a:xfrm>
            <a:off x="1417320" y="355803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FFD36E"/>
                </a:solidFill>
                <a:latin typeface="JetBrains Mono" pitchFamily="34" charset="0"/>
                <a:ea typeface="JetBrains Mono" pitchFamily="34" charset="-122"/>
                <a:cs typeface="JetBrains Mono" pitchFamily="34" charset="-120"/>
              </a:rPr>
              <a:t>.projects</a:t>
            </a:r>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1" name="Text 19"/>
          <p:cNvSpPr txBox="1"/>
          <p:nvPr/>
        </p:nvSpPr>
        <p:spPr>
          <a:xfrm>
            <a:off x="896112" y="39263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6</a:t>
            </a:r>
            <a:endParaRPr lang="en-US" sz="1400" dirty="0"/>
          </a:p>
        </p:txBody>
      </p:sp>
      <p:sp>
        <p:nvSpPr>
          <p:cNvPr id="22" name="Text 20"/>
          <p:cNvSpPr txBox="1"/>
          <p:nvPr/>
        </p:nvSpPr>
        <p:spPr>
          <a:xfrm>
            <a:off x="1417320" y="392633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DB4FF"/>
                </a:solidFill>
                <a:latin typeface="JetBrains Mono" pitchFamily="34" charset="0"/>
                <a:ea typeface="JetBrains Mono" pitchFamily="34" charset="-122"/>
                <a:cs typeface="JetBrains Mono" pitchFamily="34" charset="-120"/>
              </a:rPr>
              <a:t>grid-template-columns</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8FE3B0"/>
                </a:solidFill>
                <a:latin typeface="JetBrains Mono" pitchFamily="34" charset="0"/>
                <a:ea typeface="JetBrains Mono" pitchFamily="34" charset="-122"/>
                <a:cs typeface="JetBrains Mono" pitchFamily="34" charset="-120"/>
              </a:rPr>
              <a:t>1fr 1fr</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3" name="Text 21"/>
          <p:cNvSpPr txBox="1"/>
          <p:nvPr/>
        </p:nvSpPr>
        <p:spPr>
          <a:xfrm>
            <a:off x="896112" y="42946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7</a:t>
            </a:r>
            <a:endParaRPr lang="en-US" sz="1400" dirty="0"/>
          </a:p>
        </p:txBody>
      </p:sp>
      <p:sp>
        <p:nvSpPr>
          <p:cNvPr id="24" name="Text 22"/>
          <p:cNvSpPr txBox="1"/>
          <p:nvPr/>
        </p:nvSpPr>
        <p:spPr>
          <a:xfrm>
            <a:off x="1417320" y="429463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F4F6FB"/>
                </a:solidFill>
                <a:latin typeface="JetBrains Mono" pitchFamily="34" charset="0"/>
                <a:ea typeface="JetBrains Mono" pitchFamily="34" charset="-122"/>
                <a:cs typeface="JetBrains Mono" pitchFamily="34" charset="-120"/>
              </a:rPr>
              <a:t>  </a:t>
            </a:r>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sp>
        <p:nvSpPr>
          <p:cNvPr id="25" name="Text 23"/>
          <p:cNvSpPr txBox="1"/>
          <p:nvPr/>
        </p:nvSpPr>
        <p:spPr>
          <a:xfrm>
            <a:off x="896112" y="4662932"/>
            <a:ext cx="365760" cy="368300"/>
          </a:xfrm>
          <a:prstGeom prst="rect">
            <a:avLst/>
          </a:prstGeom>
          <a:noFill/>
          <a:ln/>
        </p:spPr>
        <p:txBody>
          <a:bodyPr wrap="none" lIns="0" tIns="0" rIns="0" bIns="0" rtlCol="0" anchor="ctr"/>
          <a:lstStyle/>
          <a:p>
            <a:pPr algn="r" indent="0" marL="0">
              <a:lnSpc>
                <a:spcPct val="115000"/>
              </a:lnSpc>
              <a:buNone/>
            </a:pPr>
            <a:r>
              <a:rPr lang="en-US" sz="1400" dirty="0">
                <a:solidFill>
                  <a:srgbClr val="7886A8"/>
                </a:solidFill>
                <a:latin typeface="JetBrains Mono" pitchFamily="34" charset="0"/>
                <a:ea typeface="JetBrains Mono" pitchFamily="34" charset="-122"/>
                <a:cs typeface="JetBrains Mono" pitchFamily="34" charset="-120"/>
              </a:rPr>
              <a:t>8</a:t>
            </a:r>
            <a:endParaRPr lang="en-US" sz="1400" dirty="0"/>
          </a:p>
        </p:txBody>
      </p:sp>
      <p:sp>
        <p:nvSpPr>
          <p:cNvPr id="26" name="Text 24"/>
          <p:cNvSpPr txBox="1"/>
          <p:nvPr/>
        </p:nvSpPr>
        <p:spPr>
          <a:xfrm>
            <a:off x="1417320" y="4662932"/>
            <a:ext cx="5852160" cy="368300"/>
          </a:xfrm>
          <a:prstGeom prst="rect">
            <a:avLst/>
          </a:prstGeom>
          <a:noFill/>
          <a:ln/>
        </p:spPr>
        <p:txBody>
          <a:bodyPr wrap="none" lIns="0" tIns="0" rIns="0" bIns="0" rtlCol="0" anchor="ctr"/>
          <a:lstStyle/>
          <a:p>
            <a:pPr algn="l" indent="0" marL="0">
              <a:lnSpc>
                <a:spcPct val="115000"/>
              </a:lnSpc>
              <a:buNone/>
            </a:pPr>
            <a:r>
              <a:rPr lang="en-US" sz="2000" dirty="0">
                <a:solidFill>
                  <a:srgbClr val="C9D3EE"/>
                </a:solidFill>
                <a:latin typeface="JetBrains Mono" pitchFamily="34" charset="0"/>
                <a:ea typeface="JetBrains Mono" pitchFamily="34" charset="-122"/>
                <a:cs typeface="JetBrains Mono" pitchFamily="34" charset="-120"/>
              </a:rPr>
              <a:t>}</a:t>
            </a:r>
            <a:endParaRPr lang="en-US" sz="2000" dirty="0"/>
          </a:p>
        </p:txBody>
      </p:sp>
      <p:pic>
        <p:nvPicPr>
          <p:cNvPr id="27" name="Image 0" descr="C:\Dev\daily-report\Seminar\seminar-sifest\generator\assets\ill\responsive_6c8s.png">    </p:cNvPr>
          <p:cNvPicPr>
            <a:picLocks noChangeAspect="1"/>
          </p:cNvPicPr>
          <p:nvPr/>
        </p:nvPicPr>
        <p:blipFill>
          <a:blip r:embed="rId1"/>
          <a:stretch>
            <a:fillRect/>
          </a:stretch>
        </p:blipFill>
        <p:spPr>
          <a:xfrm>
            <a:off x="7498080" y="1554480"/>
            <a:ext cx="4023360" cy="2077517"/>
          </a:xfrm>
          <a:prstGeom prst="rect">
            <a:avLst/>
          </a:prstGeom>
        </p:spPr>
      </p:pic>
      <p:sp>
        <p:nvSpPr>
          <p:cNvPr id="28" name="Shape 25"/>
          <p:cNvSpPr/>
          <p:nvPr/>
        </p:nvSpPr>
        <p:spPr>
          <a:xfrm>
            <a:off x="7498080" y="4069080"/>
            <a:ext cx="3931920" cy="1005840"/>
          </a:xfrm>
          <a:prstGeom prst="roundRect">
            <a:avLst>
              <a:gd name="adj" fmla="val 12727"/>
            </a:avLst>
          </a:prstGeom>
          <a:solidFill>
            <a:srgbClr val="FFF3CF"/>
          </a:solidFill>
          <a:ln/>
        </p:spPr>
      </p:sp>
      <p:sp>
        <p:nvSpPr>
          <p:cNvPr id="29" name="Text 26"/>
          <p:cNvSpPr txBox="1"/>
          <p:nvPr/>
        </p:nvSpPr>
        <p:spPr>
          <a:xfrm>
            <a:off x="7680960" y="4069080"/>
            <a:ext cx="3566160" cy="1005840"/>
          </a:xfrm>
          <a:prstGeom prst="rect">
            <a:avLst/>
          </a:prstGeom>
          <a:noFill/>
          <a:ln/>
        </p:spPr>
        <p:txBody>
          <a:bodyPr wrap="square" lIns="0" tIns="0" rIns="0" bIns="0" rtlCol="0" anchor="ctr"/>
          <a:lstStyle/>
          <a:p>
            <a:pPr algn="l" indent="0" marL="0">
              <a:lnSpc>
                <a:spcPct val="135000"/>
              </a:lnSpc>
              <a:buNone/>
            </a:pPr>
            <a:r>
              <a:rPr lang="en-US" sz="1500" dirty="0">
                <a:solidFill>
                  <a:srgbClr val="0E1B3D"/>
                </a:solidFill>
                <a:latin typeface="Plus Jakarta Sans" pitchFamily="34" charset="0"/>
                <a:ea typeface="Plus Jakarta Sans" pitchFamily="34" charset="-122"/>
                <a:cs typeface="Plus Jakarta Sans" pitchFamily="34" charset="-120"/>
              </a:rPr>
              <a:t>Cara mencoba: tekan F12, lalu klik ikon HP (Ctrl + Shift + M).</a:t>
            </a:r>
            <a:endParaRPr lang="en-US" sz="1500" dirty="0"/>
          </a:p>
        </p:txBody>
      </p:sp>
      <p:sp>
        <p:nvSpPr>
          <p:cNvPr id="30" name="Shape 27"/>
          <p:cNvSpPr/>
          <p:nvPr/>
        </p:nvSpPr>
        <p:spPr>
          <a:xfrm>
            <a:off x="731520" y="5486400"/>
            <a:ext cx="10698480" cy="678942"/>
          </a:xfrm>
          <a:prstGeom prst="roundRect">
            <a:avLst>
              <a:gd name="adj" fmla="val 18855"/>
            </a:avLst>
          </a:prstGeom>
          <a:solidFill>
            <a:srgbClr val="0B1530"/>
          </a:solidFill>
          <a:ln/>
          <a:effectLst>
            <a:outerShdw sx="100000" sy="100000" kx="0" ky="0" algn="bl" rotWithShape="0" blurRad="177800" dist="38100" dir="5400000">
              <a:srgbClr val="000000">
                <a:alpha val="40000"/>
              </a:srgbClr>
            </a:outerShdw>
          </a:effectLst>
        </p:spPr>
      </p:sp>
      <p:sp>
        <p:nvSpPr>
          <p:cNvPr id="31" name="Text 28"/>
          <p:cNvSpPr txBox="1"/>
          <p:nvPr/>
        </p:nvSpPr>
        <p:spPr>
          <a:xfrm>
            <a:off x="1005840" y="5705856"/>
            <a:ext cx="9966960" cy="331470"/>
          </a:xfrm>
          <a:prstGeom prst="rect">
            <a:avLst/>
          </a:prstGeom>
          <a:noFill/>
          <a:ln/>
        </p:spPr>
        <p:txBody>
          <a:bodyPr wrap="none" lIns="0" tIns="0" rIns="0" bIns="0" rtlCol="0" anchor="ctr"/>
          <a:lstStyle/>
          <a:p>
            <a:pPr algn="l" indent="0" marL="0">
              <a:lnSpc>
                <a:spcPct val="115000"/>
              </a:lnSpc>
              <a:buNone/>
            </a:pPr>
            <a:r>
              <a:rPr lang="en-US" sz="1800" dirty="0">
                <a:solidFill>
                  <a:srgbClr val="C9D3EE"/>
                </a:solidFill>
                <a:latin typeface="JetBrains Mono" pitchFamily="34" charset="0"/>
                <a:ea typeface="JetBrains Mono" pitchFamily="34" charset="-122"/>
                <a:cs typeface="JetBrains Mono" pitchFamily="34" charset="-120"/>
              </a:rPr>
              <a:t>&lt;</a:t>
            </a:r>
            <a:pPr algn="l" indent="0" marL="0">
              <a:lnSpc>
                <a:spcPct val="115000"/>
              </a:lnSpc>
              <a:buNone/>
            </a:pPr>
            <a:r>
              <a:rPr lang="en-US" sz="1800" dirty="0">
                <a:solidFill>
                  <a:srgbClr val="8DB4FF"/>
                </a:solidFill>
                <a:latin typeface="JetBrains Mono" pitchFamily="34" charset="0"/>
                <a:ea typeface="JetBrains Mono" pitchFamily="34" charset="-122"/>
                <a:cs typeface="JetBrains Mono" pitchFamily="34" charset="-120"/>
              </a:rPr>
              <a:t>meta</a:t>
            </a:r>
            <a:pPr algn="l" indent="0" marL="0">
              <a:lnSpc>
                <a:spcPct val="115000"/>
              </a:lnSpc>
              <a:buNone/>
            </a:pPr>
            <a:r>
              <a:rPr lang="en-US" sz="18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1800" dirty="0">
                <a:solidFill>
                  <a:srgbClr val="FFD36E"/>
                </a:solidFill>
                <a:latin typeface="JetBrains Mono" pitchFamily="34" charset="0"/>
                <a:ea typeface="JetBrains Mono" pitchFamily="34" charset="-122"/>
                <a:cs typeface="JetBrains Mono" pitchFamily="34" charset="-120"/>
              </a:rPr>
              <a:t>name</a:t>
            </a:r>
            <a:pPr algn="l" indent="0" marL="0">
              <a:lnSpc>
                <a:spcPct val="115000"/>
              </a:lnSpc>
              <a:buNone/>
            </a:pPr>
            <a:r>
              <a:rPr lang="en-US" sz="18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1800" dirty="0">
                <a:solidFill>
                  <a:srgbClr val="8FE3B0"/>
                </a:solidFill>
                <a:latin typeface="JetBrains Mono" pitchFamily="34" charset="0"/>
                <a:ea typeface="JetBrains Mono" pitchFamily="34" charset="-122"/>
                <a:cs typeface="JetBrains Mono" pitchFamily="34" charset="-120"/>
              </a:rPr>
              <a:t>"viewport"</a:t>
            </a:r>
            <a:pPr algn="l" indent="0" marL="0">
              <a:lnSpc>
                <a:spcPct val="115000"/>
              </a:lnSpc>
              <a:buNone/>
            </a:pPr>
            <a:r>
              <a:rPr lang="en-US" sz="1800" dirty="0">
                <a:solidFill>
                  <a:srgbClr val="C9D3EE"/>
                </a:solidFill>
                <a:latin typeface="JetBrains Mono" pitchFamily="34" charset="0"/>
                <a:ea typeface="JetBrains Mono" pitchFamily="34" charset="-122"/>
                <a:cs typeface="JetBrains Mono" pitchFamily="34" charset="-120"/>
              </a:rPr>
              <a:t> </a:t>
            </a:r>
            <a:pPr algn="l" indent="0" marL="0">
              <a:lnSpc>
                <a:spcPct val="115000"/>
              </a:lnSpc>
              <a:buNone/>
            </a:pPr>
            <a:r>
              <a:rPr lang="en-US" sz="1800" dirty="0">
                <a:solidFill>
                  <a:srgbClr val="FFD36E"/>
                </a:solidFill>
                <a:latin typeface="JetBrains Mono" pitchFamily="34" charset="0"/>
                <a:ea typeface="JetBrains Mono" pitchFamily="34" charset="-122"/>
                <a:cs typeface="JetBrains Mono" pitchFamily="34" charset="-120"/>
              </a:rPr>
              <a:t>content</a:t>
            </a:r>
            <a:pPr algn="l" indent="0" marL="0">
              <a:lnSpc>
                <a:spcPct val="115000"/>
              </a:lnSpc>
              <a:buNone/>
            </a:pPr>
            <a:r>
              <a:rPr lang="en-US" sz="1800" dirty="0">
                <a:solidFill>
                  <a:srgbClr val="C9D3EE"/>
                </a:solidFill>
                <a:latin typeface="JetBrains Mono" pitchFamily="34" charset="0"/>
                <a:ea typeface="JetBrains Mono" pitchFamily="34" charset="-122"/>
                <a:cs typeface="JetBrains Mono" pitchFamily="34" charset="-120"/>
              </a:rPr>
              <a:t>=</a:t>
            </a:r>
            <a:pPr algn="l" indent="0" marL="0">
              <a:lnSpc>
                <a:spcPct val="115000"/>
              </a:lnSpc>
              <a:buNone/>
            </a:pPr>
            <a:r>
              <a:rPr lang="en-US" sz="1800" dirty="0">
                <a:solidFill>
                  <a:srgbClr val="8FE3B0"/>
                </a:solidFill>
                <a:latin typeface="JetBrains Mono" pitchFamily="34" charset="0"/>
                <a:ea typeface="JetBrains Mono" pitchFamily="34" charset="-122"/>
                <a:cs typeface="JetBrains Mono" pitchFamily="34" charset="-120"/>
              </a:rPr>
              <a:t>"width=device-width, initial-scale=1.0"</a:t>
            </a:r>
            <a:pPr algn="l" indent="0" marL="0">
              <a:lnSpc>
                <a:spcPct val="115000"/>
              </a:lnSpc>
              <a:buNone/>
            </a:pPr>
            <a:r>
              <a:rPr lang="en-US" sz="1800" dirty="0">
                <a:solidFill>
                  <a:srgbClr val="C9D3EE"/>
                </a:solidFill>
                <a:latin typeface="JetBrains Mono" pitchFamily="34" charset="0"/>
                <a:ea typeface="JetBrains Mono" pitchFamily="34" charset="-122"/>
                <a:cs typeface="JetBrains Mono" pitchFamily="34" charset="-120"/>
              </a:rPr>
              <a:t>&gt;</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26</a:t>
            </a:r>
            <a:endParaRPr lang="en-US" sz="1100" dirty="0"/>
          </a:p>
        </p:txBody>
      </p:sp>
      <p:sp>
        <p:nvSpPr>
          <p:cNvPr id="3" name="Text 1"/>
          <p:cNvSpPr txBox="1"/>
          <p:nvPr/>
        </p:nvSpPr>
        <p:spPr>
          <a:xfrm>
            <a:off x="731520" y="896112"/>
            <a:ext cx="10698480" cy="91440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Sekarang dandani profilmu</a:t>
            </a:r>
            <a:endParaRPr lang="en-US" sz="4000" dirty="0"/>
          </a:p>
        </p:txBody>
      </p:sp>
      <p:sp>
        <p:nvSpPr>
          <p:cNvPr id="4" name="Shape 2"/>
          <p:cNvSpPr/>
          <p:nvPr/>
        </p:nvSpPr>
        <p:spPr>
          <a:xfrm>
            <a:off x="731520" y="411480"/>
            <a:ext cx="2240280" cy="384048"/>
          </a:xfrm>
          <a:prstGeom prst="roundRect">
            <a:avLst>
              <a:gd name="adj" fmla="val 50000"/>
            </a:avLst>
          </a:prstGeom>
          <a:solidFill>
            <a:srgbClr val="FFC83D"/>
          </a:solidFill>
          <a:ln/>
        </p:spPr>
      </p:sp>
      <p:sp>
        <p:nvSpPr>
          <p:cNvPr id="5" name="Text 3"/>
          <p:cNvSpPr txBox="1"/>
          <p:nvPr/>
        </p:nvSpPr>
        <p:spPr>
          <a:xfrm>
            <a:off x="731520" y="411480"/>
            <a:ext cx="2240280" cy="384048"/>
          </a:xfrm>
          <a:prstGeom prst="rect">
            <a:avLst/>
          </a:prstGeom>
          <a:noFill/>
          <a:ln/>
        </p:spPr>
        <p:txBody>
          <a:bodyPr wrap="square" lIns="0" tIns="0" rIns="0" bIns="0" rtlCol="0" anchor="ctr"/>
          <a:lstStyle/>
          <a:p>
            <a:pPr algn="ctr" indent="0" marL="0">
              <a:lnSpc>
                <a:spcPct val="115000"/>
              </a:lnSpc>
              <a:buNone/>
            </a:pPr>
            <a:r>
              <a:rPr lang="en-US" sz="1300" b="1" spc="180" kern="0" dirty="0">
                <a:solidFill>
                  <a:srgbClr val="0E1B3D"/>
                </a:solidFill>
                <a:latin typeface="Plus Jakarta Sans" pitchFamily="34" charset="0"/>
                <a:ea typeface="Plus Jakarta Sans" pitchFamily="34" charset="-122"/>
                <a:cs typeface="Plus Jakarta Sans" pitchFamily="34" charset="-120"/>
              </a:rPr>
              <a:t>CHECKPOINT 2</a:t>
            </a:r>
            <a:endParaRPr lang="en-US" sz="1300" dirty="0"/>
          </a:p>
        </p:txBody>
      </p:sp>
      <p:sp>
        <p:nvSpPr>
          <p:cNvPr id="6" name="Text 4"/>
          <p:cNvSpPr txBox="1"/>
          <p:nvPr/>
        </p:nvSpPr>
        <p:spPr>
          <a:xfrm>
            <a:off x="3154680" y="411480"/>
            <a:ext cx="5486400" cy="384048"/>
          </a:xfrm>
          <a:prstGeom prst="rect">
            <a:avLst/>
          </a:prstGeom>
          <a:noFill/>
          <a:ln/>
        </p:spPr>
        <p:txBody>
          <a:bodyPr wrap="square" lIns="0" tIns="0" rIns="0" bIns="0" rtlCol="0" anchor="ctr"/>
          <a:lstStyle/>
          <a:p>
            <a:pPr algn="l" indent="0" marL="0">
              <a:lnSpc>
                <a:spcPct val="115000"/>
              </a:lnSpc>
              <a:buNone/>
            </a:pPr>
            <a:r>
              <a:rPr lang="en-US" sz="1400" b="1" dirty="0">
                <a:solidFill>
                  <a:srgbClr val="5B6478"/>
                </a:solidFill>
                <a:latin typeface="Plus Jakarta Sans" pitchFamily="34" charset="0"/>
                <a:ea typeface="Plus Jakarta Sans" pitchFamily="34" charset="-122"/>
                <a:cs typeface="Plus Jakarta Sans" pitchFamily="34" charset="-120"/>
              </a:rPr>
              <a:t>23 menit</a:t>
            </a:r>
            <a:endParaRPr lang="en-US" sz="1400" dirty="0"/>
          </a:p>
        </p:txBody>
      </p:sp>
      <p:sp>
        <p:nvSpPr>
          <p:cNvPr id="7" name="Shape 5"/>
          <p:cNvSpPr/>
          <p:nvPr/>
        </p:nvSpPr>
        <p:spPr>
          <a:xfrm>
            <a:off x="731520" y="1975104"/>
            <a:ext cx="329184" cy="329184"/>
          </a:xfrm>
          <a:prstGeom prst="roundRect">
            <a:avLst>
              <a:gd name="adj" fmla="val 22000"/>
            </a:avLst>
          </a:prstGeom>
          <a:ln w="22225">
            <a:solidFill>
              <a:srgbClr val="1F4FD8"/>
            </a:solidFill>
            <a:prstDash val="solid"/>
          </a:ln>
        </p:spPr>
      </p:sp>
      <p:sp>
        <p:nvSpPr>
          <p:cNvPr id="8" name="Text 6"/>
          <p:cNvSpPr txBox="1"/>
          <p:nvPr/>
        </p:nvSpPr>
        <p:spPr>
          <a:xfrm>
            <a:off x="1280160" y="1920240"/>
            <a:ext cx="5852160" cy="438912"/>
          </a:xfrm>
          <a:prstGeom prst="rect">
            <a:avLst/>
          </a:prstGeom>
          <a:noFill/>
          <a:ln/>
        </p:spPr>
        <p:txBody>
          <a:bodyPr wrap="square" lIns="0" tIns="0" rIns="0" bIns="0" rtlCol="0" anchor="ctr"/>
          <a:lstStyle/>
          <a:p>
            <a:pPr algn="l" indent="0" marL="0">
              <a:lnSpc>
                <a:spcPct val="115000"/>
              </a:lnSpc>
              <a:buNone/>
            </a:pPr>
            <a:r>
              <a:rPr lang="en-US" sz="2000" dirty="0">
                <a:solidFill>
                  <a:srgbClr val="0E1B3D"/>
                </a:solidFill>
                <a:latin typeface="Plus Jakarta Sans" pitchFamily="34" charset="0"/>
                <a:ea typeface="Plus Jakarta Sans" pitchFamily="34" charset="-122"/>
                <a:cs typeface="Plus Jakarta Sans" pitchFamily="34" charset="-120"/>
              </a:rPr>
              <a:t>Atur warna lewat variabel (CSS variables)</a:t>
            </a:r>
            <a:endParaRPr lang="en-US" sz="2000" dirty="0"/>
          </a:p>
        </p:txBody>
      </p:sp>
      <p:sp>
        <p:nvSpPr>
          <p:cNvPr id="9" name="Shape 7"/>
          <p:cNvSpPr/>
          <p:nvPr/>
        </p:nvSpPr>
        <p:spPr>
          <a:xfrm>
            <a:off x="731520" y="2596896"/>
            <a:ext cx="329184" cy="329184"/>
          </a:xfrm>
          <a:prstGeom prst="roundRect">
            <a:avLst>
              <a:gd name="adj" fmla="val 22000"/>
            </a:avLst>
          </a:prstGeom>
          <a:ln w="22225">
            <a:solidFill>
              <a:srgbClr val="1F4FD8"/>
            </a:solidFill>
            <a:prstDash val="solid"/>
          </a:ln>
        </p:spPr>
      </p:sp>
      <p:sp>
        <p:nvSpPr>
          <p:cNvPr id="10" name="Text 8"/>
          <p:cNvSpPr txBox="1"/>
          <p:nvPr/>
        </p:nvSpPr>
        <p:spPr>
          <a:xfrm>
            <a:off x="1280160" y="2542032"/>
            <a:ext cx="5852160" cy="438912"/>
          </a:xfrm>
          <a:prstGeom prst="rect">
            <a:avLst/>
          </a:prstGeom>
          <a:noFill/>
          <a:ln/>
        </p:spPr>
        <p:txBody>
          <a:bodyPr wrap="square" lIns="0" tIns="0" rIns="0" bIns="0" rtlCol="0" anchor="ctr"/>
          <a:lstStyle/>
          <a:p>
            <a:pPr algn="l" indent="0" marL="0">
              <a:lnSpc>
                <a:spcPct val="115000"/>
              </a:lnSpc>
              <a:buNone/>
            </a:pPr>
            <a:r>
              <a:rPr lang="en-US" sz="2000" dirty="0">
                <a:solidFill>
                  <a:srgbClr val="0E1B3D"/>
                </a:solidFill>
                <a:latin typeface="Plus Jakarta Sans" pitchFamily="34" charset="0"/>
                <a:ea typeface="Plus Jakarta Sans" pitchFamily="34" charset="-122"/>
                <a:cs typeface="Plus Jakarta Sans" pitchFamily="34" charset="-120"/>
              </a:rPr>
              <a:t>Pakai font dari Google Fonts</a:t>
            </a:r>
            <a:endParaRPr lang="en-US" sz="2000" dirty="0"/>
          </a:p>
        </p:txBody>
      </p:sp>
      <p:sp>
        <p:nvSpPr>
          <p:cNvPr id="11" name="Shape 9"/>
          <p:cNvSpPr/>
          <p:nvPr/>
        </p:nvSpPr>
        <p:spPr>
          <a:xfrm>
            <a:off x="731520" y="3218688"/>
            <a:ext cx="329184" cy="329184"/>
          </a:xfrm>
          <a:prstGeom prst="roundRect">
            <a:avLst>
              <a:gd name="adj" fmla="val 22000"/>
            </a:avLst>
          </a:prstGeom>
          <a:ln w="22225">
            <a:solidFill>
              <a:srgbClr val="1F4FD8"/>
            </a:solidFill>
            <a:prstDash val="solid"/>
          </a:ln>
        </p:spPr>
      </p:sp>
      <p:sp>
        <p:nvSpPr>
          <p:cNvPr id="12" name="Text 10"/>
          <p:cNvSpPr txBox="1"/>
          <p:nvPr/>
        </p:nvSpPr>
        <p:spPr>
          <a:xfrm>
            <a:off x="1280160" y="3163824"/>
            <a:ext cx="5852160" cy="438912"/>
          </a:xfrm>
          <a:prstGeom prst="rect">
            <a:avLst/>
          </a:prstGeom>
          <a:noFill/>
          <a:ln/>
        </p:spPr>
        <p:txBody>
          <a:bodyPr wrap="square" lIns="0" tIns="0" rIns="0" bIns="0" rtlCol="0" anchor="ctr"/>
          <a:lstStyle/>
          <a:p>
            <a:pPr algn="l" indent="0" marL="0">
              <a:lnSpc>
                <a:spcPct val="115000"/>
              </a:lnSpc>
              <a:buNone/>
            </a:pPr>
            <a:r>
              <a:rPr lang="en-US" sz="2000" dirty="0">
                <a:solidFill>
                  <a:srgbClr val="0E1B3D"/>
                </a:solidFill>
                <a:latin typeface="Plus Jakarta Sans" pitchFamily="34" charset="0"/>
                <a:ea typeface="Plus Jakarta Sans" pitchFamily="34" charset="-122"/>
                <a:cs typeface="Plus Jakarta Sans" pitchFamily="34" charset="-120"/>
              </a:rPr>
              <a:t>Rapikan menu dengan flexbox</a:t>
            </a:r>
            <a:endParaRPr lang="en-US" sz="2000" dirty="0"/>
          </a:p>
        </p:txBody>
      </p:sp>
      <p:sp>
        <p:nvSpPr>
          <p:cNvPr id="13" name="Shape 11"/>
          <p:cNvSpPr/>
          <p:nvPr/>
        </p:nvSpPr>
        <p:spPr>
          <a:xfrm>
            <a:off x="731520" y="3840480"/>
            <a:ext cx="329184" cy="329184"/>
          </a:xfrm>
          <a:prstGeom prst="roundRect">
            <a:avLst>
              <a:gd name="adj" fmla="val 22000"/>
            </a:avLst>
          </a:prstGeom>
          <a:ln w="22225">
            <a:solidFill>
              <a:srgbClr val="1F4FD8"/>
            </a:solidFill>
            <a:prstDash val="solid"/>
          </a:ln>
        </p:spPr>
      </p:sp>
      <p:sp>
        <p:nvSpPr>
          <p:cNvPr id="14" name="Text 12"/>
          <p:cNvSpPr txBox="1"/>
          <p:nvPr/>
        </p:nvSpPr>
        <p:spPr>
          <a:xfrm>
            <a:off x="1280160" y="3785616"/>
            <a:ext cx="5852160" cy="438912"/>
          </a:xfrm>
          <a:prstGeom prst="rect">
            <a:avLst/>
          </a:prstGeom>
          <a:noFill/>
          <a:ln/>
        </p:spPr>
        <p:txBody>
          <a:bodyPr wrap="square" lIns="0" tIns="0" rIns="0" bIns="0" rtlCol="0" anchor="ctr"/>
          <a:lstStyle/>
          <a:p>
            <a:pPr algn="l" indent="0" marL="0">
              <a:lnSpc>
                <a:spcPct val="115000"/>
              </a:lnSpc>
              <a:buNone/>
            </a:pPr>
            <a:r>
              <a:rPr lang="en-US" sz="2000" dirty="0">
                <a:solidFill>
                  <a:srgbClr val="0E1B3D"/>
                </a:solidFill>
                <a:latin typeface="Plus Jakarta Sans" pitchFamily="34" charset="0"/>
                <a:ea typeface="Plus Jakarta Sans" pitchFamily="34" charset="-122"/>
                <a:cs typeface="Plus Jakarta Sans" pitchFamily="34" charset="-120"/>
              </a:rPr>
              <a:t>Beri kartu project padding dan border</a:t>
            </a:r>
            <a:endParaRPr lang="en-US" sz="2000" dirty="0"/>
          </a:p>
        </p:txBody>
      </p:sp>
      <p:sp>
        <p:nvSpPr>
          <p:cNvPr id="15" name="Shape 13"/>
          <p:cNvSpPr/>
          <p:nvPr/>
        </p:nvSpPr>
        <p:spPr>
          <a:xfrm>
            <a:off x="731520" y="4462272"/>
            <a:ext cx="329184" cy="329184"/>
          </a:xfrm>
          <a:prstGeom prst="roundRect">
            <a:avLst>
              <a:gd name="adj" fmla="val 22000"/>
            </a:avLst>
          </a:prstGeom>
          <a:ln w="22225">
            <a:solidFill>
              <a:srgbClr val="1F4FD8"/>
            </a:solidFill>
            <a:prstDash val="solid"/>
          </a:ln>
        </p:spPr>
      </p:sp>
      <p:sp>
        <p:nvSpPr>
          <p:cNvPr id="16" name="Text 14"/>
          <p:cNvSpPr txBox="1"/>
          <p:nvPr/>
        </p:nvSpPr>
        <p:spPr>
          <a:xfrm>
            <a:off x="1280160" y="4407408"/>
            <a:ext cx="5852160" cy="438912"/>
          </a:xfrm>
          <a:prstGeom prst="rect">
            <a:avLst/>
          </a:prstGeom>
          <a:noFill/>
          <a:ln/>
        </p:spPr>
        <p:txBody>
          <a:bodyPr wrap="square" lIns="0" tIns="0" rIns="0" bIns="0" rtlCol="0" anchor="ctr"/>
          <a:lstStyle/>
          <a:p>
            <a:pPr algn="l" indent="0" marL="0">
              <a:lnSpc>
                <a:spcPct val="115000"/>
              </a:lnSpc>
              <a:buNone/>
            </a:pPr>
            <a:r>
              <a:rPr lang="en-US" sz="2000" dirty="0">
                <a:solidFill>
                  <a:srgbClr val="0E1B3D"/>
                </a:solidFill>
                <a:latin typeface="Plus Jakarta Sans" pitchFamily="34" charset="0"/>
                <a:ea typeface="Plus Jakarta Sans" pitchFamily="34" charset="-122"/>
                <a:cs typeface="Plus Jakarta Sans" pitchFamily="34" charset="-120"/>
              </a:rPr>
              <a:t>Pastikan rapi di layar HP</a:t>
            </a:r>
            <a:endParaRPr lang="en-US" sz="2000" dirty="0"/>
          </a:p>
        </p:txBody>
      </p:sp>
      <p:sp>
        <p:nvSpPr>
          <p:cNvPr id="17" name="Shape 15"/>
          <p:cNvSpPr/>
          <p:nvPr/>
        </p:nvSpPr>
        <p:spPr>
          <a:xfrm>
            <a:off x="731520" y="5166360"/>
            <a:ext cx="1005840" cy="310896"/>
          </a:xfrm>
          <a:prstGeom prst="roundRect">
            <a:avLst>
              <a:gd name="adj" fmla="val 50000"/>
            </a:avLst>
          </a:prstGeom>
          <a:solidFill>
            <a:srgbClr val="FFC83D"/>
          </a:solidFill>
          <a:ln/>
        </p:spPr>
      </p:sp>
      <p:sp>
        <p:nvSpPr>
          <p:cNvPr id="18" name="Text 16"/>
          <p:cNvSpPr txBox="1"/>
          <p:nvPr/>
        </p:nvSpPr>
        <p:spPr>
          <a:xfrm>
            <a:off x="731520" y="5166360"/>
            <a:ext cx="1005840" cy="310896"/>
          </a:xfrm>
          <a:prstGeom prst="rect">
            <a:avLst/>
          </a:prstGeom>
          <a:noFill/>
          <a:ln/>
        </p:spPr>
        <p:txBody>
          <a:bodyPr wrap="square" lIns="0" tIns="0" rIns="0" bIns="0" rtlCol="0" anchor="ctr"/>
          <a:lstStyle/>
          <a:p>
            <a:pPr algn="ctr" indent="0" marL="0">
              <a:lnSpc>
                <a:spcPct val="115000"/>
              </a:lnSpc>
              <a:buNone/>
            </a:pPr>
            <a:r>
              <a:rPr lang="en-US" sz="1100" b="1" spc="120" kern="0" dirty="0">
                <a:solidFill>
                  <a:srgbClr val="0E1B3D"/>
                </a:solidFill>
                <a:latin typeface="Plus Jakarta Sans" pitchFamily="34" charset="0"/>
                <a:ea typeface="Plus Jakarta Sans" pitchFamily="34" charset="-122"/>
                <a:cs typeface="Plus Jakarta Sans" pitchFamily="34" charset="-120"/>
              </a:rPr>
              <a:t>BONUS</a:t>
            </a:r>
            <a:endParaRPr lang="en-US" sz="1100" dirty="0"/>
          </a:p>
        </p:txBody>
      </p:sp>
      <p:sp>
        <p:nvSpPr>
          <p:cNvPr id="19" name="Text 17"/>
          <p:cNvSpPr txBox="1"/>
          <p:nvPr/>
        </p:nvSpPr>
        <p:spPr>
          <a:xfrm>
            <a:off x="1920240" y="5120640"/>
            <a:ext cx="5486400" cy="41148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JetBrains Mono" pitchFamily="34" charset="0"/>
                <a:ea typeface="JetBrains Mono" pitchFamily="34" charset="-122"/>
                <a:cs typeface="JetBrains Mono" pitchFamily="34" charset="-120"/>
              </a:rPr>
              <a:t>:hover + transition</a:t>
            </a:r>
            <a:endParaRPr lang="en-US" sz="1600" dirty="0"/>
          </a:p>
        </p:txBody>
      </p:sp>
      <p:sp>
        <p:nvSpPr>
          <p:cNvPr id="20" name="Text 18"/>
          <p:cNvSpPr txBox="1"/>
          <p:nvPr/>
        </p:nvSpPr>
        <p:spPr>
          <a:xfrm>
            <a:off x="1920240" y="5577840"/>
            <a:ext cx="5486400" cy="411480"/>
          </a:xfrm>
          <a:prstGeom prst="rect">
            <a:avLst/>
          </a:prstGeom>
          <a:noFill/>
          <a:ln/>
        </p:spPr>
        <p:txBody>
          <a:bodyPr wrap="none" lIns="0" tIns="0" rIns="0" bIns="0" rtlCol="0" anchor="ctr"/>
          <a:lstStyle/>
          <a:p>
            <a:pPr algn="l" indent="0" marL="0">
              <a:lnSpc>
                <a:spcPct val="115000"/>
              </a:lnSpc>
              <a:buNone/>
            </a:pPr>
            <a:r>
              <a:rPr lang="en-US" sz="1600" b="1" dirty="0">
                <a:solidFill>
                  <a:srgbClr val="1F4FD8"/>
                </a:solidFill>
                <a:latin typeface="JetBrains Mono" pitchFamily="34" charset="0"/>
                <a:ea typeface="JetBrains Mono" pitchFamily="34" charset="-122"/>
                <a:cs typeface="JetBrains Mono" pitchFamily="34" charset="-120"/>
              </a:rPr>
              <a:t>prefers-color-scheme (dark mode)</a:t>
            </a:r>
            <a:endParaRPr lang="en-US" sz="1600" dirty="0"/>
          </a:p>
        </p:txBody>
      </p:sp>
      <p:sp>
        <p:nvSpPr>
          <p:cNvPr id="21" name="Shape 19"/>
          <p:cNvSpPr/>
          <p:nvPr/>
        </p:nvSpPr>
        <p:spPr>
          <a:xfrm>
            <a:off x="7315200" y="1828800"/>
            <a:ext cx="4114800" cy="3657600"/>
          </a:xfrm>
          <a:prstGeom prst="roundRect">
            <a:avLst>
              <a:gd name="adj" fmla="val 4000"/>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22" name="Shape 20"/>
          <p:cNvSpPr/>
          <p:nvPr/>
        </p:nvSpPr>
        <p:spPr>
          <a:xfrm>
            <a:off x="7333488" y="1847088"/>
            <a:ext cx="4078224" cy="384048"/>
          </a:xfrm>
          <a:prstGeom prst="roundRect">
            <a:avLst>
              <a:gd name="adj" fmla="val 33333"/>
            </a:avLst>
          </a:prstGeom>
          <a:solidFill>
            <a:srgbClr val="EEF1F7"/>
          </a:solidFill>
          <a:ln/>
        </p:spPr>
      </p:sp>
      <p:sp>
        <p:nvSpPr>
          <p:cNvPr id="23" name="Shape 21"/>
          <p:cNvSpPr/>
          <p:nvPr/>
        </p:nvSpPr>
        <p:spPr>
          <a:xfrm>
            <a:off x="7333488" y="2029968"/>
            <a:ext cx="4078224" cy="201168"/>
          </a:xfrm>
          <a:prstGeom prst="rect">
            <a:avLst/>
          </a:prstGeom>
          <a:solidFill>
            <a:srgbClr val="EEF1F7"/>
          </a:solidFill>
          <a:ln/>
        </p:spPr>
      </p:sp>
      <p:sp>
        <p:nvSpPr>
          <p:cNvPr id="24" name="Shape 22"/>
          <p:cNvSpPr/>
          <p:nvPr/>
        </p:nvSpPr>
        <p:spPr>
          <a:xfrm>
            <a:off x="7498080" y="1965960"/>
            <a:ext cx="100584" cy="100584"/>
          </a:xfrm>
          <a:prstGeom prst="ellipse">
            <a:avLst/>
          </a:prstGeom>
          <a:solidFill>
            <a:srgbClr val="E63946"/>
          </a:solidFill>
          <a:ln/>
        </p:spPr>
      </p:sp>
      <p:sp>
        <p:nvSpPr>
          <p:cNvPr id="25" name="Shape 23"/>
          <p:cNvSpPr/>
          <p:nvPr/>
        </p:nvSpPr>
        <p:spPr>
          <a:xfrm>
            <a:off x="7671816" y="1965960"/>
            <a:ext cx="100584" cy="100584"/>
          </a:xfrm>
          <a:prstGeom prst="ellipse">
            <a:avLst/>
          </a:prstGeom>
          <a:solidFill>
            <a:srgbClr val="FFC83D"/>
          </a:solidFill>
          <a:ln/>
        </p:spPr>
      </p:sp>
      <p:sp>
        <p:nvSpPr>
          <p:cNvPr id="26" name="Shape 24"/>
          <p:cNvSpPr/>
          <p:nvPr/>
        </p:nvSpPr>
        <p:spPr>
          <a:xfrm>
            <a:off x="7845552" y="1965960"/>
            <a:ext cx="100584" cy="100584"/>
          </a:xfrm>
          <a:prstGeom prst="ellipse">
            <a:avLst/>
          </a:prstGeom>
          <a:solidFill>
            <a:srgbClr val="1E9E68"/>
          </a:solidFill>
          <a:ln/>
        </p:spPr>
      </p:sp>
      <p:sp>
        <p:nvSpPr>
          <p:cNvPr id="27" name="Shape 25"/>
          <p:cNvSpPr/>
          <p:nvPr/>
        </p:nvSpPr>
        <p:spPr>
          <a:xfrm>
            <a:off x="8183880" y="1911096"/>
            <a:ext cx="3017520" cy="237744"/>
          </a:xfrm>
          <a:prstGeom prst="roundRect">
            <a:avLst>
              <a:gd name="adj" fmla="val 50000"/>
            </a:avLst>
          </a:prstGeom>
          <a:solidFill>
            <a:srgbClr val="FFFFFF"/>
          </a:solidFill>
          <a:ln/>
        </p:spPr>
      </p:sp>
      <p:sp>
        <p:nvSpPr>
          <p:cNvPr id="28" name="Text 26"/>
          <p:cNvSpPr txBox="1"/>
          <p:nvPr/>
        </p:nvSpPr>
        <p:spPr>
          <a:xfrm>
            <a:off x="8321040" y="1911096"/>
            <a:ext cx="27432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localhost:5500</a:t>
            </a:r>
            <a:endParaRPr lang="en-US" sz="1100" dirty="0"/>
          </a:p>
        </p:txBody>
      </p:sp>
      <p:sp>
        <p:nvSpPr>
          <p:cNvPr id="29" name="Shape 27"/>
          <p:cNvSpPr/>
          <p:nvPr/>
        </p:nvSpPr>
        <p:spPr>
          <a:xfrm>
            <a:off x="7333488" y="2231136"/>
            <a:ext cx="4078224" cy="3218688"/>
          </a:xfrm>
          <a:prstGeom prst="rect">
            <a:avLst/>
          </a:prstGeom>
          <a:solidFill>
            <a:srgbClr val="FAF8F4"/>
          </a:solidFill>
          <a:ln/>
        </p:spPr>
      </p:sp>
      <p:sp>
        <p:nvSpPr>
          <p:cNvPr id="30" name="Shape 28"/>
          <p:cNvSpPr/>
          <p:nvPr/>
        </p:nvSpPr>
        <p:spPr>
          <a:xfrm>
            <a:off x="7333488" y="2231136"/>
            <a:ext cx="4078224" cy="1120140"/>
          </a:xfrm>
          <a:prstGeom prst="rect">
            <a:avLst/>
          </a:prstGeom>
          <a:solidFill>
            <a:srgbClr val="0E1B3D"/>
          </a:solidFill>
          <a:ln/>
        </p:spPr>
      </p:sp>
      <p:sp>
        <p:nvSpPr>
          <p:cNvPr id="31" name="Text 29"/>
          <p:cNvSpPr txBox="1"/>
          <p:nvPr/>
        </p:nvSpPr>
        <p:spPr>
          <a:xfrm>
            <a:off x="7602322" y="2410358"/>
            <a:ext cx="3540557" cy="403250"/>
          </a:xfrm>
          <a:prstGeom prst="rect">
            <a:avLst/>
          </a:prstGeom>
          <a:noFill/>
          <a:ln/>
        </p:spPr>
        <p:txBody>
          <a:bodyPr wrap="square" lIns="0" tIns="0" rIns="0" bIns="0" rtlCol="0" anchor="t"/>
          <a:lstStyle/>
          <a:p>
            <a:pPr algn="l" indent="0" marL="0">
              <a:lnSpc>
                <a:spcPct val="115000"/>
              </a:lnSpc>
              <a:buNone/>
            </a:pPr>
            <a:r>
              <a:rPr lang="en-US" sz="2352" b="1" dirty="0">
                <a:solidFill>
                  <a:srgbClr val="FFFFFF"/>
                </a:solidFill>
                <a:latin typeface="Plus Jakarta Sans" pitchFamily="34" charset="0"/>
                <a:ea typeface="Plus Jakarta Sans" pitchFamily="34" charset="-122"/>
                <a:cs typeface="Plus Jakarta Sans" pitchFamily="34" charset="-120"/>
              </a:rPr>
              <a:t>Alya Putri</a:t>
            </a:r>
            <a:endParaRPr lang="en-US" sz="2352" dirty="0"/>
          </a:p>
        </p:txBody>
      </p:sp>
      <p:sp>
        <p:nvSpPr>
          <p:cNvPr id="32" name="Text 30"/>
          <p:cNvSpPr txBox="1"/>
          <p:nvPr/>
        </p:nvSpPr>
        <p:spPr>
          <a:xfrm>
            <a:off x="7602322" y="2786725"/>
            <a:ext cx="3540557" cy="224028"/>
          </a:xfrm>
          <a:prstGeom prst="rect">
            <a:avLst/>
          </a:prstGeom>
          <a:noFill/>
          <a:ln/>
        </p:spPr>
        <p:txBody>
          <a:bodyPr wrap="square" lIns="0" tIns="0" rIns="0" bIns="0" rtlCol="0" anchor="t"/>
          <a:lstStyle/>
          <a:p>
            <a:pPr algn="l" indent="0" marL="0">
              <a:lnSpc>
                <a:spcPct val="115000"/>
              </a:lnSpc>
              <a:buNone/>
            </a:pPr>
            <a:r>
              <a:rPr lang="en-US" sz="1176" dirty="0">
                <a:solidFill>
                  <a:srgbClr val="FFC83D"/>
                </a:solidFill>
                <a:latin typeface="Plus Jakarta Sans" pitchFamily="34" charset="0"/>
                <a:ea typeface="Plus Jakarta Sans" pitchFamily="34" charset="-122"/>
                <a:cs typeface="Plus Jakarta Sans" pitchFamily="34" charset="-120"/>
              </a:rPr>
              <a:t>Siswa SMA · Calon Web Developer</a:t>
            </a:r>
            <a:endParaRPr lang="en-US" sz="1176" dirty="0"/>
          </a:p>
        </p:txBody>
      </p:sp>
      <p:sp>
        <p:nvSpPr>
          <p:cNvPr id="33" name="Shape 31"/>
          <p:cNvSpPr/>
          <p:nvPr/>
        </p:nvSpPr>
        <p:spPr>
          <a:xfrm>
            <a:off x="7602322" y="3064520"/>
            <a:ext cx="761695" cy="215067"/>
          </a:xfrm>
          <a:prstGeom prst="roundRect">
            <a:avLst>
              <a:gd name="adj" fmla="val 50000"/>
            </a:avLst>
          </a:prstGeom>
          <a:solidFill>
            <a:srgbClr val="17285A"/>
          </a:solidFill>
          <a:ln/>
        </p:spPr>
      </p:sp>
      <p:sp>
        <p:nvSpPr>
          <p:cNvPr id="34" name="Text 32"/>
          <p:cNvSpPr txBox="1"/>
          <p:nvPr/>
        </p:nvSpPr>
        <p:spPr>
          <a:xfrm>
            <a:off x="7602322" y="3064520"/>
            <a:ext cx="761695" cy="215067"/>
          </a:xfrm>
          <a:prstGeom prst="rect">
            <a:avLst/>
          </a:prstGeom>
          <a:noFill/>
          <a:ln/>
        </p:spPr>
        <p:txBody>
          <a:bodyPr wrap="square" lIns="0" tIns="0" rIns="0" bIns="0" rtlCol="0" anchor="ctr"/>
          <a:lstStyle/>
          <a:p>
            <a:pPr algn="ctr" indent="0" marL="0">
              <a:lnSpc>
                <a:spcPct val="115000"/>
              </a:lnSpc>
              <a:buNone/>
            </a:pPr>
            <a:r>
              <a:rPr lang="en-US" sz="980" b="1" dirty="0">
                <a:solidFill>
                  <a:srgbClr val="F4F6FB"/>
                </a:solidFill>
                <a:latin typeface="Plus Jakarta Sans" pitchFamily="34" charset="0"/>
                <a:ea typeface="Plus Jakarta Sans" pitchFamily="34" charset="-122"/>
                <a:cs typeface="Plus Jakarta Sans" pitchFamily="34" charset="-120"/>
              </a:rPr>
              <a:t>Tentang</a:t>
            </a:r>
            <a:endParaRPr lang="en-US" sz="980" dirty="0"/>
          </a:p>
        </p:txBody>
      </p:sp>
      <p:sp>
        <p:nvSpPr>
          <p:cNvPr id="35" name="Shape 33"/>
          <p:cNvSpPr/>
          <p:nvPr/>
        </p:nvSpPr>
        <p:spPr>
          <a:xfrm>
            <a:off x="8453628" y="3064520"/>
            <a:ext cx="761695" cy="215067"/>
          </a:xfrm>
          <a:prstGeom prst="roundRect">
            <a:avLst>
              <a:gd name="adj" fmla="val 50000"/>
            </a:avLst>
          </a:prstGeom>
          <a:solidFill>
            <a:srgbClr val="17285A"/>
          </a:solidFill>
          <a:ln/>
        </p:spPr>
      </p:sp>
      <p:sp>
        <p:nvSpPr>
          <p:cNvPr id="36" name="Text 34"/>
          <p:cNvSpPr txBox="1"/>
          <p:nvPr/>
        </p:nvSpPr>
        <p:spPr>
          <a:xfrm>
            <a:off x="8453628" y="3064520"/>
            <a:ext cx="761695" cy="215067"/>
          </a:xfrm>
          <a:prstGeom prst="rect">
            <a:avLst/>
          </a:prstGeom>
          <a:noFill/>
          <a:ln/>
        </p:spPr>
        <p:txBody>
          <a:bodyPr wrap="square" lIns="0" tIns="0" rIns="0" bIns="0" rtlCol="0" anchor="ctr"/>
          <a:lstStyle/>
          <a:p>
            <a:pPr algn="ctr" indent="0" marL="0">
              <a:lnSpc>
                <a:spcPct val="115000"/>
              </a:lnSpc>
              <a:buNone/>
            </a:pPr>
            <a:r>
              <a:rPr lang="en-US" sz="980" b="1" dirty="0">
                <a:solidFill>
                  <a:srgbClr val="F4F6FB"/>
                </a:solidFill>
                <a:latin typeface="Plus Jakarta Sans" pitchFamily="34" charset="0"/>
                <a:ea typeface="Plus Jakarta Sans" pitchFamily="34" charset="-122"/>
                <a:cs typeface="Plus Jakarta Sans" pitchFamily="34" charset="-120"/>
              </a:rPr>
              <a:t>Skill</a:t>
            </a:r>
            <a:endParaRPr lang="en-US" sz="980" dirty="0"/>
          </a:p>
        </p:txBody>
      </p:sp>
      <p:sp>
        <p:nvSpPr>
          <p:cNvPr id="37" name="Shape 35"/>
          <p:cNvSpPr/>
          <p:nvPr/>
        </p:nvSpPr>
        <p:spPr>
          <a:xfrm>
            <a:off x="9304934" y="3064520"/>
            <a:ext cx="761695" cy="215067"/>
          </a:xfrm>
          <a:prstGeom prst="roundRect">
            <a:avLst>
              <a:gd name="adj" fmla="val 50000"/>
            </a:avLst>
          </a:prstGeom>
          <a:solidFill>
            <a:srgbClr val="17285A"/>
          </a:solidFill>
          <a:ln/>
        </p:spPr>
      </p:sp>
      <p:sp>
        <p:nvSpPr>
          <p:cNvPr id="38" name="Text 36"/>
          <p:cNvSpPr txBox="1"/>
          <p:nvPr/>
        </p:nvSpPr>
        <p:spPr>
          <a:xfrm>
            <a:off x="9304934" y="3064520"/>
            <a:ext cx="761695" cy="215067"/>
          </a:xfrm>
          <a:prstGeom prst="rect">
            <a:avLst/>
          </a:prstGeom>
          <a:noFill/>
          <a:ln/>
        </p:spPr>
        <p:txBody>
          <a:bodyPr wrap="square" lIns="0" tIns="0" rIns="0" bIns="0" rtlCol="0" anchor="ctr"/>
          <a:lstStyle/>
          <a:p>
            <a:pPr algn="ctr" indent="0" marL="0">
              <a:lnSpc>
                <a:spcPct val="115000"/>
              </a:lnSpc>
              <a:buNone/>
            </a:pPr>
            <a:r>
              <a:rPr lang="en-US" sz="980" b="1" dirty="0">
                <a:solidFill>
                  <a:srgbClr val="F4F6FB"/>
                </a:solidFill>
                <a:latin typeface="Plus Jakarta Sans" pitchFamily="34" charset="0"/>
                <a:ea typeface="Plus Jakarta Sans" pitchFamily="34" charset="-122"/>
                <a:cs typeface="Plus Jakarta Sans" pitchFamily="34" charset="-120"/>
              </a:rPr>
              <a:t>Project</a:t>
            </a:r>
            <a:endParaRPr lang="en-US" sz="980" dirty="0"/>
          </a:p>
        </p:txBody>
      </p:sp>
      <p:sp>
        <p:nvSpPr>
          <p:cNvPr id="39" name="Shape 37"/>
          <p:cNvSpPr/>
          <p:nvPr/>
        </p:nvSpPr>
        <p:spPr>
          <a:xfrm>
            <a:off x="10156241" y="3064520"/>
            <a:ext cx="761695" cy="215067"/>
          </a:xfrm>
          <a:prstGeom prst="roundRect">
            <a:avLst>
              <a:gd name="adj" fmla="val 50000"/>
            </a:avLst>
          </a:prstGeom>
          <a:solidFill>
            <a:srgbClr val="17285A"/>
          </a:solidFill>
          <a:ln/>
        </p:spPr>
      </p:sp>
      <p:sp>
        <p:nvSpPr>
          <p:cNvPr id="40" name="Text 38"/>
          <p:cNvSpPr txBox="1"/>
          <p:nvPr/>
        </p:nvSpPr>
        <p:spPr>
          <a:xfrm>
            <a:off x="10156241" y="3064520"/>
            <a:ext cx="761695" cy="215067"/>
          </a:xfrm>
          <a:prstGeom prst="rect">
            <a:avLst/>
          </a:prstGeom>
          <a:noFill/>
          <a:ln/>
        </p:spPr>
        <p:txBody>
          <a:bodyPr wrap="square" lIns="0" tIns="0" rIns="0" bIns="0" rtlCol="0" anchor="ctr"/>
          <a:lstStyle/>
          <a:p>
            <a:pPr algn="ctr" indent="0" marL="0">
              <a:lnSpc>
                <a:spcPct val="115000"/>
              </a:lnSpc>
              <a:buNone/>
            </a:pPr>
            <a:r>
              <a:rPr lang="en-US" sz="980" b="1" dirty="0">
                <a:solidFill>
                  <a:srgbClr val="F4F6FB"/>
                </a:solidFill>
                <a:latin typeface="Plus Jakarta Sans" pitchFamily="34" charset="0"/>
                <a:ea typeface="Plus Jakarta Sans" pitchFamily="34" charset="-122"/>
                <a:cs typeface="Plus Jakarta Sans" pitchFamily="34" charset="-120"/>
              </a:rPr>
              <a:t>Kontak</a:t>
            </a:r>
            <a:endParaRPr lang="en-US" sz="980" dirty="0"/>
          </a:p>
        </p:txBody>
      </p:sp>
      <p:sp>
        <p:nvSpPr>
          <p:cNvPr id="41" name="Shape 39"/>
          <p:cNvSpPr/>
          <p:nvPr/>
        </p:nvSpPr>
        <p:spPr>
          <a:xfrm>
            <a:off x="7602322" y="3620110"/>
            <a:ext cx="1635862" cy="985723"/>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42" name="Text 40"/>
          <p:cNvSpPr txBox="1"/>
          <p:nvPr/>
        </p:nvSpPr>
        <p:spPr>
          <a:xfrm>
            <a:off x="7736738" y="3745565"/>
            <a:ext cx="1367028" cy="224028"/>
          </a:xfrm>
          <a:prstGeom prst="rect">
            <a:avLst/>
          </a:prstGeom>
          <a:noFill/>
          <a:ln/>
        </p:spPr>
        <p:txBody>
          <a:bodyPr wrap="square" lIns="0" tIns="0" rIns="0" bIns="0" rtlCol="0" anchor="t"/>
          <a:lstStyle/>
          <a:p>
            <a:pPr algn="l" indent="0" marL="0">
              <a:lnSpc>
                <a:spcPct val="115000"/>
              </a:lnSpc>
              <a:buNone/>
            </a:pPr>
            <a:r>
              <a:rPr lang="en-US" sz="1176" b="1" dirty="0">
                <a:solidFill>
                  <a:srgbClr val="0E1B3D"/>
                </a:solidFill>
                <a:latin typeface="Plus Jakarta Sans" pitchFamily="34" charset="0"/>
                <a:ea typeface="Plus Jakarta Sans" pitchFamily="34" charset="-122"/>
                <a:cs typeface="Plus Jakarta Sans" pitchFamily="34" charset="-120"/>
              </a:rPr>
              <a:t>Profil Pribadi</a:t>
            </a:r>
            <a:endParaRPr lang="en-US" sz="1176" dirty="0"/>
          </a:p>
        </p:txBody>
      </p:sp>
      <p:sp>
        <p:nvSpPr>
          <p:cNvPr id="43" name="Shape 41"/>
          <p:cNvSpPr/>
          <p:nvPr/>
        </p:nvSpPr>
        <p:spPr>
          <a:xfrm>
            <a:off x="7736738" y="4068166"/>
            <a:ext cx="1367028" cy="62728"/>
          </a:xfrm>
          <a:prstGeom prst="rect">
            <a:avLst/>
          </a:prstGeom>
          <a:solidFill>
            <a:srgbClr val="E3DFD6"/>
          </a:solidFill>
          <a:ln/>
        </p:spPr>
      </p:sp>
      <p:sp>
        <p:nvSpPr>
          <p:cNvPr id="44" name="Shape 42"/>
          <p:cNvSpPr/>
          <p:nvPr/>
        </p:nvSpPr>
        <p:spPr>
          <a:xfrm>
            <a:off x="7736738" y="4229466"/>
            <a:ext cx="888568" cy="62728"/>
          </a:xfrm>
          <a:prstGeom prst="rect">
            <a:avLst/>
          </a:prstGeom>
          <a:solidFill>
            <a:srgbClr val="E3DFD6"/>
          </a:solidFill>
          <a:ln/>
        </p:spPr>
      </p:sp>
      <p:sp>
        <p:nvSpPr>
          <p:cNvPr id="45" name="Shape 43"/>
          <p:cNvSpPr/>
          <p:nvPr/>
        </p:nvSpPr>
        <p:spPr>
          <a:xfrm>
            <a:off x="9507017" y="3620110"/>
            <a:ext cx="1635862" cy="985723"/>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46" name="Text 44"/>
          <p:cNvSpPr txBox="1"/>
          <p:nvPr/>
        </p:nvSpPr>
        <p:spPr>
          <a:xfrm>
            <a:off x="9641434" y="3745565"/>
            <a:ext cx="1367028" cy="224028"/>
          </a:xfrm>
          <a:prstGeom prst="rect">
            <a:avLst/>
          </a:prstGeom>
          <a:noFill/>
          <a:ln/>
        </p:spPr>
        <p:txBody>
          <a:bodyPr wrap="square" lIns="0" tIns="0" rIns="0" bIns="0" rtlCol="0" anchor="t"/>
          <a:lstStyle/>
          <a:p>
            <a:pPr algn="l" indent="0" marL="0">
              <a:lnSpc>
                <a:spcPct val="115000"/>
              </a:lnSpc>
              <a:buNone/>
            </a:pPr>
            <a:r>
              <a:rPr lang="en-US" sz="1176" b="1" dirty="0">
                <a:solidFill>
                  <a:srgbClr val="0E1B3D"/>
                </a:solidFill>
                <a:latin typeface="Plus Jakarta Sans" pitchFamily="34" charset="0"/>
                <a:ea typeface="Plus Jakarta Sans" pitchFamily="34" charset="-122"/>
                <a:cs typeface="Plus Jakarta Sans" pitchFamily="34" charset="-120"/>
              </a:rPr>
              <a:t>Cuaca Hari Ini</a:t>
            </a:r>
            <a:endParaRPr lang="en-US" sz="1176" dirty="0"/>
          </a:p>
        </p:txBody>
      </p:sp>
      <p:sp>
        <p:nvSpPr>
          <p:cNvPr id="47" name="Shape 45"/>
          <p:cNvSpPr/>
          <p:nvPr/>
        </p:nvSpPr>
        <p:spPr>
          <a:xfrm>
            <a:off x="9641434" y="4068166"/>
            <a:ext cx="1367028" cy="62728"/>
          </a:xfrm>
          <a:prstGeom prst="rect">
            <a:avLst/>
          </a:prstGeom>
          <a:solidFill>
            <a:srgbClr val="E3DFD6"/>
          </a:solidFill>
          <a:ln/>
        </p:spPr>
      </p:sp>
      <p:sp>
        <p:nvSpPr>
          <p:cNvPr id="48" name="Shape 46"/>
          <p:cNvSpPr/>
          <p:nvPr/>
        </p:nvSpPr>
        <p:spPr>
          <a:xfrm>
            <a:off x="9641434" y="4229466"/>
            <a:ext cx="888568" cy="62728"/>
          </a:xfrm>
          <a:prstGeom prst="rect">
            <a:avLst/>
          </a:prstGeom>
          <a:solidFill>
            <a:srgbClr val="E3DFD6"/>
          </a:solidFill>
          <a:ln/>
        </p:spPr>
      </p:sp>
      <p:sp>
        <p:nvSpPr>
          <p:cNvPr id="49" name="Shape 47"/>
          <p:cNvSpPr/>
          <p:nvPr/>
        </p:nvSpPr>
        <p:spPr>
          <a:xfrm>
            <a:off x="7602322" y="4874666"/>
            <a:ext cx="672084" cy="232989"/>
          </a:xfrm>
          <a:prstGeom prst="roundRect">
            <a:avLst>
              <a:gd name="adj" fmla="val 50000"/>
            </a:avLst>
          </a:prstGeom>
          <a:solidFill>
            <a:srgbClr val="DCE6FF"/>
          </a:solidFill>
          <a:ln/>
        </p:spPr>
      </p:sp>
      <p:sp>
        <p:nvSpPr>
          <p:cNvPr id="50" name="Text 48"/>
          <p:cNvSpPr txBox="1"/>
          <p:nvPr/>
        </p:nvSpPr>
        <p:spPr>
          <a:xfrm>
            <a:off x="7602322" y="4874666"/>
            <a:ext cx="672084" cy="232989"/>
          </a:xfrm>
          <a:prstGeom prst="rect">
            <a:avLst/>
          </a:prstGeom>
          <a:noFill/>
          <a:ln/>
        </p:spPr>
        <p:txBody>
          <a:bodyPr wrap="square" lIns="0" tIns="0" rIns="0" bIns="0" rtlCol="0" anchor="ctr"/>
          <a:lstStyle/>
          <a:p>
            <a:pPr algn="ctr" indent="0" marL="0">
              <a:lnSpc>
                <a:spcPct val="115000"/>
              </a:lnSpc>
              <a:buNone/>
            </a:pPr>
            <a:r>
              <a:rPr lang="en-US" sz="980" b="1" dirty="0">
                <a:solidFill>
                  <a:srgbClr val="1F4FD8"/>
                </a:solidFill>
                <a:latin typeface="Plus Jakarta Sans" pitchFamily="34" charset="0"/>
                <a:ea typeface="Plus Jakarta Sans" pitchFamily="34" charset="-122"/>
                <a:cs typeface="Plus Jakarta Sans" pitchFamily="34" charset="-120"/>
              </a:rPr>
              <a:t>HTML</a:t>
            </a:r>
            <a:endParaRPr lang="en-US" sz="980" dirty="0"/>
          </a:p>
        </p:txBody>
      </p:sp>
      <p:sp>
        <p:nvSpPr>
          <p:cNvPr id="51" name="Shape 49"/>
          <p:cNvSpPr/>
          <p:nvPr/>
        </p:nvSpPr>
        <p:spPr>
          <a:xfrm>
            <a:off x="8364017" y="4874666"/>
            <a:ext cx="672084" cy="232989"/>
          </a:xfrm>
          <a:prstGeom prst="roundRect">
            <a:avLst>
              <a:gd name="adj" fmla="val 50000"/>
            </a:avLst>
          </a:prstGeom>
          <a:solidFill>
            <a:srgbClr val="DCE6FF"/>
          </a:solidFill>
          <a:ln/>
        </p:spPr>
      </p:sp>
      <p:sp>
        <p:nvSpPr>
          <p:cNvPr id="52" name="Text 50"/>
          <p:cNvSpPr txBox="1"/>
          <p:nvPr/>
        </p:nvSpPr>
        <p:spPr>
          <a:xfrm>
            <a:off x="8364017" y="4874666"/>
            <a:ext cx="672084" cy="232989"/>
          </a:xfrm>
          <a:prstGeom prst="rect">
            <a:avLst/>
          </a:prstGeom>
          <a:noFill/>
          <a:ln/>
        </p:spPr>
        <p:txBody>
          <a:bodyPr wrap="square" lIns="0" tIns="0" rIns="0" bIns="0" rtlCol="0" anchor="ctr"/>
          <a:lstStyle/>
          <a:p>
            <a:pPr algn="ctr" indent="0" marL="0">
              <a:lnSpc>
                <a:spcPct val="115000"/>
              </a:lnSpc>
              <a:buNone/>
            </a:pPr>
            <a:r>
              <a:rPr lang="en-US" sz="980" b="1" dirty="0">
                <a:solidFill>
                  <a:srgbClr val="1F4FD8"/>
                </a:solidFill>
                <a:latin typeface="Plus Jakarta Sans" pitchFamily="34" charset="0"/>
                <a:ea typeface="Plus Jakarta Sans" pitchFamily="34" charset="-122"/>
                <a:cs typeface="Plus Jakarta Sans" pitchFamily="34" charset="-120"/>
              </a:rPr>
              <a:t>CSS</a:t>
            </a:r>
            <a:endParaRPr lang="en-US" sz="980" dirty="0"/>
          </a:p>
        </p:txBody>
      </p:sp>
      <p:sp>
        <p:nvSpPr>
          <p:cNvPr id="53" name="Shape 51"/>
          <p:cNvSpPr/>
          <p:nvPr/>
        </p:nvSpPr>
        <p:spPr>
          <a:xfrm>
            <a:off x="9125712" y="4874666"/>
            <a:ext cx="672084" cy="232989"/>
          </a:xfrm>
          <a:prstGeom prst="roundRect">
            <a:avLst>
              <a:gd name="adj" fmla="val 50000"/>
            </a:avLst>
          </a:prstGeom>
          <a:solidFill>
            <a:srgbClr val="DCE6FF"/>
          </a:solidFill>
          <a:ln/>
        </p:spPr>
      </p:sp>
      <p:sp>
        <p:nvSpPr>
          <p:cNvPr id="54" name="Text 52"/>
          <p:cNvSpPr txBox="1"/>
          <p:nvPr/>
        </p:nvSpPr>
        <p:spPr>
          <a:xfrm>
            <a:off x="9125712" y="4874666"/>
            <a:ext cx="672084" cy="232989"/>
          </a:xfrm>
          <a:prstGeom prst="rect">
            <a:avLst/>
          </a:prstGeom>
          <a:noFill/>
          <a:ln/>
        </p:spPr>
        <p:txBody>
          <a:bodyPr wrap="square" lIns="0" tIns="0" rIns="0" bIns="0" rtlCol="0" anchor="ctr"/>
          <a:lstStyle/>
          <a:p>
            <a:pPr algn="ctr" indent="0" marL="0">
              <a:lnSpc>
                <a:spcPct val="115000"/>
              </a:lnSpc>
              <a:buNone/>
            </a:pPr>
            <a:r>
              <a:rPr lang="en-US" sz="980" b="1" dirty="0">
                <a:solidFill>
                  <a:srgbClr val="1F4FD8"/>
                </a:solidFill>
                <a:latin typeface="Plus Jakarta Sans" pitchFamily="34" charset="0"/>
                <a:ea typeface="Plus Jakarta Sans" pitchFamily="34" charset="-122"/>
                <a:cs typeface="Plus Jakarta Sans" pitchFamily="34" charset="-120"/>
              </a:rPr>
              <a:t>Git</a:t>
            </a:r>
            <a:endParaRPr lang="en-US" sz="980" dirty="0"/>
          </a:p>
        </p:txBody>
      </p:sp>
      <p:sp>
        <p:nvSpPr>
          <p:cNvPr id="55" name="Text 53"/>
          <p:cNvSpPr txBox="1"/>
          <p:nvPr/>
        </p:nvSpPr>
        <p:spPr>
          <a:xfrm>
            <a:off x="7315200" y="5669280"/>
            <a:ext cx="4114800" cy="457200"/>
          </a:xfrm>
          <a:prstGeom prst="rect">
            <a:avLst/>
          </a:prstGeom>
          <a:noFill/>
          <a:ln/>
        </p:spPr>
        <p:txBody>
          <a:bodyPr wrap="square" lIns="0" tIns="0" rIns="0" bIns="0" rtlCol="0" anchor="t"/>
          <a:lstStyle/>
          <a:p>
            <a:pPr algn="l" indent="0" marL="0">
              <a:lnSpc>
                <a:spcPct val="115000"/>
              </a:lnSpc>
              <a:buNone/>
            </a:pPr>
            <a:r>
              <a:rPr lang="en-US" sz="1400" dirty="0">
                <a:solidFill>
                  <a:srgbClr val="5B6478"/>
                </a:solidFill>
                <a:latin typeface="Plus Jakarta Sans" pitchFamily="34" charset="0"/>
                <a:ea typeface="Plus Jakarta Sans" pitchFamily="34" charset="-122"/>
                <a:cs typeface="Plus Jakarta Sans" pitchFamily="34" charset="-120"/>
              </a:rPr>
              <a:t>Targetnya seperti ini, tapi dengan gayamu sendiri.</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6F7FA8"/>
                </a:solidFill>
                <a:latin typeface="Plus Jakarta Sans" pitchFamily="34" charset="0"/>
                <a:ea typeface="Plus Jakarta Sans" pitchFamily="34" charset="-122"/>
                <a:cs typeface="Plus Jakarta Sans" pitchFamily="34" charset="-120"/>
              </a:rPr>
              <a:t>27</a:t>
            </a:r>
            <a:endParaRPr lang="en-US" sz="1100" dirty="0"/>
          </a:p>
        </p:txBody>
      </p:sp>
      <p:sp>
        <p:nvSpPr>
          <p:cNvPr id="3" name="Text 1"/>
          <p:cNvSpPr txBox="1"/>
          <p:nvPr/>
        </p:nvSpPr>
        <p:spPr>
          <a:xfrm>
            <a:off x="731520" y="685800"/>
            <a:ext cx="10698480" cy="914400"/>
          </a:xfrm>
          <a:prstGeom prst="rect">
            <a:avLst/>
          </a:prstGeom>
          <a:noFill/>
          <a:ln/>
        </p:spPr>
        <p:txBody>
          <a:bodyPr wrap="square" lIns="0" tIns="0" rIns="0" bIns="0" rtlCol="0" anchor="t"/>
          <a:lstStyle/>
          <a:p>
            <a:pPr algn="l" indent="0" marL="0">
              <a:lnSpc>
                <a:spcPct val="108000"/>
              </a:lnSpc>
              <a:buNone/>
            </a:pPr>
            <a:r>
              <a:rPr lang="en-US" sz="4000" b="1" dirty="0">
                <a:solidFill>
                  <a:srgbClr val="F4F6FB"/>
                </a:solidFill>
                <a:latin typeface="Plus Jakarta Sans" pitchFamily="34" charset="0"/>
                <a:ea typeface="Plus Jakarta Sans" pitchFamily="34" charset="-122"/>
                <a:cs typeface="Plus Jakarta Sans" pitchFamily="34" charset="-120"/>
              </a:rPr>
              <a:t>Lima kesalahan yang pasti kamu temui</a:t>
            </a:r>
            <a:endParaRPr lang="en-US" sz="4000" dirty="0"/>
          </a:p>
        </p:txBody>
      </p:sp>
      <p:sp>
        <p:nvSpPr>
          <p:cNvPr id="4" name="Text 2"/>
          <p:cNvSpPr txBox="1"/>
          <p:nvPr/>
        </p:nvSpPr>
        <p:spPr>
          <a:xfrm>
            <a:off x="731520" y="1645920"/>
            <a:ext cx="3657600" cy="228600"/>
          </a:xfrm>
          <a:prstGeom prst="rect">
            <a:avLst/>
          </a:prstGeom>
          <a:noFill/>
          <a:ln/>
        </p:spPr>
        <p:txBody>
          <a:bodyPr wrap="square" lIns="0" tIns="0" rIns="0" bIns="0" rtlCol="0" anchor="t"/>
          <a:lstStyle/>
          <a:p>
            <a:pPr algn="l" indent="0" marL="0">
              <a:lnSpc>
                <a:spcPct val="115000"/>
              </a:lnSpc>
              <a:buNone/>
            </a:pPr>
            <a:r>
              <a:rPr lang="en-US" sz="1300" b="1" dirty="0">
                <a:solidFill>
                  <a:srgbClr val="A9B6D6"/>
                </a:solidFill>
                <a:latin typeface="Plus Jakarta Sans" pitchFamily="34" charset="0"/>
                <a:ea typeface="Plus Jakarta Sans" pitchFamily="34" charset="-122"/>
                <a:cs typeface="Plus Jakarta Sans" pitchFamily="34" charset="-120"/>
              </a:rPr>
              <a:t>Kesalahan</a:t>
            </a:r>
            <a:endParaRPr lang="en-US" sz="1300" dirty="0"/>
          </a:p>
        </p:txBody>
      </p:sp>
      <p:sp>
        <p:nvSpPr>
          <p:cNvPr id="5" name="Text 3"/>
          <p:cNvSpPr txBox="1"/>
          <p:nvPr/>
        </p:nvSpPr>
        <p:spPr>
          <a:xfrm>
            <a:off x="4480560" y="1645920"/>
            <a:ext cx="3657600" cy="228600"/>
          </a:xfrm>
          <a:prstGeom prst="rect">
            <a:avLst/>
          </a:prstGeom>
          <a:noFill/>
          <a:ln/>
        </p:spPr>
        <p:txBody>
          <a:bodyPr wrap="square" lIns="0" tIns="0" rIns="0" bIns="0" rtlCol="0" anchor="t"/>
          <a:lstStyle/>
          <a:p>
            <a:pPr algn="l" indent="0" marL="0">
              <a:lnSpc>
                <a:spcPct val="115000"/>
              </a:lnSpc>
              <a:buNone/>
            </a:pPr>
            <a:r>
              <a:rPr lang="en-US" sz="1300" b="1" dirty="0">
                <a:solidFill>
                  <a:srgbClr val="A9B6D6"/>
                </a:solidFill>
                <a:latin typeface="Plus Jakarta Sans" pitchFamily="34" charset="0"/>
                <a:ea typeface="Plus Jakarta Sans" pitchFamily="34" charset="-122"/>
                <a:cs typeface="Plus Jakarta Sans" pitchFamily="34" charset="-120"/>
              </a:rPr>
              <a:t>Akibatnya</a:t>
            </a:r>
            <a:endParaRPr lang="en-US" sz="1300" dirty="0"/>
          </a:p>
        </p:txBody>
      </p:sp>
      <p:sp>
        <p:nvSpPr>
          <p:cNvPr id="6" name="Shape 4"/>
          <p:cNvSpPr/>
          <p:nvPr/>
        </p:nvSpPr>
        <p:spPr>
          <a:xfrm>
            <a:off x="731520" y="1965960"/>
            <a:ext cx="7223760" cy="0"/>
          </a:xfrm>
          <a:prstGeom prst="line">
            <a:avLst/>
          </a:prstGeom>
          <a:noFill/>
          <a:ln w="12700">
            <a:solidFill>
              <a:srgbClr val="2A3C6E"/>
            </a:solidFill>
            <a:prstDash val="solid"/>
          </a:ln>
        </p:spPr>
      </p:sp>
      <p:sp>
        <p:nvSpPr>
          <p:cNvPr id="7" name="Text 5"/>
          <p:cNvSpPr txBox="1"/>
          <p:nvPr/>
        </p:nvSpPr>
        <p:spPr>
          <a:xfrm>
            <a:off x="731520" y="2039112"/>
            <a:ext cx="3657600" cy="329184"/>
          </a:xfrm>
          <a:prstGeom prst="rect">
            <a:avLst/>
          </a:prstGeom>
          <a:noFill/>
          <a:ln/>
        </p:spPr>
        <p:txBody>
          <a:bodyPr wrap="none" lIns="0" tIns="0" rIns="0" bIns="0" rtlCol="0" anchor="ctr"/>
          <a:lstStyle/>
          <a:p>
            <a:pPr algn="l" indent="0" marL="0">
              <a:lnSpc>
                <a:spcPct val="115000"/>
              </a:lnSpc>
              <a:buNone/>
            </a:pPr>
            <a:r>
              <a:rPr lang="en-US" sz="1700" b="1" dirty="0">
                <a:solidFill>
                  <a:srgbClr val="FFC83D"/>
                </a:solidFill>
                <a:latin typeface="JetBrains Mono" pitchFamily="34" charset="0"/>
                <a:ea typeface="JetBrains Mono" pitchFamily="34" charset="-122"/>
                <a:cs typeface="JetBrains Mono" pitchFamily="34" charset="-120"/>
              </a:rPr>
              <a:t>&lt;p&gt;Halo</a:t>
            </a:r>
            <a:endParaRPr lang="en-US" sz="1700" dirty="0"/>
          </a:p>
        </p:txBody>
      </p:sp>
      <p:sp>
        <p:nvSpPr>
          <p:cNvPr id="8" name="Text 6"/>
          <p:cNvSpPr txBox="1"/>
          <p:nvPr/>
        </p:nvSpPr>
        <p:spPr>
          <a:xfrm>
            <a:off x="731520" y="2368296"/>
            <a:ext cx="3657600" cy="256032"/>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Plus Jakarta Sans" pitchFamily="34" charset="0"/>
                <a:ea typeface="Plus Jakarta Sans" pitchFamily="34" charset="-122"/>
                <a:cs typeface="Plus Jakarta Sans" pitchFamily="34" charset="-120"/>
              </a:rPr>
              <a:t>Tag tidak ditutup</a:t>
            </a:r>
            <a:endParaRPr lang="en-US" sz="1400" dirty="0"/>
          </a:p>
        </p:txBody>
      </p:sp>
      <p:sp>
        <p:nvSpPr>
          <p:cNvPr id="9" name="Text 7"/>
          <p:cNvSpPr txBox="1"/>
          <p:nvPr/>
        </p:nvSpPr>
        <p:spPr>
          <a:xfrm>
            <a:off x="4480560" y="2011680"/>
            <a:ext cx="3474720" cy="621792"/>
          </a:xfrm>
          <a:prstGeom prst="rect">
            <a:avLst/>
          </a:prstGeom>
          <a:noFill/>
          <a:ln/>
        </p:spPr>
        <p:txBody>
          <a:bodyPr wrap="square" lIns="0" tIns="0" rIns="0" bIns="0" rtlCol="0" anchor="ctr"/>
          <a:lstStyle/>
          <a:p>
            <a:pPr algn="l" indent="0" marL="0">
              <a:lnSpc>
                <a:spcPct val="120000"/>
              </a:lnSpc>
              <a:buNone/>
            </a:pPr>
            <a:r>
              <a:rPr lang="en-US" sz="1700" dirty="0">
                <a:solidFill>
                  <a:srgbClr val="FFFFFF"/>
                </a:solidFill>
                <a:latin typeface="Plus Jakarta Sans" pitchFamily="34" charset="0"/>
                <a:ea typeface="Plus Jakarta Sans" pitchFamily="34" charset="-122"/>
                <a:cs typeface="Plus Jakarta Sans" pitchFamily="34" charset="-120"/>
              </a:rPr>
              <a:t>Tulisan setelahnya ikut berubah</a:t>
            </a:r>
            <a:endParaRPr lang="en-US" sz="1700" dirty="0"/>
          </a:p>
        </p:txBody>
      </p:sp>
      <p:sp>
        <p:nvSpPr>
          <p:cNvPr id="10" name="Shape 8"/>
          <p:cNvSpPr/>
          <p:nvPr/>
        </p:nvSpPr>
        <p:spPr>
          <a:xfrm>
            <a:off x="731520" y="2679192"/>
            <a:ext cx="7223760" cy="0"/>
          </a:xfrm>
          <a:prstGeom prst="line">
            <a:avLst/>
          </a:prstGeom>
          <a:noFill/>
          <a:ln w="12700">
            <a:solidFill>
              <a:srgbClr val="2A3C6E"/>
            </a:solidFill>
            <a:prstDash val="solid"/>
          </a:ln>
        </p:spPr>
      </p:sp>
      <p:sp>
        <p:nvSpPr>
          <p:cNvPr id="11" name="Text 9"/>
          <p:cNvSpPr txBox="1"/>
          <p:nvPr/>
        </p:nvSpPr>
        <p:spPr>
          <a:xfrm>
            <a:off x="731520" y="2752344"/>
            <a:ext cx="3657600" cy="329184"/>
          </a:xfrm>
          <a:prstGeom prst="rect">
            <a:avLst/>
          </a:prstGeom>
          <a:noFill/>
          <a:ln/>
        </p:spPr>
        <p:txBody>
          <a:bodyPr wrap="none" lIns="0" tIns="0" rIns="0" bIns="0" rtlCol="0" anchor="ctr"/>
          <a:lstStyle/>
          <a:p>
            <a:pPr algn="l" indent="0" marL="0">
              <a:lnSpc>
                <a:spcPct val="115000"/>
              </a:lnSpc>
              <a:buNone/>
            </a:pPr>
            <a:r>
              <a:rPr lang="en-US" sz="1700" b="1" dirty="0">
                <a:solidFill>
                  <a:srgbClr val="FFC83D"/>
                </a:solidFill>
                <a:latin typeface="JetBrains Mono" pitchFamily="34" charset="0"/>
                <a:ea typeface="JetBrains Mono" pitchFamily="34" charset="-122"/>
                <a:cs typeface="JetBrains Mono" pitchFamily="34" charset="-120"/>
              </a:rPr>
              <a:t>img/foto.JPG</a:t>
            </a:r>
            <a:endParaRPr lang="en-US" sz="1700" dirty="0"/>
          </a:p>
        </p:txBody>
      </p:sp>
      <p:sp>
        <p:nvSpPr>
          <p:cNvPr id="12" name="Text 10"/>
          <p:cNvSpPr txBox="1"/>
          <p:nvPr/>
        </p:nvSpPr>
        <p:spPr>
          <a:xfrm>
            <a:off x="731520" y="3081528"/>
            <a:ext cx="3657600" cy="256032"/>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Plus Jakarta Sans" pitchFamily="34" charset="0"/>
                <a:ea typeface="Plus Jakarta Sans" pitchFamily="34" charset="-122"/>
                <a:cs typeface="Plus Jakarta Sans" pitchFamily="34" charset="-120"/>
              </a:rPr>
              <a:t>Nama file tidak persis sama</a:t>
            </a:r>
            <a:endParaRPr lang="en-US" sz="1400" dirty="0"/>
          </a:p>
        </p:txBody>
      </p:sp>
      <p:sp>
        <p:nvSpPr>
          <p:cNvPr id="13" name="Text 11"/>
          <p:cNvSpPr txBox="1"/>
          <p:nvPr/>
        </p:nvSpPr>
        <p:spPr>
          <a:xfrm>
            <a:off x="4480560" y="2724912"/>
            <a:ext cx="3474720" cy="621792"/>
          </a:xfrm>
          <a:prstGeom prst="rect">
            <a:avLst/>
          </a:prstGeom>
          <a:noFill/>
          <a:ln/>
        </p:spPr>
        <p:txBody>
          <a:bodyPr wrap="square" lIns="0" tIns="0" rIns="0" bIns="0" rtlCol="0" anchor="ctr"/>
          <a:lstStyle/>
          <a:p>
            <a:pPr algn="l" indent="0" marL="0">
              <a:lnSpc>
                <a:spcPct val="120000"/>
              </a:lnSpc>
              <a:buNone/>
            </a:pPr>
            <a:r>
              <a:rPr lang="en-US" sz="1700" dirty="0">
                <a:solidFill>
                  <a:srgbClr val="FFFFFF"/>
                </a:solidFill>
                <a:latin typeface="Plus Jakarta Sans" pitchFamily="34" charset="0"/>
                <a:ea typeface="Plus Jakarta Sans" pitchFamily="34" charset="-122"/>
                <a:cs typeface="Plus Jakarta Sans" pitchFamily="34" charset="-120"/>
              </a:rPr>
              <a:t>Gambar rusak, muncul ikon patah</a:t>
            </a:r>
            <a:endParaRPr lang="en-US" sz="1700" dirty="0"/>
          </a:p>
        </p:txBody>
      </p:sp>
      <p:sp>
        <p:nvSpPr>
          <p:cNvPr id="14" name="Shape 12"/>
          <p:cNvSpPr/>
          <p:nvPr/>
        </p:nvSpPr>
        <p:spPr>
          <a:xfrm>
            <a:off x="731520" y="3392424"/>
            <a:ext cx="7223760" cy="0"/>
          </a:xfrm>
          <a:prstGeom prst="line">
            <a:avLst/>
          </a:prstGeom>
          <a:noFill/>
          <a:ln w="12700">
            <a:solidFill>
              <a:srgbClr val="2A3C6E"/>
            </a:solidFill>
            <a:prstDash val="solid"/>
          </a:ln>
        </p:spPr>
      </p:sp>
      <p:sp>
        <p:nvSpPr>
          <p:cNvPr id="15" name="Text 13"/>
          <p:cNvSpPr txBox="1"/>
          <p:nvPr/>
        </p:nvSpPr>
        <p:spPr>
          <a:xfrm>
            <a:off x="731520" y="3465576"/>
            <a:ext cx="3657600" cy="329184"/>
          </a:xfrm>
          <a:prstGeom prst="rect">
            <a:avLst/>
          </a:prstGeom>
          <a:noFill/>
          <a:ln/>
        </p:spPr>
        <p:txBody>
          <a:bodyPr wrap="none" lIns="0" tIns="0" rIns="0" bIns="0" rtlCol="0" anchor="ctr"/>
          <a:lstStyle/>
          <a:p>
            <a:pPr algn="l" indent="0" marL="0">
              <a:lnSpc>
                <a:spcPct val="115000"/>
              </a:lnSpc>
              <a:buNone/>
            </a:pPr>
            <a:r>
              <a:rPr lang="en-US" sz="1700" b="1" dirty="0">
                <a:solidFill>
                  <a:srgbClr val="FFC83D"/>
                </a:solidFill>
                <a:latin typeface="JetBrains Mono" pitchFamily="34" charset="0"/>
                <a:ea typeface="JetBrains Mono" pitchFamily="34" charset="-122"/>
                <a:cs typeface="JetBrains Mono" pitchFamily="34" charset="-120"/>
              </a:rPr>
              <a:t>class="kartuu"</a:t>
            </a:r>
            <a:endParaRPr lang="en-US" sz="1700" dirty="0"/>
          </a:p>
        </p:txBody>
      </p:sp>
      <p:sp>
        <p:nvSpPr>
          <p:cNvPr id="16" name="Text 14"/>
          <p:cNvSpPr txBox="1"/>
          <p:nvPr/>
        </p:nvSpPr>
        <p:spPr>
          <a:xfrm>
            <a:off x="731520" y="3794760"/>
            <a:ext cx="3657600" cy="256032"/>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Plus Jakarta Sans" pitchFamily="34" charset="0"/>
                <a:ea typeface="Plus Jakarta Sans" pitchFamily="34" charset="-122"/>
                <a:cs typeface="Plus Jakarta Sans" pitchFamily="34" charset="-120"/>
              </a:rPr>
              <a:t>Salah ketik nama class</a:t>
            </a:r>
            <a:endParaRPr lang="en-US" sz="1400" dirty="0"/>
          </a:p>
        </p:txBody>
      </p:sp>
      <p:sp>
        <p:nvSpPr>
          <p:cNvPr id="17" name="Text 15"/>
          <p:cNvSpPr txBox="1"/>
          <p:nvPr/>
        </p:nvSpPr>
        <p:spPr>
          <a:xfrm>
            <a:off x="4480560" y="3438144"/>
            <a:ext cx="3474720" cy="621792"/>
          </a:xfrm>
          <a:prstGeom prst="rect">
            <a:avLst/>
          </a:prstGeom>
          <a:noFill/>
          <a:ln/>
        </p:spPr>
        <p:txBody>
          <a:bodyPr wrap="square" lIns="0" tIns="0" rIns="0" bIns="0" rtlCol="0" anchor="ctr"/>
          <a:lstStyle/>
          <a:p>
            <a:pPr algn="l" indent="0" marL="0">
              <a:lnSpc>
                <a:spcPct val="120000"/>
              </a:lnSpc>
              <a:buNone/>
            </a:pPr>
            <a:r>
              <a:rPr lang="en-US" sz="1700" dirty="0">
                <a:solidFill>
                  <a:srgbClr val="FFFFFF"/>
                </a:solidFill>
                <a:latin typeface="Plus Jakarta Sans" pitchFamily="34" charset="0"/>
                <a:ea typeface="Plus Jakarta Sans" pitchFamily="34" charset="-122"/>
                <a:cs typeface="Plus Jakarta Sans" pitchFamily="34" charset="-120"/>
              </a:rPr>
              <a:t>Gaya tidak muncul</a:t>
            </a:r>
            <a:endParaRPr lang="en-US" sz="1700" dirty="0"/>
          </a:p>
        </p:txBody>
      </p:sp>
      <p:sp>
        <p:nvSpPr>
          <p:cNvPr id="18" name="Shape 16"/>
          <p:cNvSpPr/>
          <p:nvPr/>
        </p:nvSpPr>
        <p:spPr>
          <a:xfrm>
            <a:off x="731520" y="4105656"/>
            <a:ext cx="7223760" cy="0"/>
          </a:xfrm>
          <a:prstGeom prst="line">
            <a:avLst/>
          </a:prstGeom>
          <a:noFill/>
          <a:ln w="12700">
            <a:solidFill>
              <a:srgbClr val="2A3C6E"/>
            </a:solidFill>
            <a:prstDash val="solid"/>
          </a:ln>
        </p:spPr>
      </p:sp>
      <p:sp>
        <p:nvSpPr>
          <p:cNvPr id="19" name="Text 17"/>
          <p:cNvSpPr txBox="1"/>
          <p:nvPr/>
        </p:nvSpPr>
        <p:spPr>
          <a:xfrm>
            <a:off x="731520" y="4178808"/>
            <a:ext cx="3657600" cy="329184"/>
          </a:xfrm>
          <a:prstGeom prst="rect">
            <a:avLst/>
          </a:prstGeom>
          <a:noFill/>
          <a:ln/>
        </p:spPr>
        <p:txBody>
          <a:bodyPr wrap="none" lIns="0" tIns="0" rIns="0" bIns="0" rtlCol="0" anchor="ctr"/>
          <a:lstStyle/>
          <a:p>
            <a:pPr algn="l" indent="0" marL="0">
              <a:lnSpc>
                <a:spcPct val="115000"/>
              </a:lnSpc>
              <a:buNone/>
            </a:pPr>
            <a:r>
              <a:rPr lang="en-US" sz="1700" b="1" dirty="0">
                <a:solidFill>
                  <a:srgbClr val="FFC83D"/>
                </a:solidFill>
                <a:latin typeface="JetBrains Mono" pitchFamily="34" charset="0"/>
                <a:ea typeface="JetBrains Mono" pitchFamily="34" charset="-122"/>
                <a:cs typeface="JetBrains Mono" pitchFamily="34" charset="-120"/>
              </a:rPr>
              <a:t>&lt;link rel="stylesheet"&gt;</a:t>
            </a:r>
            <a:endParaRPr lang="en-US" sz="1700" dirty="0"/>
          </a:p>
        </p:txBody>
      </p:sp>
      <p:sp>
        <p:nvSpPr>
          <p:cNvPr id="20" name="Text 18"/>
          <p:cNvSpPr txBox="1"/>
          <p:nvPr/>
        </p:nvSpPr>
        <p:spPr>
          <a:xfrm>
            <a:off x="731520" y="4507992"/>
            <a:ext cx="3657600" cy="256032"/>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Plus Jakarta Sans" pitchFamily="34" charset="0"/>
                <a:ea typeface="Plus Jakarta Sans" pitchFamily="34" charset="-122"/>
                <a:cs typeface="Plus Jakarta Sans" pitchFamily="34" charset="-120"/>
              </a:rPr>
              <a:t>Link ke CSS hilang atau salah</a:t>
            </a:r>
            <a:endParaRPr lang="en-US" sz="1400" dirty="0"/>
          </a:p>
        </p:txBody>
      </p:sp>
      <p:sp>
        <p:nvSpPr>
          <p:cNvPr id="21" name="Text 19"/>
          <p:cNvSpPr txBox="1"/>
          <p:nvPr/>
        </p:nvSpPr>
        <p:spPr>
          <a:xfrm>
            <a:off x="4480560" y="4151376"/>
            <a:ext cx="3474720" cy="621792"/>
          </a:xfrm>
          <a:prstGeom prst="rect">
            <a:avLst/>
          </a:prstGeom>
          <a:noFill/>
          <a:ln/>
        </p:spPr>
        <p:txBody>
          <a:bodyPr wrap="square" lIns="0" tIns="0" rIns="0" bIns="0" rtlCol="0" anchor="ctr"/>
          <a:lstStyle/>
          <a:p>
            <a:pPr algn="l" indent="0" marL="0">
              <a:lnSpc>
                <a:spcPct val="120000"/>
              </a:lnSpc>
              <a:buNone/>
            </a:pPr>
            <a:r>
              <a:rPr lang="en-US" sz="1700" dirty="0">
                <a:solidFill>
                  <a:srgbClr val="FFFFFF"/>
                </a:solidFill>
                <a:latin typeface="Plus Jakarta Sans" pitchFamily="34" charset="0"/>
                <a:ea typeface="Plus Jakarta Sans" pitchFamily="34" charset="-122"/>
                <a:cs typeface="Plus Jakarta Sans" pitchFamily="34" charset="-120"/>
              </a:rPr>
              <a:t>Halaman kembali polos</a:t>
            </a:r>
            <a:endParaRPr lang="en-US" sz="1700" dirty="0"/>
          </a:p>
        </p:txBody>
      </p:sp>
      <p:sp>
        <p:nvSpPr>
          <p:cNvPr id="22" name="Shape 20"/>
          <p:cNvSpPr/>
          <p:nvPr/>
        </p:nvSpPr>
        <p:spPr>
          <a:xfrm>
            <a:off x="731520" y="4818888"/>
            <a:ext cx="7223760" cy="0"/>
          </a:xfrm>
          <a:prstGeom prst="line">
            <a:avLst/>
          </a:prstGeom>
          <a:noFill/>
          <a:ln w="12700">
            <a:solidFill>
              <a:srgbClr val="2A3C6E"/>
            </a:solidFill>
            <a:prstDash val="solid"/>
          </a:ln>
        </p:spPr>
      </p:sp>
      <p:sp>
        <p:nvSpPr>
          <p:cNvPr id="23" name="Text 21"/>
          <p:cNvSpPr txBox="1"/>
          <p:nvPr/>
        </p:nvSpPr>
        <p:spPr>
          <a:xfrm>
            <a:off x="731520" y="4892040"/>
            <a:ext cx="3657600" cy="329184"/>
          </a:xfrm>
          <a:prstGeom prst="rect">
            <a:avLst/>
          </a:prstGeom>
          <a:noFill/>
          <a:ln/>
        </p:spPr>
        <p:txBody>
          <a:bodyPr wrap="none" lIns="0" tIns="0" rIns="0" bIns="0" rtlCol="0" anchor="ctr"/>
          <a:lstStyle/>
          <a:p>
            <a:pPr algn="l" indent="0" marL="0">
              <a:lnSpc>
                <a:spcPct val="115000"/>
              </a:lnSpc>
              <a:buNone/>
            </a:pPr>
            <a:r>
              <a:rPr lang="en-US" sz="1700" b="1" dirty="0">
                <a:solidFill>
                  <a:srgbClr val="FFC83D"/>
                </a:solidFill>
                <a:latin typeface="JetBrains Mono" pitchFamily="34" charset="0"/>
                <a:ea typeface="JetBrains Mono" pitchFamily="34" charset="-122"/>
                <a:cs typeface="JetBrains Mono" pitchFamily="34" charset="-120"/>
              </a:rPr>
              <a:t>h1 { color: red;</a:t>
            </a:r>
            <a:endParaRPr lang="en-US" sz="1700" dirty="0"/>
          </a:p>
        </p:txBody>
      </p:sp>
      <p:sp>
        <p:nvSpPr>
          <p:cNvPr id="24" name="Text 22"/>
          <p:cNvSpPr txBox="1"/>
          <p:nvPr/>
        </p:nvSpPr>
        <p:spPr>
          <a:xfrm>
            <a:off x="731520" y="5221224"/>
            <a:ext cx="3657600" cy="256032"/>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Plus Jakarta Sans" pitchFamily="34" charset="0"/>
                <a:ea typeface="Plus Jakarta Sans" pitchFamily="34" charset="-122"/>
                <a:cs typeface="Plus Jakarta Sans" pitchFamily="34" charset="-120"/>
              </a:rPr>
              <a:t>Kurung } tidak ditutup</a:t>
            </a:r>
            <a:endParaRPr lang="en-US" sz="1400" dirty="0"/>
          </a:p>
        </p:txBody>
      </p:sp>
      <p:sp>
        <p:nvSpPr>
          <p:cNvPr id="25" name="Text 23"/>
          <p:cNvSpPr txBox="1"/>
          <p:nvPr/>
        </p:nvSpPr>
        <p:spPr>
          <a:xfrm>
            <a:off x="4480560" y="4864608"/>
            <a:ext cx="3474720" cy="621792"/>
          </a:xfrm>
          <a:prstGeom prst="rect">
            <a:avLst/>
          </a:prstGeom>
          <a:noFill/>
          <a:ln/>
        </p:spPr>
        <p:txBody>
          <a:bodyPr wrap="square" lIns="0" tIns="0" rIns="0" bIns="0" rtlCol="0" anchor="ctr"/>
          <a:lstStyle/>
          <a:p>
            <a:pPr algn="l" indent="0" marL="0">
              <a:lnSpc>
                <a:spcPct val="120000"/>
              </a:lnSpc>
              <a:buNone/>
            </a:pPr>
            <a:r>
              <a:rPr lang="en-US" sz="1700" dirty="0">
                <a:solidFill>
                  <a:srgbClr val="FFFFFF"/>
                </a:solidFill>
                <a:latin typeface="Plus Jakarta Sans" pitchFamily="34" charset="0"/>
                <a:ea typeface="Plus Jakarta Sans" pitchFamily="34" charset="-122"/>
                <a:cs typeface="Plus Jakarta Sans" pitchFamily="34" charset="-120"/>
              </a:rPr>
              <a:t>Gaya setelahnya hilang</a:t>
            </a:r>
            <a:endParaRPr lang="en-US" sz="1700" dirty="0"/>
          </a:p>
        </p:txBody>
      </p:sp>
      <p:sp>
        <p:nvSpPr>
          <p:cNvPr id="26" name="Shape 24"/>
          <p:cNvSpPr/>
          <p:nvPr/>
        </p:nvSpPr>
        <p:spPr>
          <a:xfrm>
            <a:off x="8229600" y="1691640"/>
            <a:ext cx="3246120" cy="3246120"/>
          </a:xfrm>
          <a:prstGeom prst="roundRect">
            <a:avLst>
              <a:gd name="adj" fmla="val 8451"/>
            </a:avLst>
          </a:prstGeom>
          <a:solidFill>
            <a:srgbClr val="FAF8F4"/>
          </a:solidFill>
          <a:ln/>
        </p:spPr>
      </p:sp>
      <p:pic>
        <p:nvPicPr>
          <p:cNvPr id="27" name="Image 0" descr="C:\Dev\daily-report\Seminar\seminar-sifest\generator\assets\ill\developer_activity_bv83.png">    </p:cNvPr>
          <p:cNvPicPr>
            <a:picLocks noChangeAspect="1"/>
          </p:cNvPicPr>
          <p:nvPr/>
        </p:nvPicPr>
        <p:blipFill>
          <a:blip r:embed="rId1"/>
          <a:stretch>
            <a:fillRect/>
          </a:stretch>
        </p:blipFill>
        <p:spPr>
          <a:xfrm>
            <a:off x="8549640" y="2611069"/>
            <a:ext cx="2606040" cy="1407262"/>
          </a:xfrm>
          <a:prstGeom prst="rect">
            <a:avLst/>
          </a:prstGeom>
        </p:spPr>
      </p:pic>
      <p:sp>
        <p:nvSpPr>
          <p:cNvPr id="28" name="Text 25"/>
          <p:cNvSpPr txBox="1"/>
          <p:nvPr/>
        </p:nvSpPr>
        <p:spPr>
          <a:xfrm>
            <a:off x="731520" y="5669280"/>
            <a:ext cx="10698480" cy="457200"/>
          </a:xfrm>
          <a:prstGeom prst="rect">
            <a:avLst/>
          </a:prstGeom>
          <a:noFill/>
          <a:ln/>
        </p:spPr>
        <p:txBody>
          <a:bodyPr wrap="square" lIns="0" tIns="0" rIns="0" bIns="0" rtlCol="0" anchor="ctr"/>
          <a:lstStyle/>
          <a:p>
            <a:pPr algn="l" indent="0" marL="0">
              <a:lnSpc>
                <a:spcPct val="115000"/>
              </a:lnSpc>
              <a:buNone/>
            </a:pPr>
            <a:r>
              <a:rPr lang="en-US" sz="1800" b="1" dirty="0">
                <a:solidFill>
                  <a:srgbClr val="FFC83D"/>
                </a:solidFill>
                <a:latin typeface="Plus Jakarta Sans" pitchFamily="34" charset="0"/>
                <a:ea typeface="Plus Jakarta Sans" pitchFamily="34" charset="-122"/>
                <a:cs typeface="Plus Jakarta Sans" pitchFamily="34" charset="-120"/>
              </a:rPr>
              <a:t>Kalau halamanmu aneh: tekan F12, lihat Console atau Elements, lalu baca pesannya pelan-pelan.</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28</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AI itu guru les, bukan joki</a:t>
            </a:r>
            <a:endParaRPr lang="en-US" sz="4000" dirty="0"/>
          </a:p>
        </p:txBody>
      </p:sp>
      <p:sp>
        <p:nvSpPr>
          <p:cNvPr id="4" name="Shape 2"/>
          <p:cNvSpPr/>
          <p:nvPr/>
        </p:nvSpPr>
        <p:spPr>
          <a:xfrm>
            <a:off x="731520" y="1645920"/>
            <a:ext cx="6949440" cy="0"/>
          </a:xfrm>
          <a:prstGeom prst="line">
            <a:avLst/>
          </a:prstGeom>
          <a:noFill/>
          <a:ln w="12700">
            <a:solidFill>
              <a:srgbClr val="E3DFD6"/>
            </a:solidFill>
            <a:prstDash val="solid"/>
          </a:ln>
        </p:spPr>
      </p:sp>
      <p:sp>
        <p:nvSpPr>
          <p:cNvPr id="5" name="Text 3"/>
          <p:cNvSpPr txBox="1"/>
          <p:nvPr/>
        </p:nvSpPr>
        <p:spPr>
          <a:xfrm>
            <a:off x="731520" y="1737360"/>
            <a:ext cx="6949440" cy="256032"/>
          </a:xfrm>
          <a:prstGeom prst="rect">
            <a:avLst/>
          </a:prstGeom>
          <a:noFill/>
          <a:ln/>
        </p:spPr>
        <p:txBody>
          <a:bodyPr wrap="square" lIns="0" tIns="0" rIns="0" bIns="0" rtlCol="0" anchor="t"/>
          <a:lstStyle/>
          <a:p>
            <a:pPr algn="l" indent="0" marL="0">
              <a:lnSpc>
                <a:spcPct val="115000"/>
              </a:lnSpc>
              <a:buNone/>
            </a:pPr>
            <a:r>
              <a:rPr lang="en-US" sz="1300" b="1" dirty="0">
                <a:solidFill>
                  <a:srgbClr val="1F4FD8"/>
                </a:solidFill>
                <a:latin typeface="Plus Jakarta Sans" pitchFamily="34" charset="0"/>
                <a:ea typeface="Plus Jakarta Sans" pitchFamily="34" charset="-122"/>
                <a:cs typeface="Plus Jakarta Sans" pitchFamily="34" charset="-120"/>
              </a:rPr>
              <a:t>Prompt 1 · Memahami</a:t>
            </a:r>
            <a:endParaRPr lang="en-US" sz="1300" dirty="0"/>
          </a:p>
        </p:txBody>
      </p:sp>
      <p:sp>
        <p:nvSpPr>
          <p:cNvPr id="6" name="Text 4"/>
          <p:cNvSpPr txBox="1"/>
          <p:nvPr/>
        </p:nvSpPr>
        <p:spPr>
          <a:xfrm>
            <a:off x="731520" y="2029968"/>
            <a:ext cx="6949440" cy="594360"/>
          </a:xfrm>
          <a:prstGeom prst="rect">
            <a:avLst/>
          </a:prstGeom>
          <a:noFill/>
          <a:ln/>
        </p:spPr>
        <p:txBody>
          <a:bodyPr wrap="square" lIns="0" tIns="0" rIns="0" bIns="0" rtlCol="0" anchor="t"/>
          <a:lstStyle/>
          <a:p>
            <a:pPr algn="l" indent="0" marL="0">
              <a:lnSpc>
                <a:spcPct val="125000"/>
              </a:lnSpc>
              <a:buNone/>
            </a:pPr>
            <a:r>
              <a:rPr lang="en-US" sz="1800" i="1" dirty="0">
                <a:solidFill>
                  <a:srgbClr val="0E1B3D"/>
                </a:solidFill>
                <a:latin typeface="Plus Jakarta Sans" pitchFamily="34" charset="0"/>
                <a:ea typeface="Plus Jakarta Sans" pitchFamily="34" charset="-122"/>
                <a:cs typeface="Plus Jakarta Sans" pitchFamily="34" charset="-120"/>
              </a:rPr>
              <a:t>Jelaskan kode ini baris per baris: [tempel kodemu]</a:t>
            </a:r>
            <a:endParaRPr lang="en-US" sz="1800" dirty="0"/>
          </a:p>
        </p:txBody>
      </p:sp>
      <p:sp>
        <p:nvSpPr>
          <p:cNvPr id="7" name="Shape 5"/>
          <p:cNvSpPr/>
          <p:nvPr/>
        </p:nvSpPr>
        <p:spPr>
          <a:xfrm>
            <a:off x="731520" y="2697480"/>
            <a:ext cx="6949440" cy="0"/>
          </a:xfrm>
          <a:prstGeom prst="line">
            <a:avLst/>
          </a:prstGeom>
          <a:noFill/>
          <a:ln w="12700">
            <a:solidFill>
              <a:srgbClr val="E3DFD6"/>
            </a:solidFill>
            <a:prstDash val="solid"/>
          </a:ln>
        </p:spPr>
      </p:sp>
      <p:sp>
        <p:nvSpPr>
          <p:cNvPr id="8" name="Text 6"/>
          <p:cNvSpPr txBox="1"/>
          <p:nvPr/>
        </p:nvSpPr>
        <p:spPr>
          <a:xfrm>
            <a:off x="731520" y="2788920"/>
            <a:ext cx="6949440" cy="256032"/>
          </a:xfrm>
          <a:prstGeom prst="rect">
            <a:avLst/>
          </a:prstGeom>
          <a:noFill/>
          <a:ln/>
        </p:spPr>
        <p:txBody>
          <a:bodyPr wrap="square" lIns="0" tIns="0" rIns="0" bIns="0" rtlCol="0" anchor="t"/>
          <a:lstStyle/>
          <a:p>
            <a:pPr algn="l" indent="0" marL="0">
              <a:lnSpc>
                <a:spcPct val="115000"/>
              </a:lnSpc>
              <a:buNone/>
            </a:pPr>
            <a:r>
              <a:rPr lang="en-US" sz="1300" b="1" dirty="0">
                <a:solidFill>
                  <a:srgbClr val="1F4FD8"/>
                </a:solidFill>
                <a:latin typeface="Plus Jakarta Sans" pitchFamily="34" charset="0"/>
                <a:ea typeface="Plus Jakarta Sans" pitchFamily="34" charset="-122"/>
                <a:cs typeface="Plus Jakarta Sans" pitchFamily="34" charset="-120"/>
              </a:rPr>
              <a:t>Prompt 2 · Mencari error</a:t>
            </a:r>
            <a:endParaRPr lang="en-US" sz="1300" dirty="0"/>
          </a:p>
        </p:txBody>
      </p:sp>
      <p:sp>
        <p:nvSpPr>
          <p:cNvPr id="9" name="Text 7"/>
          <p:cNvSpPr txBox="1"/>
          <p:nvPr/>
        </p:nvSpPr>
        <p:spPr>
          <a:xfrm>
            <a:off x="731520" y="3081528"/>
            <a:ext cx="6949440" cy="594360"/>
          </a:xfrm>
          <a:prstGeom prst="rect">
            <a:avLst/>
          </a:prstGeom>
          <a:noFill/>
          <a:ln/>
        </p:spPr>
        <p:txBody>
          <a:bodyPr wrap="square" lIns="0" tIns="0" rIns="0" bIns="0" rtlCol="0" anchor="t"/>
          <a:lstStyle/>
          <a:p>
            <a:pPr algn="l" indent="0" marL="0">
              <a:lnSpc>
                <a:spcPct val="125000"/>
              </a:lnSpc>
              <a:buNone/>
            </a:pPr>
            <a:r>
              <a:rPr lang="en-US" sz="1800" i="1" dirty="0">
                <a:solidFill>
                  <a:srgbClr val="0E1B3D"/>
                </a:solidFill>
                <a:latin typeface="Plus Jakarta Sans" pitchFamily="34" charset="0"/>
                <a:ea typeface="Plus Jakarta Sans" pitchFamily="34" charset="-122"/>
                <a:cs typeface="Plus Jakarta Sans" pitchFamily="34" charset="-120"/>
              </a:rPr>
              <a:t>Kenapa gambarku tidak muncul? Ini kodeku: [tempel kodemu]</a:t>
            </a:r>
            <a:endParaRPr lang="en-US" sz="1800" dirty="0"/>
          </a:p>
        </p:txBody>
      </p:sp>
      <p:sp>
        <p:nvSpPr>
          <p:cNvPr id="10" name="Shape 8"/>
          <p:cNvSpPr/>
          <p:nvPr/>
        </p:nvSpPr>
        <p:spPr>
          <a:xfrm>
            <a:off x="731520" y="3749040"/>
            <a:ext cx="6949440" cy="0"/>
          </a:xfrm>
          <a:prstGeom prst="line">
            <a:avLst/>
          </a:prstGeom>
          <a:noFill/>
          <a:ln w="12700">
            <a:solidFill>
              <a:srgbClr val="E3DFD6"/>
            </a:solidFill>
            <a:prstDash val="solid"/>
          </a:ln>
        </p:spPr>
      </p:sp>
      <p:sp>
        <p:nvSpPr>
          <p:cNvPr id="11" name="Text 9"/>
          <p:cNvSpPr txBox="1"/>
          <p:nvPr/>
        </p:nvSpPr>
        <p:spPr>
          <a:xfrm>
            <a:off x="731520" y="3840480"/>
            <a:ext cx="6949440" cy="256032"/>
          </a:xfrm>
          <a:prstGeom prst="rect">
            <a:avLst/>
          </a:prstGeom>
          <a:noFill/>
          <a:ln/>
        </p:spPr>
        <p:txBody>
          <a:bodyPr wrap="square" lIns="0" tIns="0" rIns="0" bIns="0" rtlCol="0" anchor="t"/>
          <a:lstStyle/>
          <a:p>
            <a:pPr algn="l" indent="0" marL="0">
              <a:lnSpc>
                <a:spcPct val="115000"/>
              </a:lnSpc>
              <a:buNone/>
            </a:pPr>
            <a:r>
              <a:rPr lang="en-US" sz="1300" b="1" dirty="0">
                <a:solidFill>
                  <a:srgbClr val="1F4FD8"/>
                </a:solidFill>
                <a:latin typeface="Plus Jakarta Sans" pitchFamily="34" charset="0"/>
                <a:ea typeface="Plus Jakarta Sans" pitchFamily="34" charset="-122"/>
                <a:cs typeface="Plus Jakarta Sans" pitchFamily="34" charset="-120"/>
              </a:rPr>
              <a:t>Prompt 3 · Mencari ide</a:t>
            </a:r>
            <a:endParaRPr lang="en-US" sz="1300" dirty="0"/>
          </a:p>
        </p:txBody>
      </p:sp>
      <p:sp>
        <p:nvSpPr>
          <p:cNvPr id="12" name="Text 10"/>
          <p:cNvSpPr txBox="1"/>
          <p:nvPr/>
        </p:nvSpPr>
        <p:spPr>
          <a:xfrm>
            <a:off x="731520" y="4133088"/>
            <a:ext cx="6949440" cy="594360"/>
          </a:xfrm>
          <a:prstGeom prst="rect">
            <a:avLst/>
          </a:prstGeom>
          <a:noFill/>
          <a:ln/>
        </p:spPr>
        <p:txBody>
          <a:bodyPr wrap="square" lIns="0" tIns="0" rIns="0" bIns="0" rtlCol="0" anchor="t"/>
          <a:lstStyle/>
          <a:p>
            <a:pPr algn="l" indent="0" marL="0">
              <a:lnSpc>
                <a:spcPct val="125000"/>
              </a:lnSpc>
              <a:buNone/>
            </a:pPr>
            <a:r>
              <a:rPr lang="en-US" sz="1800" i="1" dirty="0">
                <a:solidFill>
                  <a:srgbClr val="0E1B3D"/>
                </a:solidFill>
                <a:latin typeface="Plus Jakarta Sans" pitchFamily="34" charset="0"/>
                <a:ea typeface="Plus Jakarta Sans" pitchFamily="34" charset="-122"/>
                <a:cs typeface="Plus Jakarta Sans" pitchFamily="34" charset="-120"/>
              </a:rPr>
              <a:t>Beri 3 ide untuk mempercantik halaman profil. Jangan tuliskan kodenya.</a:t>
            </a:r>
            <a:endParaRPr lang="en-US" sz="1800" dirty="0"/>
          </a:p>
        </p:txBody>
      </p:sp>
      <p:pic>
        <p:nvPicPr>
          <p:cNvPr id="13" name="Image 0" descr="C:\Dev\daily-report\Seminar\seminar-sifest\generator\assets\ill\artificial_intelligence_upfn.png">    </p:cNvPr>
          <p:cNvPicPr>
            <a:picLocks noChangeAspect="1"/>
          </p:cNvPicPr>
          <p:nvPr/>
        </p:nvPicPr>
        <p:blipFill>
          <a:blip r:embed="rId1"/>
          <a:stretch>
            <a:fillRect/>
          </a:stretch>
        </p:blipFill>
        <p:spPr>
          <a:xfrm>
            <a:off x="8138160" y="1600200"/>
            <a:ext cx="3383280" cy="2475946"/>
          </a:xfrm>
          <a:prstGeom prst="rect">
            <a:avLst/>
          </a:prstGeom>
        </p:spPr>
      </p:pic>
      <p:sp>
        <p:nvSpPr>
          <p:cNvPr id="14" name="Shape 11"/>
          <p:cNvSpPr/>
          <p:nvPr/>
        </p:nvSpPr>
        <p:spPr>
          <a:xfrm>
            <a:off x="731520" y="4937760"/>
            <a:ext cx="10698480" cy="1188720"/>
          </a:xfrm>
          <a:prstGeom prst="roundRect">
            <a:avLst>
              <a:gd name="adj" fmla="val 15385"/>
            </a:avLst>
          </a:prstGeom>
          <a:solidFill>
            <a:srgbClr val="0E1B3D"/>
          </a:solidFill>
          <a:ln/>
        </p:spPr>
      </p:sp>
      <p:sp>
        <p:nvSpPr>
          <p:cNvPr id="15" name="Text 12"/>
          <p:cNvSpPr txBox="1"/>
          <p:nvPr/>
        </p:nvSpPr>
        <p:spPr>
          <a:xfrm>
            <a:off x="1143000" y="5074920"/>
            <a:ext cx="9875520" cy="502920"/>
          </a:xfrm>
          <a:prstGeom prst="rect">
            <a:avLst/>
          </a:prstGeom>
          <a:noFill/>
          <a:ln/>
        </p:spPr>
        <p:txBody>
          <a:bodyPr wrap="square" lIns="0" tIns="0" rIns="0" bIns="0" rtlCol="0" anchor="ctr"/>
          <a:lstStyle/>
          <a:p>
            <a:pPr algn="l" indent="0" marL="0">
              <a:lnSpc>
                <a:spcPct val="115000"/>
              </a:lnSpc>
              <a:buNone/>
            </a:pPr>
            <a:r>
              <a:rPr lang="en-US" sz="2600" b="1" dirty="0">
                <a:solidFill>
                  <a:srgbClr val="FFC83D"/>
                </a:solidFill>
                <a:latin typeface="Plus Jakarta Sans" pitchFamily="34" charset="0"/>
                <a:ea typeface="Plus Jakarta Sans" pitchFamily="34" charset="-122"/>
                <a:cs typeface="Plus Jakarta Sans" pitchFamily="34" charset="-120"/>
              </a:rPr>
              <a:t>Aturan emas: kamu yang mengetik dulu.</a:t>
            </a:r>
            <a:endParaRPr lang="en-US" sz="2600" dirty="0"/>
          </a:p>
        </p:txBody>
      </p:sp>
      <p:sp>
        <p:nvSpPr>
          <p:cNvPr id="16" name="Text 13"/>
          <p:cNvSpPr txBox="1"/>
          <p:nvPr/>
        </p:nvSpPr>
        <p:spPr>
          <a:xfrm>
            <a:off x="1143000" y="5577840"/>
            <a:ext cx="9875520" cy="457200"/>
          </a:xfrm>
          <a:prstGeom prst="rect">
            <a:avLst/>
          </a:prstGeom>
          <a:noFill/>
          <a:ln/>
        </p:spPr>
        <p:txBody>
          <a:bodyPr wrap="square" lIns="0" tIns="0" rIns="0" bIns="0" rtlCol="0" anchor="ctr"/>
          <a:lstStyle/>
          <a:p>
            <a:pPr algn="l" indent="0" marL="0">
              <a:lnSpc>
                <a:spcPct val="115000"/>
              </a:lnSpc>
              <a:buNone/>
            </a:pPr>
            <a:r>
              <a:rPr lang="en-US" sz="1600" dirty="0">
                <a:solidFill>
                  <a:srgbClr val="F4F6FB"/>
                </a:solidFill>
                <a:latin typeface="Plus Jakarta Sans" pitchFamily="34" charset="0"/>
                <a:ea typeface="Plus Jakarta Sans" pitchFamily="34" charset="-122"/>
                <a:cs typeface="Plus Jakarta Sans" pitchFamily="34" charset="-120"/>
              </a:rPr>
              <a:t>Menyalin tanpa paham = tidak belajar. Pakai AI untuk bertanya, bukan menyalin jawaban.</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6F7FA8"/>
                </a:solidFill>
                <a:latin typeface="Plus Jakarta Sans" pitchFamily="34" charset="0"/>
                <a:ea typeface="Plus Jakarta Sans" pitchFamily="34" charset="-122"/>
                <a:cs typeface="Plus Jakarta Sans" pitchFamily="34" charset="-120"/>
              </a:rPr>
              <a:t>29</a:t>
            </a:r>
            <a:endParaRPr lang="en-US" sz="1100" dirty="0"/>
          </a:p>
        </p:txBody>
      </p:sp>
      <p:sp>
        <p:nvSpPr>
          <p:cNvPr id="3" name="Shape 1"/>
          <p:cNvSpPr/>
          <p:nvPr/>
        </p:nvSpPr>
        <p:spPr>
          <a:xfrm>
            <a:off x="731520" y="411480"/>
            <a:ext cx="2240280" cy="384048"/>
          </a:xfrm>
          <a:prstGeom prst="roundRect">
            <a:avLst>
              <a:gd name="adj" fmla="val 50000"/>
            </a:avLst>
          </a:prstGeom>
          <a:solidFill>
            <a:srgbClr val="FFC83D"/>
          </a:solidFill>
          <a:ln/>
        </p:spPr>
      </p:sp>
      <p:sp>
        <p:nvSpPr>
          <p:cNvPr id="4" name="Text 2"/>
          <p:cNvSpPr txBox="1"/>
          <p:nvPr/>
        </p:nvSpPr>
        <p:spPr>
          <a:xfrm>
            <a:off x="731520" y="411480"/>
            <a:ext cx="2240280" cy="384048"/>
          </a:xfrm>
          <a:prstGeom prst="rect">
            <a:avLst/>
          </a:prstGeom>
          <a:noFill/>
          <a:ln/>
        </p:spPr>
        <p:txBody>
          <a:bodyPr wrap="square" lIns="0" tIns="0" rIns="0" bIns="0" rtlCol="0" anchor="ctr"/>
          <a:lstStyle/>
          <a:p>
            <a:pPr algn="ctr" indent="0" marL="0">
              <a:lnSpc>
                <a:spcPct val="115000"/>
              </a:lnSpc>
              <a:buNone/>
            </a:pPr>
            <a:r>
              <a:rPr lang="en-US" sz="1300" b="1" spc="180" kern="0" dirty="0">
                <a:solidFill>
                  <a:srgbClr val="0E1B3D"/>
                </a:solidFill>
                <a:latin typeface="Plus Jakarta Sans" pitchFamily="34" charset="0"/>
                <a:ea typeface="Plus Jakarta Sans" pitchFamily="34" charset="-122"/>
                <a:cs typeface="Plus Jakarta Sans" pitchFamily="34" charset="-120"/>
              </a:rPr>
              <a:t>CHECKPOINT 3</a:t>
            </a:r>
            <a:endParaRPr lang="en-US" sz="1300" dirty="0"/>
          </a:p>
        </p:txBody>
      </p:sp>
      <p:sp>
        <p:nvSpPr>
          <p:cNvPr id="5" name="Text 3"/>
          <p:cNvSpPr txBox="1"/>
          <p:nvPr/>
        </p:nvSpPr>
        <p:spPr>
          <a:xfrm>
            <a:off x="731520" y="1097280"/>
            <a:ext cx="5486400" cy="822960"/>
          </a:xfrm>
          <a:prstGeom prst="rect">
            <a:avLst/>
          </a:prstGeom>
          <a:noFill/>
          <a:ln/>
        </p:spPr>
        <p:txBody>
          <a:bodyPr wrap="square" lIns="0" tIns="0" rIns="0" bIns="0" rtlCol="0" anchor="t"/>
          <a:lstStyle/>
          <a:p>
            <a:pPr algn="l" indent="0" marL="0">
              <a:lnSpc>
                <a:spcPct val="115000"/>
              </a:lnSpc>
              <a:buNone/>
            </a:pPr>
            <a:r>
              <a:rPr lang="en-US" sz="4400" b="1" dirty="0">
                <a:solidFill>
                  <a:srgbClr val="FFFFFF"/>
                </a:solidFill>
                <a:latin typeface="Plus Jakarta Sans" pitchFamily="34" charset="0"/>
                <a:ea typeface="Plus Jakarta Sans" pitchFamily="34" charset="-122"/>
                <a:cs typeface="Plus Jakarta Sans" pitchFamily="34" charset="-120"/>
              </a:rPr>
              <a:t>Sprint akhir</a:t>
            </a:r>
            <a:endParaRPr lang="en-US" sz="4400" dirty="0"/>
          </a:p>
        </p:txBody>
      </p:sp>
      <p:sp>
        <p:nvSpPr>
          <p:cNvPr id="6" name="Text 4"/>
          <p:cNvSpPr txBox="1"/>
          <p:nvPr/>
        </p:nvSpPr>
        <p:spPr>
          <a:xfrm>
            <a:off x="731520" y="2148840"/>
            <a:ext cx="5852160" cy="2011680"/>
          </a:xfrm>
          <a:prstGeom prst="rect">
            <a:avLst/>
          </a:prstGeom>
          <a:noFill/>
          <a:ln/>
        </p:spPr>
        <p:txBody>
          <a:bodyPr wrap="none" lIns="0" tIns="0" rIns="0" bIns="0" rtlCol="0" anchor="ctr"/>
          <a:lstStyle/>
          <a:p>
            <a:pPr algn="l" indent="0" marL="0">
              <a:lnSpc>
                <a:spcPct val="115000"/>
              </a:lnSpc>
              <a:buNone/>
            </a:pPr>
            <a:r>
              <a:rPr lang="en-US" sz="13000" b="1" dirty="0">
                <a:solidFill>
                  <a:srgbClr val="FFC83D"/>
                </a:solidFill>
                <a:latin typeface="JetBrains Mono" pitchFamily="34" charset="0"/>
                <a:ea typeface="JetBrains Mono" pitchFamily="34" charset="-122"/>
                <a:cs typeface="JetBrains Mono" pitchFamily="34" charset="-120"/>
              </a:rPr>
              <a:t>20:00</a:t>
            </a:r>
            <a:endParaRPr lang="en-US" sz="13000" dirty="0"/>
          </a:p>
        </p:txBody>
      </p:sp>
      <p:sp>
        <p:nvSpPr>
          <p:cNvPr id="7" name="Text 5"/>
          <p:cNvSpPr txBox="1"/>
          <p:nvPr/>
        </p:nvSpPr>
        <p:spPr>
          <a:xfrm>
            <a:off x="731520" y="4297680"/>
            <a:ext cx="5303520" cy="731520"/>
          </a:xfrm>
          <a:prstGeom prst="rect">
            <a:avLst/>
          </a:prstGeom>
          <a:noFill/>
          <a:ln/>
        </p:spPr>
        <p:txBody>
          <a:bodyPr wrap="square" lIns="0" tIns="0" rIns="0" bIns="0" rtlCol="0" anchor="t"/>
          <a:lstStyle/>
          <a:p>
            <a:pPr algn="l" indent="0" marL="0">
              <a:lnSpc>
                <a:spcPct val="135000"/>
              </a:lnSpc>
              <a:buNone/>
            </a:pPr>
            <a:r>
              <a:rPr lang="en-US" sz="1900" dirty="0">
                <a:solidFill>
                  <a:srgbClr val="A9B6D6"/>
                </a:solidFill>
                <a:latin typeface="Plus Jakarta Sans" pitchFamily="34" charset="0"/>
                <a:ea typeface="Plus Jakarta Sans" pitchFamily="34" charset="-122"/>
                <a:cs typeface="Plus Jakarta Sans" pitchFamily="34" charset="-120"/>
              </a:rPr>
              <a:t>menit untuk menyelesaikan profilmu dan membuatnya jadi milikmu.</a:t>
            </a:r>
            <a:endParaRPr lang="en-US" sz="1900" dirty="0"/>
          </a:p>
        </p:txBody>
      </p:sp>
      <p:sp>
        <p:nvSpPr>
          <p:cNvPr id="8" name="Shape 6"/>
          <p:cNvSpPr/>
          <p:nvPr/>
        </p:nvSpPr>
        <p:spPr>
          <a:xfrm>
            <a:off x="6675120" y="1188720"/>
            <a:ext cx="4754880" cy="4846320"/>
          </a:xfrm>
          <a:prstGeom prst="roundRect">
            <a:avLst>
              <a:gd name="adj" fmla="val 3846"/>
            </a:avLst>
          </a:prstGeom>
          <a:solidFill>
            <a:srgbClr val="17285A"/>
          </a:solidFill>
          <a:ln w="12700">
            <a:solidFill>
              <a:srgbClr val="2A3C6E"/>
            </a:solidFill>
            <a:prstDash val="solid"/>
          </a:ln>
        </p:spPr>
      </p:sp>
      <p:sp>
        <p:nvSpPr>
          <p:cNvPr id="9" name="Text 7"/>
          <p:cNvSpPr txBox="1"/>
          <p:nvPr/>
        </p:nvSpPr>
        <p:spPr>
          <a:xfrm>
            <a:off x="7040880" y="1463040"/>
            <a:ext cx="4114800" cy="457200"/>
          </a:xfrm>
          <a:prstGeom prst="rect">
            <a:avLst/>
          </a:prstGeom>
          <a:noFill/>
          <a:ln/>
        </p:spPr>
        <p:txBody>
          <a:bodyPr wrap="square" lIns="0" tIns="0" rIns="0" bIns="0" rtlCol="0" anchor="t"/>
          <a:lstStyle/>
          <a:p>
            <a:pPr algn="l" indent="0" marL="0">
              <a:lnSpc>
                <a:spcPct val="115000"/>
              </a:lnSpc>
              <a:buNone/>
            </a:pPr>
            <a:r>
              <a:rPr lang="en-US" sz="2200" b="1" dirty="0">
                <a:solidFill>
                  <a:srgbClr val="FFFFFF"/>
                </a:solidFill>
                <a:latin typeface="Plus Jakarta Sans" pitchFamily="34" charset="0"/>
                <a:ea typeface="Plus Jakarta Sans" pitchFamily="34" charset="-122"/>
                <a:cs typeface="Plus Jakarta Sans" pitchFamily="34" charset="-120"/>
              </a:rPr>
              <a:t>Cek sendiri</a:t>
            </a:r>
            <a:endParaRPr lang="en-US" sz="2200" dirty="0"/>
          </a:p>
        </p:txBody>
      </p:sp>
      <p:sp>
        <p:nvSpPr>
          <p:cNvPr id="10" name="Shape 8"/>
          <p:cNvSpPr/>
          <p:nvPr/>
        </p:nvSpPr>
        <p:spPr>
          <a:xfrm>
            <a:off x="7040880" y="2404872"/>
            <a:ext cx="365760" cy="365760"/>
          </a:xfrm>
          <a:prstGeom prst="roundRect">
            <a:avLst>
              <a:gd name="adj" fmla="val 22000"/>
            </a:avLst>
          </a:prstGeom>
          <a:ln w="22225">
            <a:solidFill>
              <a:srgbClr val="FFC83D"/>
            </a:solidFill>
            <a:prstDash val="solid"/>
          </a:ln>
        </p:spPr>
      </p:sp>
      <p:sp>
        <p:nvSpPr>
          <p:cNvPr id="11" name="Text 9"/>
          <p:cNvSpPr txBox="1"/>
          <p:nvPr/>
        </p:nvSpPr>
        <p:spPr>
          <a:xfrm>
            <a:off x="7635240" y="2331720"/>
            <a:ext cx="3566160" cy="548640"/>
          </a:xfrm>
          <a:prstGeom prst="rect">
            <a:avLst/>
          </a:prstGeom>
          <a:noFill/>
          <a:ln/>
        </p:spPr>
        <p:txBody>
          <a:bodyPr wrap="square" lIns="0" tIns="0" rIns="0" bIns="0" rtlCol="0" anchor="ctr"/>
          <a:lstStyle/>
          <a:p>
            <a:pPr algn="l" indent="0" marL="0">
              <a:lnSpc>
                <a:spcPct val="125000"/>
              </a:lnSpc>
              <a:buNone/>
            </a:pPr>
            <a:r>
              <a:rPr lang="en-US" sz="1800" dirty="0">
                <a:solidFill>
                  <a:srgbClr val="FFFFFF"/>
                </a:solidFill>
                <a:latin typeface="Plus Jakarta Sans" pitchFamily="34" charset="0"/>
                <a:ea typeface="Plus Jakarta Sans" pitchFamily="34" charset="-122"/>
                <a:cs typeface="Plus Jakarta Sans" pitchFamily="34" charset="-120"/>
              </a:rPr>
              <a:t>Ketujuh bagian sudah ada</a:t>
            </a:r>
            <a:endParaRPr lang="en-US" sz="1800" dirty="0"/>
          </a:p>
        </p:txBody>
      </p:sp>
      <p:sp>
        <p:nvSpPr>
          <p:cNvPr id="12" name="Shape 10"/>
          <p:cNvSpPr/>
          <p:nvPr/>
        </p:nvSpPr>
        <p:spPr>
          <a:xfrm>
            <a:off x="7040880" y="3273552"/>
            <a:ext cx="365760" cy="365760"/>
          </a:xfrm>
          <a:prstGeom prst="roundRect">
            <a:avLst>
              <a:gd name="adj" fmla="val 22000"/>
            </a:avLst>
          </a:prstGeom>
          <a:ln w="22225">
            <a:solidFill>
              <a:srgbClr val="FFC83D"/>
            </a:solidFill>
            <a:prstDash val="solid"/>
          </a:ln>
        </p:spPr>
      </p:sp>
      <p:sp>
        <p:nvSpPr>
          <p:cNvPr id="13" name="Text 11"/>
          <p:cNvSpPr txBox="1"/>
          <p:nvPr/>
        </p:nvSpPr>
        <p:spPr>
          <a:xfrm>
            <a:off x="7635240" y="3200400"/>
            <a:ext cx="3566160" cy="548640"/>
          </a:xfrm>
          <a:prstGeom prst="rect">
            <a:avLst/>
          </a:prstGeom>
          <a:noFill/>
          <a:ln/>
        </p:spPr>
        <p:txBody>
          <a:bodyPr wrap="square" lIns="0" tIns="0" rIns="0" bIns="0" rtlCol="0" anchor="ctr"/>
          <a:lstStyle/>
          <a:p>
            <a:pPr algn="l" indent="0" marL="0">
              <a:lnSpc>
                <a:spcPct val="125000"/>
              </a:lnSpc>
              <a:buNone/>
            </a:pPr>
            <a:r>
              <a:rPr lang="en-US" sz="1800" dirty="0">
                <a:solidFill>
                  <a:srgbClr val="FFFFFF"/>
                </a:solidFill>
                <a:latin typeface="Plus Jakarta Sans" pitchFamily="34" charset="0"/>
                <a:ea typeface="Plus Jakarta Sans" pitchFamily="34" charset="-122"/>
                <a:cs typeface="Plus Jakarta Sans" pitchFamily="34" charset="-120"/>
              </a:rPr>
              <a:t>Warna dan huruf konsisten</a:t>
            </a:r>
            <a:endParaRPr lang="en-US" sz="1800" dirty="0"/>
          </a:p>
        </p:txBody>
      </p:sp>
      <p:sp>
        <p:nvSpPr>
          <p:cNvPr id="14" name="Shape 12"/>
          <p:cNvSpPr/>
          <p:nvPr/>
        </p:nvSpPr>
        <p:spPr>
          <a:xfrm>
            <a:off x="7040880" y="4142232"/>
            <a:ext cx="365760" cy="365760"/>
          </a:xfrm>
          <a:prstGeom prst="roundRect">
            <a:avLst>
              <a:gd name="adj" fmla="val 22000"/>
            </a:avLst>
          </a:prstGeom>
          <a:ln w="22225">
            <a:solidFill>
              <a:srgbClr val="FFC83D"/>
            </a:solidFill>
            <a:prstDash val="solid"/>
          </a:ln>
        </p:spPr>
      </p:sp>
      <p:sp>
        <p:nvSpPr>
          <p:cNvPr id="15" name="Text 13"/>
          <p:cNvSpPr txBox="1"/>
          <p:nvPr/>
        </p:nvSpPr>
        <p:spPr>
          <a:xfrm>
            <a:off x="7635240" y="4069080"/>
            <a:ext cx="3566160" cy="548640"/>
          </a:xfrm>
          <a:prstGeom prst="rect">
            <a:avLst/>
          </a:prstGeom>
          <a:noFill/>
          <a:ln/>
        </p:spPr>
        <p:txBody>
          <a:bodyPr wrap="square" lIns="0" tIns="0" rIns="0" bIns="0" rtlCol="0" anchor="ctr"/>
          <a:lstStyle/>
          <a:p>
            <a:pPr algn="l" indent="0" marL="0">
              <a:lnSpc>
                <a:spcPct val="125000"/>
              </a:lnSpc>
              <a:buNone/>
            </a:pPr>
            <a:r>
              <a:rPr lang="en-US" sz="1800" dirty="0">
                <a:solidFill>
                  <a:srgbClr val="FFFFFF"/>
                </a:solidFill>
                <a:latin typeface="Plus Jakarta Sans" pitchFamily="34" charset="0"/>
                <a:ea typeface="Plus Jakarta Sans" pitchFamily="34" charset="-122"/>
                <a:cs typeface="Plus Jakarta Sans" pitchFamily="34" charset="-120"/>
              </a:rPr>
              <a:t>Rapi di layar HP</a:t>
            </a:r>
            <a:endParaRPr lang="en-US" sz="1800" dirty="0"/>
          </a:p>
        </p:txBody>
      </p:sp>
      <p:sp>
        <p:nvSpPr>
          <p:cNvPr id="16" name="Shape 14"/>
          <p:cNvSpPr/>
          <p:nvPr/>
        </p:nvSpPr>
        <p:spPr>
          <a:xfrm>
            <a:off x="7040880" y="5010912"/>
            <a:ext cx="365760" cy="365760"/>
          </a:xfrm>
          <a:prstGeom prst="roundRect">
            <a:avLst>
              <a:gd name="adj" fmla="val 22000"/>
            </a:avLst>
          </a:prstGeom>
          <a:ln w="22225">
            <a:solidFill>
              <a:srgbClr val="FFC83D"/>
            </a:solidFill>
            <a:prstDash val="solid"/>
          </a:ln>
        </p:spPr>
      </p:sp>
      <p:sp>
        <p:nvSpPr>
          <p:cNvPr id="17" name="Text 15"/>
          <p:cNvSpPr txBox="1"/>
          <p:nvPr/>
        </p:nvSpPr>
        <p:spPr>
          <a:xfrm>
            <a:off x="7635240" y="4937760"/>
            <a:ext cx="3566160" cy="548640"/>
          </a:xfrm>
          <a:prstGeom prst="rect">
            <a:avLst/>
          </a:prstGeom>
          <a:noFill/>
          <a:ln/>
        </p:spPr>
        <p:txBody>
          <a:bodyPr wrap="square" lIns="0" tIns="0" rIns="0" bIns="0" rtlCol="0" anchor="ctr"/>
          <a:lstStyle/>
          <a:p>
            <a:pPr algn="l" indent="0" marL="0">
              <a:lnSpc>
                <a:spcPct val="125000"/>
              </a:lnSpc>
              <a:buNone/>
            </a:pPr>
            <a:r>
              <a:rPr lang="en-US" sz="1800" dirty="0">
                <a:solidFill>
                  <a:srgbClr val="FFFFFF"/>
                </a:solidFill>
                <a:latin typeface="Plus Jakarta Sans" pitchFamily="34" charset="0"/>
                <a:ea typeface="Plus Jakarta Sans" pitchFamily="34" charset="-122"/>
                <a:cs typeface="Plus Jakarta Sans" pitchFamily="34" charset="-120"/>
              </a:rPr>
              <a:t>Ada fotomu dan identitasmu</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30</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Sudah selesai? Naik level.</a:t>
            </a:r>
            <a:endParaRPr lang="en-US" sz="4000" dirty="0"/>
          </a:p>
        </p:txBody>
      </p:sp>
      <p:sp>
        <p:nvSpPr>
          <p:cNvPr id="4" name="Text 2"/>
          <p:cNvSpPr txBox="1"/>
          <p:nvPr/>
        </p:nvSpPr>
        <p:spPr>
          <a:xfrm>
            <a:off x="731520" y="1417320"/>
            <a:ext cx="5486400" cy="274320"/>
          </a:xfrm>
          <a:prstGeom prst="rect">
            <a:avLst/>
          </a:prstGeom>
          <a:noFill/>
          <a:ln/>
        </p:spPr>
        <p:txBody>
          <a:bodyPr wrap="square" lIns="0" tIns="0" rIns="0" bIns="0" rtlCol="0" anchor="t"/>
          <a:lstStyle/>
          <a:p>
            <a:pPr algn="l" indent="0" marL="0">
              <a:lnSpc>
                <a:spcPct val="115000"/>
              </a:lnSpc>
              <a:buNone/>
            </a:pPr>
            <a:r>
              <a:rPr lang="en-US" sz="1500" dirty="0">
                <a:solidFill>
                  <a:srgbClr val="5B6478"/>
                </a:solidFill>
                <a:latin typeface="Plus Jakarta Sans" pitchFamily="34" charset="0"/>
                <a:ea typeface="Plus Jakarta Sans" pitchFamily="34" charset="-122"/>
                <a:cs typeface="Plus Jakarta Sans" pitchFamily="34" charset="-120"/>
              </a:rPr>
              <a:t>Opsional, untuk yang cepat selesai</a:t>
            </a:r>
            <a:endParaRPr lang="en-US" sz="1500" dirty="0"/>
          </a:p>
        </p:txBody>
      </p:sp>
      <p:sp>
        <p:nvSpPr>
          <p:cNvPr id="5" name="Shape 3"/>
          <p:cNvSpPr/>
          <p:nvPr/>
        </p:nvSpPr>
        <p:spPr>
          <a:xfrm>
            <a:off x="731520" y="1920240"/>
            <a:ext cx="5394960" cy="0"/>
          </a:xfrm>
          <a:prstGeom prst="line">
            <a:avLst/>
          </a:prstGeom>
          <a:noFill/>
          <a:ln w="12700">
            <a:solidFill>
              <a:srgbClr val="E3DFD6"/>
            </a:solidFill>
            <a:prstDash val="solid"/>
          </a:ln>
        </p:spPr>
      </p:sp>
      <p:sp>
        <p:nvSpPr>
          <p:cNvPr id="6" name="Text 4"/>
          <p:cNvSpPr txBox="1"/>
          <p:nvPr/>
        </p:nvSpPr>
        <p:spPr>
          <a:xfrm>
            <a:off x="731520" y="2029968"/>
            <a:ext cx="5394960" cy="256032"/>
          </a:xfrm>
          <a:prstGeom prst="rect">
            <a:avLst/>
          </a:prstGeom>
          <a:noFill/>
          <a:ln/>
        </p:spPr>
        <p:txBody>
          <a:bodyPr wrap="square" lIns="0" tIns="0" rIns="0" bIns="0" rtlCol="0" anchor="t"/>
          <a:lstStyle/>
          <a:p>
            <a:pPr algn="l" indent="0" marL="0">
              <a:lnSpc>
                <a:spcPct val="115000"/>
              </a:lnSpc>
              <a:buNone/>
            </a:pPr>
            <a:r>
              <a:rPr lang="en-US" sz="1400" b="1" dirty="0">
                <a:solidFill>
                  <a:srgbClr val="1F4FD8"/>
                </a:solidFill>
                <a:latin typeface="Plus Jakarta Sans" pitchFamily="34" charset="0"/>
                <a:ea typeface="Plus Jakarta Sans" pitchFamily="34" charset="-122"/>
                <a:cs typeface="Plus Jakarta Sans" pitchFamily="34" charset="-120"/>
              </a:rPr>
              <a:t>6 modul</a:t>
            </a:r>
            <a:endParaRPr lang="en-US" sz="1400" dirty="0"/>
          </a:p>
        </p:txBody>
      </p:sp>
      <p:sp>
        <p:nvSpPr>
          <p:cNvPr id="7" name="Text 5"/>
          <p:cNvSpPr txBox="1"/>
          <p:nvPr/>
        </p:nvSpPr>
        <p:spPr>
          <a:xfrm>
            <a:off x="731520" y="2304288"/>
            <a:ext cx="5394960" cy="457200"/>
          </a:xfrm>
          <a:prstGeom prst="rect">
            <a:avLst/>
          </a:prstGeom>
          <a:noFill/>
          <a:ln/>
        </p:spPr>
        <p:txBody>
          <a:bodyPr wrap="square" lIns="0" tIns="0" rIns="0" bIns="0" rtlCol="0" anchor="t"/>
          <a:lstStyle/>
          <a:p>
            <a:pPr algn="l" indent="0" marL="0">
              <a:lnSpc>
                <a:spcPct val="125000"/>
              </a:lnSpc>
              <a:buNone/>
            </a:pPr>
            <a:r>
              <a:rPr lang="en-US" sz="1800" dirty="0">
                <a:solidFill>
                  <a:srgbClr val="0E1B3D"/>
                </a:solidFill>
                <a:latin typeface="Plus Jakarta Sans" pitchFamily="34" charset="0"/>
                <a:ea typeface="Plus Jakarta Sans" pitchFamily="34" charset="-122"/>
                <a:cs typeface="Plus Jakarta Sans" pitchFamily="34" charset="-120"/>
              </a:rPr>
              <a:t>Course "Modern Web Landing Page" di LMS HIMTI</a:t>
            </a:r>
            <a:endParaRPr lang="en-US" sz="1800" dirty="0"/>
          </a:p>
        </p:txBody>
      </p:sp>
      <p:sp>
        <p:nvSpPr>
          <p:cNvPr id="8" name="Shape 6"/>
          <p:cNvSpPr/>
          <p:nvPr/>
        </p:nvSpPr>
        <p:spPr>
          <a:xfrm>
            <a:off x="731520" y="2880360"/>
            <a:ext cx="5394960" cy="0"/>
          </a:xfrm>
          <a:prstGeom prst="line">
            <a:avLst/>
          </a:prstGeom>
          <a:noFill/>
          <a:ln w="12700">
            <a:solidFill>
              <a:srgbClr val="E3DFD6"/>
            </a:solidFill>
            <a:prstDash val="solid"/>
          </a:ln>
        </p:spPr>
      </p:sp>
      <p:sp>
        <p:nvSpPr>
          <p:cNvPr id="9" name="Text 7"/>
          <p:cNvSpPr txBox="1"/>
          <p:nvPr/>
        </p:nvSpPr>
        <p:spPr>
          <a:xfrm>
            <a:off x="731520" y="2990088"/>
            <a:ext cx="5394960" cy="256032"/>
          </a:xfrm>
          <a:prstGeom prst="rect">
            <a:avLst/>
          </a:prstGeom>
          <a:noFill/>
          <a:ln/>
        </p:spPr>
        <p:txBody>
          <a:bodyPr wrap="square" lIns="0" tIns="0" rIns="0" bIns="0" rtlCol="0" anchor="t"/>
          <a:lstStyle/>
          <a:p>
            <a:pPr algn="l" indent="0" marL="0">
              <a:lnSpc>
                <a:spcPct val="115000"/>
              </a:lnSpc>
              <a:buNone/>
            </a:pPr>
            <a:r>
              <a:rPr lang="en-US" sz="1400" b="1" dirty="0">
                <a:solidFill>
                  <a:srgbClr val="1F4FD8"/>
                </a:solidFill>
                <a:latin typeface="Plus Jakarta Sans" pitchFamily="34" charset="0"/>
                <a:ea typeface="Plus Jakarta Sans" pitchFamily="34" charset="-122"/>
                <a:cs typeface="Plus Jakarta Sans" pitchFamily="34" charset="-120"/>
              </a:rPr>
              <a:t>HTML + CSS modern</a:t>
            </a:r>
            <a:endParaRPr lang="en-US" sz="1400" dirty="0"/>
          </a:p>
        </p:txBody>
      </p:sp>
      <p:sp>
        <p:nvSpPr>
          <p:cNvPr id="10" name="Text 8"/>
          <p:cNvSpPr txBox="1"/>
          <p:nvPr/>
        </p:nvSpPr>
        <p:spPr>
          <a:xfrm>
            <a:off x="731520" y="3264408"/>
            <a:ext cx="5394960" cy="457200"/>
          </a:xfrm>
          <a:prstGeom prst="rect">
            <a:avLst/>
          </a:prstGeom>
          <a:noFill/>
          <a:ln/>
        </p:spPr>
        <p:txBody>
          <a:bodyPr wrap="square" lIns="0" tIns="0" rIns="0" bIns="0" rtlCol="0" anchor="t"/>
          <a:lstStyle/>
          <a:p>
            <a:pPr algn="l" indent="0" marL="0">
              <a:lnSpc>
                <a:spcPct val="125000"/>
              </a:lnSpc>
              <a:buNone/>
            </a:pPr>
            <a:r>
              <a:rPr lang="en-US" sz="1800" dirty="0">
                <a:solidFill>
                  <a:srgbClr val="0E1B3D"/>
                </a:solidFill>
                <a:latin typeface="Plus Jakarta Sans" pitchFamily="34" charset="0"/>
                <a:ea typeface="Plus Jakarta Sans" pitchFamily="34" charset="-122"/>
                <a:cs typeface="Plus Jakarta Sans" pitchFamily="34" charset="-120"/>
              </a:rPr>
              <a:t>Grid, animasi halus, responsive, dan dark mode</a:t>
            </a:r>
            <a:endParaRPr lang="en-US" sz="1800" dirty="0"/>
          </a:p>
        </p:txBody>
      </p:sp>
      <p:sp>
        <p:nvSpPr>
          <p:cNvPr id="11" name="Shape 9"/>
          <p:cNvSpPr/>
          <p:nvPr/>
        </p:nvSpPr>
        <p:spPr>
          <a:xfrm>
            <a:off x="731520" y="3840480"/>
            <a:ext cx="5394960" cy="0"/>
          </a:xfrm>
          <a:prstGeom prst="line">
            <a:avLst/>
          </a:prstGeom>
          <a:noFill/>
          <a:ln w="12700">
            <a:solidFill>
              <a:srgbClr val="E3DFD6"/>
            </a:solidFill>
            <a:prstDash val="solid"/>
          </a:ln>
        </p:spPr>
      </p:sp>
      <p:sp>
        <p:nvSpPr>
          <p:cNvPr id="12" name="Text 10"/>
          <p:cNvSpPr txBox="1"/>
          <p:nvPr/>
        </p:nvSpPr>
        <p:spPr>
          <a:xfrm>
            <a:off x="731520" y="3950208"/>
            <a:ext cx="5394960" cy="256032"/>
          </a:xfrm>
          <a:prstGeom prst="rect">
            <a:avLst/>
          </a:prstGeom>
          <a:noFill/>
          <a:ln/>
        </p:spPr>
        <p:txBody>
          <a:bodyPr wrap="square" lIns="0" tIns="0" rIns="0" bIns="0" rtlCol="0" anchor="t"/>
          <a:lstStyle/>
          <a:p>
            <a:pPr algn="l" indent="0" marL="0">
              <a:lnSpc>
                <a:spcPct val="115000"/>
              </a:lnSpc>
              <a:buNone/>
            </a:pPr>
            <a:r>
              <a:rPr lang="en-US" sz="1400" b="1" dirty="0">
                <a:solidFill>
                  <a:srgbClr val="1F4FD8"/>
                </a:solidFill>
                <a:latin typeface="Plus Jakarta Sans" pitchFamily="34" charset="0"/>
                <a:ea typeface="Plus Jakarta Sans" pitchFamily="34" charset="-122"/>
                <a:cs typeface="Plus Jakarta Sans" pitchFamily="34" charset="-120"/>
              </a:rPr>
              <a:t>Hasilnya</a:t>
            </a:r>
            <a:endParaRPr lang="en-US" sz="1400" dirty="0"/>
          </a:p>
        </p:txBody>
      </p:sp>
      <p:sp>
        <p:nvSpPr>
          <p:cNvPr id="13" name="Text 11"/>
          <p:cNvSpPr txBox="1"/>
          <p:nvPr/>
        </p:nvSpPr>
        <p:spPr>
          <a:xfrm>
            <a:off x="731520" y="4224528"/>
            <a:ext cx="5394960" cy="457200"/>
          </a:xfrm>
          <a:prstGeom prst="rect">
            <a:avLst/>
          </a:prstGeom>
          <a:noFill/>
          <a:ln/>
        </p:spPr>
        <p:txBody>
          <a:bodyPr wrap="square" lIns="0" tIns="0" rIns="0" bIns="0" rtlCol="0" anchor="t"/>
          <a:lstStyle/>
          <a:p>
            <a:pPr algn="l" indent="0" marL="0">
              <a:lnSpc>
                <a:spcPct val="125000"/>
              </a:lnSpc>
              <a:buNone/>
            </a:pPr>
            <a:r>
              <a:rPr lang="en-US" sz="1800" dirty="0">
                <a:solidFill>
                  <a:srgbClr val="0E1B3D"/>
                </a:solidFill>
                <a:latin typeface="Plus Jakarta Sans" pitchFamily="34" charset="0"/>
                <a:ea typeface="Plus Jakarta Sans" pitchFamily="34" charset="-122"/>
                <a:cs typeface="Plus Jakarta Sans" pitchFamily="34" charset="-120"/>
              </a:rPr>
              <a:t>Landing page bergaya startup, lalu kamu publish</a:t>
            </a:r>
            <a:endParaRPr lang="en-US" sz="1800" dirty="0"/>
          </a:p>
        </p:txBody>
      </p:sp>
      <p:sp>
        <p:nvSpPr>
          <p:cNvPr id="14" name="Shape 12"/>
          <p:cNvSpPr/>
          <p:nvPr/>
        </p:nvSpPr>
        <p:spPr>
          <a:xfrm>
            <a:off x="731520" y="4937760"/>
            <a:ext cx="5394960" cy="640080"/>
          </a:xfrm>
          <a:prstGeom prst="roundRect">
            <a:avLst>
              <a:gd name="adj" fmla="val 20000"/>
            </a:avLst>
          </a:prstGeom>
          <a:solidFill>
            <a:srgbClr val="0B1530"/>
          </a:solidFill>
          <a:ln/>
        </p:spPr>
      </p:sp>
      <p:sp>
        <p:nvSpPr>
          <p:cNvPr id="15" name="Text 13"/>
          <p:cNvSpPr txBox="1"/>
          <p:nvPr/>
        </p:nvSpPr>
        <p:spPr>
          <a:xfrm>
            <a:off x="960120" y="4937760"/>
            <a:ext cx="5029200" cy="640080"/>
          </a:xfrm>
          <a:prstGeom prst="rect">
            <a:avLst/>
          </a:prstGeom>
          <a:noFill/>
          <a:ln/>
        </p:spPr>
        <p:txBody>
          <a:bodyPr wrap="none" lIns="0" tIns="0" rIns="0" bIns="0" rtlCol="0" anchor="ctr"/>
          <a:lstStyle/>
          <a:p>
            <a:pPr algn="l" indent="0" marL="0">
              <a:lnSpc>
                <a:spcPct val="115000"/>
              </a:lnSpc>
              <a:buNone/>
            </a:pPr>
            <a:r>
              <a:rPr lang="en-US" sz="1700" dirty="0">
                <a:solidFill>
                  <a:srgbClr val="F4F6FB"/>
                </a:solidFill>
                <a:latin typeface="JetBrains Mono" pitchFamily="34" charset="0"/>
                <a:ea typeface="JetBrains Mono" pitchFamily="34" charset="-122"/>
                <a:cs typeface="JetBrains Mono" pitchFamily="34" charset="-120"/>
              </a:rPr>
              <a:t>[alamat LMS]/course/modern-web</a:t>
            </a:r>
            <a:endParaRPr lang="en-US" sz="1700" dirty="0"/>
          </a:p>
        </p:txBody>
      </p:sp>
      <p:sp>
        <p:nvSpPr>
          <p:cNvPr id="16" name="Text 14"/>
          <p:cNvSpPr txBox="1"/>
          <p:nvPr/>
        </p:nvSpPr>
        <p:spPr>
          <a:xfrm>
            <a:off x="731520" y="5760720"/>
            <a:ext cx="5394960" cy="365760"/>
          </a:xfrm>
          <a:prstGeom prst="rect">
            <a:avLst/>
          </a:prstGeom>
          <a:noFill/>
          <a:ln/>
        </p:spPr>
        <p:txBody>
          <a:bodyPr wrap="square" lIns="0" tIns="0" rIns="0" bIns="0" rtlCol="0" anchor="t"/>
          <a:lstStyle/>
          <a:p>
            <a:pPr algn="l" indent="0" marL="0">
              <a:lnSpc>
                <a:spcPct val="115000"/>
              </a:lnSpc>
              <a:buNone/>
            </a:pPr>
            <a:r>
              <a:rPr lang="en-US" sz="1500" dirty="0">
                <a:solidFill>
                  <a:srgbClr val="5B6478"/>
                </a:solidFill>
                <a:latin typeface="Plus Jakarta Sans" pitchFamily="34" charset="0"/>
                <a:ea typeface="Plus Jakarta Sans" pitchFamily="34" charset="-122"/>
                <a:cs typeface="Plus Jakarta Sans" pitchFamily="34" charset="-120"/>
              </a:rPr>
              <a:t>Kerjakan sendiri, modul demi modul.</a:t>
            </a:r>
            <a:endParaRPr lang="en-US" sz="1500" dirty="0"/>
          </a:p>
        </p:txBody>
      </p:sp>
      <p:sp>
        <p:nvSpPr>
          <p:cNvPr id="17" name="Shape 15"/>
          <p:cNvSpPr/>
          <p:nvPr/>
        </p:nvSpPr>
        <p:spPr>
          <a:xfrm>
            <a:off x="6858000" y="1783080"/>
            <a:ext cx="4572000" cy="4343400"/>
          </a:xfrm>
          <a:prstGeom prst="roundRect">
            <a:avLst>
              <a:gd name="adj" fmla="val 3368"/>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18" name="Shape 16"/>
          <p:cNvSpPr/>
          <p:nvPr/>
        </p:nvSpPr>
        <p:spPr>
          <a:xfrm>
            <a:off x="6876288" y="1801368"/>
            <a:ext cx="4535424" cy="384048"/>
          </a:xfrm>
          <a:prstGeom prst="roundRect">
            <a:avLst>
              <a:gd name="adj" fmla="val 33333"/>
            </a:avLst>
          </a:prstGeom>
          <a:solidFill>
            <a:srgbClr val="EEF1F7"/>
          </a:solidFill>
          <a:ln/>
        </p:spPr>
      </p:sp>
      <p:sp>
        <p:nvSpPr>
          <p:cNvPr id="19" name="Shape 17"/>
          <p:cNvSpPr/>
          <p:nvPr/>
        </p:nvSpPr>
        <p:spPr>
          <a:xfrm>
            <a:off x="6876288" y="1984248"/>
            <a:ext cx="4535424" cy="201168"/>
          </a:xfrm>
          <a:prstGeom prst="rect">
            <a:avLst/>
          </a:prstGeom>
          <a:solidFill>
            <a:srgbClr val="EEF1F7"/>
          </a:solidFill>
          <a:ln/>
        </p:spPr>
      </p:sp>
      <p:sp>
        <p:nvSpPr>
          <p:cNvPr id="20" name="Shape 18"/>
          <p:cNvSpPr/>
          <p:nvPr/>
        </p:nvSpPr>
        <p:spPr>
          <a:xfrm>
            <a:off x="7040880" y="1920240"/>
            <a:ext cx="100584" cy="100584"/>
          </a:xfrm>
          <a:prstGeom prst="ellipse">
            <a:avLst/>
          </a:prstGeom>
          <a:solidFill>
            <a:srgbClr val="E63946"/>
          </a:solidFill>
          <a:ln/>
        </p:spPr>
      </p:sp>
      <p:sp>
        <p:nvSpPr>
          <p:cNvPr id="21" name="Shape 19"/>
          <p:cNvSpPr/>
          <p:nvPr/>
        </p:nvSpPr>
        <p:spPr>
          <a:xfrm>
            <a:off x="7214616" y="1920240"/>
            <a:ext cx="100584" cy="100584"/>
          </a:xfrm>
          <a:prstGeom prst="ellipse">
            <a:avLst/>
          </a:prstGeom>
          <a:solidFill>
            <a:srgbClr val="FFC83D"/>
          </a:solidFill>
          <a:ln/>
        </p:spPr>
      </p:sp>
      <p:sp>
        <p:nvSpPr>
          <p:cNvPr id="22" name="Shape 20"/>
          <p:cNvSpPr/>
          <p:nvPr/>
        </p:nvSpPr>
        <p:spPr>
          <a:xfrm>
            <a:off x="7388352" y="1920240"/>
            <a:ext cx="100584" cy="100584"/>
          </a:xfrm>
          <a:prstGeom prst="ellipse">
            <a:avLst/>
          </a:prstGeom>
          <a:solidFill>
            <a:srgbClr val="1E9E68"/>
          </a:solidFill>
          <a:ln/>
        </p:spPr>
      </p:sp>
      <p:sp>
        <p:nvSpPr>
          <p:cNvPr id="23" name="Shape 21"/>
          <p:cNvSpPr/>
          <p:nvPr/>
        </p:nvSpPr>
        <p:spPr>
          <a:xfrm>
            <a:off x="7726680" y="1865376"/>
            <a:ext cx="3474720" cy="237744"/>
          </a:xfrm>
          <a:prstGeom prst="roundRect">
            <a:avLst>
              <a:gd name="adj" fmla="val 50000"/>
            </a:avLst>
          </a:prstGeom>
          <a:solidFill>
            <a:srgbClr val="FFFFFF"/>
          </a:solidFill>
          <a:ln/>
        </p:spPr>
      </p:sp>
      <p:sp>
        <p:nvSpPr>
          <p:cNvPr id="24" name="Text 22"/>
          <p:cNvSpPr txBox="1"/>
          <p:nvPr/>
        </p:nvSpPr>
        <p:spPr>
          <a:xfrm>
            <a:off x="7863840" y="1865376"/>
            <a:ext cx="32004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codekelas.netlify.app</a:t>
            </a:r>
            <a:endParaRPr lang="en-US" sz="1100" dirty="0"/>
          </a:p>
        </p:txBody>
      </p:sp>
      <p:sp>
        <p:nvSpPr>
          <p:cNvPr id="25" name="Shape 23"/>
          <p:cNvSpPr/>
          <p:nvPr/>
        </p:nvSpPr>
        <p:spPr>
          <a:xfrm>
            <a:off x="6876288" y="2185416"/>
            <a:ext cx="4535424" cy="3904488"/>
          </a:xfrm>
          <a:prstGeom prst="rect">
            <a:avLst/>
          </a:prstGeom>
          <a:solidFill>
            <a:srgbClr val="FAF8F4"/>
          </a:solidFill>
          <a:ln/>
        </p:spPr>
      </p:sp>
      <p:sp>
        <p:nvSpPr>
          <p:cNvPr id="26" name="Text 24"/>
          <p:cNvSpPr txBox="1"/>
          <p:nvPr/>
        </p:nvSpPr>
        <p:spPr>
          <a:xfrm>
            <a:off x="7150608" y="2322576"/>
            <a:ext cx="1828800" cy="274320"/>
          </a:xfrm>
          <a:prstGeom prst="rect">
            <a:avLst/>
          </a:prstGeom>
          <a:noFill/>
          <a:ln/>
        </p:spPr>
        <p:txBody>
          <a:bodyPr wrap="square" lIns="0" tIns="0" rIns="0" bIns="0" rtlCol="0" anchor="t"/>
          <a:lstStyle/>
          <a:p>
            <a:pPr algn="l" indent="0" marL="0">
              <a:lnSpc>
                <a:spcPct val="115000"/>
              </a:lnSpc>
              <a:buNone/>
            </a:pPr>
            <a:r>
              <a:rPr lang="en-US" sz="1300" b="1" dirty="0">
                <a:solidFill>
                  <a:srgbClr val="0E1B3D"/>
                </a:solidFill>
                <a:latin typeface="Plus Jakarta Sans" pitchFamily="34" charset="0"/>
                <a:ea typeface="Plus Jakarta Sans" pitchFamily="34" charset="-122"/>
                <a:cs typeface="Plus Jakarta Sans" pitchFamily="34" charset="-120"/>
              </a:rPr>
              <a:t>CodeKelas</a:t>
            </a:r>
            <a:endParaRPr lang="en-US" sz="1300" dirty="0"/>
          </a:p>
        </p:txBody>
      </p:sp>
      <p:sp>
        <p:nvSpPr>
          <p:cNvPr id="27" name="Text 25"/>
          <p:cNvSpPr txBox="1"/>
          <p:nvPr/>
        </p:nvSpPr>
        <p:spPr>
          <a:xfrm>
            <a:off x="7150608" y="2825496"/>
            <a:ext cx="3986784" cy="822960"/>
          </a:xfrm>
          <a:prstGeom prst="rect">
            <a:avLst/>
          </a:prstGeom>
          <a:noFill/>
          <a:ln/>
        </p:spPr>
        <p:txBody>
          <a:bodyPr wrap="square" lIns="0" tIns="0" rIns="0" bIns="0" rtlCol="0" anchor="t"/>
          <a:lstStyle/>
          <a:p>
            <a:pPr algn="l" indent="0" marL="0">
              <a:lnSpc>
                <a:spcPct val="110000"/>
              </a:lnSpc>
              <a:buNone/>
            </a:pPr>
            <a:r>
              <a:rPr lang="en-US" sz="2200" b="1" dirty="0">
                <a:solidFill>
                  <a:srgbClr val="0E1B3D"/>
                </a:solidFill>
                <a:latin typeface="Plus Jakarta Sans" pitchFamily="34" charset="0"/>
                <a:ea typeface="Plus Jakarta Sans" pitchFamily="34" charset="-122"/>
                <a:cs typeface="Plus Jakarta Sans" pitchFamily="34" charset="-120"/>
              </a:rPr>
              <a:t>Dari nol sampai punya website sendiri</a:t>
            </a:r>
            <a:endParaRPr lang="en-US" sz="2200" dirty="0"/>
          </a:p>
        </p:txBody>
      </p:sp>
      <p:sp>
        <p:nvSpPr>
          <p:cNvPr id="28" name="Shape 26"/>
          <p:cNvSpPr/>
          <p:nvPr/>
        </p:nvSpPr>
        <p:spPr>
          <a:xfrm>
            <a:off x="7150608" y="3785616"/>
            <a:ext cx="1188720" cy="329184"/>
          </a:xfrm>
          <a:prstGeom prst="roundRect">
            <a:avLst>
              <a:gd name="adj" fmla="val 50000"/>
            </a:avLst>
          </a:prstGeom>
          <a:solidFill>
            <a:srgbClr val="1F4FD8"/>
          </a:solidFill>
          <a:ln/>
        </p:spPr>
      </p:sp>
      <p:sp>
        <p:nvSpPr>
          <p:cNvPr id="29" name="Text 27"/>
          <p:cNvSpPr txBox="1"/>
          <p:nvPr/>
        </p:nvSpPr>
        <p:spPr>
          <a:xfrm>
            <a:off x="7150608" y="3785616"/>
            <a:ext cx="1188720" cy="329184"/>
          </a:xfrm>
          <a:prstGeom prst="rect">
            <a:avLst/>
          </a:prstGeom>
          <a:noFill/>
          <a:ln/>
        </p:spPr>
        <p:txBody>
          <a:bodyPr wrap="square" lIns="0" tIns="0" rIns="0" bIns="0" rtlCol="0" anchor="ctr"/>
          <a:lstStyle/>
          <a:p>
            <a:pPr algn="ctr" indent="0" marL="0">
              <a:lnSpc>
                <a:spcPct val="115000"/>
              </a:lnSpc>
              <a:buNone/>
            </a:pPr>
            <a:r>
              <a:rPr lang="en-US" sz="1100" b="1" dirty="0">
                <a:solidFill>
                  <a:srgbClr val="FFFFFF"/>
                </a:solidFill>
                <a:latin typeface="Plus Jakarta Sans" pitchFamily="34" charset="0"/>
                <a:ea typeface="Plus Jakarta Sans" pitchFamily="34" charset="-122"/>
                <a:cs typeface="Plus Jakarta Sans" pitchFamily="34" charset="-120"/>
              </a:rPr>
              <a:t>Lihat Kelas</a:t>
            </a:r>
            <a:endParaRPr lang="en-US" sz="1100" dirty="0"/>
          </a:p>
        </p:txBody>
      </p:sp>
      <p:sp>
        <p:nvSpPr>
          <p:cNvPr id="30" name="Shape 28"/>
          <p:cNvSpPr/>
          <p:nvPr/>
        </p:nvSpPr>
        <p:spPr>
          <a:xfrm>
            <a:off x="7150608" y="4425696"/>
            <a:ext cx="1237488" cy="1371600"/>
          </a:xfrm>
          <a:prstGeom prst="roundRect">
            <a:avLst>
              <a:gd name="adj" fmla="val 8867"/>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31" name="Shape 29"/>
          <p:cNvSpPr/>
          <p:nvPr/>
        </p:nvSpPr>
        <p:spPr>
          <a:xfrm>
            <a:off x="7278624" y="4562856"/>
            <a:ext cx="640080" cy="201168"/>
          </a:xfrm>
          <a:prstGeom prst="roundRect">
            <a:avLst>
              <a:gd name="adj" fmla="val 50000"/>
            </a:avLst>
          </a:prstGeom>
          <a:solidFill>
            <a:srgbClr val="FFC83D"/>
          </a:solidFill>
          <a:ln/>
        </p:spPr>
      </p:sp>
      <p:sp>
        <p:nvSpPr>
          <p:cNvPr id="32" name="Shape 30"/>
          <p:cNvSpPr/>
          <p:nvPr/>
        </p:nvSpPr>
        <p:spPr>
          <a:xfrm>
            <a:off x="7278624" y="4928616"/>
            <a:ext cx="981456" cy="64008"/>
          </a:xfrm>
          <a:prstGeom prst="rect">
            <a:avLst/>
          </a:prstGeom>
          <a:solidFill>
            <a:srgbClr val="E3DFD6"/>
          </a:solidFill>
          <a:ln/>
        </p:spPr>
      </p:sp>
      <p:sp>
        <p:nvSpPr>
          <p:cNvPr id="33" name="Shape 31"/>
          <p:cNvSpPr/>
          <p:nvPr/>
        </p:nvSpPr>
        <p:spPr>
          <a:xfrm>
            <a:off x="7278624" y="5084064"/>
            <a:ext cx="588874" cy="64008"/>
          </a:xfrm>
          <a:prstGeom prst="rect">
            <a:avLst/>
          </a:prstGeom>
          <a:solidFill>
            <a:srgbClr val="E3DFD6"/>
          </a:solidFill>
          <a:ln/>
        </p:spPr>
      </p:sp>
      <p:sp>
        <p:nvSpPr>
          <p:cNvPr id="34" name="Shape 32"/>
          <p:cNvSpPr/>
          <p:nvPr/>
        </p:nvSpPr>
        <p:spPr>
          <a:xfrm>
            <a:off x="7278624" y="5477256"/>
            <a:ext cx="981456" cy="91440"/>
          </a:xfrm>
          <a:prstGeom prst="roundRect">
            <a:avLst>
              <a:gd name="adj" fmla="val 50000"/>
            </a:avLst>
          </a:prstGeom>
          <a:solidFill>
            <a:srgbClr val="E3DFD6"/>
          </a:solidFill>
          <a:ln/>
        </p:spPr>
      </p:sp>
      <p:sp>
        <p:nvSpPr>
          <p:cNvPr id="35" name="Shape 33"/>
          <p:cNvSpPr/>
          <p:nvPr/>
        </p:nvSpPr>
        <p:spPr>
          <a:xfrm>
            <a:off x="7278624" y="5477256"/>
            <a:ext cx="785165" cy="91440"/>
          </a:xfrm>
          <a:prstGeom prst="roundRect">
            <a:avLst>
              <a:gd name="adj" fmla="val 50000"/>
            </a:avLst>
          </a:prstGeom>
          <a:solidFill>
            <a:srgbClr val="1F4FD8"/>
          </a:solidFill>
          <a:ln/>
        </p:spPr>
      </p:sp>
      <p:sp>
        <p:nvSpPr>
          <p:cNvPr id="36" name="Shape 34"/>
          <p:cNvSpPr/>
          <p:nvPr/>
        </p:nvSpPr>
        <p:spPr>
          <a:xfrm>
            <a:off x="8525256" y="4425696"/>
            <a:ext cx="1237488" cy="1371600"/>
          </a:xfrm>
          <a:prstGeom prst="roundRect">
            <a:avLst>
              <a:gd name="adj" fmla="val 8867"/>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37" name="Shape 35"/>
          <p:cNvSpPr/>
          <p:nvPr/>
        </p:nvSpPr>
        <p:spPr>
          <a:xfrm>
            <a:off x="8653272" y="4562856"/>
            <a:ext cx="640080" cy="201168"/>
          </a:xfrm>
          <a:prstGeom prst="roundRect">
            <a:avLst>
              <a:gd name="adj" fmla="val 50000"/>
            </a:avLst>
          </a:prstGeom>
          <a:solidFill>
            <a:srgbClr val="FFC83D"/>
          </a:solidFill>
          <a:ln/>
        </p:spPr>
      </p:sp>
      <p:sp>
        <p:nvSpPr>
          <p:cNvPr id="38" name="Shape 36"/>
          <p:cNvSpPr/>
          <p:nvPr/>
        </p:nvSpPr>
        <p:spPr>
          <a:xfrm>
            <a:off x="8653272" y="4928616"/>
            <a:ext cx="981456" cy="64008"/>
          </a:xfrm>
          <a:prstGeom prst="rect">
            <a:avLst/>
          </a:prstGeom>
          <a:solidFill>
            <a:srgbClr val="E3DFD6"/>
          </a:solidFill>
          <a:ln/>
        </p:spPr>
      </p:sp>
      <p:sp>
        <p:nvSpPr>
          <p:cNvPr id="39" name="Shape 37"/>
          <p:cNvSpPr/>
          <p:nvPr/>
        </p:nvSpPr>
        <p:spPr>
          <a:xfrm>
            <a:off x="8653272" y="5084064"/>
            <a:ext cx="588874" cy="64008"/>
          </a:xfrm>
          <a:prstGeom prst="rect">
            <a:avLst/>
          </a:prstGeom>
          <a:solidFill>
            <a:srgbClr val="E3DFD6"/>
          </a:solidFill>
          <a:ln/>
        </p:spPr>
      </p:sp>
      <p:sp>
        <p:nvSpPr>
          <p:cNvPr id="40" name="Shape 38"/>
          <p:cNvSpPr/>
          <p:nvPr/>
        </p:nvSpPr>
        <p:spPr>
          <a:xfrm>
            <a:off x="8653272" y="5477256"/>
            <a:ext cx="981456" cy="91440"/>
          </a:xfrm>
          <a:prstGeom prst="roundRect">
            <a:avLst>
              <a:gd name="adj" fmla="val 50000"/>
            </a:avLst>
          </a:prstGeom>
          <a:solidFill>
            <a:srgbClr val="E3DFD6"/>
          </a:solidFill>
          <a:ln/>
        </p:spPr>
      </p:sp>
      <p:sp>
        <p:nvSpPr>
          <p:cNvPr id="41" name="Shape 39"/>
          <p:cNvSpPr/>
          <p:nvPr/>
        </p:nvSpPr>
        <p:spPr>
          <a:xfrm>
            <a:off x="8653272" y="5477256"/>
            <a:ext cx="441655" cy="91440"/>
          </a:xfrm>
          <a:prstGeom prst="roundRect">
            <a:avLst>
              <a:gd name="adj" fmla="val 50000"/>
            </a:avLst>
          </a:prstGeom>
          <a:solidFill>
            <a:srgbClr val="1F4FD8"/>
          </a:solidFill>
          <a:ln/>
        </p:spPr>
      </p:sp>
      <p:sp>
        <p:nvSpPr>
          <p:cNvPr id="42" name="Shape 40"/>
          <p:cNvSpPr/>
          <p:nvPr/>
        </p:nvSpPr>
        <p:spPr>
          <a:xfrm>
            <a:off x="9899904" y="4425696"/>
            <a:ext cx="1237488" cy="1371600"/>
          </a:xfrm>
          <a:prstGeom prst="roundRect">
            <a:avLst>
              <a:gd name="adj" fmla="val 8867"/>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43" name="Shape 41"/>
          <p:cNvSpPr/>
          <p:nvPr/>
        </p:nvSpPr>
        <p:spPr>
          <a:xfrm>
            <a:off x="10027920" y="4562856"/>
            <a:ext cx="640080" cy="201168"/>
          </a:xfrm>
          <a:prstGeom prst="roundRect">
            <a:avLst>
              <a:gd name="adj" fmla="val 50000"/>
            </a:avLst>
          </a:prstGeom>
          <a:solidFill>
            <a:srgbClr val="FFC83D"/>
          </a:solidFill>
          <a:ln/>
        </p:spPr>
      </p:sp>
      <p:sp>
        <p:nvSpPr>
          <p:cNvPr id="44" name="Shape 42"/>
          <p:cNvSpPr/>
          <p:nvPr/>
        </p:nvSpPr>
        <p:spPr>
          <a:xfrm>
            <a:off x="10027920" y="4928616"/>
            <a:ext cx="981456" cy="64008"/>
          </a:xfrm>
          <a:prstGeom prst="rect">
            <a:avLst/>
          </a:prstGeom>
          <a:solidFill>
            <a:srgbClr val="E3DFD6"/>
          </a:solidFill>
          <a:ln/>
        </p:spPr>
      </p:sp>
      <p:sp>
        <p:nvSpPr>
          <p:cNvPr id="45" name="Shape 43"/>
          <p:cNvSpPr/>
          <p:nvPr/>
        </p:nvSpPr>
        <p:spPr>
          <a:xfrm>
            <a:off x="10027920" y="5084064"/>
            <a:ext cx="588874" cy="64008"/>
          </a:xfrm>
          <a:prstGeom prst="rect">
            <a:avLst/>
          </a:prstGeom>
          <a:solidFill>
            <a:srgbClr val="E3DFD6"/>
          </a:solidFill>
          <a:ln/>
        </p:spPr>
      </p:sp>
      <p:sp>
        <p:nvSpPr>
          <p:cNvPr id="46" name="Shape 44"/>
          <p:cNvSpPr/>
          <p:nvPr/>
        </p:nvSpPr>
        <p:spPr>
          <a:xfrm>
            <a:off x="10027920" y="5477256"/>
            <a:ext cx="981456" cy="91440"/>
          </a:xfrm>
          <a:prstGeom prst="roundRect">
            <a:avLst>
              <a:gd name="adj" fmla="val 50000"/>
            </a:avLst>
          </a:prstGeom>
          <a:solidFill>
            <a:srgbClr val="E3DFD6"/>
          </a:solidFill>
          <a:ln/>
        </p:spPr>
      </p:sp>
      <p:sp>
        <p:nvSpPr>
          <p:cNvPr id="47" name="Shape 45"/>
          <p:cNvSpPr/>
          <p:nvPr/>
        </p:nvSpPr>
        <p:spPr>
          <a:xfrm>
            <a:off x="10027920" y="5477256"/>
            <a:ext cx="147218" cy="91440"/>
          </a:xfrm>
          <a:prstGeom prst="roundRect">
            <a:avLst>
              <a:gd name="adj" fmla="val 50000"/>
            </a:avLst>
          </a:prstGeom>
          <a:solidFill>
            <a:srgbClr val="1F4FD8"/>
          </a:solidFill>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31</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Dari komputermu ke seluruh dunia</a:t>
            </a:r>
            <a:endParaRPr lang="en-US" sz="4000" dirty="0"/>
          </a:p>
        </p:txBody>
      </p:sp>
      <p:sp>
        <p:nvSpPr>
          <p:cNvPr id="4" name="Shape 2"/>
          <p:cNvSpPr/>
          <p:nvPr/>
        </p:nvSpPr>
        <p:spPr>
          <a:xfrm>
            <a:off x="731520" y="1783080"/>
            <a:ext cx="502920" cy="502920"/>
          </a:xfrm>
          <a:prstGeom prst="ellipse">
            <a:avLst/>
          </a:prstGeom>
          <a:solidFill>
            <a:srgbClr val="FFC83D"/>
          </a:solidFill>
          <a:ln/>
        </p:spPr>
      </p:sp>
      <p:sp>
        <p:nvSpPr>
          <p:cNvPr id="5" name="Text 3"/>
          <p:cNvSpPr txBox="1"/>
          <p:nvPr/>
        </p:nvSpPr>
        <p:spPr>
          <a:xfrm>
            <a:off x="731520" y="1783080"/>
            <a:ext cx="502920" cy="502920"/>
          </a:xfrm>
          <a:prstGeom prst="rect">
            <a:avLst/>
          </a:prstGeom>
          <a:noFill/>
          <a:ln/>
        </p:spPr>
        <p:txBody>
          <a:bodyPr wrap="square" lIns="0" tIns="0" rIns="0" bIns="0" rtlCol="0" anchor="ctr"/>
          <a:lstStyle/>
          <a:p>
            <a:pPr algn="ctr" indent="0" marL="0">
              <a:lnSpc>
                <a:spcPct val="115000"/>
              </a:lnSpc>
              <a:buNone/>
            </a:pPr>
            <a:r>
              <a:rPr lang="en-US" sz="1800" b="1" dirty="0">
                <a:solidFill>
                  <a:srgbClr val="0E1B3D"/>
                </a:solidFill>
                <a:latin typeface="Plus Jakarta Sans" pitchFamily="34" charset="0"/>
                <a:ea typeface="Plus Jakarta Sans" pitchFamily="34" charset="-122"/>
                <a:cs typeface="Plus Jakarta Sans" pitchFamily="34" charset="-120"/>
              </a:rPr>
              <a:t>1</a:t>
            </a:r>
            <a:endParaRPr lang="en-US" sz="1800" dirty="0"/>
          </a:p>
        </p:txBody>
      </p:sp>
      <p:sp>
        <p:nvSpPr>
          <p:cNvPr id="6" name="Text 4"/>
          <p:cNvSpPr txBox="1"/>
          <p:nvPr/>
        </p:nvSpPr>
        <p:spPr>
          <a:xfrm>
            <a:off x="1463040" y="1737360"/>
            <a:ext cx="5394960" cy="594360"/>
          </a:xfrm>
          <a:prstGeom prst="rect">
            <a:avLst/>
          </a:prstGeom>
          <a:noFill/>
          <a:ln/>
        </p:spPr>
        <p:txBody>
          <a:bodyPr wrap="square" lIns="0" tIns="0" rIns="0" bIns="0" rtlCol="0" anchor="ctr"/>
          <a:lstStyle/>
          <a:p>
            <a:pPr algn="l" indent="0" marL="0">
              <a:lnSpc>
                <a:spcPct val="125000"/>
              </a:lnSpc>
              <a:buNone/>
            </a:pPr>
            <a:r>
              <a:rPr lang="en-US" sz="1900" dirty="0">
                <a:solidFill>
                  <a:srgbClr val="0E1B3D"/>
                </a:solidFill>
                <a:latin typeface="Plus Jakarta Sans" pitchFamily="34" charset="0"/>
                <a:ea typeface="Plus Jakarta Sans" pitchFamily="34" charset="-122"/>
                <a:cs typeface="Plus Jakarta Sans" pitchFamily="34" charset="-120"/>
              </a:rPr>
              <a:t>Buka netlify.com/drop di browser</a:t>
            </a:r>
            <a:endParaRPr lang="en-US" sz="1900" dirty="0"/>
          </a:p>
        </p:txBody>
      </p:sp>
      <p:sp>
        <p:nvSpPr>
          <p:cNvPr id="7" name="Shape 5"/>
          <p:cNvSpPr/>
          <p:nvPr/>
        </p:nvSpPr>
        <p:spPr>
          <a:xfrm>
            <a:off x="731520" y="2697480"/>
            <a:ext cx="502920" cy="502920"/>
          </a:xfrm>
          <a:prstGeom prst="ellipse">
            <a:avLst/>
          </a:prstGeom>
          <a:solidFill>
            <a:srgbClr val="FFC83D"/>
          </a:solidFill>
          <a:ln/>
        </p:spPr>
      </p:sp>
      <p:sp>
        <p:nvSpPr>
          <p:cNvPr id="8" name="Text 6"/>
          <p:cNvSpPr txBox="1"/>
          <p:nvPr/>
        </p:nvSpPr>
        <p:spPr>
          <a:xfrm>
            <a:off x="731520" y="2697480"/>
            <a:ext cx="502920" cy="502920"/>
          </a:xfrm>
          <a:prstGeom prst="rect">
            <a:avLst/>
          </a:prstGeom>
          <a:noFill/>
          <a:ln/>
        </p:spPr>
        <p:txBody>
          <a:bodyPr wrap="square" lIns="0" tIns="0" rIns="0" bIns="0" rtlCol="0" anchor="ctr"/>
          <a:lstStyle/>
          <a:p>
            <a:pPr algn="ctr" indent="0" marL="0">
              <a:lnSpc>
                <a:spcPct val="115000"/>
              </a:lnSpc>
              <a:buNone/>
            </a:pPr>
            <a:r>
              <a:rPr lang="en-US" sz="1800" b="1" dirty="0">
                <a:solidFill>
                  <a:srgbClr val="0E1B3D"/>
                </a:solidFill>
                <a:latin typeface="Plus Jakarta Sans" pitchFamily="34" charset="0"/>
                <a:ea typeface="Plus Jakarta Sans" pitchFamily="34" charset="-122"/>
                <a:cs typeface="Plus Jakarta Sans" pitchFamily="34" charset="-120"/>
              </a:rPr>
              <a:t>2</a:t>
            </a:r>
            <a:endParaRPr lang="en-US" sz="1800" dirty="0"/>
          </a:p>
        </p:txBody>
      </p:sp>
      <p:sp>
        <p:nvSpPr>
          <p:cNvPr id="9" name="Text 7"/>
          <p:cNvSpPr txBox="1"/>
          <p:nvPr/>
        </p:nvSpPr>
        <p:spPr>
          <a:xfrm>
            <a:off x="1463040" y="2651760"/>
            <a:ext cx="5394960" cy="594360"/>
          </a:xfrm>
          <a:prstGeom prst="rect">
            <a:avLst/>
          </a:prstGeom>
          <a:noFill/>
          <a:ln/>
        </p:spPr>
        <p:txBody>
          <a:bodyPr wrap="square" lIns="0" tIns="0" rIns="0" bIns="0" rtlCol="0" anchor="ctr"/>
          <a:lstStyle/>
          <a:p>
            <a:pPr algn="l" indent="0" marL="0">
              <a:lnSpc>
                <a:spcPct val="125000"/>
              </a:lnSpc>
              <a:buNone/>
            </a:pPr>
            <a:r>
              <a:rPr lang="en-US" sz="1900" dirty="0">
                <a:solidFill>
                  <a:srgbClr val="0E1B3D"/>
                </a:solidFill>
                <a:latin typeface="Plus Jakarta Sans" pitchFamily="34" charset="0"/>
                <a:ea typeface="Plus Jakarta Sans" pitchFamily="34" charset="-122"/>
                <a:cs typeface="Plus Jakarta Sans" pitchFamily="34" charset="-120"/>
              </a:rPr>
              <a:t>Seret folder portfolio ke halaman itu</a:t>
            </a:r>
            <a:endParaRPr lang="en-US" sz="1900" dirty="0"/>
          </a:p>
        </p:txBody>
      </p:sp>
      <p:sp>
        <p:nvSpPr>
          <p:cNvPr id="10" name="Shape 8"/>
          <p:cNvSpPr/>
          <p:nvPr/>
        </p:nvSpPr>
        <p:spPr>
          <a:xfrm>
            <a:off x="731520" y="3611880"/>
            <a:ext cx="502920" cy="502920"/>
          </a:xfrm>
          <a:prstGeom prst="ellipse">
            <a:avLst/>
          </a:prstGeom>
          <a:solidFill>
            <a:srgbClr val="FFC83D"/>
          </a:solidFill>
          <a:ln/>
        </p:spPr>
      </p:sp>
      <p:sp>
        <p:nvSpPr>
          <p:cNvPr id="11" name="Text 9"/>
          <p:cNvSpPr txBox="1"/>
          <p:nvPr/>
        </p:nvSpPr>
        <p:spPr>
          <a:xfrm>
            <a:off x="731520" y="3611880"/>
            <a:ext cx="502920" cy="502920"/>
          </a:xfrm>
          <a:prstGeom prst="rect">
            <a:avLst/>
          </a:prstGeom>
          <a:noFill/>
          <a:ln/>
        </p:spPr>
        <p:txBody>
          <a:bodyPr wrap="square" lIns="0" tIns="0" rIns="0" bIns="0" rtlCol="0" anchor="ctr"/>
          <a:lstStyle/>
          <a:p>
            <a:pPr algn="ctr" indent="0" marL="0">
              <a:lnSpc>
                <a:spcPct val="115000"/>
              </a:lnSpc>
              <a:buNone/>
            </a:pPr>
            <a:r>
              <a:rPr lang="en-US" sz="1800" b="1" dirty="0">
                <a:solidFill>
                  <a:srgbClr val="0E1B3D"/>
                </a:solidFill>
                <a:latin typeface="Plus Jakarta Sans" pitchFamily="34" charset="0"/>
                <a:ea typeface="Plus Jakarta Sans" pitchFamily="34" charset="-122"/>
                <a:cs typeface="Plus Jakarta Sans" pitchFamily="34" charset="-120"/>
              </a:rPr>
              <a:t>3</a:t>
            </a:r>
            <a:endParaRPr lang="en-US" sz="1800" dirty="0"/>
          </a:p>
        </p:txBody>
      </p:sp>
      <p:sp>
        <p:nvSpPr>
          <p:cNvPr id="12" name="Text 10"/>
          <p:cNvSpPr txBox="1"/>
          <p:nvPr/>
        </p:nvSpPr>
        <p:spPr>
          <a:xfrm>
            <a:off x="1463040" y="3566160"/>
            <a:ext cx="5394960" cy="594360"/>
          </a:xfrm>
          <a:prstGeom prst="rect">
            <a:avLst/>
          </a:prstGeom>
          <a:noFill/>
          <a:ln/>
        </p:spPr>
        <p:txBody>
          <a:bodyPr wrap="square" lIns="0" tIns="0" rIns="0" bIns="0" rtlCol="0" anchor="ctr"/>
          <a:lstStyle/>
          <a:p>
            <a:pPr algn="l" indent="0" marL="0">
              <a:lnSpc>
                <a:spcPct val="125000"/>
              </a:lnSpc>
              <a:buNone/>
            </a:pPr>
            <a:r>
              <a:rPr lang="en-US" sz="1900" dirty="0">
                <a:solidFill>
                  <a:srgbClr val="0E1B3D"/>
                </a:solidFill>
                <a:latin typeface="Plus Jakarta Sans" pitchFamily="34" charset="0"/>
                <a:ea typeface="Plus Jakarta Sans" pitchFamily="34" charset="-122"/>
                <a:cs typeface="Plus Jakarta Sans" pitchFamily="34" charset="-120"/>
              </a:rPr>
              <a:t>Klaim situsnya (buat akun gratis) supaya link tidak kedaluwarsa</a:t>
            </a:r>
            <a:endParaRPr lang="en-US" sz="1900" dirty="0"/>
          </a:p>
        </p:txBody>
      </p:sp>
      <p:sp>
        <p:nvSpPr>
          <p:cNvPr id="13" name="Shape 11"/>
          <p:cNvSpPr/>
          <p:nvPr/>
        </p:nvSpPr>
        <p:spPr>
          <a:xfrm>
            <a:off x="731520" y="4572000"/>
            <a:ext cx="3291840" cy="347472"/>
          </a:xfrm>
          <a:prstGeom prst="roundRect">
            <a:avLst>
              <a:gd name="adj" fmla="val 50000"/>
            </a:avLst>
          </a:prstGeom>
          <a:solidFill>
            <a:srgbClr val="DCE6FF"/>
          </a:solidFill>
          <a:ln/>
        </p:spPr>
      </p:sp>
      <p:sp>
        <p:nvSpPr>
          <p:cNvPr id="14" name="Text 12"/>
          <p:cNvSpPr txBox="1"/>
          <p:nvPr/>
        </p:nvSpPr>
        <p:spPr>
          <a:xfrm>
            <a:off x="731520" y="4572000"/>
            <a:ext cx="3291840" cy="347472"/>
          </a:xfrm>
          <a:prstGeom prst="rect">
            <a:avLst/>
          </a:prstGeom>
          <a:noFill/>
          <a:ln/>
        </p:spPr>
        <p:txBody>
          <a:bodyPr wrap="square" lIns="0" tIns="0" rIns="0" bIns="0" rtlCol="0" anchor="ctr"/>
          <a:lstStyle/>
          <a:p>
            <a:pPr algn="ctr" indent="0" marL="0">
              <a:lnSpc>
                <a:spcPct val="115000"/>
              </a:lnSpc>
              <a:buNone/>
            </a:pPr>
            <a:r>
              <a:rPr lang="en-US" sz="1300" b="1" spc="20" kern="0" dirty="0">
                <a:solidFill>
                  <a:srgbClr val="1F4FD8"/>
                </a:solidFill>
                <a:latin typeface="Plus Jakarta Sans" pitchFamily="34" charset="0"/>
                <a:ea typeface="Plus Jakarta Sans" pitchFamily="34" charset="-122"/>
                <a:cs typeface="Plus Jakarta Sans" pitchFamily="34" charset="-120"/>
              </a:rPr>
              <a:t>Cadangan: GitHub Pages</a:t>
            </a:r>
            <a:endParaRPr lang="en-US" sz="1300" dirty="0"/>
          </a:p>
        </p:txBody>
      </p:sp>
      <p:sp>
        <p:nvSpPr>
          <p:cNvPr id="15" name="Shape 13"/>
          <p:cNvSpPr/>
          <p:nvPr/>
        </p:nvSpPr>
        <p:spPr>
          <a:xfrm>
            <a:off x="731520" y="5166360"/>
            <a:ext cx="5943600" cy="914400"/>
          </a:xfrm>
          <a:prstGeom prst="roundRect">
            <a:avLst>
              <a:gd name="adj" fmla="val 14000"/>
            </a:avLst>
          </a:prstGeom>
          <a:solidFill>
            <a:srgbClr val="FFF3CF"/>
          </a:solidFill>
          <a:ln/>
        </p:spPr>
      </p:sp>
      <p:sp>
        <p:nvSpPr>
          <p:cNvPr id="16" name="Text 14"/>
          <p:cNvSpPr txBox="1"/>
          <p:nvPr/>
        </p:nvSpPr>
        <p:spPr>
          <a:xfrm>
            <a:off x="960120" y="5166360"/>
            <a:ext cx="5486400" cy="914400"/>
          </a:xfrm>
          <a:prstGeom prst="rect">
            <a:avLst/>
          </a:prstGeom>
          <a:noFill/>
          <a:ln/>
        </p:spPr>
        <p:txBody>
          <a:bodyPr wrap="square" lIns="0" tIns="0" rIns="0" bIns="0" rtlCol="0" anchor="ctr"/>
          <a:lstStyle/>
          <a:p>
            <a:pPr algn="l" indent="0" marL="0">
              <a:lnSpc>
                <a:spcPct val="135000"/>
              </a:lnSpc>
              <a:buNone/>
            </a:pPr>
            <a:r>
              <a:rPr lang="en-US" sz="1500" dirty="0">
                <a:solidFill>
                  <a:srgbClr val="0E1B3D"/>
                </a:solidFill>
                <a:latin typeface="Plus Jakarta Sans" pitchFamily="34" charset="0"/>
                <a:ea typeface="Plus Jakarta Sans" pitchFamily="34" charset="-122"/>
                <a:cs typeface="Plus Jakarta Sans" pitchFamily="34" charset="-120"/>
              </a:rPr>
              <a:t>Internet bermasalah? Tidak apa-apa. Tunjukkan hasilnya di komputer, tayangkan nanti di rumah.</a:t>
            </a:r>
            <a:endParaRPr lang="en-US" sz="1500" dirty="0"/>
          </a:p>
        </p:txBody>
      </p:sp>
      <p:sp>
        <p:nvSpPr>
          <p:cNvPr id="17" name="Shape 15"/>
          <p:cNvSpPr/>
          <p:nvPr/>
        </p:nvSpPr>
        <p:spPr>
          <a:xfrm>
            <a:off x="7315200" y="1691640"/>
            <a:ext cx="4114800" cy="3108960"/>
          </a:xfrm>
          <a:prstGeom prst="roundRect">
            <a:avLst>
              <a:gd name="adj" fmla="val 4706"/>
            </a:avLst>
          </a:prstGeom>
          <a:solidFill>
            <a:srgbClr val="FFFFFF"/>
          </a:solidFill>
          <a:ln w="15875">
            <a:solidFill>
              <a:srgbClr val="D5DAE6"/>
            </a:solidFill>
            <a:prstDash val="solid"/>
          </a:ln>
          <a:effectLst>
            <a:outerShdw sx="100000" sy="100000" kx="0" ky="0" algn="bl" rotWithShape="0" blurRad="177800" dist="38100" dir="5400000">
              <a:srgbClr val="7A8299">
                <a:alpha val="18000"/>
              </a:srgbClr>
            </a:outerShdw>
          </a:effectLst>
        </p:spPr>
      </p:sp>
      <p:sp>
        <p:nvSpPr>
          <p:cNvPr id="18" name="Shape 16"/>
          <p:cNvSpPr/>
          <p:nvPr/>
        </p:nvSpPr>
        <p:spPr>
          <a:xfrm>
            <a:off x="7333488" y="1709928"/>
            <a:ext cx="4078224" cy="384048"/>
          </a:xfrm>
          <a:prstGeom prst="roundRect">
            <a:avLst>
              <a:gd name="adj" fmla="val 33333"/>
            </a:avLst>
          </a:prstGeom>
          <a:solidFill>
            <a:srgbClr val="EEF1F7"/>
          </a:solidFill>
          <a:ln/>
        </p:spPr>
      </p:sp>
      <p:sp>
        <p:nvSpPr>
          <p:cNvPr id="19" name="Shape 17"/>
          <p:cNvSpPr/>
          <p:nvPr/>
        </p:nvSpPr>
        <p:spPr>
          <a:xfrm>
            <a:off x="7333488" y="1892808"/>
            <a:ext cx="4078224" cy="201168"/>
          </a:xfrm>
          <a:prstGeom prst="rect">
            <a:avLst/>
          </a:prstGeom>
          <a:solidFill>
            <a:srgbClr val="EEF1F7"/>
          </a:solidFill>
          <a:ln/>
        </p:spPr>
      </p:sp>
      <p:sp>
        <p:nvSpPr>
          <p:cNvPr id="20" name="Shape 18"/>
          <p:cNvSpPr/>
          <p:nvPr/>
        </p:nvSpPr>
        <p:spPr>
          <a:xfrm>
            <a:off x="7498080" y="1828800"/>
            <a:ext cx="100584" cy="100584"/>
          </a:xfrm>
          <a:prstGeom prst="ellipse">
            <a:avLst/>
          </a:prstGeom>
          <a:solidFill>
            <a:srgbClr val="E63946"/>
          </a:solidFill>
          <a:ln/>
        </p:spPr>
      </p:sp>
      <p:sp>
        <p:nvSpPr>
          <p:cNvPr id="21" name="Shape 19"/>
          <p:cNvSpPr/>
          <p:nvPr/>
        </p:nvSpPr>
        <p:spPr>
          <a:xfrm>
            <a:off x="7671816" y="1828800"/>
            <a:ext cx="100584" cy="100584"/>
          </a:xfrm>
          <a:prstGeom prst="ellipse">
            <a:avLst/>
          </a:prstGeom>
          <a:solidFill>
            <a:srgbClr val="FFC83D"/>
          </a:solidFill>
          <a:ln/>
        </p:spPr>
      </p:sp>
      <p:sp>
        <p:nvSpPr>
          <p:cNvPr id="22" name="Shape 20"/>
          <p:cNvSpPr/>
          <p:nvPr/>
        </p:nvSpPr>
        <p:spPr>
          <a:xfrm>
            <a:off x="7845552" y="1828800"/>
            <a:ext cx="100584" cy="100584"/>
          </a:xfrm>
          <a:prstGeom prst="ellipse">
            <a:avLst/>
          </a:prstGeom>
          <a:solidFill>
            <a:srgbClr val="1E9E68"/>
          </a:solidFill>
          <a:ln/>
        </p:spPr>
      </p:sp>
      <p:sp>
        <p:nvSpPr>
          <p:cNvPr id="23" name="Shape 21"/>
          <p:cNvSpPr/>
          <p:nvPr/>
        </p:nvSpPr>
        <p:spPr>
          <a:xfrm>
            <a:off x="8183880" y="1773936"/>
            <a:ext cx="3017520" cy="237744"/>
          </a:xfrm>
          <a:prstGeom prst="roundRect">
            <a:avLst>
              <a:gd name="adj" fmla="val 50000"/>
            </a:avLst>
          </a:prstGeom>
          <a:solidFill>
            <a:srgbClr val="FFFFFF"/>
          </a:solidFill>
          <a:ln/>
        </p:spPr>
      </p:sp>
      <p:sp>
        <p:nvSpPr>
          <p:cNvPr id="24" name="Text 22"/>
          <p:cNvSpPr txBox="1"/>
          <p:nvPr/>
        </p:nvSpPr>
        <p:spPr>
          <a:xfrm>
            <a:off x="8321040" y="1773936"/>
            <a:ext cx="27432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alya-putri.netlify.app</a:t>
            </a:r>
            <a:endParaRPr lang="en-US" sz="1100" dirty="0"/>
          </a:p>
        </p:txBody>
      </p:sp>
      <p:sp>
        <p:nvSpPr>
          <p:cNvPr id="25" name="Shape 23"/>
          <p:cNvSpPr/>
          <p:nvPr/>
        </p:nvSpPr>
        <p:spPr>
          <a:xfrm>
            <a:off x="7333488" y="2093976"/>
            <a:ext cx="4078224" cy="2670048"/>
          </a:xfrm>
          <a:prstGeom prst="rect">
            <a:avLst/>
          </a:prstGeom>
          <a:solidFill>
            <a:srgbClr val="FAF8F4"/>
          </a:solidFill>
          <a:ln/>
        </p:spPr>
      </p:sp>
      <p:sp>
        <p:nvSpPr>
          <p:cNvPr id="26" name="Shape 24"/>
          <p:cNvSpPr/>
          <p:nvPr/>
        </p:nvSpPr>
        <p:spPr>
          <a:xfrm>
            <a:off x="7333488" y="2093976"/>
            <a:ext cx="4078224" cy="971550"/>
          </a:xfrm>
          <a:prstGeom prst="rect">
            <a:avLst/>
          </a:prstGeom>
          <a:solidFill>
            <a:srgbClr val="0E1B3D"/>
          </a:solidFill>
          <a:ln/>
        </p:spPr>
      </p:sp>
      <p:sp>
        <p:nvSpPr>
          <p:cNvPr id="27" name="Text 25"/>
          <p:cNvSpPr txBox="1"/>
          <p:nvPr/>
        </p:nvSpPr>
        <p:spPr>
          <a:xfrm>
            <a:off x="7566660" y="2249424"/>
            <a:ext cx="3611880" cy="349758"/>
          </a:xfrm>
          <a:prstGeom prst="rect">
            <a:avLst/>
          </a:prstGeom>
          <a:noFill/>
          <a:ln/>
        </p:spPr>
        <p:txBody>
          <a:bodyPr wrap="square" lIns="0" tIns="0" rIns="0" bIns="0" rtlCol="0" anchor="t"/>
          <a:lstStyle/>
          <a:p>
            <a:pPr algn="l" indent="0" marL="0">
              <a:lnSpc>
                <a:spcPct val="115000"/>
              </a:lnSpc>
              <a:buNone/>
            </a:pPr>
            <a:r>
              <a:rPr lang="en-US" sz="2040" b="1" dirty="0">
                <a:solidFill>
                  <a:srgbClr val="FFFFFF"/>
                </a:solidFill>
                <a:latin typeface="Plus Jakarta Sans" pitchFamily="34" charset="0"/>
                <a:ea typeface="Plus Jakarta Sans" pitchFamily="34" charset="-122"/>
                <a:cs typeface="Plus Jakarta Sans" pitchFamily="34" charset="-120"/>
              </a:rPr>
              <a:t>Alya Putri</a:t>
            </a:r>
            <a:endParaRPr lang="en-US" sz="2040" dirty="0"/>
          </a:p>
        </p:txBody>
      </p:sp>
      <p:sp>
        <p:nvSpPr>
          <p:cNvPr id="28" name="Text 26"/>
          <p:cNvSpPr txBox="1"/>
          <p:nvPr/>
        </p:nvSpPr>
        <p:spPr>
          <a:xfrm>
            <a:off x="7566660" y="2575865"/>
            <a:ext cx="3611880" cy="194310"/>
          </a:xfrm>
          <a:prstGeom prst="rect">
            <a:avLst/>
          </a:prstGeom>
          <a:noFill/>
          <a:ln/>
        </p:spPr>
        <p:txBody>
          <a:bodyPr wrap="square" lIns="0" tIns="0" rIns="0" bIns="0" rtlCol="0" anchor="t"/>
          <a:lstStyle/>
          <a:p>
            <a:pPr algn="l" indent="0" marL="0">
              <a:lnSpc>
                <a:spcPct val="115000"/>
              </a:lnSpc>
              <a:buNone/>
            </a:pPr>
            <a:r>
              <a:rPr lang="en-US" sz="1020" dirty="0">
                <a:solidFill>
                  <a:srgbClr val="FFC83D"/>
                </a:solidFill>
                <a:latin typeface="Plus Jakarta Sans" pitchFamily="34" charset="0"/>
                <a:ea typeface="Plus Jakarta Sans" pitchFamily="34" charset="-122"/>
                <a:cs typeface="Plus Jakarta Sans" pitchFamily="34" charset="-120"/>
              </a:rPr>
              <a:t>Siswa SMA · Calon Web Developer</a:t>
            </a:r>
            <a:endParaRPr lang="en-US" sz="1020" dirty="0"/>
          </a:p>
        </p:txBody>
      </p:sp>
      <p:sp>
        <p:nvSpPr>
          <p:cNvPr id="29" name="Shape 27"/>
          <p:cNvSpPr/>
          <p:nvPr/>
        </p:nvSpPr>
        <p:spPr>
          <a:xfrm>
            <a:off x="7566660" y="2816809"/>
            <a:ext cx="660654" cy="186538"/>
          </a:xfrm>
          <a:prstGeom prst="roundRect">
            <a:avLst>
              <a:gd name="adj" fmla="val 50000"/>
            </a:avLst>
          </a:prstGeom>
          <a:solidFill>
            <a:srgbClr val="17285A"/>
          </a:solidFill>
          <a:ln/>
        </p:spPr>
      </p:sp>
      <p:sp>
        <p:nvSpPr>
          <p:cNvPr id="30" name="Text 28"/>
          <p:cNvSpPr txBox="1"/>
          <p:nvPr/>
        </p:nvSpPr>
        <p:spPr>
          <a:xfrm>
            <a:off x="7566660" y="2816809"/>
            <a:ext cx="660654" cy="186538"/>
          </a:xfrm>
          <a:prstGeom prst="rect">
            <a:avLst/>
          </a:prstGeom>
          <a:noFill/>
          <a:ln/>
        </p:spPr>
        <p:txBody>
          <a:bodyPr wrap="square" lIns="0" tIns="0" rIns="0" bIns="0" rtlCol="0" anchor="ctr"/>
          <a:lstStyle/>
          <a:p>
            <a:pPr algn="ctr" indent="0" marL="0">
              <a:lnSpc>
                <a:spcPct val="115000"/>
              </a:lnSpc>
              <a:buNone/>
            </a:pPr>
            <a:r>
              <a:rPr lang="en-US" sz="850" b="1" dirty="0">
                <a:solidFill>
                  <a:srgbClr val="F4F6FB"/>
                </a:solidFill>
                <a:latin typeface="Plus Jakarta Sans" pitchFamily="34" charset="0"/>
                <a:ea typeface="Plus Jakarta Sans" pitchFamily="34" charset="-122"/>
                <a:cs typeface="Plus Jakarta Sans" pitchFamily="34" charset="-120"/>
              </a:rPr>
              <a:t>Tentang</a:t>
            </a:r>
            <a:endParaRPr lang="en-US" sz="850" dirty="0"/>
          </a:p>
        </p:txBody>
      </p:sp>
      <p:sp>
        <p:nvSpPr>
          <p:cNvPr id="31" name="Shape 29"/>
          <p:cNvSpPr/>
          <p:nvPr/>
        </p:nvSpPr>
        <p:spPr>
          <a:xfrm>
            <a:off x="8305038" y="2816809"/>
            <a:ext cx="660654" cy="186538"/>
          </a:xfrm>
          <a:prstGeom prst="roundRect">
            <a:avLst>
              <a:gd name="adj" fmla="val 50000"/>
            </a:avLst>
          </a:prstGeom>
          <a:solidFill>
            <a:srgbClr val="17285A"/>
          </a:solidFill>
          <a:ln/>
        </p:spPr>
      </p:sp>
      <p:sp>
        <p:nvSpPr>
          <p:cNvPr id="32" name="Text 30"/>
          <p:cNvSpPr txBox="1"/>
          <p:nvPr/>
        </p:nvSpPr>
        <p:spPr>
          <a:xfrm>
            <a:off x="8305038" y="2816809"/>
            <a:ext cx="660654" cy="186538"/>
          </a:xfrm>
          <a:prstGeom prst="rect">
            <a:avLst/>
          </a:prstGeom>
          <a:noFill/>
          <a:ln/>
        </p:spPr>
        <p:txBody>
          <a:bodyPr wrap="square" lIns="0" tIns="0" rIns="0" bIns="0" rtlCol="0" anchor="ctr"/>
          <a:lstStyle/>
          <a:p>
            <a:pPr algn="ctr" indent="0" marL="0">
              <a:lnSpc>
                <a:spcPct val="115000"/>
              </a:lnSpc>
              <a:buNone/>
            </a:pPr>
            <a:r>
              <a:rPr lang="en-US" sz="850" b="1" dirty="0">
                <a:solidFill>
                  <a:srgbClr val="F4F6FB"/>
                </a:solidFill>
                <a:latin typeface="Plus Jakarta Sans" pitchFamily="34" charset="0"/>
                <a:ea typeface="Plus Jakarta Sans" pitchFamily="34" charset="-122"/>
                <a:cs typeface="Plus Jakarta Sans" pitchFamily="34" charset="-120"/>
              </a:rPr>
              <a:t>Skill</a:t>
            </a:r>
            <a:endParaRPr lang="en-US" sz="850" dirty="0"/>
          </a:p>
        </p:txBody>
      </p:sp>
      <p:sp>
        <p:nvSpPr>
          <p:cNvPr id="33" name="Shape 31"/>
          <p:cNvSpPr/>
          <p:nvPr/>
        </p:nvSpPr>
        <p:spPr>
          <a:xfrm>
            <a:off x="9043416" y="2816809"/>
            <a:ext cx="660654" cy="186538"/>
          </a:xfrm>
          <a:prstGeom prst="roundRect">
            <a:avLst>
              <a:gd name="adj" fmla="val 50000"/>
            </a:avLst>
          </a:prstGeom>
          <a:solidFill>
            <a:srgbClr val="17285A"/>
          </a:solidFill>
          <a:ln/>
        </p:spPr>
      </p:sp>
      <p:sp>
        <p:nvSpPr>
          <p:cNvPr id="34" name="Text 32"/>
          <p:cNvSpPr txBox="1"/>
          <p:nvPr/>
        </p:nvSpPr>
        <p:spPr>
          <a:xfrm>
            <a:off x="9043416" y="2816809"/>
            <a:ext cx="660654" cy="186538"/>
          </a:xfrm>
          <a:prstGeom prst="rect">
            <a:avLst/>
          </a:prstGeom>
          <a:noFill/>
          <a:ln/>
        </p:spPr>
        <p:txBody>
          <a:bodyPr wrap="square" lIns="0" tIns="0" rIns="0" bIns="0" rtlCol="0" anchor="ctr"/>
          <a:lstStyle/>
          <a:p>
            <a:pPr algn="ctr" indent="0" marL="0">
              <a:lnSpc>
                <a:spcPct val="115000"/>
              </a:lnSpc>
              <a:buNone/>
            </a:pPr>
            <a:r>
              <a:rPr lang="en-US" sz="850" b="1" dirty="0">
                <a:solidFill>
                  <a:srgbClr val="F4F6FB"/>
                </a:solidFill>
                <a:latin typeface="Plus Jakarta Sans" pitchFamily="34" charset="0"/>
                <a:ea typeface="Plus Jakarta Sans" pitchFamily="34" charset="-122"/>
                <a:cs typeface="Plus Jakarta Sans" pitchFamily="34" charset="-120"/>
              </a:rPr>
              <a:t>Project</a:t>
            </a:r>
            <a:endParaRPr lang="en-US" sz="850" dirty="0"/>
          </a:p>
        </p:txBody>
      </p:sp>
      <p:sp>
        <p:nvSpPr>
          <p:cNvPr id="35" name="Shape 33"/>
          <p:cNvSpPr/>
          <p:nvPr/>
        </p:nvSpPr>
        <p:spPr>
          <a:xfrm>
            <a:off x="9781794" y="2816809"/>
            <a:ext cx="660654" cy="186538"/>
          </a:xfrm>
          <a:prstGeom prst="roundRect">
            <a:avLst>
              <a:gd name="adj" fmla="val 50000"/>
            </a:avLst>
          </a:prstGeom>
          <a:solidFill>
            <a:srgbClr val="17285A"/>
          </a:solidFill>
          <a:ln/>
        </p:spPr>
      </p:sp>
      <p:sp>
        <p:nvSpPr>
          <p:cNvPr id="36" name="Text 34"/>
          <p:cNvSpPr txBox="1"/>
          <p:nvPr/>
        </p:nvSpPr>
        <p:spPr>
          <a:xfrm>
            <a:off x="9781794" y="2816809"/>
            <a:ext cx="660654" cy="186538"/>
          </a:xfrm>
          <a:prstGeom prst="rect">
            <a:avLst/>
          </a:prstGeom>
          <a:noFill/>
          <a:ln/>
        </p:spPr>
        <p:txBody>
          <a:bodyPr wrap="square" lIns="0" tIns="0" rIns="0" bIns="0" rtlCol="0" anchor="ctr"/>
          <a:lstStyle/>
          <a:p>
            <a:pPr algn="ctr" indent="0" marL="0">
              <a:lnSpc>
                <a:spcPct val="115000"/>
              </a:lnSpc>
              <a:buNone/>
            </a:pPr>
            <a:r>
              <a:rPr lang="en-US" sz="850" b="1" dirty="0">
                <a:solidFill>
                  <a:srgbClr val="F4F6FB"/>
                </a:solidFill>
                <a:latin typeface="Plus Jakarta Sans" pitchFamily="34" charset="0"/>
                <a:ea typeface="Plus Jakarta Sans" pitchFamily="34" charset="-122"/>
                <a:cs typeface="Plus Jakarta Sans" pitchFamily="34" charset="-120"/>
              </a:rPr>
              <a:t>Kontak</a:t>
            </a:r>
            <a:endParaRPr lang="en-US" sz="850" dirty="0"/>
          </a:p>
        </p:txBody>
      </p:sp>
      <p:sp>
        <p:nvSpPr>
          <p:cNvPr id="37" name="Shape 35"/>
          <p:cNvSpPr/>
          <p:nvPr/>
        </p:nvSpPr>
        <p:spPr>
          <a:xfrm>
            <a:off x="7566660" y="3298698"/>
            <a:ext cx="1689354" cy="854964"/>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38" name="Text 36"/>
          <p:cNvSpPr txBox="1"/>
          <p:nvPr/>
        </p:nvSpPr>
        <p:spPr>
          <a:xfrm>
            <a:off x="7683246" y="3407512"/>
            <a:ext cx="1456182" cy="194310"/>
          </a:xfrm>
          <a:prstGeom prst="rect">
            <a:avLst/>
          </a:prstGeom>
          <a:noFill/>
          <a:ln/>
        </p:spPr>
        <p:txBody>
          <a:bodyPr wrap="square" lIns="0" tIns="0" rIns="0" bIns="0" rtlCol="0" anchor="t"/>
          <a:lstStyle/>
          <a:p>
            <a:pPr algn="l" indent="0" marL="0">
              <a:lnSpc>
                <a:spcPct val="115000"/>
              </a:lnSpc>
              <a:buNone/>
            </a:pPr>
            <a:r>
              <a:rPr lang="en-US" sz="1020" b="1" dirty="0">
                <a:solidFill>
                  <a:srgbClr val="0E1B3D"/>
                </a:solidFill>
                <a:latin typeface="Plus Jakarta Sans" pitchFamily="34" charset="0"/>
                <a:ea typeface="Plus Jakarta Sans" pitchFamily="34" charset="-122"/>
                <a:cs typeface="Plus Jakarta Sans" pitchFamily="34" charset="-120"/>
              </a:rPr>
              <a:t>Profil Pribadi</a:t>
            </a:r>
            <a:endParaRPr lang="en-US" sz="1020" dirty="0"/>
          </a:p>
        </p:txBody>
      </p:sp>
      <p:sp>
        <p:nvSpPr>
          <p:cNvPr id="39" name="Shape 37"/>
          <p:cNvSpPr/>
          <p:nvPr/>
        </p:nvSpPr>
        <p:spPr>
          <a:xfrm>
            <a:off x="7683246" y="3687318"/>
            <a:ext cx="1456182" cy="54407"/>
          </a:xfrm>
          <a:prstGeom prst="rect">
            <a:avLst/>
          </a:prstGeom>
          <a:solidFill>
            <a:srgbClr val="E3DFD6"/>
          </a:solidFill>
          <a:ln/>
        </p:spPr>
      </p:sp>
      <p:sp>
        <p:nvSpPr>
          <p:cNvPr id="40" name="Shape 38"/>
          <p:cNvSpPr/>
          <p:nvPr/>
        </p:nvSpPr>
        <p:spPr>
          <a:xfrm>
            <a:off x="7683246" y="3827221"/>
            <a:ext cx="946518" cy="54407"/>
          </a:xfrm>
          <a:prstGeom prst="rect">
            <a:avLst/>
          </a:prstGeom>
          <a:solidFill>
            <a:srgbClr val="E3DFD6"/>
          </a:solidFill>
          <a:ln/>
        </p:spPr>
      </p:sp>
      <p:sp>
        <p:nvSpPr>
          <p:cNvPr id="41" name="Shape 39"/>
          <p:cNvSpPr/>
          <p:nvPr/>
        </p:nvSpPr>
        <p:spPr>
          <a:xfrm>
            <a:off x="9489186" y="3298698"/>
            <a:ext cx="1689354" cy="854964"/>
          </a:xfrm>
          <a:prstGeom prst="roundRect">
            <a:avLst>
              <a:gd name="adj" fmla="val 9091"/>
            </a:avLst>
          </a:prstGeom>
          <a:solidFill>
            <a:srgbClr val="FFFFFF"/>
          </a:solidFill>
          <a:ln w="12700">
            <a:solidFill>
              <a:srgbClr val="E3DFD6"/>
            </a:solidFill>
            <a:prstDash val="solid"/>
          </a:ln>
          <a:effectLst>
            <a:outerShdw sx="100000" sy="100000" kx="0" ky="0" algn="bl" rotWithShape="0" blurRad="177800" dist="38100" dir="5400000">
              <a:srgbClr val="7A8299">
                <a:alpha val="18000"/>
              </a:srgbClr>
            </a:outerShdw>
          </a:effectLst>
        </p:spPr>
      </p:sp>
      <p:sp>
        <p:nvSpPr>
          <p:cNvPr id="42" name="Text 40"/>
          <p:cNvSpPr txBox="1"/>
          <p:nvPr/>
        </p:nvSpPr>
        <p:spPr>
          <a:xfrm>
            <a:off x="9605772" y="3407512"/>
            <a:ext cx="1456182" cy="194310"/>
          </a:xfrm>
          <a:prstGeom prst="rect">
            <a:avLst/>
          </a:prstGeom>
          <a:noFill/>
          <a:ln/>
        </p:spPr>
        <p:txBody>
          <a:bodyPr wrap="square" lIns="0" tIns="0" rIns="0" bIns="0" rtlCol="0" anchor="t"/>
          <a:lstStyle/>
          <a:p>
            <a:pPr algn="l" indent="0" marL="0">
              <a:lnSpc>
                <a:spcPct val="115000"/>
              </a:lnSpc>
              <a:buNone/>
            </a:pPr>
            <a:r>
              <a:rPr lang="en-US" sz="1020" b="1" dirty="0">
                <a:solidFill>
                  <a:srgbClr val="0E1B3D"/>
                </a:solidFill>
                <a:latin typeface="Plus Jakarta Sans" pitchFamily="34" charset="0"/>
                <a:ea typeface="Plus Jakarta Sans" pitchFamily="34" charset="-122"/>
                <a:cs typeface="Plus Jakarta Sans" pitchFamily="34" charset="-120"/>
              </a:rPr>
              <a:t>Cuaca Hari Ini</a:t>
            </a:r>
            <a:endParaRPr lang="en-US" sz="1020" dirty="0"/>
          </a:p>
        </p:txBody>
      </p:sp>
      <p:sp>
        <p:nvSpPr>
          <p:cNvPr id="43" name="Shape 41"/>
          <p:cNvSpPr/>
          <p:nvPr/>
        </p:nvSpPr>
        <p:spPr>
          <a:xfrm>
            <a:off x="9605772" y="3687318"/>
            <a:ext cx="1456182" cy="54407"/>
          </a:xfrm>
          <a:prstGeom prst="rect">
            <a:avLst/>
          </a:prstGeom>
          <a:solidFill>
            <a:srgbClr val="E3DFD6"/>
          </a:solidFill>
          <a:ln/>
        </p:spPr>
      </p:sp>
      <p:sp>
        <p:nvSpPr>
          <p:cNvPr id="44" name="Shape 42"/>
          <p:cNvSpPr/>
          <p:nvPr/>
        </p:nvSpPr>
        <p:spPr>
          <a:xfrm>
            <a:off x="9605772" y="3827221"/>
            <a:ext cx="946518" cy="54407"/>
          </a:xfrm>
          <a:prstGeom prst="rect">
            <a:avLst/>
          </a:prstGeom>
          <a:solidFill>
            <a:srgbClr val="E3DFD6"/>
          </a:solidFill>
          <a:ln/>
        </p:spPr>
      </p:sp>
      <p:sp>
        <p:nvSpPr>
          <p:cNvPr id="45" name="Shape 43"/>
          <p:cNvSpPr/>
          <p:nvPr/>
        </p:nvSpPr>
        <p:spPr>
          <a:xfrm>
            <a:off x="7566660" y="4386834"/>
            <a:ext cx="582930" cy="202082"/>
          </a:xfrm>
          <a:prstGeom prst="roundRect">
            <a:avLst>
              <a:gd name="adj" fmla="val 50000"/>
            </a:avLst>
          </a:prstGeom>
          <a:solidFill>
            <a:srgbClr val="DCE6FF"/>
          </a:solidFill>
          <a:ln/>
        </p:spPr>
      </p:sp>
      <p:sp>
        <p:nvSpPr>
          <p:cNvPr id="46" name="Text 44"/>
          <p:cNvSpPr txBox="1"/>
          <p:nvPr/>
        </p:nvSpPr>
        <p:spPr>
          <a:xfrm>
            <a:off x="7566660" y="4386834"/>
            <a:ext cx="582930" cy="202082"/>
          </a:xfrm>
          <a:prstGeom prst="rect">
            <a:avLst/>
          </a:prstGeom>
          <a:noFill/>
          <a:ln/>
        </p:spPr>
        <p:txBody>
          <a:bodyPr wrap="square" lIns="0" tIns="0" rIns="0" bIns="0" rtlCol="0" anchor="ctr"/>
          <a:lstStyle/>
          <a:p>
            <a:pPr algn="ctr" indent="0" marL="0">
              <a:lnSpc>
                <a:spcPct val="115000"/>
              </a:lnSpc>
              <a:buNone/>
            </a:pPr>
            <a:r>
              <a:rPr lang="en-US" sz="850" b="1" dirty="0">
                <a:solidFill>
                  <a:srgbClr val="1F4FD8"/>
                </a:solidFill>
                <a:latin typeface="Plus Jakarta Sans" pitchFamily="34" charset="0"/>
                <a:ea typeface="Plus Jakarta Sans" pitchFamily="34" charset="-122"/>
                <a:cs typeface="Plus Jakarta Sans" pitchFamily="34" charset="-120"/>
              </a:rPr>
              <a:t>HTML</a:t>
            </a:r>
            <a:endParaRPr lang="en-US" sz="850" dirty="0"/>
          </a:p>
        </p:txBody>
      </p:sp>
      <p:sp>
        <p:nvSpPr>
          <p:cNvPr id="47" name="Shape 45"/>
          <p:cNvSpPr/>
          <p:nvPr/>
        </p:nvSpPr>
        <p:spPr>
          <a:xfrm>
            <a:off x="8227314" y="4386834"/>
            <a:ext cx="582930" cy="202082"/>
          </a:xfrm>
          <a:prstGeom prst="roundRect">
            <a:avLst>
              <a:gd name="adj" fmla="val 50000"/>
            </a:avLst>
          </a:prstGeom>
          <a:solidFill>
            <a:srgbClr val="DCE6FF"/>
          </a:solidFill>
          <a:ln/>
        </p:spPr>
      </p:sp>
      <p:sp>
        <p:nvSpPr>
          <p:cNvPr id="48" name="Text 46"/>
          <p:cNvSpPr txBox="1"/>
          <p:nvPr/>
        </p:nvSpPr>
        <p:spPr>
          <a:xfrm>
            <a:off x="8227314" y="4386834"/>
            <a:ext cx="582930" cy="202082"/>
          </a:xfrm>
          <a:prstGeom prst="rect">
            <a:avLst/>
          </a:prstGeom>
          <a:noFill/>
          <a:ln/>
        </p:spPr>
        <p:txBody>
          <a:bodyPr wrap="square" lIns="0" tIns="0" rIns="0" bIns="0" rtlCol="0" anchor="ctr"/>
          <a:lstStyle/>
          <a:p>
            <a:pPr algn="ctr" indent="0" marL="0">
              <a:lnSpc>
                <a:spcPct val="115000"/>
              </a:lnSpc>
              <a:buNone/>
            </a:pPr>
            <a:r>
              <a:rPr lang="en-US" sz="850" b="1" dirty="0">
                <a:solidFill>
                  <a:srgbClr val="1F4FD8"/>
                </a:solidFill>
                <a:latin typeface="Plus Jakarta Sans" pitchFamily="34" charset="0"/>
                <a:ea typeface="Plus Jakarta Sans" pitchFamily="34" charset="-122"/>
                <a:cs typeface="Plus Jakarta Sans" pitchFamily="34" charset="-120"/>
              </a:rPr>
              <a:t>CSS</a:t>
            </a:r>
            <a:endParaRPr lang="en-US" sz="850" dirty="0"/>
          </a:p>
        </p:txBody>
      </p:sp>
      <p:sp>
        <p:nvSpPr>
          <p:cNvPr id="49" name="Shape 47"/>
          <p:cNvSpPr/>
          <p:nvPr/>
        </p:nvSpPr>
        <p:spPr>
          <a:xfrm>
            <a:off x="8887968" y="4386834"/>
            <a:ext cx="582930" cy="202082"/>
          </a:xfrm>
          <a:prstGeom prst="roundRect">
            <a:avLst>
              <a:gd name="adj" fmla="val 50000"/>
            </a:avLst>
          </a:prstGeom>
          <a:solidFill>
            <a:srgbClr val="DCE6FF"/>
          </a:solidFill>
          <a:ln/>
        </p:spPr>
      </p:sp>
      <p:sp>
        <p:nvSpPr>
          <p:cNvPr id="50" name="Text 48"/>
          <p:cNvSpPr txBox="1"/>
          <p:nvPr/>
        </p:nvSpPr>
        <p:spPr>
          <a:xfrm>
            <a:off x="8887968" y="4386834"/>
            <a:ext cx="582930" cy="202082"/>
          </a:xfrm>
          <a:prstGeom prst="rect">
            <a:avLst/>
          </a:prstGeom>
          <a:noFill/>
          <a:ln/>
        </p:spPr>
        <p:txBody>
          <a:bodyPr wrap="square" lIns="0" tIns="0" rIns="0" bIns="0" rtlCol="0" anchor="ctr"/>
          <a:lstStyle/>
          <a:p>
            <a:pPr algn="ctr" indent="0" marL="0">
              <a:lnSpc>
                <a:spcPct val="115000"/>
              </a:lnSpc>
              <a:buNone/>
            </a:pPr>
            <a:r>
              <a:rPr lang="en-US" sz="850" b="1" dirty="0">
                <a:solidFill>
                  <a:srgbClr val="1F4FD8"/>
                </a:solidFill>
                <a:latin typeface="Plus Jakarta Sans" pitchFamily="34" charset="0"/>
                <a:ea typeface="Plus Jakarta Sans" pitchFamily="34" charset="-122"/>
                <a:cs typeface="Plus Jakarta Sans" pitchFamily="34" charset="-120"/>
              </a:rPr>
              <a:t>Git</a:t>
            </a:r>
            <a:endParaRPr lang="en-US" sz="850" dirty="0"/>
          </a:p>
        </p:txBody>
      </p:sp>
      <p:sp>
        <p:nvSpPr>
          <p:cNvPr id="51" name="Shape 49"/>
          <p:cNvSpPr/>
          <p:nvPr/>
        </p:nvSpPr>
        <p:spPr>
          <a:xfrm>
            <a:off x="7315200" y="5029200"/>
            <a:ext cx="4114800" cy="457200"/>
          </a:xfrm>
          <a:prstGeom prst="roundRect">
            <a:avLst>
              <a:gd name="adj" fmla="val 50000"/>
            </a:avLst>
          </a:prstGeom>
          <a:solidFill>
            <a:srgbClr val="DCE6FF"/>
          </a:solidFill>
          <a:ln/>
        </p:spPr>
      </p:sp>
      <p:sp>
        <p:nvSpPr>
          <p:cNvPr id="52" name="Text 50"/>
          <p:cNvSpPr txBox="1"/>
          <p:nvPr/>
        </p:nvSpPr>
        <p:spPr>
          <a:xfrm>
            <a:off x="7315200" y="5029200"/>
            <a:ext cx="4114800" cy="457200"/>
          </a:xfrm>
          <a:prstGeom prst="rect">
            <a:avLst/>
          </a:prstGeom>
          <a:noFill/>
          <a:ln/>
        </p:spPr>
        <p:txBody>
          <a:bodyPr wrap="none" lIns="0" tIns="0" rIns="0" bIns="0" rtlCol="0" anchor="ctr"/>
          <a:lstStyle/>
          <a:p>
            <a:pPr algn="ctr" indent="0" marL="0">
              <a:lnSpc>
                <a:spcPct val="115000"/>
              </a:lnSpc>
              <a:buNone/>
            </a:pPr>
            <a:r>
              <a:rPr lang="en-US" sz="1600" b="1" dirty="0">
                <a:solidFill>
                  <a:srgbClr val="1F4FD8"/>
                </a:solidFill>
                <a:latin typeface="JetBrains Mono" pitchFamily="34" charset="0"/>
                <a:ea typeface="JetBrains Mono" pitchFamily="34" charset="-122"/>
                <a:cs typeface="JetBrains Mono" pitchFamily="34" charset="-120"/>
              </a:rPr>
              <a:t>alya-putri.netlify.app</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6F7FA8"/>
                </a:solidFill>
                <a:latin typeface="Plus Jakarta Sans" pitchFamily="34" charset="0"/>
                <a:ea typeface="Plus Jakarta Sans" pitchFamily="34" charset="-122"/>
                <a:cs typeface="Plus Jakarta Sans" pitchFamily="34" charset="-120"/>
              </a:rPr>
              <a:t>32</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F4F6FB"/>
                </a:solidFill>
                <a:latin typeface="Plus Jakarta Sans" pitchFamily="34" charset="0"/>
                <a:ea typeface="Plus Jakarta Sans" pitchFamily="34" charset="-122"/>
                <a:cs typeface="Plus Jakarta Sans" pitchFamily="34" charset="-120"/>
              </a:rPr>
              <a:t>Showcase: tiga karya, tiga cerita</a:t>
            </a:r>
            <a:endParaRPr lang="en-US" sz="4000" dirty="0"/>
          </a:p>
        </p:txBody>
      </p:sp>
      <p:sp>
        <p:nvSpPr>
          <p:cNvPr id="4" name="Shape 2"/>
          <p:cNvSpPr/>
          <p:nvPr/>
        </p:nvSpPr>
        <p:spPr>
          <a:xfrm>
            <a:off x="731520" y="1691640"/>
            <a:ext cx="3429000" cy="2834640"/>
          </a:xfrm>
          <a:prstGeom prst="roundRect">
            <a:avLst>
              <a:gd name="adj" fmla="val 5161"/>
            </a:avLst>
          </a:prstGeom>
          <a:solidFill>
            <a:srgbClr val="17285A"/>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5" name="Shape 3"/>
          <p:cNvSpPr/>
          <p:nvPr/>
        </p:nvSpPr>
        <p:spPr>
          <a:xfrm>
            <a:off x="749808" y="1709928"/>
            <a:ext cx="3392424" cy="384048"/>
          </a:xfrm>
          <a:prstGeom prst="roundRect">
            <a:avLst>
              <a:gd name="adj" fmla="val 33333"/>
            </a:avLst>
          </a:prstGeom>
          <a:solidFill>
            <a:srgbClr val="EEF1F7"/>
          </a:solidFill>
          <a:ln/>
        </p:spPr>
      </p:sp>
      <p:sp>
        <p:nvSpPr>
          <p:cNvPr id="6" name="Shape 4"/>
          <p:cNvSpPr/>
          <p:nvPr/>
        </p:nvSpPr>
        <p:spPr>
          <a:xfrm>
            <a:off x="749808" y="1892808"/>
            <a:ext cx="3392424" cy="201168"/>
          </a:xfrm>
          <a:prstGeom prst="rect">
            <a:avLst/>
          </a:prstGeom>
          <a:solidFill>
            <a:srgbClr val="EEF1F7"/>
          </a:solidFill>
          <a:ln/>
        </p:spPr>
      </p:sp>
      <p:sp>
        <p:nvSpPr>
          <p:cNvPr id="7" name="Shape 5"/>
          <p:cNvSpPr/>
          <p:nvPr/>
        </p:nvSpPr>
        <p:spPr>
          <a:xfrm>
            <a:off x="914400" y="1828800"/>
            <a:ext cx="100584" cy="100584"/>
          </a:xfrm>
          <a:prstGeom prst="ellipse">
            <a:avLst/>
          </a:prstGeom>
          <a:solidFill>
            <a:srgbClr val="E63946"/>
          </a:solidFill>
          <a:ln/>
        </p:spPr>
      </p:sp>
      <p:sp>
        <p:nvSpPr>
          <p:cNvPr id="8" name="Shape 6"/>
          <p:cNvSpPr/>
          <p:nvPr/>
        </p:nvSpPr>
        <p:spPr>
          <a:xfrm>
            <a:off x="1088136" y="1828800"/>
            <a:ext cx="100584" cy="100584"/>
          </a:xfrm>
          <a:prstGeom prst="ellipse">
            <a:avLst/>
          </a:prstGeom>
          <a:solidFill>
            <a:srgbClr val="FFC83D"/>
          </a:solidFill>
          <a:ln/>
        </p:spPr>
      </p:sp>
      <p:sp>
        <p:nvSpPr>
          <p:cNvPr id="9" name="Shape 7"/>
          <p:cNvSpPr/>
          <p:nvPr/>
        </p:nvSpPr>
        <p:spPr>
          <a:xfrm>
            <a:off x="1261872" y="1828800"/>
            <a:ext cx="100584" cy="100584"/>
          </a:xfrm>
          <a:prstGeom prst="ellipse">
            <a:avLst/>
          </a:prstGeom>
          <a:solidFill>
            <a:srgbClr val="1E9E68"/>
          </a:solidFill>
          <a:ln/>
        </p:spPr>
      </p:sp>
      <p:sp>
        <p:nvSpPr>
          <p:cNvPr id="10" name="Shape 8"/>
          <p:cNvSpPr/>
          <p:nvPr/>
        </p:nvSpPr>
        <p:spPr>
          <a:xfrm>
            <a:off x="1600200" y="1773936"/>
            <a:ext cx="2331720" cy="237744"/>
          </a:xfrm>
          <a:prstGeom prst="roundRect">
            <a:avLst>
              <a:gd name="adj" fmla="val 50000"/>
            </a:avLst>
          </a:prstGeom>
          <a:solidFill>
            <a:srgbClr val="FFFFFF"/>
          </a:solidFill>
          <a:ln/>
        </p:spPr>
      </p:sp>
      <p:sp>
        <p:nvSpPr>
          <p:cNvPr id="11" name="Text 9"/>
          <p:cNvSpPr txBox="1"/>
          <p:nvPr/>
        </p:nvSpPr>
        <p:spPr>
          <a:xfrm>
            <a:off x="1737360" y="1773936"/>
            <a:ext cx="20574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link-karyamu.netlify.app</a:t>
            </a:r>
            <a:endParaRPr lang="en-US" sz="1100" dirty="0"/>
          </a:p>
        </p:txBody>
      </p:sp>
      <p:sp>
        <p:nvSpPr>
          <p:cNvPr id="12" name="Shape 10"/>
          <p:cNvSpPr/>
          <p:nvPr/>
        </p:nvSpPr>
        <p:spPr>
          <a:xfrm>
            <a:off x="1024128" y="2368296"/>
            <a:ext cx="2843784" cy="1847088"/>
          </a:xfrm>
          <a:prstGeom prst="roundRect">
            <a:avLst>
              <a:gd name="adj" fmla="val 5941"/>
            </a:avLst>
          </a:prstGeom>
          <a:ln w="15875">
            <a:solidFill>
              <a:srgbClr val="2A3C6E"/>
            </a:solidFill>
            <a:prstDash val="dash"/>
          </a:ln>
        </p:spPr>
      </p:sp>
      <p:sp>
        <p:nvSpPr>
          <p:cNvPr id="13" name="Text 11"/>
          <p:cNvSpPr txBox="1"/>
          <p:nvPr/>
        </p:nvSpPr>
        <p:spPr>
          <a:xfrm>
            <a:off x="749808" y="2093976"/>
            <a:ext cx="3392424" cy="2395728"/>
          </a:xfrm>
          <a:prstGeom prst="rect">
            <a:avLst/>
          </a:prstGeom>
          <a:noFill/>
          <a:ln/>
        </p:spPr>
        <p:txBody>
          <a:bodyPr wrap="square" lIns="0" tIns="0" rIns="0" bIns="0" rtlCol="0" anchor="ctr"/>
          <a:lstStyle/>
          <a:p>
            <a:pPr algn="ctr" indent="0" marL="0">
              <a:lnSpc>
                <a:spcPct val="115000"/>
              </a:lnSpc>
              <a:buNone/>
            </a:pPr>
            <a:r>
              <a:rPr lang="en-US" sz="2200" b="1" dirty="0">
                <a:solidFill>
                  <a:srgbClr val="A9B6D6"/>
                </a:solidFill>
                <a:latin typeface="Plus Jakarta Sans" pitchFamily="34" charset="0"/>
                <a:ea typeface="Plus Jakarta Sans" pitchFamily="34" charset="-122"/>
                <a:cs typeface="Plus Jakarta Sans" pitchFamily="34" charset="-120"/>
              </a:rPr>
              <a:t>Karya 1</a:t>
            </a:r>
            <a:endParaRPr lang="en-US" sz="2200" dirty="0"/>
          </a:p>
        </p:txBody>
      </p:sp>
      <p:sp>
        <p:nvSpPr>
          <p:cNvPr id="14" name="Shape 12"/>
          <p:cNvSpPr/>
          <p:nvPr/>
        </p:nvSpPr>
        <p:spPr>
          <a:xfrm>
            <a:off x="4361688" y="1691640"/>
            <a:ext cx="3429000" cy="2834640"/>
          </a:xfrm>
          <a:prstGeom prst="roundRect">
            <a:avLst>
              <a:gd name="adj" fmla="val 5161"/>
            </a:avLst>
          </a:prstGeom>
          <a:solidFill>
            <a:srgbClr val="17285A"/>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15" name="Shape 13"/>
          <p:cNvSpPr/>
          <p:nvPr/>
        </p:nvSpPr>
        <p:spPr>
          <a:xfrm>
            <a:off x="4379976" y="1709928"/>
            <a:ext cx="3392424" cy="384048"/>
          </a:xfrm>
          <a:prstGeom prst="roundRect">
            <a:avLst>
              <a:gd name="adj" fmla="val 33333"/>
            </a:avLst>
          </a:prstGeom>
          <a:solidFill>
            <a:srgbClr val="EEF1F7"/>
          </a:solidFill>
          <a:ln/>
        </p:spPr>
      </p:sp>
      <p:sp>
        <p:nvSpPr>
          <p:cNvPr id="16" name="Shape 14"/>
          <p:cNvSpPr/>
          <p:nvPr/>
        </p:nvSpPr>
        <p:spPr>
          <a:xfrm>
            <a:off x="4379976" y="1892808"/>
            <a:ext cx="3392424" cy="201168"/>
          </a:xfrm>
          <a:prstGeom prst="rect">
            <a:avLst/>
          </a:prstGeom>
          <a:solidFill>
            <a:srgbClr val="EEF1F7"/>
          </a:solidFill>
          <a:ln/>
        </p:spPr>
      </p:sp>
      <p:sp>
        <p:nvSpPr>
          <p:cNvPr id="17" name="Shape 15"/>
          <p:cNvSpPr/>
          <p:nvPr/>
        </p:nvSpPr>
        <p:spPr>
          <a:xfrm>
            <a:off x="4544568" y="1828800"/>
            <a:ext cx="100584" cy="100584"/>
          </a:xfrm>
          <a:prstGeom prst="ellipse">
            <a:avLst/>
          </a:prstGeom>
          <a:solidFill>
            <a:srgbClr val="E63946"/>
          </a:solidFill>
          <a:ln/>
        </p:spPr>
      </p:sp>
      <p:sp>
        <p:nvSpPr>
          <p:cNvPr id="18" name="Shape 16"/>
          <p:cNvSpPr/>
          <p:nvPr/>
        </p:nvSpPr>
        <p:spPr>
          <a:xfrm>
            <a:off x="4718304" y="1828800"/>
            <a:ext cx="100584" cy="100584"/>
          </a:xfrm>
          <a:prstGeom prst="ellipse">
            <a:avLst/>
          </a:prstGeom>
          <a:solidFill>
            <a:srgbClr val="FFC83D"/>
          </a:solidFill>
          <a:ln/>
        </p:spPr>
      </p:sp>
      <p:sp>
        <p:nvSpPr>
          <p:cNvPr id="19" name="Shape 17"/>
          <p:cNvSpPr/>
          <p:nvPr/>
        </p:nvSpPr>
        <p:spPr>
          <a:xfrm>
            <a:off x="4892040" y="1828800"/>
            <a:ext cx="100584" cy="100584"/>
          </a:xfrm>
          <a:prstGeom prst="ellipse">
            <a:avLst/>
          </a:prstGeom>
          <a:solidFill>
            <a:srgbClr val="1E9E68"/>
          </a:solidFill>
          <a:ln/>
        </p:spPr>
      </p:sp>
      <p:sp>
        <p:nvSpPr>
          <p:cNvPr id="20" name="Shape 18"/>
          <p:cNvSpPr/>
          <p:nvPr/>
        </p:nvSpPr>
        <p:spPr>
          <a:xfrm>
            <a:off x="5230368" y="1773936"/>
            <a:ext cx="2331720" cy="237744"/>
          </a:xfrm>
          <a:prstGeom prst="roundRect">
            <a:avLst>
              <a:gd name="adj" fmla="val 50000"/>
            </a:avLst>
          </a:prstGeom>
          <a:solidFill>
            <a:srgbClr val="FFFFFF"/>
          </a:solidFill>
          <a:ln/>
        </p:spPr>
      </p:sp>
      <p:sp>
        <p:nvSpPr>
          <p:cNvPr id="21" name="Text 19"/>
          <p:cNvSpPr txBox="1"/>
          <p:nvPr/>
        </p:nvSpPr>
        <p:spPr>
          <a:xfrm>
            <a:off x="5367528" y="1773936"/>
            <a:ext cx="20574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link-karyamu.netlify.app</a:t>
            </a:r>
            <a:endParaRPr lang="en-US" sz="1100" dirty="0"/>
          </a:p>
        </p:txBody>
      </p:sp>
      <p:sp>
        <p:nvSpPr>
          <p:cNvPr id="22" name="Shape 20"/>
          <p:cNvSpPr/>
          <p:nvPr/>
        </p:nvSpPr>
        <p:spPr>
          <a:xfrm>
            <a:off x="4654296" y="2368296"/>
            <a:ext cx="2843784" cy="1847088"/>
          </a:xfrm>
          <a:prstGeom prst="roundRect">
            <a:avLst>
              <a:gd name="adj" fmla="val 5941"/>
            </a:avLst>
          </a:prstGeom>
          <a:ln w="15875">
            <a:solidFill>
              <a:srgbClr val="2A3C6E"/>
            </a:solidFill>
            <a:prstDash val="dash"/>
          </a:ln>
        </p:spPr>
      </p:sp>
      <p:sp>
        <p:nvSpPr>
          <p:cNvPr id="23" name="Text 21"/>
          <p:cNvSpPr txBox="1"/>
          <p:nvPr/>
        </p:nvSpPr>
        <p:spPr>
          <a:xfrm>
            <a:off x="4379976" y="2093976"/>
            <a:ext cx="3392424" cy="2395728"/>
          </a:xfrm>
          <a:prstGeom prst="rect">
            <a:avLst/>
          </a:prstGeom>
          <a:noFill/>
          <a:ln/>
        </p:spPr>
        <p:txBody>
          <a:bodyPr wrap="square" lIns="0" tIns="0" rIns="0" bIns="0" rtlCol="0" anchor="ctr"/>
          <a:lstStyle/>
          <a:p>
            <a:pPr algn="ctr" indent="0" marL="0">
              <a:lnSpc>
                <a:spcPct val="115000"/>
              </a:lnSpc>
              <a:buNone/>
            </a:pPr>
            <a:r>
              <a:rPr lang="en-US" sz="2200" b="1" dirty="0">
                <a:solidFill>
                  <a:srgbClr val="A9B6D6"/>
                </a:solidFill>
                <a:latin typeface="Plus Jakarta Sans" pitchFamily="34" charset="0"/>
                <a:ea typeface="Plus Jakarta Sans" pitchFamily="34" charset="-122"/>
                <a:cs typeface="Plus Jakarta Sans" pitchFamily="34" charset="-120"/>
              </a:rPr>
              <a:t>Karya 2</a:t>
            </a:r>
            <a:endParaRPr lang="en-US" sz="2200" dirty="0"/>
          </a:p>
        </p:txBody>
      </p:sp>
      <p:sp>
        <p:nvSpPr>
          <p:cNvPr id="24" name="Shape 22"/>
          <p:cNvSpPr/>
          <p:nvPr/>
        </p:nvSpPr>
        <p:spPr>
          <a:xfrm>
            <a:off x="7991856" y="1691640"/>
            <a:ext cx="3429000" cy="2834640"/>
          </a:xfrm>
          <a:prstGeom prst="roundRect">
            <a:avLst>
              <a:gd name="adj" fmla="val 5161"/>
            </a:avLst>
          </a:prstGeom>
          <a:solidFill>
            <a:srgbClr val="17285A"/>
          </a:solidFill>
          <a:ln w="15875">
            <a:solidFill>
              <a:srgbClr val="2A3C6E"/>
            </a:solidFill>
            <a:prstDash val="solid"/>
          </a:ln>
          <a:effectLst>
            <a:outerShdw sx="100000" sy="100000" kx="0" ky="0" algn="bl" rotWithShape="0" blurRad="177800" dist="38100" dir="5400000">
              <a:srgbClr val="000000">
                <a:alpha val="40000"/>
              </a:srgbClr>
            </a:outerShdw>
          </a:effectLst>
        </p:spPr>
      </p:sp>
      <p:sp>
        <p:nvSpPr>
          <p:cNvPr id="25" name="Shape 23"/>
          <p:cNvSpPr/>
          <p:nvPr/>
        </p:nvSpPr>
        <p:spPr>
          <a:xfrm>
            <a:off x="8010144" y="1709928"/>
            <a:ext cx="3392424" cy="384048"/>
          </a:xfrm>
          <a:prstGeom prst="roundRect">
            <a:avLst>
              <a:gd name="adj" fmla="val 33333"/>
            </a:avLst>
          </a:prstGeom>
          <a:solidFill>
            <a:srgbClr val="EEF1F7"/>
          </a:solidFill>
          <a:ln/>
        </p:spPr>
      </p:sp>
      <p:sp>
        <p:nvSpPr>
          <p:cNvPr id="26" name="Shape 24"/>
          <p:cNvSpPr/>
          <p:nvPr/>
        </p:nvSpPr>
        <p:spPr>
          <a:xfrm>
            <a:off x="8010144" y="1892808"/>
            <a:ext cx="3392424" cy="201168"/>
          </a:xfrm>
          <a:prstGeom prst="rect">
            <a:avLst/>
          </a:prstGeom>
          <a:solidFill>
            <a:srgbClr val="EEF1F7"/>
          </a:solidFill>
          <a:ln/>
        </p:spPr>
      </p:sp>
      <p:sp>
        <p:nvSpPr>
          <p:cNvPr id="27" name="Shape 25"/>
          <p:cNvSpPr/>
          <p:nvPr/>
        </p:nvSpPr>
        <p:spPr>
          <a:xfrm>
            <a:off x="8174736" y="1828800"/>
            <a:ext cx="100584" cy="100584"/>
          </a:xfrm>
          <a:prstGeom prst="ellipse">
            <a:avLst/>
          </a:prstGeom>
          <a:solidFill>
            <a:srgbClr val="E63946"/>
          </a:solidFill>
          <a:ln/>
        </p:spPr>
      </p:sp>
      <p:sp>
        <p:nvSpPr>
          <p:cNvPr id="28" name="Shape 26"/>
          <p:cNvSpPr/>
          <p:nvPr/>
        </p:nvSpPr>
        <p:spPr>
          <a:xfrm>
            <a:off x="8348472" y="1828800"/>
            <a:ext cx="100584" cy="100584"/>
          </a:xfrm>
          <a:prstGeom prst="ellipse">
            <a:avLst/>
          </a:prstGeom>
          <a:solidFill>
            <a:srgbClr val="FFC83D"/>
          </a:solidFill>
          <a:ln/>
        </p:spPr>
      </p:sp>
      <p:sp>
        <p:nvSpPr>
          <p:cNvPr id="29" name="Shape 27"/>
          <p:cNvSpPr/>
          <p:nvPr/>
        </p:nvSpPr>
        <p:spPr>
          <a:xfrm>
            <a:off x="8522208" y="1828800"/>
            <a:ext cx="100584" cy="100584"/>
          </a:xfrm>
          <a:prstGeom prst="ellipse">
            <a:avLst/>
          </a:prstGeom>
          <a:solidFill>
            <a:srgbClr val="1E9E68"/>
          </a:solidFill>
          <a:ln/>
        </p:spPr>
      </p:sp>
      <p:sp>
        <p:nvSpPr>
          <p:cNvPr id="30" name="Shape 28"/>
          <p:cNvSpPr/>
          <p:nvPr/>
        </p:nvSpPr>
        <p:spPr>
          <a:xfrm>
            <a:off x="8860536" y="1773936"/>
            <a:ext cx="2331720" cy="237744"/>
          </a:xfrm>
          <a:prstGeom prst="roundRect">
            <a:avLst>
              <a:gd name="adj" fmla="val 50000"/>
            </a:avLst>
          </a:prstGeom>
          <a:solidFill>
            <a:srgbClr val="FFFFFF"/>
          </a:solidFill>
          <a:ln/>
        </p:spPr>
      </p:sp>
      <p:sp>
        <p:nvSpPr>
          <p:cNvPr id="31" name="Text 29"/>
          <p:cNvSpPr txBox="1"/>
          <p:nvPr/>
        </p:nvSpPr>
        <p:spPr>
          <a:xfrm>
            <a:off x="8997696" y="1773936"/>
            <a:ext cx="2057400" cy="237744"/>
          </a:xfrm>
          <a:prstGeom prst="rect">
            <a:avLst/>
          </a:prstGeom>
          <a:noFill/>
          <a:ln/>
        </p:spPr>
        <p:txBody>
          <a:bodyPr wrap="none" lIns="0" tIns="0" rIns="0" bIns="0" rtlCol="0" anchor="ctr"/>
          <a:lstStyle/>
          <a:p>
            <a:pPr algn="l" indent="0" marL="0">
              <a:lnSpc>
                <a:spcPct val="115000"/>
              </a:lnSpc>
              <a:buNone/>
            </a:pPr>
            <a:r>
              <a:rPr lang="en-US" sz="1100" dirty="0">
                <a:solidFill>
                  <a:srgbClr val="5B6478"/>
                </a:solidFill>
                <a:latin typeface="Plus Jakarta Sans" pitchFamily="34" charset="0"/>
                <a:ea typeface="Plus Jakarta Sans" pitchFamily="34" charset="-122"/>
                <a:cs typeface="Plus Jakarta Sans" pitchFamily="34" charset="-120"/>
              </a:rPr>
              <a:t>link-karyamu.netlify.app</a:t>
            </a:r>
            <a:endParaRPr lang="en-US" sz="1100" dirty="0"/>
          </a:p>
        </p:txBody>
      </p:sp>
      <p:sp>
        <p:nvSpPr>
          <p:cNvPr id="32" name="Shape 30"/>
          <p:cNvSpPr/>
          <p:nvPr/>
        </p:nvSpPr>
        <p:spPr>
          <a:xfrm>
            <a:off x="8284464" y="2368296"/>
            <a:ext cx="2843784" cy="1847088"/>
          </a:xfrm>
          <a:prstGeom prst="roundRect">
            <a:avLst>
              <a:gd name="adj" fmla="val 5941"/>
            </a:avLst>
          </a:prstGeom>
          <a:ln w="15875">
            <a:solidFill>
              <a:srgbClr val="2A3C6E"/>
            </a:solidFill>
            <a:prstDash val="dash"/>
          </a:ln>
        </p:spPr>
      </p:sp>
      <p:sp>
        <p:nvSpPr>
          <p:cNvPr id="33" name="Text 31"/>
          <p:cNvSpPr txBox="1"/>
          <p:nvPr/>
        </p:nvSpPr>
        <p:spPr>
          <a:xfrm>
            <a:off x="8010144" y="2093976"/>
            <a:ext cx="3392424" cy="2395728"/>
          </a:xfrm>
          <a:prstGeom prst="rect">
            <a:avLst/>
          </a:prstGeom>
          <a:noFill/>
          <a:ln/>
        </p:spPr>
        <p:txBody>
          <a:bodyPr wrap="square" lIns="0" tIns="0" rIns="0" bIns="0" rtlCol="0" anchor="ctr"/>
          <a:lstStyle/>
          <a:p>
            <a:pPr algn="ctr" indent="0" marL="0">
              <a:lnSpc>
                <a:spcPct val="115000"/>
              </a:lnSpc>
              <a:buNone/>
            </a:pPr>
            <a:r>
              <a:rPr lang="en-US" sz="2200" b="1" dirty="0">
                <a:solidFill>
                  <a:srgbClr val="A9B6D6"/>
                </a:solidFill>
                <a:latin typeface="Plus Jakarta Sans" pitchFamily="34" charset="0"/>
                <a:ea typeface="Plus Jakarta Sans" pitchFamily="34" charset="-122"/>
                <a:cs typeface="Plus Jakarta Sans" pitchFamily="34" charset="-120"/>
              </a:rPr>
              <a:t>Karya 3</a:t>
            </a:r>
            <a:endParaRPr lang="en-US" sz="2200" dirty="0"/>
          </a:p>
        </p:txBody>
      </p:sp>
      <p:sp>
        <p:nvSpPr>
          <p:cNvPr id="34" name="Text 32"/>
          <p:cNvSpPr txBox="1"/>
          <p:nvPr/>
        </p:nvSpPr>
        <p:spPr>
          <a:xfrm>
            <a:off x="731520" y="4846320"/>
            <a:ext cx="3429000" cy="274320"/>
          </a:xfrm>
          <a:prstGeom prst="rect">
            <a:avLst/>
          </a:prstGeom>
          <a:noFill/>
          <a:ln/>
        </p:spPr>
        <p:txBody>
          <a:bodyPr wrap="square" lIns="0" tIns="0" rIns="0" bIns="0" rtlCol="0" anchor="t"/>
          <a:lstStyle/>
          <a:p>
            <a:pPr algn="l" indent="0" marL="0">
              <a:lnSpc>
                <a:spcPct val="115000"/>
              </a:lnSpc>
              <a:buNone/>
            </a:pPr>
            <a:r>
              <a:rPr lang="en-US" sz="1300" b="1" dirty="0">
                <a:solidFill>
                  <a:srgbClr val="FFC83D"/>
                </a:solidFill>
                <a:latin typeface="Plus Jakarta Sans" pitchFamily="34" charset="0"/>
                <a:ea typeface="Plus Jakarta Sans" pitchFamily="34" charset="-122"/>
                <a:cs typeface="Plus Jakarta Sans" pitchFamily="34" charset="-120"/>
              </a:rPr>
              <a:t>Ceritakan</a:t>
            </a:r>
            <a:endParaRPr lang="en-US" sz="1300" dirty="0"/>
          </a:p>
        </p:txBody>
      </p:sp>
      <p:sp>
        <p:nvSpPr>
          <p:cNvPr id="35" name="Text 33"/>
          <p:cNvSpPr txBox="1"/>
          <p:nvPr/>
        </p:nvSpPr>
        <p:spPr>
          <a:xfrm>
            <a:off x="731520" y="5166360"/>
            <a:ext cx="3429000" cy="822960"/>
          </a:xfrm>
          <a:prstGeom prst="rect">
            <a:avLst/>
          </a:prstGeom>
          <a:noFill/>
          <a:ln/>
        </p:spPr>
        <p:txBody>
          <a:bodyPr wrap="square" lIns="0" tIns="0" rIns="0" bIns="0" rtlCol="0" anchor="t"/>
          <a:lstStyle/>
          <a:p>
            <a:pPr algn="l" indent="0" marL="0">
              <a:lnSpc>
                <a:spcPct val="130000"/>
              </a:lnSpc>
              <a:buNone/>
            </a:pPr>
            <a:r>
              <a:rPr lang="en-US" sz="1900" dirty="0">
                <a:solidFill>
                  <a:srgbClr val="FFFFFF"/>
                </a:solidFill>
                <a:latin typeface="Plus Jakarta Sans" pitchFamily="34" charset="0"/>
                <a:ea typeface="Plus Jakarta Sans" pitchFamily="34" charset="-122"/>
                <a:cs typeface="Plus Jakarta Sans" pitchFamily="34" charset="-120"/>
              </a:rPr>
              <a:t>Bagian yang paling kamu suka</a:t>
            </a:r>
            <a:endParaRPr lang="en-US" sz="1900" dirty="0"/>
          </a:p>
        </p:txBody>
      </p:sp>
      <p:sp>
        <p:nvSpPr>
          <p:cNvPr id="36" name="Text 34"/>
          <p:cNvSpPr txBox="1"/>
          <p:nvPr/>
        </p:nvSpPr>
        <p:spPr>
          <a:xfrm>
            <a:off x="4361688" y="4846320"/>
            <a:ext cx="3429000" cy="274320"/>
          </a:xfrm>
          <a:prstGeom prst="rect">
            <a:avLst/>
          </a:prstGeom>
          <a:noFill/>
          <a:ln/>
        </p:spPr>
        <p:txBody>
          <a:bodyPr wrap="square" lIns="0" tIns="0" rIns="0" bIns="0" rtlCol="0" anchor="t"/>
          <a:lstStyle/>
          <a:p>
            <a:pPr algn="l" indent="0" marL="0">
              <a:lnSpc>
                <a:spcPct val="115000"/>
              </a:lnSpc>
              <a:buNone/>
            </a:pPr>
            <a:r>
              <a:rPr lang="en-US" sz="1300" b="1" dirty="0">
                <a:solidFill>
                  <a:srgbClr val="FFC83D"/>
                </a:solidFill>
                <a:latin typeface="Plus Jakarta Sans" pitchFamily="34" charset="0"/>
                <a:ea typeface="Plus Jakarta Sans" pitchFamily="34" charset="-122"/>
                <a:cs typeface="Plus Jakarta Sans" pitchFamily="34" charset="-120"/>
              </a:rPr>
              <a:t>Ceritakan</a:t>
            </a:r>
            <a:endParaRPr lang="en-US" sz="1300" dirty="0"/>
          </a:p>
        </p:txBody>
      </p:sp>
      <p:sp>
        <p:nvSpPr>
          <p:cNvPr id="37" name="Text 35"/>
          <p:cNvSpPr txBox="1"/>
          <p:nvPr/>
        </p:nvSpPr>
        <p:spPr>
          <a:xfrm>
            <a:off x="4361688" y="5166360"/>
            <a:ext cx="3429000" cy="822960"/>
          </a:xfrm>
          <a:prstGeom prst="rect">
            <a:avLst/>
          </a:prstGeom>
          <a:noFill/>
          <a:ln/>
        </p:spPr>
        <p:txBody>
          <a:bodyPr wrap="square" lIns="0" tIns="0" rIns="0" bIns="0" rtlCol="0" anchor="t"/>
          <a:lstStyle/>
          <a:p>
            <a:pPr algn="l" indent="0" marL="0">
              <a:lnSpc>
                <a:spcPct val="130000"/>
              </a:lnSpc>
              <a:buNone/>
            </a:pPr>
            <a:r>
              <a:rPr lang="en-US" sz="1900" dirty="0">
                <a:solidFill>
                  <a:srgbClr val="FFFFFF"/>
                </a:solidFill>
                <a:latin typeface="Plus Jakarta Sans" pitchFamily="34" charset="0"/>
                <a:ea typeface="Plus Jakarta Sans" pitchFamily="34" charset="-122"/>
                <a:cs typeface="Plus Jakarta Sans" pitchFamily="34" charset="-120"/>
              </a:rPr>
              <a:t>Kesalahan paling lucu hari ini</a:t>
            </a:r>
            <a:endParaRPr lang="en-US" sz="1900" dirty="0"/>
          </a:p>
        </p:txBody>
      </p:sp>
      <p:sp>
        <p:nvSpPr>
          <p:cNvPr id="38" name="Text 36"/>
          <p:cNvSpPr txBox="1"/>
          <p:nvPr/>
        </p:nvSpPr>
        <p:spPr>
          <a:xfrm>
            <a:off x="7991856" y="4846320"/>
            <a:ext cx="3429000" cy="274320"/>
          </a:xfrm>
          <a:prstGeom prst="rect">
            <a:avLst/>
          </a:prstGeom>
          <a:noFill/>
          <a:ln/>
        </p:spPr>
        <p:txBody>
          <a:bodyPr wrap="square" lIns="0" tIns="0" rIns="0" bIns="0" rtlCol="0" anchor="t"/>
          <a:lstStyle/>
          <a:p>
            <a:pPr algn="l" indent="0" marL="0">
              <a:lnSpc>
                <a:spcPct val="115000"/>
              </a:lnSpc>
              <a:buNone/>
            </a:pPr>
            <a:r>
              <a:rPr lang="en-US" sz="1300" b="1" dirty="0">
                <a:solidFill>
                  <a:srgbClr val="FFC83D"/>
                </a:solidFill>
                <a:latin typeface="Plus Jakarta Sans" pitchFamily="34" charset="0"/>
                <a:ea typeface="Plus Jakarta Sans" pitchFamily="34" charset="-122"/>
                <a:cs typeface="Plus Jakarta Sans" pitchFamily="34" charset="-120"/>
              </a:rPr>
              <a:t>Ceritakan</a:t>
            </a:r>
            <a:endParaRPr lang="en-US" sz="1300" dirty="0"/>
          </a:p>
        </p:txBody>
      </p:sp>
      <p:sp>
        <p:nvSpPr>
          <p:cNvPr id="39" name="Text 37"/>
          <p:cNvSpPr txBox="1"/>
          <p:nvPr/>
        </p:nvSpPr>
        <p:spPr>
          <a:xfrm>
            <a:off x="7991856" y="5166360"/>
            <a:ext cx="3429000" cy="822960"/>
          </a:xfrm>
          <a:prstGeom prst="rect">
            <a:avLst/>
          </a:prstGeom>
          <a:noFill/>
          <a:ln/>
        </p:spPr>
        <p:txBody>
          <a:bodyPr wrap="square" lIns="0" tIns="0" rIns="0" bIns="0" rtlCol="0" anchor="t"/>
          <a:lstStyle/>
          <a:p>
            <a:pPr algn="l" indent="0" marL="0">
              <a:lnSpc>
                <a:spcPct val="130000"/>
              </a:lnSpc>
              <a:buNone/>
            </a:pPr>
            <a:r>
              <a:rPr lang="en-US" sz="1900" dirty="0">
                <a:solidFill>
                  <a:srgbClr val="FFFFFF"/>
                </a:solidFill>
                <a:latin typeface="Plus Jakarta Sans" pitchFamily="34" charset="0"/>
                <a:ea typeface="Plus Jakarta Sans" pitchFamily="34" charset="-122"/>
                <a:cs typeface="Plus Jakarta Sans" pitchFamily="34" charset="-120"/>
              </a:rPr>
              <a:t>Satu hal baru yang kamu pelajari</a:t>
            </a:r>
            <a:endParaRPr lang="en-US" sz="1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8F4"/>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9AA1B2"/>
                </a:solidFill>
                <a:latin typeface="Plus Jakarta Sans" pitchFamily="34" charset="0"/>
                <a:ea typeface="Plus Jakarta Sans" pitchFamily="34" charset="-122"/>
                <a:cs typeface="Plus Jakarta Sans" pitchFamily="34" charset="-120"/>
              </a:rPr>
              <a:t>33</a:t>
            </a:r>
            <a:endParaRPr lang="en-US" sz="1100" dirty="0"/>
          </a:p>
        </p:txBody>
      </p:sp>
      <p:sp>
        <p:nvSpPr>
          <p:cNvPr id="3" name="Text 1"/>
          <p:cNvSpPr txBox="1"/>
          <p:nvPr/>
        </p:nvSpPr>
        <p:spPr>
          <a:xfrm>
            <a:off x="731520" y="685800"/>
            <a:ext cx="10698480" cy="731520"/>
          </a:xfrm>
          <a:prstGeom prst="rect">
            <a:avLst/>
          </a:prstGeom>
          <a:noFill/>
          <a:ln/>
        </p:spPr>
        <p:txBody>
          <a:bodyPr wrap="square" lIns="0" tIns="0" rIns="0" bIns="0" rtlCol="0" anchor="t"/>
          <a:lstStyle/>
          <a:p>
            <a:pPr algn="l" indent="0" marL="0">
              <a:lnSpc>
                <a:spcPct val="108000"/>
              </a:lnSpc>
              <a:buNone/>
            </a:pPr>
            <a:r>
              <a:rPr lang="en-US" sz="4000" b="1" dirty="0">
                <a:solidFill>
                  <a:srgbClr val="0E1B3D"/>
                </a:solidFill>
                <a:latin typeface="Plus Jakarta Sans" pitchFamily="34" charset="0"/>
                <a:ea typeface="Plus Jakarta Sans" pitchFamily="34" charset="-122"/>
                <a:cs typeface="Plus Jakarta Sans" pitchFamily="34" charset="-120"/>
              </a:rPr>
              <a:t>Setelah hari ini, belajar apa lagi?</a:t>
            </a:r>
            <a:endParaRPr lang="en-US" sz="4000" dirty="0"/>
          </a:p>
        </p:txBody>
      </p:sp>
      <p:sp>
        <p:nvSpPr>
          <p:cNvPr id="4" name="Shape 2"/>
          <p:cNvSpPr/>
          <p:nvPr/>
        </p:nvSpPr>
        <p:spPr>
          <a:xfrm>
            <a:off x="731520" y="2743200"/>
            <a:ext cx="10698480" cy="0"/>
          </a:xfrm>
          <a:prstGeom prst="line">
            <a:avLst/>
          </a:prstGeom>
          <a:noFill/>
          <a:ln w="25400">
            <a:solidFill>
              <a:srgbClr val="0E1B3D"/>
            </a:solidFill>
            <a:prstDash val="solid"/>
          </a:ln>
        </p:spPr>
      </p:sp>
      <p:sp>
        <p:nvSpPr>
          <p:cNvPr id="5" name="Shape 3"/>
          <p:cNvSpPr/>
          <p:nvPr/>
        </p:nvSpPr>
        <p:spPr>
          <a:xfrm>
            <a:off x="731520" y="2578608"/>
            <a:ext cx="329184" cy="329184"/>
          </a:xfrm>
          <a:prstGeom prst="ellipse">
            <a:avLst/>
          </a:prstGeom>
          <a:solidFill>
            <a:srgbClr val="1F4FD8"/>
          </a:solidFill>
          <a:ln w="31750">
            <a:solidFill>
              <a:srgbClr val="1F4FD8"/>
            </a:solidFill>
            <a:prstDash val="solid"/>
          </a:ln>
        </p:spPr>
      </p:sp>
      <p:sp>
        <p:nvSpPr>
          <p:cNvPr id="6" name="Text 4"/>
          <p:cNvSpPr txBox="1"/>
          <p:nvPr/>
        </p:nvSpPr>
        <p:spPr>
          <a:xfrm>
            <a:off x="731520" y="1965960"/>
            <a:ext cx="2560320" cy="274320"/>
          </a:xfrm>
          <a:prstGeom prst="rect">
            <a:avLst/>
          </a:prstGeom>
          <a:noFill/>
          <a:ln/>
        </p:spPr>
        <p:txBody>
          <a:bodyPr wrap="square" lIns="0" tIns="0" rIns="0" bIns="0" rtlCol="0" anchor="t"/>
          <a:lstStyle/>
          <a:p>
            <a:pPr algn="l" indent="0" marL="0">
              <a:lnSpc>
                <a:spcPct val="115000"/>
              </a:lnSpc>
              <a:buNone/>
            </a:pPr>
            <a:r>
              <a:rPr lang="en-US" sz="1400" b="1" dirty="0">
                <a:solidFill>
                  <a:srgbClr val="1F4FD8"/>
                </a:solidFill>
                <a:latin typeface="Plus Jakarta Sans" pitchFamily="34" charset="0"/>
                <a:ea typeface="Plus Jakarta Sans" pitchFamily="34" charset="-122"/>
                <a:cs typeface="Plus Jakarta Sans" pitchFamily="34" charset="-120"/>
              </a:rPr>
              <a:t>Sekarang</a:t>
            </a:r>
            <a:endParaRPr lang="en-US" sz="1400" dirty="0"/>
          </a:p>
        </p:txBody>
      </p:sp>
      <p:sp>
        <p:nvSpPr>
          <p:cNvPr id="7" name="Text 5"/>
          <p:cNvSpPr txBox="1"/>
          <p:nvPr/>
        </p:nvSpPr>
        <p:spPr>
          <a:xfrm>
            <a:off x="731520" y="3200400"/>
            <a:ext cx="2560320" cy="457200"/>
          </a:xfrm>
          <a:prstGeom prst="rect">
            <a:avLst/>
          </a:prstGeom>
          <a:noFill/>
          <a:ln/>
        </p:spPr>
        <p:txBody>
          <a:bodyPr wrap="square" lIns="0" tIns="0" rIns="0" bIns="0" rtlCol="0" anchor="t"/>
          <a:lstStyle/>
          <a:p>
            <a:pPr algn="l" indent="0" marL="0">
              <a:lnSpc>
                <a:spcPct val="115000"/>
              </a:lnSpc>
              <a:buNone/>
            </a:pPr>
            <a:r>
              <a:rPr lang="en-US" sz="2200" b="1" dirty="0">
                <a:solidFill>
                  <a:srgbClr val="0E1B3D"/>
                </a:solidFill>
                <a:latin typeface="Plus Jakarta Sans" pitchFamily="34" charset="0"/>
                <a:ea typeface="Plus Jakarta Sans" pitchFamily="34" charset="-122"/>
                <a:cs typeface="Plus Jakarta Sans" pitchFamily="34" charset="-120"/>
              </a:rPr>
              <a:t>HTML + CSS</a:t>
            </a:r>
            <a:endParaRPr lang="en-US" sz="2200" dirty="0"/>
          </a:p>
        </p:txBody>
      </p:sp>
      <p:sp>
        <p:nvSpPr>
          <p:cNvPr id="8" name="Text 6"/>
          <p:cNvSpPr txBox="1"/>
          <p:nvPr/>
        </p:nvSpPr>
        <p:spPr>
          <a:xfrm>
            <a:off x="731520" y="3703320"/>
            <a:ext cx="2468880" cy="73152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Plus Jakarta Sans" pitchFamily="34" charset="0"/>
                <a:ea typeface="Plus Jakarta Sans" pitchFamily="34" charset="-122"/>
                <a:cs typeface="Plus Jakarta Sans" pitchFamily="34" charset="-120"/>
              </a:rPr>
              <a:t>Dasarnya sudah kamu kuasai</a:t>
            </a:r>
            <a:endParaRPr lang="en-US" sz="1600" dirty="0"/>
          </a:p>
        </p:txBody>
      </p:sp>
      <p:sp>
        <p:nvSpPr>
          <p:cNvPr id="9" name="Shape 7"/>
          <p:cNvSpPr/>
          <p:nvPr/>
        </p:nvSpPr>
        <p:spPr>
          <a:xfrm>
            <a:off x="3474720" y="2578608"/>
            <a:ext cx="329184" cy="329184"/>
          </a:xfrm>
          <a:prstGeom prst="ellipse">
            <a:avLst/>
          </a:prstGeom>
          <a:solidFill>
            <a:srgbClr val="FAF8F4"/>
          </a:solidFill>
          <a:ln w="31750">
            <a:solidFill>
              <a:srgbClr val="1F4FD8"/>
            </a:solidFill>
            <a:prstDash val="solid"/>
          </a:ln>
        </p:spPr>
      </p:sp>
      <p:sp>
        <p:nvSpPr>
          <p:cNvPr id="10" name="Text 8"/>
          <p:cNvSpPr txBox="1"/>
          <p:nvPr/>
        </p:nvSpPr>
        <p:spPr>
          <a:xfrm>
            <a:off x="3474720" y="1965960"/>
            <a:ext cx="2560320" cy="274320"/>
          </a:xfrm>
          <a:prstGeom prst="rect">
            <a:avLst/>
          </a:prstGeom>
          <a:noFill/>
          <a:ln/>
        </p:spPr>
        <p:txBody>
          <a:bodyPr wrap="square" lIns="0" tIns="0" rIns="0" bIns="0" rtlCol="0" anchor="t"/>
          <a:lstStyle/>
          <a:p>
            <a:pPr algn="l" indent="0" marL="0">
              <a:lnSpc>
                <a:spcPct val="115000"/>
              </a:lnSpc>
              <a:buNone/>
            </a:pPr>
            <a:r>
              <a:rPr lang="en-US" sz="1400" b="1" dirty="0">
                <a:solidFill>
                  <a:srgbClr val="5B6478"/>
                </a:solidFill>
                <a:latin typeface="Plus Jakarta Sans" pitchFamily="34" charset="0"/>
                <a:ea typeface="Plus Jakarta Sans" pitchFamily="34" charset="-122"/>
                <a:cs typeface="Plus Jakarta Sans" pitchFamily="34" charset="-120"/>
              </a:rPr>
              <a:t>Berikutnya</a:t>
            </a:r>
            <a:endParaRPr lang="en-US" sz="1400" dirty="0"/>
          </a:p>
        </p:txBody>
      </p:sp>
      <p:sp>
        <p:nvSpPr>
          <p:cNvPr id="11" name="Text 9"/>
          <p:cNvSpPr txBox="1"/>
          <p:nvPr/>
        </p:nvSpPr>
        <p:spPr>
          <a:xfrm>
            <a:off x="3474720" y="3200400"/>
            <a:ext cx="2560320" cy="457200"/>
          </a:xfrm>
          <a:prstGeom prst="rect">
            <a:avLst/>
          </a:prstGeom>
          <a:noFill/>
          <a:ln/>
        </p:spPr>
        <p:txBody>
          <a:bodyPr wrap="square" lIns="0" tIns="0" rIns="0" bIns="0" rtlCol="0" anchor="t"/>
          <a:lstStyle/>
          <a:p>
            <a:pPr algn="l" indent="0" marL="0">
              <a:lnSpc>
                <a:spcPct val="115000"/>
              </a:lnSpc>
              <a:buNone/>
            </a:pPr>
            <a:r>
              <a:rPr lang="en-US" sz="2200" b="1" dirty="0">
                <a:solidFill>
                  <a:srgbClr val="0E1B3D"/>
                </a:solidFill>
                <a:latin typeface="Plus Jakarta Sans" pitchFamily="34" charset="0"/>
                <a:ea typeface="Plus Jakarta Sans" pitchFamily="34" charset="-122"/>
                <a:cs typeface="Plus Jakarta Sans" pitchFamily="34" charset="-120"/>
              </a:rPr>
              <a:t>JavaScript</a:t>
            </a:r>
            <a:endParaRPr lang="en-US" sz="2200" dirty="0"/>
          </a:p>
        </p:txBody>
      </p:sp>
      <p:sp>
        <p:nvSpPr>
          <p:cNvPr id="12" name="Text 10"/>
          <p:cNvSpPr txBox="1"/>
          <p:nvPr/>
        </p:nvSpPr>
        <p:spPr>
          <a:xfrm>
            <a:off x="3474720" y="3703320"/>
            <a:ext cx="2468880" cy="73152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Plus Jakarta Sans" pitchFamily="34" charset="0"/>
                <a:ea typeface="Plus Jakarta Sans" pitchFamily="34" charset="-122"/>
                <a:cs typeface="Plus Jakarta Sans" pitchFamily="34" charset="-120"/>
              </a:rPr>
              <a:t>Membuat halaman bisa bereaksi</a:t>
            </a:r>
            <a:endParaRPr lang="en-US" sz="1600" dirty="0"/>
          </a:p>
        </p:txBody>
      </p:sp>
      <p:sp>
        <p:nvSpPr>
          <p:cNvPr id="13" name="Shape 11"/>
          <p:cNvSpPr/>
          <p:nvPr/>
        </p:nvSpPr>
        <p:spPr>
          <a:xfrm>
            <a:off x="6217920" y="2578608"/>
            <a:ext cx="329184" cy="329184"/>
          </a:xfrm>
          <a:prstGeom prst="ellipse">
            <a:avLst/>
          </a:prstGeom>
          <a:solidFill>
            <a:srgbClr val="FAF8F4"/>
          </a:solidFill>
          <a:ln w="31750">
            <a:solidFill>
              <a:srgbClr val="1F4FD8"/>
            </a:solidFill>
            <a:prstDash val="solid"/>
          </a:ln>
        </p:spPr>
      </p:sp>
      <p:sp>
        <p:nvSpPr>
          <p:cNvPr id="14" name="Text 12"/>
          <p:cNvSpPr txBox="1"/>
          <p:nvPr/>
        </p:nvSpPr>
        <p:spPr>
          <a:xfrm>
            <a:off x="6217920" y="1965960"/>
            <a:ext cx="2560320" cy="274320"/>
          </a:xfrm>
          <a:prstGeom prst="rect">
            <a:avLst/>
          </a:prstGeom>
          <a:noFill/>
          <a:ln/>
        </p:spPr>
        <p:txBody>
          <a:bodyPr wrap="square" lIns="0" tIns="0" rIns="0" bIns="0" rtlCol="0" anchor="t"/>
          <a:lstStyle/>
          <a:p>
            <a:pPr algn="l" indent="0" marL="0">
              <a:lnSpc>
                <a:spcPct val="115000"/>
              </a:lnSpc>
              <a:buNone/>
            </a:pPr>
            <a:r>
              <a:rPr lang="en-US" sz="1400" b="1" dirty="0">
                <a:solidFill>
                  <a:srgbClr val="5B6478"/>
                </a:solidFill>
                <a:latin typeface="Plus Jakarta Sans" pitchFamily="34" charset="0"/>
                <a:ea typeface="Plus Jakarta Sans" pitchFamily="34" charset="-122"/>
                <a:cs typeface="Plus Jakarta Sans" pitchFamily="34" charset="-120"/>
              </a:rPr>
              <a:t>Lalu</a:t>
            </a:r>
            <a:endParaRPr lang="en-US" sz="1400" dirty="0"/>
          </a:p>
        </p:txBody>
      </p:sp>
      <p:sp>
        <p:nvSpPr>
          <p:cNvPr id="15" name="Text 13"/>
          <p:cNvSpPr txBox="1"/>
          <p:nvPr/>
        </p:nvSpPr>
        <p:spPr>
          <a:xfrm>
            <a:off x="6217920" y="3200400"/>
            <a:ext cx="2560320" cy="457200"/>
          </a:xfrm>
          <a:prstGeom prst="rect">
            <a:avLst/>
          </a:prstGeom>
          <a:noFill/>
          <a:ln/>
        </p:spPr>
        <p:txBody>
          <a:bodyPr wrap="square" lIns="0" tIns="0" rIns="0" bIns="0" rtlCol="0" anchor="t"/>
          <a:lstStyle/>
          <a:p>
            <a:pPr algn="l" indent="0" marL="0">
              <a:lnSpc>
                <a:spcPct val="115000"/>
              </a:lnSpc>
              <a:buNone/>
            </a:pPr>
            <a:r>
              <a:rPr lang="en-US" sz="2200" b="1" dirty="0">
                <a:solidFill>
                  <a:srgbClr val="0E1B3D"/>
                </a:solidFill>
                <a:latin typeface="Plus Jakarta Sans" pitchFamily="34" charset="0"/>
                <a:ea typeface="Plus Jakarta Sans" pitchFamily="34" charset="-122"/>
                <a:cs typeface="Plus Jakarta Sans" pitchFamily="34" charset="-120"/>
              </a:rPr>
              <a:t>Git &amp; GitHub</a:t>
            </a:r>
            <a:endParaRPr lang="en-US" sz="2200" dirty="0"/>
          </a:p>
        </p:txBody>
      </p:sp>
      <p:sp>
        <p:nvSpPr>
          <p:cNvPr id="16" name="Text 14"/>
          <p:cNvSpPr txBox="1"/>
          <p:nvPr/>
        </p:nvSpPr>
        <p:spPr>
          <a:xfrm>
            <a:off x="6217920" y="3703320"/>
            <a:ext cx="2468880" cy="73152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Plus Jakarta Sans" pitchFamily="34" charset="0"/>
                <a:ea typeface="Plus Jakarta Sans" pitchFamily="34" charset="-122"/>
                <a:cs typeface="Plus Jakarta Sans" pitchFamily="34" charset="-120"/>
              </a:rPr>
              <a:t>Menyimpan dan membagikan kode</a:t>
            </a:r>
            <a:endParaRPr lang="en-US" sz="1600" dirty="0"/>
          </a:p>
        </p:txBody>
      </p:sp>
      <p:sp>
        <p:nvSpPr>
          <p:cNvPr id="17" name="Shape 15"/>
          <p:cNvSpPr/>
          <p:nvPr/>
        </p:nvSpPr>
        <p:spPr>
          <a:xfrm>
            <a:off x="8961120" y="2578608"/>
            <a:ext cx="329184" cy="329184"/>
          </a:xfrm>
          <a:prstGeom prst="ellipse">
            <a:avLst/>
          </a:prstGeom>
          <a:solidFill>
            <a:srgbClr val="FAF8F4"/>
          </a:solidFill>
          <a:ln w="31750">
            <a:solidFill>
              <a:srgbClr val="1F4FD8"/>
            </a:solidFill>
            <a:prstDash val="solid"/>
          </a:ln>
        </p:spPr>
      </p:sp>
      <p:sp>
        <p:nvSpPr>
          <p:cNvPr id="18" name="Text 16"/>
          <p:cNvSpPr txBox="1"/>
          <p:nvPr/>
        </p:nvSpPr>
        <p:spPr>
          <a:xfrm>
            <a:off x="8961120" y="1965960"/>
            <a:ext cx="2560320" cy="274320"/>
          </a:xfrm>
          <a:prstGeom prst="rect">
            <a:avLst/>
          </a:prstGeom>
          <a:noFill/>
          <a:ln/>
        </p:spPr>
        <p:txBody>
          <a:bodyPr wrap="square" lIns="0" tIns="0" rIns="0" bIns="0" rtlCol="0" anchor="t"/>
          <a:lstStyle/>
          <a:p>
            <a:pPr algn="l" indent="0" marL="0">
              <a:lnSpc>
                <a:spcPct val="115000"/>
              </a:lnSpc>
              <a:buNone/>
            </a:pPr>
            <a:r>
              <a:rPr lang="en-US" sz="1400" b="1" dirty="0">
                <a:solidFill>
                  <a:srgbClr val="5B6478"/>
                </a:solidFill>
                <a:latin typeface="Plus Jakarta Sans" pitchFamily="34" charset="0"/>
                <a:ea typeface="Plus Jakarta Sans" pitchFamily="34" charset="-122"/>
                <a:cs typeface="Plus Jakarta Sans" pitchFamily="34" charset="-120"/>
              </a:rPr>
              <a:t>Lanjutan</a:t>
            </a:r>
            <a:endParaRPr lang="en-US" sz="1400" dirty="0"/>
          </a:p>
        </p:txBody>
      </p:sp>
      <p:sp>
        <p:nvSpPr>
          <p:cNvPr id="19" name="Text 17"/>
          <p:cNvSpPr txBox="1"/>
          <p:nvPr/>
        </p:nvSpPr>
        <p:spPr>
          <a:xfrm>
            <a:off x="8961120" y="3200400"/>
            <a:ext cx="2560320" cy="457200"/>
          </a:xfrm>
          <a:prstGeom prst="rect">
            <a:avLst/>
          </a:prstGeom>
          <a:noFill/>
          <a:ln/>
        </p:spPr>
        <p:txBody>
          <a:bodyPr wrap="square" lIns="0" tIns="0" rIns="0" bIns="0" rtlCol="0" anchor="t"/>
          <a:lstStyle/>
          <a:p>
            <a:pPr algn="l" indent="0" marL="0">
              <a:lnSpc>
                <a:spcPct val="115000"/>
              </a:lnSpc>
              <a:buNone/>
            </a:pPr>
            <a:r>
              <a:rPr lang="en-US" sz="2200" b="1" dirty="0">
                <a:solidFill>
                  <a:srgbClr val="0E1B3D"/>
                </a:solidFill>
                <a:latin typeface="Plus Jakarta Sans" pitchFamily="34" charset="0"/>
                <a:ea typeface="Plus Jakarta Sans" pitchFamily="34" charset="-122"/>
                <a:cs typeface="Plus Jakarta Sans" pitchFamily="34" charset="-120"/>
              </a:rPr>
              <a:t>Framework</a:t>
            </a:r>
            <a:endParaRPr lang="en-US" sz="2200" dirty="0"/>
          </a:p>
        </p:txBody>
      </p:sp>
      <p:sp>
        <p:nvSpPr>
          <p:cNvPr id="20" name="Text 18"/>
          <p:cNvSpPr txBox="1"/>
          <p:nvPr/>
        </p:nvSpPr>
        <p:spPr>
          <a:xfrm>
            <a:off x="8961120" y="3703320"/>
            <a:ext cx="2468880" cy="731520"/>
          </a:xfrm>
          <a:prstGeom prst="rect">
            <a:avLst/>
          </a:prstGeom>
          <a:noFill/>
          <a:ln/>
        </p:spPr>
        <p:txBody>
          <a:bodyPr wrap="square" lIns="0" tIns="0" rIns="0" bIns="0" rtlCol="0" anchor="t"/>
          <a:lstStyle/>
          <a:p>
            <a:pPr algn="l" indent="0" marL="0">
              <a:lnSpc>
                <a:spcPct val="135000"/>
              </a:lnSpc>
              <a:buNone/>
            </a:pPr>
            <a:r>
              <a:rPr lang="en-US" sz="1600" dirty="0">
                <a:solidFill>
                  <a:srgbClr val="5B6478"/>
                </a:solidFill>
                <a:latin typeface="Plus Jakarta Sans" pitchFamily="34" charset="0"/>
                <a:ea typeface="Plus Jakarta Sans" pitchFamily="34" charset="-122"/>
                <a:cs typeface="Plus Jakarta Sans" pitchFamily="34" charset="-120"/>
              </a:rPr>
              <a:t>Misalnya Laravel</a:t>
            </a:r>
            <a:endParaRPr lang="en-US" sz="1600" dirty="0"/>
          </a:p>
        </p:txBody>
      </p:sp>
      <p:sp>
        <p:nvSpPr>
          <p:cNvPr id="21" name="Text 19"/>
          <p:cNvSpPr txBox="1"/>
          <p:nvPr/>
        </p:nvSpPr>
        <p:spPr>
          <a:xfrm>
            <a:off x="731520" y="4846320"/>
            <a:ext cx="8412480" cy="365760"/>
          </a:xfrm>
          <a:prstGeom prst="rect">
            <a:avLst/>
          </a:prstGeom>
          <a:noFill/>
          <a:ln/>
        </p:spPr>
        <p:txBody>
          <a:bodyPr wrap="square" lIns="0" tIns="0" rIns="0" bIns="0" rtlCol="0" anchor="t"/>
          <a:lstStyle/>
          <a:p>
            <a:pPr algn="l" indent="0" marL="0">
              <a:lnSpc>
                <a:spcPct val="115000"/>
              </a:lnSpc>
              <a:buNone/>
            </a:pPr>
            <a:r>
              <a:rPr lang="en-US" sz="1600" b="1" dirty="0">
                <a:solidFill>
                  <a:srgbClr val="0E1B3D"/>
                </a:solidFill>
                <a:latin typeface="Plus Jakarta Sans" pitchFamily="34" charset="0"/>
                <a:ea typeface="Plus Jakarta Sans" pitchFamily="34" charset="-122"/>
                <a:cs typeface="Plus Jakarta Sans" pitchFamily="34" charset="-120"/>
              </a:rPr>
              <a:t>Belajar gratis:  MDN Web Docs  ·  freeCodeCamp  ·  web.dev/learn</a:t>
            </a:r>
            <a:endParaRPr lang="en-US" sz="1600" dirty="0"/>
          </a:p>
        </p:txBody>
      </p:sp>
      <p:sp>
        <p:nvSpPr>
          <p:cNvPr id="22" name="Shape 20"/>
          <p:cNvSpPr/>
          <p:nvPr/>
        </p:nvSpPr>
        <p:spPr>
          <a:xfrm>
            <a:off x="731520" y="5440680"/>
            <a:ext cx="7498080" cy="594360"/>
          </a:xfrm>
          <a:prstGeom prst="roundRect">
            <a:avLst>
              <a:gd name="adj" fmla="val 24615"/>
            </a:avLst>
          </a:prstGeom>
          <a:solidFill>
            <a:srgbClr val="FFF3CF"/>
          </a:solidFill>
          <a:ln/>
        </p:spPr>
      </p:sp>
      <p:sp>
        <p:nvSpPr>
          <p:cNvPr id="23" name="Text 21"/>
          <p:cNvSpPr txBox="1"/>
          <p:nvPr/>
        </p:nvSpPr>
        <p:spPr>
          <a:xfrm>
            <a:off x="1005840" y="5440680"/>
            <a:ext cx="7040880" cy="594360"/>
          </a:xfrm>
          <a:prstGeom prst="rect">
            <a:avLst/>
          </a:prstGeom>
          <a:noFill/>
          <a:ln/>
        </p:spPr>
        <p:txBody>
          <a:bodyPr wrap="square" lIns="0" tIns="0" rIns="0" bIns="0" rtlCol="0" anchor="ctr"/>
          <a:lstStyle/>
          <a:p>
            <a:pPr algn="l" indent="0" marL="0">
              <a:lnSpc>
                <a:spcPct val="115000"/>
              </a:lnSpc>
              <a:buNone/>
            </a:pPr>
            <a:r>
              <a:rPr lang="en-US" sz="1700" b="1" dirty="0">
                <a:solidFill>
                  <a:srgbClr val="0E1B3D"/>
                </a:solidFill>
                <a:latin typeface="Plus Jakarta Sans" pitchFamily="34" charset="0"/>
                <a:ea typeface="Plus Jakarta Sans" pitchFamily="34" charset="-122"/>
                <a:cs typeface="Plus Jakarta Sans" pitchFamily="34" charset="-120"/>
              </a:rPr>
              <a:t>Kakak-kakak mahasiswa di Sesi 2 membahas Laravel.</a:t>
            </a:r>
            <a:endParaRPr lang="en-US" sz="1700" dirty="0"/>
          </a:p>
        </p:txBody>
      </p:sp>
      <p:pic>
        <p:nvPicPr>
          <p:cNvPr id="24" name="Image 0" descr="C:\Dev\daily-report\Seminar\seminar-sifest\generator\assets\ill\in_progress_ql66.png">    </p:cNvPr>
          <p:cNvPicPr>
            <a:picLocks noChangeAspect="1"/>
          </p:cNvPicPr>
          <p:nvPr/>
        </p:nvPicPr>
        <p:blipFill>
          <a:blip r:embed="rId1"/>
          <a:stretch>
            <a:fillRect/>
          </a:stretch>
        </p:blipFill>
        <p:spPr>
          <a:xfrm>
            <a:off x="9326880" y="4160520"/>
            <a:ext cx="2194560" cy="163195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B3D"/>
        </a:solidFill>
      </p:bgPr>
    </p:bg>
    <p:spTree>
      <p:nvGrpSpPr>
        <p:cNvPr id="1" name=""/>
        <p:cNvGrpSpPr/>
        <p:nvPr/>
      </p:nvGrpSpPr>
      <p:grpSpPr>
        <a:xfrm>
          <a:off x="0" y="0"/>
          <a:ext cx="0" cy="0"/>
          <a:chOff x="0" y="0"/>
          <a:chExt cx="0" cy="0"/>
        </a:xfrm>
      </p:grpSpPr>
      <p:sp>
        <p:nvSpPr>
          <p:cNvPr id="2" name="Text 0"/>
          <p:cNvSpPr txBox="1"/>
          <p:nvPr/>
        </p:nvSpPr>
        <p:spPr>
          <a:xfrm>
            <a:off x="10545775" y="6400800"/>
            <a:ext cx="914400" cy="201168"/>
          </a:xfrm>
          <a:prstGeom prst="rect">
            <a:avLst/>
          </a:prstGeom>
          <a:noFill/>
          <a:ln/>
        </p:spPr>
        <p:txBody>
          <a:bodyPr wrap="square" lIns="0" tIns="0" rIns="0" bIns="0" rtlCol="0" anchor="ctr"/>
          <a:lstStyle/>
          <a:p>
            <a:pPr algn="r" indent="0" marL="0">
              <a:lnSpc>
                <a:spcPct val="115000"/>
              </a:lnSpc>
              <a:buNone/>
            </a:pPr>
            <a:r>
              <a:rPr lang="en-US" sz="1100" b="1" dirty="0">
                <a:solidFill>
                  <a:srgbClr val="6F7FA8"/>
                </a:solidFill>
                <a:latin typeface="Plus Jakarta Sans" pitchFamily="34" charset="0"/>
                <a:ea typeface="Plus Jakarta Sans" pitchFamily="34" charset="-122"/>
                <a:cs typeface="Plus Jakarta Sans" pitchFamily="34" charset="-120"/>
              </a:rPr>
              <a:t>34</a:t>
            </a:r>
            <a:endParaRPr lang="en-US" sz="1100" dirty="0"/>
          </a:p>
        </p:txBody>
      </p:sp>
      <p:sp>
        <p:nvSpPr>
          <p:cNvPr id="3" name="Shape 1"/>
          <p:cNvSpPr/>
          <p:nvPr/>
        </p:nvSpPr>
        <p:spPr>
          <a:xfrm>
            <a:off x="731520" y="502920"/>
            <a:ext cx="1645920" cy="566928"/>
          </a:xfrm>
          <a:prstGeom prst="roundRect">
            <a:avLst>
              <a:gd name="adj" fmla="val 16129"/>
            </a:avLst>
          </a:prstGeom>
          <a:ln w="15875">
            <a:solidFill>
              <a:srgbClr val="2A3C6E"/>
            </a:solidFill>
            <a:prstDash val="dash"/>
          </a:ln>
        </p:spPr>
      </p:sp>
      <p:sp>
        <p:nvSpPr>
          <p:cNvPr id="4" name="Text 2"/>
          <p:cNvSpPr txBox="1"/>
          <p:nvPr/>
        </p:nvSpPr>
        <p:spPr>
          <a:xfrm>
            <a:off x="731520" y="502920"/>
            <a:ext cx="1645920"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A9B6D6"/>
                </a:solidFill>
                <a:latin typeface="Plus Jakarta Sans" pitchFamily="34" charset="0"/>
                <a:ea typeface="Plus Jakarta Sans" pitchFamily="34" charset="-122"/>
                <a:cs typeface="Plus Jakarta Sans" pitchFamily="34" charset="-120"/>
              </a:rPr>
              <a:t>LOGO HIMASI</a:t>
            </a:r>
            <a:endParaRPr lang="en-US" sz="1100" dirty="0"/>
          </a:p>
        </p:txBody>
      </p:sp>
      <p:sp>
        <p:nvSpPr>
          <p:cNvPr id="5" name="Shape 3"/>
          <p:cNvSpPr/>
          <p:nvPr/>
        </p:nvSpPr>
        <p:spPr>
          <a:xfrm>
            <a:off x="2514600" y="502920"/>
            <a:ext cx="1645920" cy="566928"/>
          </a:xfrm>
          <a:prstGeom prst="roundRect">
            <a:avLst>
              <a:gd name="adj" fmla="val 16129"/>
            </a:avLst>
          </a:prstGeom>
          <a:ln w="15875">
            <a:solidFill>
              <a:srgbClr val="2A3C6E"/>
            </a:solidFill>
            <a:prstDash val="dash"/>
          </a:ln>
        </p:spPr>
      </p:sp>
      <p:sp>
        <p:nvSpPr>
          <p:cNvPr id="6" name="Text 4"/>
          <p:cNvSpPr txBox="1"/>
          <p:nvPr/>
        </p:nvSpPr>
        <p:spPr>
          <a:xfrm>
            <a:off x="2514600" y="502920"/>
            <a:ext cx="1645920" cy="566928"/>
          </a:xfrm>
          <a:prstGeom prst="rect">
            <a:avLst/>
          </a:prstGeom>
          <a:noFill/>
          <a:ln/>
        </p:spPr>
        <p:txBody>
          <a:bodyPr wrap="square" lIns="0" tIns="0" rIns="0" bIns="0" rtlCol="0" anchor="ctr"/>
          <a:lstStyle/>
          <a:p>
            <a:pPr algn="ctr" indent="0" marL="0">
              <a:lnSpc>
                <a:spcPct val="115000"/>
              </a:lnSpc>
              <a:buNone/>
            </a:pPr>
            <a:r>
              <a:rPr lang="en-US" sz="1100" b="1" dirty="0">
                <a:solidFill>
                  <a:srgbClr val="A9B6D6"/>
                </a:solidFill>
                <a:latin typeface="Plus Jakarta Sans" pitchFamily="34" charset="0"/>
                <a:ea typeface="Plus Jakarta Sans" pitchFamily="34" charset="-122"/>
                <a:cs typeface="Plus Jakarta Sans" pitchFamily="34" charset="-120"/>
              </a:rPr>
              <a:t>LOGO BLU</a:t>
            </a:r>
            <a:endParaRPr lang="en-US" sz="1100" dirty="0"/>
          </a:p>
        </p:txBody>
      </p:sp>
      <p:sp>
        <p:nvSpPr>
          <p:cNvPr id="7" name="Text 5"/>
          <p:cNvSpPr txBox="1"/>
          <p:nvPr/>
        </p:nvSpPr>
        <p:spPr>
          <a:xfrm>
            <a:off x="731520" y="1737360"/>
            <a:ext cx="6400800" cy="1463040"/>
          </a:xfrm>
          <a:prstGeom prst="rect">
            <a:avLst/>
          </a:prstGeom>
          <a:noFill/>
          <a:ln/>
        </p:spPr>
        <p:txBody>
          <a:bodyPr wrap="square" lIns="0" tIns="0" rIns="0" bIns="0" rtlCol="0" anchor="t"/>
          <a:lstStyle/>
          <a:p>
            <a:pPr algn="l" indent="0" marL="0">
              <a:lnSpc>
                <a:spcPct val="115000"/>
              </a:lnSpc>
              <a:buNone/>
            </a:pPr>
            <a:r>
              <a:rPr lang="en-US" sz="7600" b="1" dirty="0">
                <a:solidFill>
                  <a:srgbClr val="FFFFFF"/>
                </a:solidFill>
                <a:latin typeface="Plus Jakarta Sans" pitchFamily="34" charset="0"/>
                <a:ea typeface="Plus Jakarta Sans" pitchFamily="34" charset="-122"/>
                <a:cs typeface="Plus Jakarta Sans" pitchFamily="34" charset="-120"/>
              </a:rPr>
              <a:t>Terima kasih.</a:t>
            </a:r>
            <a:endParaRPr lang="en-US" sz="7600" dirty="0"/>
          </a:p>
        </p:txBody>
      </p:sp>
      <p:sp>
        <p:nvSpPr>
          <p:cNvPr id="8" name="Text 6"/>
          <p:cNvSpPr txBox="1"/>
          <p:nvPr/>
        </p:nvSpPr>
        <p:spPr>
          <a:xfrm>
            <a:off x="731520" y="3246120"/>
            <a:ext cx="6400800" cy="1188720"/>
          </a:xfrm>
          <a:prstGeom prst="rect">
            <a:avLst/>
          </a:prstGeom>
          <a:noFill/>
          <a:ln/>
        </p:spPr>
        <p:txBody>
          <a:bodyPr wrap="square" lIns="0" tIns="0" rIns="0" bIns="0" rtlCol="0" anchor="t"/>
          <a:lstStyle/>
          <a:p>
            <a:pPr algn="l" indent="0" marL="0">
              <a:lnSpc>
                <a:spcPct val="115000"/>
              </a:lnSpc>
              <a:buNone/>
            </a:pPr>
            <a:r>
              <a:rPr lang="en-US" sz="3200" b="1" dirty="0">
                <a:solidFill>
                  <a:srgbClr val="FFC83D"/>
                </a:solidFill>
                <a:latin typeface="Plus Jakarta Sans" pitchFamily="34" charset="0"/>
                <a:ea typeface="Plus Jakarta Sans" pitchFamily="34" charset="-122"/>
                <a:cs typeface="Plus Jakarta Sans" pitchFamily="34" charset="-120"/>
              </a:rPr>
              <a:t>Sekarang giliranmu</a:t>
            </a:r>
            <a:endParaRPr lang="en-US" sz="3200" dirty="0"/>
          </a:p>
          <a:p>
            <a:pPr algn="l" indent="0" marL="0">
              <a:lnSpc>
                <a:spcPct val="115000"/>
              </a:lnSpc>
              <a:buNone/>
            </a:pPr>
            <a:r>
              <a:rPr lang="en-US" sz="3200" b="1" dirty="0">
                <a:solidFill>
                  <a:srgbClr val="FFC83D"/>
                </a:solidFill>
                <a:latin typeface="Plus Jakarta Sans" pitchFamily="34" charset="0"/>
                <a:ea typeface="Plus Jakarta Sans" pitchFamily="34" charset="-122"/>
                <a:cs typeface="Plus Jakarta Sans" pitchFamily="34" charset="-120"/>
              </a:rPr>
              <a:t>terus membangun.</a:t>
            </a:r>
            <a:endParaRPr lang="en-US" sz="3200" dirty="0"/>
          </a:p>
        </p:txBody>
      </p:sp>
      <p:sp>
        <p:nvSpPr>
          <p:cNvPr id="9" name="Shape 7"/>
          <p:cNvSpPr/>
          <p:nvPr/>
        </p:nvSpPr>
        <p:spPr>
          <a:xfrm>
            <a:off x="731520" y="4663440"/>
            <a:ext cx="1463040" cy="384048"/>
          </a:xfrm>
          <a:prstGeom prst="roundRect">
            <a:avLst>
              <a:gd name="adj" fmla="val 50000"/>
            </a:avLst>
          </a:prstGeom>
          <a:solidFill>
            <a:srgbClr val="FFC83D"/>
          </a:solidFill>
          <a:ln/>
        </p:spPr>
      </p:sp>
      <p:sp>
        <p:nvSpPr>
          <p:cNvPr id="10" name="Text 8"/>
          <p:cNvSpPr txBox="1"/>
          <p:nvPr/>
        </p:nvSpPr>
        <p:spPr>
          <a:xfrm>
            <a:off x="731520" y="4663440"/>
            <a:ext cx="1463040" cy="384048"/>
          </a:xfrm>
          <a:prstGeom prst="rect">
            <a:avLst/>
          </a:prstGeom>
          <a:noFill/>
          <a:ln/>
        </p:spPr>
        <p:txBody>
          <a:bodyPr wrap="square" lIns="0" tIns="0" rIns="0" bIns="0" rtlCol="0" anchor="ctr"/>
          <a:lstStyle/>
          <a:p>
            <a:pPr algn="ctr" indent="0" marL="0">
              <a:lnSpc>
                <a:spcPct val="115000"/>
              </a:lnSpc>
              <a:buNone/>
            </a:pPr>
            <a:r>
              <a:rPr lang="en-US" sz="1400" b="1" spc="120" kern="0" dirty="0">
                <a:solidFill>
                  <a:srgbClr val="0E1B3D"/>
                </a:solidFill>
                <a:latin typeface="Plus Jakarta Sans" pitchFamily="34" charset="0"/>
                <a:ea typeface="Plus Jakarta Sans" pitchFamily="34" charset="-122"/>
                <a:cs typeface="Plus Jakarta Sans" pitchFamily="34" charset="-120"/>
              </a:rPr>
              <a:t>Q &amp; A</a:t>
            </a:r>
            <a:endParaRPr lang="en-US" sz="1400" dirty="0"/>
          </a:p>
        </p:txBody>
      </p:sp>
      <p:sp>
        <p:nvSpPr>
          <p:cNvPr id="11" name="Text 9"/>
          <p:cNvSpPr txBox="1"/>
          <p:nvPr/>
        </p:nvSpPr>
        <p:spPr>
          <a:xfrm>
            <a:off x="731520" y="5303520"/>
            <a:ext cx="6400800" cy="320040"/>
          </a:xfrm>
          <a:prstGeom prst="rect">
            <a:avLst/>
          </a:prstGeom>
          <a:noFill/>
          <a:ln/>
        </p:spPr>
        <p:txBody>
          <a:bodyPr wrap="square" lIns="0" tIns="0" rIns="0" bIns="0" rtlCol="0" anchor="t"/>
          <a:lstStyle/>
          <a:p>
            <a:pPr algn="l" indent="0" marL="0">
              <a:lnSpc>
                <a:spcPct val="115000"/>
              </a:lnSpc>
              <a:buNone/>
            </a:pPr>
            <a:r>
              <a:rPr lang="en-US" sz="1700" dirty="0">
                <a:solidFill>
                  <a:srgbClr val="A9B6D6"/>
                </a:solidFill>
                <a:latin typeface="Plus Jakarta Sans" pitchFamily="34" charset="0"/>
                <a:ea typeface="Plus Jakarta Sans" pitchFamily="34" charset="-122"/>
                <a:cs typeface="Plus Jakarta Sans" pitchFamily="34" charset="-120"/>
              </a:rPr>
              <a:t>[@akun_pemateri]   ·   [email pemateri]</a:t>
            </a:r>
            <a:endParaRPr lang="en-US" sz="1700" dirty="0"/>
          </a:p>
        </p:txBody>
      </p:sp>
      <p:sp>
        <p:nvSpPr>
          <p:cNvPr id="12" name="Text 10"/>
          <p:cNvSpPr txBox="1"/>
          <p:nvPr/>
        </p:nvSpPr>
        <p:spPr>
          <a:xfrm>
            <a:off x="731520" y="5715000"/>
            <a:ext cx="6766560" cy="320040"/>
          </a:xfrm>
          <a:prstGeom prst="rect">
            <a:avLst/>
          </a:prstGeom>
          <a:noFill/>
          <a:ln/>
        </p:spPr>
        <p:txBody>
          <a:bodyPr wrap="square" lIns="0" tIns="0" rIns="0" bIns="0" rtlCol="0" anchor="t"/>
          <a:lstStyle/>
          <a:p>
            <a:pPr algn="l" indent="0" marL="0">
              <a:lnSpc>
                <a:spcPct val="115000"/>
              </a:lnSpc>
              <a:buNone/>
            </a:pPr>
            <a:r>
              <a:rPr lang="en-US" sz="1400" dirty="0">
                <a:solidFill>
                  <a:srgbClr val="A9B6D6"/>
                </a:solidFill>
                <a:latin typeface="Plus Jakarta Sans" pitchFamily="34" charset="0"/>
                <a:ea typeface="Plus Jakarta Sans" pitchFamily="34" charset="-122"/>
                <a:cs typeface="Plus Jakarta Sans" pitchFamily="34" charset="-120"/>
              </a:rPr>
              <a:t>HIMASI Budi Luhur University  ·  SI FEST 2026</a:t>
            </a:r>
            <a:endParaRPr lang="en-US" sz="1400" dirty="0"/>
          </a:p>
        </p:txBody>
      </p:sp>
      <p:sp>
        <p:nvSpPr>
          <p:cNvPr id="13" name="Shape 11"/>
          <p:cNvSpPr/>
          <p:nvPr/>
        </p:nvSpPr>
        <p:spPr>
          <a:xfrm>
            <a:off x="7589520" y="822960"/>
            <a:ext cx="3931920" cy="4937760"/>
          </a:xfrm>
          <a:prstGeom prst="roundRect">
            <a:avLst>
              <a:gd name="adj" fmla="val 6977"/>
            </a:avLst>
          </a:prstGeom>
          <a:solidFill>
            <a:srgbClr val="FAF8F4"/>
          </a:solidFill>
          <a:ln/>
        </p:spPr>
      </p:sp>
      <p:pic>
        <p:nvPicPr>
          <p:cNvPr id="14" name="Image 0" descr="C:\Dev\daily-report\Seminar\seminar-sifest\generator\assets\ill\celebration_0jvk.png">    </p:cNvPr>
          <p:cNvPicPr>
            <a:picLocks noChangeAspect="1"/>
          </p:cNvPicPr>
          <p:nvPr/>
        </p:nvPicPr>
        <p:blipFill>
          <a:blip r:embed="rId1"/>
          <a:stretch>
            <a:fillRect/>
          </a:stretch>
        </p:blipFill>
        <p:spPr>
          <a:xfrm>
            <a:off x="7909560" y="2145681"/>
            <a:ext cx="3291840" cy="229231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 FEST 2026 — Sesi 1: Unlock Your Potential Through Web Technology</dc:title>
  <dc:subject>PptxGenJS Presentation</dc:subject>
  <dc:creator>HIMASI Budi Luhur University</dc:creator>
  <cp:lastModifiedBy>HIMASI Budi Luhur University</cp:lastModifiedBy>
  <cp:revision>1</cp:revision>
  <dcterms:created xsi:type="dcterms:W3CDTF">2026-10-08T08:40:15Z</dcterms:created>
  <dcterms:modified xsi:type="dcterms:W3CDTF">2026-10-08T08:40:15Z</dcterms:modified>
</cp:coreProperties>
</file>